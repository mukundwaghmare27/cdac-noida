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75B8A-33EC-FA43-F27C-40C83CC1F4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EB808E-D4EB-722D-D699-1B6EEF299E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54808B-73B2-C1F9-DA3E-A49FAFC018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F44FE-56A1-4EC9-B48B-39FDF5BF46EE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3AC353-E3F4-4E93-1891-3208BD153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C02C86-3D40-96CD-7161-6483E2F90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E332A-25C5-4553-96DB-8A715E6C0A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8617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0C3A1-3D27-849A-D60C-070C6F642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203BB7-051B-1CBE-7BE8-95C8109798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60661B-39B2-2CED-2D5F-3913401499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F44FE-56A1-4EC9-B48B-39FDF5BF46EE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DD841D-DE61-29C2-4D2E-2CF87DA98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2B9F97-93CC-D707-0DFB-BB3D75FA4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E332A-25C5-4553-96DB-8A715E6C0A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3401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25C34-2F47-0D02-0C36-CBA672B28D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BD9E5E-937A-07B3-1250-6C21B0A9FE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19B7B7-5EF2-5702-DFE2-CF9D01E72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F44FE-56A1-4EC9-B48B-39FDF5BF46EE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F0C84B-EF81-557F-E765-74A5EBD3A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CE9480-9A53-0681-1E2D-7FF6C2EF3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E332A-25C5-4553-96DB-8A715E6C0A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0758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D5189-45F4-8A09-4C4F-5E23A5C25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4A8F7C-64F7-1CCB-553A-AD19694CB4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014272-97D9-7E96-36A0-FE743B8DBA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E930E-C5DF-09B5-344D-1FB58DC84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F44FE-56A1-4EC9-B48B-39FDF5BF46EE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B86032-9676-924F-BC57-AB905D568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417B28-273E-8B38-DA69-3946A7794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E332A-25C5-4553-96DB-8A715E6C0A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1789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749D3-AE67-DCA4-5F56-10364DDC1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F7585C-83B8-36E2-56DB-A083CED7E0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50DE35-1587-0E51-9F51-3AA8B7F003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692E13-74B7-78C6-E137-2EDA871661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5B9EA5-44E9-4DA5-0915-45AD290CEA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F53B151-CB49-92A8-9C16-3F0F0EE81E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F44FE-56A1-4EC9-B48B-39FDF5BF46EE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7CA437-2873-D7A9-9857-F8096A4329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3594E9-137A-A198-D9D3-8A11C6DF1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E332A-25C5-4553-96DB-8A715E6C0A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7855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321F8-6DD3-8262-FD0B-493F64B0C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C09DA6-29E9-CDD5-291F-05D60605D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F44FE-56A1-4EC9-B48B-39FDF5BF46EE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0CDD54-98F0-FAFF-087B-786B71680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7D11B8-7009-68FE-8CBF-ED42F365E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E332A-25C5-4553-96DB-8A715E6C0A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78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ABB2CA-1C32-BB2A-4F49-BC814C818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F44FE-56A1-4EC9-B48B-39FDF5BF46EE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E1144A-7FF7-7D69-75B7-E3F3356DE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B4985E-57A5-2885-E741-C5B944032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E332A-25C5-4553-96DB-8A715E6C0A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4587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3548F-FB66-7A23-D766-90B105DFBF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F71F1C-985F-7525-3BB6-E24F2FC9E6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DC6D94-1A7B-A3AB-DD69-F1074017A3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5C4E16-E752-A307-6686-9AD372BAF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F44FE-56A1-4EC9-B48B-39FDF5BF46EE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59BF93-0E74-D694-9061-89241E782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58C073-5AE6-D332-0C63-8D3A5C48B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E332A-25C5-4553-96DB-8A715E6C0A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3755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B36B6-A035-606D-887C-FB4DAEEF1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5E642A6-63E4-41EB-7F1D-B42E79C71B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6B3A61-62FF-9559-3169-41B317B4F5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7F397F-ADCA-F084-C89E-EA32338C36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F44FE-56A1-4EC9-B48B-39FDF5BF46EE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EDBC11-2A25-16D0-C788-5593AA6E48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083B62-9043-A09B-117D-2C1A691A9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E332A-25C5-4553-96DB-8A715E6C0A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808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281A4-E21D-2F65-56DB-A9FFFFA76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8052DF-7AF2-F455-7338-B368336C36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3E8874-7FBC-87BD-BEAB-79A4B8B32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F44FE-56A1-4EC9-B48B-39FDF5BF46EE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A240BB-C9EC-824A-833B-0FED7674D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0D564E-5B3D-7039-78C3-04A0502F3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E332A-25C5-4553-96DB-8A715E6C0A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9518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693D6A-3F1B-5283-8DE0-1C687BFB66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1B5847-AD4D-9482-DC3C-30F98F6F35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41F397-3685-3870-C6FF-5136531D3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F44FE-56A1-4EC9-B48B-39FDF5BF46EE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5B0C89-956E-9D33-31B5-485C3E717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CB79AF-35A8-8E9C-6EA8-76DF5AE4E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E332A-25C5-4553-96DB-8A715E6C0A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6519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232B20E-7F02-2523-E3FF-04ECFACFB4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DED15E-8EF2-1828-1B2E-C0261C7FE2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E85E15-8BB0-3B2B-797D-249B9D3D16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3F44FE-56A1-4EC9-B48B-39FDF5BF46EE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8DF070-3C3F-C67B-E3FD-675FBB5BB5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C30C58-9CC6-D67B-5A52-362F24E800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DE332A-25C5-4553-96DB-8A715E6C0A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0408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9C2A5-039C-CE97-B52A-6E917A6B79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231081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Linux Basics</a:t>
            </a:r>
            <a:br>
              <a:rPr lang="en-US" b="1" dirty="0"/>
            </a:br>
            <a:br>
              <a:rPr lang="en-US" dirty="0"/>
            </a:br>
            <a:r>
              <a:rPr lang="en-US" dirty="0"/>
              <a:t>PGCP-VLSI</a:t>
            </a:r>
            <a:br>
              <a:rPr lang="en-US" dirty="0"/>
            </a:br>
            <a:br>
              <a:rPr lang="en-US" dirty="0"/>
            </a:br>
            <a:r>
              <a:rPr lang="en-US" dirty="0"/>
              <a:t>Linux Shell Scripting &amp; Python</a:t>
            </a:r>
            <a:br>
              <a:rPr lang="en-US" dirty="0"/>
            </a:br>
            <a:br>
              <a:rPr lang="en-US" dirty="0"/>
            </a:br>
            <a:r>
              <a:rPr lang="en-US" sz="2200" dirty="0"/>
              <a:t>Mr. Mukund Waghmare – HPC/AI Engineer – CDAC Noida</a:t>
            </a:r>
          </a:p>
        </p:txBody>
      </p:sp>
    </p:spTree>
    <p:extLst>
      <p:ext uri="{BB962C8B-B14F-4D97-AF65-F5344CB8AC3E}">
        <p14:creationId xmlns:p14="http://schemas.microsoft.com/office/powerpoint/2010/main" val="35158192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8CE4F-9C2F-D32A-E71E-0352E9EE2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Operating System Fundamentals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FDF3FE-A2E7-C709-E8C7-C8DF4FBA7C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What is an Operating System?</a:t>
            </a:r>
          </a:p>
          <a:p>
            <a:pPr marL="0" indent="0">
              <a:buNone/>
            </a:pPr>
            <a:r>
              <a:rPr lang="en-IN" dirty="0"/>
              <a:t>An OS is system software that:</a:t>
            </a:r>
          </a:p>
          <a:p>
            <a:r>
              <a:rPr lang="en-IN" dirty="0"/>
              <a:t>Manages </a:t>
            </a:r>
            <a:r>
              <a:rPr lang="en-IN" b="1" dirty="0"/>
              <a:t>CPU (Process Management)</a:t>
            </a:r>
            <a:endParaRPr lang="en-IN" dirty="0"/>
          </a:p>
          <a:p>
            <a:r>
              <a:rPr lang="en-IN" dirty="0"/>
              <a:t>Manages </a:t>
            </a:r>
            <a:r>
              <a:rPr lang="en-IN" b="1" dirty="0"/>
              <a:t>Memory (RAM allocation)</a:t>
            </a:r>
            <a:endParaRPr lang="en-IN" dirty="0"/>
          </a:p>
          <a:p>
            <a:r>
              <a:rPr lang="en-IN" dirty="0"/>
              <a:t>Manages </a:t>
            </a:r>
            <a:r>
              <a:rPr lang="en-IN" b="1" dirty="0"/>
              <a:t>File System</a:t>
            </a:r>
            <a:endParaRPr lang="en-IN" dirty="0"/>
          </a:p>
          <a:p>
            <a:r>
              <a:rPr lang="en-IN" dirty="0"/>
              <a:t>Manages </a:t>
            </a:r>
            <a:r>
              <a:rPr lang="en-IN" b="1" dirty="0"/>
              <a:t>I/O Devices</a:t>
            </a:r>
            <a:endParaRPr lang="en-IN" dirty="0"/>
          </a:p>
          <a:p>
            <a:r>
              <a:rPr lang="en-IN" dirty="0"/>
              <a:t>Provides </a:t>
            </a:r>
            <a:r>
              <a:rPr lang="en-IN" b="1" dirty="0"/>
              <a:t>User Interface (CLI/GUI)</a:t>
            </a:r>
            <a:endParaRPr lang="en-I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19038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A1E66-AE43-2523-F4F7-46E359D3D5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Linux?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AED31E-D1A3-CCAF-5BFF-2D9AF3F1D1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Linux is a </a:t>
            </a:r>
            <a:r>
              <a:rPr lang="en-US" b="1" dirty="0"/>
              <a:t>Unix-like, open-source operating system</a:t>
            </a:r>
            <a:endParaRPr lang="en-US" dirty="0"/>
          </a:p>
          <a:p>
            <a:r>
              <a:rPr lang="en-US" dirty="0"/>
              <a:t>Released in 1991 by Linus Torvalds</a:t>
            </a:r>
          </a:p>
          <a:p>
            <a:r>
              <a:rPr lang="en-US" dirty="0"/>
              <a:t>Kernel-based architecture</a:t>
            </a:r>
          </a:p>
          <a:p>
            <a:r>
              <a:rPr lang="en-US" dirty="0"/>
              <a:t>Multi-user, multi-tasking, secure</a:t>
            </a:r>
          </a:p>
          <a:p>
            <a:pPr marL="0" indent="0">
              <a:buNone/>
            </a:pPr>
            <a:r>
              <a:rPr lang="en-US" b="1" dirty="0"/>
              <a:t>GNU + Linux</a:t>
            </a:r>
          </a:p>
          <a:p>
            <a:r>
              <a:rPr lang="en-US" dirty="0"/>
              <a:t>GNU → Utilities</a:t>
            </a:r>
          </a:p>
          <a:p>
            <a:r>
              <a:rPr lang="en-US" dirty="0"/>
              <a:t>Linux → Kernel</a:t>
            </a:r>
          </a:p>
          <a:p>
            <a:r>
              <a:rPr lang="en-US" dirty="0"/>
              <a:t>Together → GNU/Linux</a:t>
            </a:r>
          </a:p>
          <a:p>
            <a:endParaRPr lang="en-US" dirty="0"/>
          </a:p>
        </p:txBody>
      </p:sp>
      <p:pic>
        <p:nvPicPr>
          <p:cNvPr id="6148" name="Picture 4" descr="No photo description available.">
            <a:extLst>
              <a:ext uri="{FF2B5EF4-FFF2-40B4-BE49-F238E27FC236}">
                <a16:creationId xmlns:a16="http://schemas.microsoft.com/office/drawing/2014/main" id="{0FCA63CB-0DBC-CF3C-32B7-53E7722CB5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6196" y="2492375"/>
            <a:ext cx="6005804" cy="4000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572316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22A94-DA08-C08F-BC14-30EAC9BF2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Linux Architecture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285233-9A8C-00FE-50E2-A87AF0783D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b="1" dirty="0"/>
              <a:t>Components:</a:t>
            </a:r>
          </a:p>
          <a:p>
            <a:r>
              <a:rPr lang="en-IN" b="1" dirty="0"/>
              <a:t>Hardware</a:t>
            </a:r>
            <a:endParaRPr lang="en-IN" dirty="0"/>
          </a:p>
          <a:p>
            <a:r>
              <a:rPr lang="en-IN" b="1" dirty="0"/>
              <a:t>Kernel</a:t>
            </a:r>
            <a:endParaRPr lang="en-IN" dirty="0"/>
          </a:p>
          <a:p>
            <a:pPr lvl="1"/>
            <a:r>
              <a:rPr lang="en-IN" dirty="0"/>
              <a:t>Process scheduling</a:t>
            </a:r>
          </a:p>
          <a:p>
            <a:pPr lvl="1"/>
            <a:r>
              <a:rPr lang="en-IN" dirty="0"/>
              <a:t>Memory management</a:t>
            </a:r>
          </a:p>
          <a:p>
            <a:pPr lvl="1"/>
            <a:r>
              <a:rPr lang="en-IN" dirty="0"/>
              <a:t>Device drivers</a:t>
            </a:r>
          </a:p>
          <a:p>
            <a:r>
              <a:rPr lang="en-IN" b="1" dirty="0"/>
              <a:t>Shell</a:t>
            </a:r>
            <a:endParaRPr lang="en-IN" dirty="0"/>
          </a:p>
          <a:p>
            <a:pPr lvl="1"/>
            <a:r>
              <a:rPr lang="en-IN" dirty="0"/>
              <a:t>Command interpreter</a:t>
            </a:r>
          </a:p>
          <a:p>
            <a:r>
              <a:rPr lang="en-IN" b="1" dirty="0"/>
              <a:t>Applications</a:t>
            </a:r>
            <a:endParaRPr lang="en-IN" dirty="0"/>
          </a:p>
          <a:p>
            <a:endParaRPr lang="en-IN" dirty="0"/>
          </a:p>
          <a:p>
            <a:pPr marL="0" indent="0">
              <a:buNone/>
            </a:pPr>
            <a:r>
              <a:rPr lang="en-IN" dirty="0"/>
              <a:t>Note: Shell translates human-readable commands into kernel-understandable instructions.</a:t>
            </a:r>
          </a:p>
          <a:p>
            <a:endParaRPr lang="en-US" dirty="0"/>
          </a:p>
        </p:txBody>
      </p:sp>
      <p:pic>
        <p:nvPicPr>
          <p:cNvPr id="1026" name="Picture 2" descr="Architecture of Linux Operating System - LinuxSimply">
            <a:extLst>
              <a:ext uri="{FF2B5EF4-FFF2-40B4-BE49-F238E27FC236}">
                <a16:creationId xmlns:a16="http://schemas.microsoft.com/office/drawing/2014/main" id="{851795CD-0790-6E99-7105-4BB5C30282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0491" y="779884"/>
            <a:ext cx="4686300" cy="449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787138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83AA6-F53E-DEAF-9AFC-BBFCF1B092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2530"/>
            <a:ext cx="10515600" cy="1325563"/>
          </a:xfrm>
        </p:spPr>
        <p:txBody>
          <a:bodyPr/>
          <a:lstStyle/>
          <a:p>
            <a:r>
              <a:rPr lang="en-US" dirty="0"/>
              <a:t>Important Features of Linux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EBD8D4-AF20-F8F9-7DBE-0046E3C7AC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8093"/>
            <a:ext cx="10515600" cy="4728870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Open source</a:t>
            </a:r>
          </a:p>
          <a:p>
            <a:r>
              <a:rPr lang="en-US" dirty="0"/>
              <a:t>Portable</a:t>
            </a:r>
          </a:p>
          <a:p>
            <a:r>
              <a:rPr lang="en-US" dirty="0"/>
              <a:t>Multi-user</a:t>
            </a:r>
          </a:p>
          <a:p>
            <a:r>
              <a:rPr lang="en-US" dirty="0"/>
              <a:t>Multi-tasking</a:t>
            </a:r>
          </a:p>
          <a:p>
            <a:r>
              <a:rPr lang="en-US" dirty="0"/>
              <a:t>Strong CLI</a:t>
            </a:r>
          </a:p>
          <a:p>
            <a:r>
              <a:rPr lang="en-US" dirty="0"/>
              <a:t>Secure permission model</a:t>
            </a:r>
          </a:p>
          <a:p>
            <a:r>
              <a:rPr lang="en-US" dirty="0"/>
              <a:t>Powerful networking</a:t>
            </a:r>
          </a:p>
          <a:p>
            <a:r>
              <a:rPr lang="en-US" dirty="0"/>
              <a:t>Stability for servers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Why Linux in VLSI?</a:t>
            </a:r>
          </a:p>
          <a:p>
            <a:r>
              <a:rPr lang="en-US" dirty="0"/>
              <a:t>Toolchains (EDA tools)</a:t>
            </a:r>
          </a:p>
          <a:p>
            <a:r>
              <a:rPr lang="en-US" dirty="0"/>
              <a:t>Server-based workflows</a:t>
            </a:r>
          </a:p>
          <a:p>
            <a:r>
              <a:rPr lang="en-US" dirty="0"/>
              <a:t>Automation scripting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32642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7170C-A750-13EF-06D7-12D130981C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224" y="0"/>
            <a:ext cx="10515600" cy="745218"/>
          </a:xfrm>
        </p:spPr>
        <p:txBody>
          <a:bodyPr/>
          <a:lstStyle/>
          <a:p>
            <a:r>
              <a:rPr lang="en-US" dirty="0"/>
              <a:t>Linux File System Hierarchy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1C4BAC-E021-99AE-2400-EBD4D56736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45218"/>
            <a:ext cx="10515600" cy="5431745"/>
          </a:xfrm>
        </p:spPr>
        <p:txBody>
          <a:bodyPr>
            <a:normAutofit/>
          </a:bodyPr>
          <a:lstStyle/>
          <a:p>
            <a:r>
              <a:rPr lang="en-IN" sz="2000" dirty="0"/>
              <a:t>Linux follows a </a:t>
            </a:r>
            <a:r>
              <a:rPr lang="en-IN" sz="2000" b="1" dirty="0"/>
              <a:t>Single Root Directory Structure</a:t>
            </a:r>
          </a:p>
          <a:p>
            <a:r>
              <a:rPr lang="en-US" sz="2000" dirty="0"/>
              <a:t>Everything starts from: </a:t>
            </a:r>
            <a:r>
              <a:rPr lang="en-US" sz="2000" b="1" dirty="0"/>
              <a:t> /</a:t>
            </a:r>
          </a:p>
          <a:p>
            <a:r>
              <a:rPr lang="en-US" sz="2000" b="1" dirty="0"/>
              <a:t>Important directories</a:t>
            </a:r>
            <a:endParaRPr lang="en-IN" sz="2000" b="1" dirty="0"/>
          </a:p>
          <a:p>
            <a:endParaRPr lang="en-US" sz="20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ED124C4-EC8C-4196-4852-1620FA4289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0097831"/>
              </p:ext>
            </p:extLst>
          </p:nvPr>
        </p:nvGraphicFramePr>
        <p:xfrm>
          <a:off x="1054359" y="1989614"/>
          <a:ext cx="10299441" cy="4023360"/>
        </p:xfrm>
        <a:graphic>
          <a:graphicData uri="http://schemas.openxmlformats.org/drawingml/2006/table">
            <a:tbl>
              <a:tblPr/>
              <a:tblGrid>
                <a:gridCol w="3788229">
                  <a:extLst>
                    <a:ext uri="{9D8B030D-6E8A-4147-A177-3AD203B41FA5}">
                      <a16:colId xmlns:a16="http://schemas.microsoft.com/office/drawing/2014/main" val="1616798371"/>
                    </a:ext>
                  </a:extLst>
                </a:gridCol>
                <a:gridCol w="6511212">
                  <a:extLst>
                    <a:ext uri="{9D8B030D-6E8A-4147-A177-3AD203B41FA5}">
                      <a16:colId xmlns:a16="http://schemas.microsoft.com/office/drawing/2014/main" val="349149954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Directory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Purpose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89979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/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Root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36198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/bin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User commands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72515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/sbin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System commands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64924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/etc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Configuration files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51207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/home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User directories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62926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/var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Log files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02073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/tmp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Temporary files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19905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/boot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Boot loader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27647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/dev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Devices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15377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/usr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User software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22449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782160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32C03-B943-168C-60D7-E9F66AA12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Navigation Commands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76D56D-82B0-CDB8-4EDB-D63DE6C5E9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/>
          <a:lstStyle/>
          <a:p>
            <a:r>
              <a:rPr lang="en-IN" b="1" dirty="0" err="1"/>
              <a:t>pwd</a:t>
            </a:r>
            <a:r>
              <a:rPr lang="en-IN" dirty="0"/>
              <a:t> – Print working directory</a:t>
            </a:r>
          </a:p>
          <a:p>
            <a:r>
              <a:rPr lang="en-IN" b="1" dirty="0"/>
              <a:t>cd </a:t>
            </a:r>
            <a:r>
              <a:rPr lang="en-IN" dirty="0"/>
              <a:t>– Change directory</a:t>
            </a:r>
          </a:p>
          <a:p>
            <a:r>
              <a:rPr lang="en-IN" b="1" dirty="0"/>
              <a:t>ls </a:t>
            </a:r>
            <a:r>
              <a:rPr lang="en-IN" dirty="0"/>
              <a:t>– List files</a:t>
            </a:r>
          </a:p>
          <a:p>
            <a:r>
              <a:rPr lang="en-IN" b="1" dirty="0" err="1"/>
              <a:t>mkdir</a:t>
            </a:r>
            <a:r>
              <a:rPr lang="en-IN" b="1" dirty="0"/>
              <a:t> </a:t>
            </a:r>
            <a:r>
              <a:rPr lang="en-IN" dirty="0"/>
              <a:t>– Create directory</a:t>
            </a:r>
          </a:p>
          <a:p>
            <a:r>
              <a:rPr lang="en-IN" b="1" dirty="0" err="1"/>
              <a:t>rmdir</a:t>
            </a:r>
            <a:r>
              <a:rPr lang="en-IN" dirty="0"/>
              <a:t> – Remove empty directory</a:t>
            </a:r>
          </a:p>
          <a:p>
            <a:endParaRPr lang="en-IN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02652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977B4-A511-7ED1-6A1B-4B5F1BD518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Creation &amp; Viewing Commands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6DD050-C703-9C39-A54C-DC09E654E4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touch – Create empty file</a:t>
            </a:r>
          </a:p>
          <a:p>
            <a:r>
              <a:rPr lang="en-IN" dirty="0"/>
              <a:t>cat – Display file content</a:t>
            </a:r>
          </a:p>
          <a:p>
            <a:r>
              <a:rPr lang="en-IN" dirty="0"/>
              <a:t>head – First 10 lines</a:t>
            </a:r>
          </a:p>
          <a:p>
            <a:r>
              <a:rPr lang="en-IN" dirty="0"/>
              <a:t>tail – Last 10 lines</a:t>
            </a:r>
          </a:p>
          <a:p>
            <a:r>
              <a:rPr lang="en-IN" dirty="0"/>
              <a:t>file – File type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72574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83B0F-0BE0-7C99-4CC9-8D8762083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Copy &amp; Move Commands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4A5C45-73E9-77DE-B59B-5444A49230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/>
              <a:t>cp – Copy files</a:t>
            </a:r>
          </a:p>
          <a:p>
            <a:r>
              <a:rPr lang="en-IN" dirty="0"/>
              <a:t>mv – Move/Rename files</a:t>
            </a:r>
          </a:p>
          <a:p>
            <a:r>
              <a:rPr lang="en-IN" dirty="0"/>
              <a:t>rm – Remove files</a:t>
            </a:r>
          </a:p>
          <a:p>
            <a:r>
              <a:rPr lang="en-IN" dirty="0"/>
              <a:t>rm -rf – Force remove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dirty="0"/>
              <a:t>Wildcards:</a:t>
            </a:r>
          </a:p>
          <a:p>
            <a:r>
              <a:rPr lang="en-IN" dirty="0"/>
              <a:t>* → multiple characters</a:t>
            </a:r>
          </a:p>
          <a:p>
            <a:r>
              <a:rPr lang="en-IN" dirty="0"/>
              <a:t>? → single character</a:t>
            </a:r>
          </a:p>
          <a:p>
            <a:pPr marL="0" indent="0">
              <a:buNone/>
            </a:pPr>
            <a:r>
              <a:rPr lang="en-US" dirty="0"/>
              <a:t>Example:</a:t>
            </a:r>
          </a:p>
          <a:p>
            <a:pPr lvl="1"/>
            <a:r>
              <a:rPr lang="en-US" dirty="0"/>
              <a:t>ls file*</a:t>
            </a:r>
            <a:br>
              <a:rPr lang="en-US" dirty="0"/>
            </a:br>
            <a:r>
              <a:rPr lang="en-US" dirty="0"/>
              <a:t>ls file?</a:t>
            </a:r>
          </a:p>
          <a:p>
            <a:endParaRPr lang="en-I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62202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76B6F-5609-2255-07B7-126895649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Search &amp; Pattern Matching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0BA5C4-4369-AAC0-41A0-49BA3D4D2A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7543"/>
            <a:ext cx="10515600" cy="5122506"/>
          </a:xfrm>
        </p:spPr>
        <p:txBody>
          <a:bodyPr>
            <a:normAutofit/>
          </a:bodyPr>
          <a:lstStyle/>
          <a:p>
            <a:r>
              <a:rPr lang="en-US" b="1" dirty="0"/>
              <a:t>grep (Pattern Search)</a:t>
            </a:r>
          </a:p>
          <a:p>
            <a:pPr marL="0" indent="0">
              <a:buNone/>
            </a:pPr>
            <a:r>
              <a:rPr lang="en-US" b="1" dirty="0"/>
              <a:t>Syntax:</a:t>
            </a:r>
          </a:p>
          <a:p>
            <a:pPr lvl="1"/>
            <a:r>
              <a:rPr lang="en-US" dirty="0"/>
              <a:t>grep [options] pattern filename</a:t>
            </a:r>
          </a:p>
          <a:p>
            <a:pPr marL="0" indent="0">
              <a:buNone/>
            </a:pPr>
            <a:r>
              <a:rPr lang="en-US" b="1" dirty="0"/>
              <a:t>Examples:</a:t>
            </a:r>
          </a:p>
          <a:p>
            <a:pPr lvl="1"/>
            <a:r>
              <a:rPr lang="en-US" dirty="0"/>
              <a:t>grep root /</a:t>
            </a:r>
            <a:r>
              <a:rPr lang="en-US" dirty="0" err="1"/>
              <a:t>etc</a:t>
            </a:r>
            <a:r>
              <a:rPr lang="en-US" dirty="0"/>
              <a:t>/passwd</a:t>
            </a:r>
            <a:br>
              <a:rPr lang="en-US" dirty="0"/>
            </a:br>
            <a:r>
              <a:rPr lang="en-US" dirty="0"/>
              <a:t>grep -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linux</a:t>
            </a:r>
            <a:r>
              <a:rPr lang="en-US" dirty="0"/>
              <a:t> file.txt</a:t>
            </a:r>
            <a:br>
              <a:rPr lang="en-US" dirty="0"/>
            </a:br>
            <a:r>
              <a:rPr lang="en-US" dirty="0"/>
              <a:t>grep -r "main" .</a:t>
            </a:r>
          </a:p>
          <a:p>
            <a:pPr marL="0" indent="0">
              <a:buNone/>
            </a:pPr>
            <a:r>
              <a:rPr lang="en-US" b="1" dirty="0"/>
              <a:t>With Pipe:</a:t>
            </a:r>
          </a:p>
          <a:p>
            <a:pPr lvl="1"/>
            <a:r>
              <a:rPr lang="en-US" dirty="0"/>
              <a:t>cat /</a:t>
            </a:r>
            <a:r>
              <a:rPr lang="en-US" dirty="0" err="1"/>
              <a:t>etc</a:t>
            </a:r>
            <a:r>
              <a:rPr lang="en-US" dirty="0"/>
              <a:t>/passwd | grep bash</a:t>
            </a:r>
            <a:endParaRPr lang="en-IN" b="1" dirty="0"/>
          </a:p>
          <a:p>
            <a:pPr marL="0" indent="0">
              <a:buNone/>
            </a:pPr>
            <a:r>
              <a:rPr lang="en-IN" b="1" dirty="0"/>
              <a:t>find Command</a:t>
            </a:r>
          </a:p>
          <a:p>
            <a:pPr lvl="1"/>
            <a:r>
              <a:rPr lang="en-IN" dirty="0"/>
              <a:t>find /home -name "file1"</a:t>
            </a:r>
            <a:br>
              <a:rPr lang="en-IN" dirty="0"/>
            </a:br>
            <a:r>
              <a:rPr lang="en-IN" dirty="0"/>
              <a:t>find . -type f -name "*.txt"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191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2CAF5-ED43-35B3-52EA-DFBDF45A59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46449"/>
          </a:xfrm>
        </p:spPr>
        <p:txBody>
          <a:bodyPr/>
          <a:lstStyle/>
          <a:p>
            <a:r>
              <a:rPr lang="en-US" dirty="0"/>
              <a:t>File Permissions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FC459A-8A01-9766-D542-C426C16129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46448"/>
            <a:ext cx="10515600" cy="6111551"/>
          </a:xfrm>
        </p:spPr>
        <p:txBody>
          <a:bodyPr>
            <a:normAutofit fontScale="85000" lnSpcReduction="20000"/>
          </a:bodyPr>
          <a:lstStyle/>
          <a:p>
            <a:r>
              <a:rPr lang="en-IN" dirty="0"/>
              <a:t>Each file has:</a:t>
            </a:r>
          </a:p>
          <a:p>
            <a:pPr lvl="1"/>
            <a:r>
              <a:rPr lang="en-IN" dirty="0"/>
              <a:t>Owner</a:t>
            </a:r>
          </a:p>
          <a:p>
            <a:pPr lvl="1"/>
            <a:r>
              <a:rPr lang="en-IN" dirty="0"/>
              <a:t>Group</a:t>
            </a:r>
          </a:p>
          <a:p>
            <a:pPr lvl="1"/>
            <a:r>
              <a:rPr lang="en-IN" dirty="0"/>
              <a:t>Others</a:t>
            </a:r>
          </a:p>
          <a:p>
            <a:pPr marL="457200" lvl="1" indent="0">
              <a:buNone/>
            </a:pPr>
            <a:endParaRPr lang="en-IN" dirty="0"/>
          </a:p>
          <a:p>
            <a:r>
              <a:rPr lang="en-US" dirty="0"/>
              <a:t>Permission Bits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Example:</a:t>
            </a:r>
          </a:p>
          <a:p>
            <a:pPr lvl="1"/>
            <a:r>
              <a:rPr lang="en-IN" dirty="0" err="1"/>
              <a:t>rwxr-xr</a:t>
            </a:r>
            <a:r>
              <a:rPr lang="en-IN" dirty="0"/>
              <a:t>-- → 754</a:t>
            </a:r>
            <a:br>
              <a:rPr lang="en-IN" dirty="0"/>
            </a:br>
            <a:endParaRPr lang="en-IN" dirty="0"/>
          </a:p>
          <a:p>
            <a:pPr marL="0" indent="0">
              <a:buNone/>
            </a:pPr>
            <a:r>
              <a:rPr lang="en-IN" b="1" dirty="0"/>
              <a:t>Viewing Permissions</a:t>
            </a:r>
          </a:p>
          <a:p>
            <a:r>
              <a:rPr lang="en-IN" dirty="0"/>
              <a:t>ls -l file1</a:t>
            </a:r>
          </a:p>
          <a:p>
            <a:pPr marL="0" indent="0">
              <a:buNone/>
            </a:pPr>
            <a:r>
              <a:rPr lang="en-IN" dirty="0"/>
              <a:t>Output format:</a:t>
            </a:r>
          </a:p>
          <a:p>
            <a:r>
              <a:rPr lang="en-IN" dirty="0"/>
              <a:t>-</a:t>
            </a:r>
            <a:r>
              <a:rPr lang="en-IN" dirty="0" err="1"/>
              <a:t>rwxr-xr</a:t>
            </a:r>
            <a:r>
              <a:rPr lang="en-IN" dirty="0"/>
              <a:t>-- 1 user group size date file1</a:t>
            </a:r>
          </a:p>
          <a:p>
            <a:pPr marL="457200" lvl="1" indent="0">
              <a:buNone/>
            </a:pPr>
            <a:endParaRPr lang="en-IN" dirty="0"/>
          </a:p>
          <a:p>
            <a:pPr marL="457200" lvl="1" indent="0">
              <a:buNone/>
            </a:pPr>
            <a:endParaRPr lang="en-IN" dirty="0"/>
          </a:p>
          <a:p>
            <a:endParaRPr lang="en-US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2F6509AA-8F8E-2BB5-3095-38B8EE2BFF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5245041"/>
              </p:ext>
            </p:extLst>
          </p:nvPr>
        </p:nvGraphicFramePr>
        <p:xfrm>
          <a:off x="1184988" y="2697480"/>
          <a:ext cx="10168812" cy="1463040"/>
        </p:xfrm>
        <a:graphic>
          <a:graphicData uri="http://schemas.openxmlformats.org/drawingml/2006/table">
            <a:tbl>
              <a:tblPr/>
              <a:tblGrid>
                <a:gridCol w="3554963">
                  <a:extLst>
                    <a:ext uri="{9D8B030D-6E8A-4147-A177-3AD203B41FA5}">
                      <a16:colId xmlns:a16="http://schemas.microsoft.com/office/drawing/2014/main" val="4260108138"/>
                    </a:ext>
                  </a:extLst>
                </a:gridCol>
                <a:gridCol w="6613849">
                  <a:extLst>
                    <a:ext uri="{9D8B030D-6E8A-4147-A177-3AD203B41FA5}">
                      <a16:colId xmlns:a16="http://schemas.microsoft.com/office/drawing/2014/main" val="219529462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Symbol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Value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97134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52425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67075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73917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14083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848AF-EE27-AF78-A274-EE2EE650FC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017443"/>
          </a:xfrm>
        </p:spPr>
        <p:txBody>
          <a:bodyPr/>
          <a:lstStyle/>
          <a:p>
            <a:r>
              <a:rPr lang="en-US" dirty="0" err="1"/>
              <a:t>chmod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5D9CB5-CA9E-FDCB-11DF-A46E1F2E71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35698"/>
            <a:ext cx="10515600" cy="5141265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Numeric Method</a:t>
            </a:r>
          </a:p>
          <a:p>
            <a:pPr marL="0" indent="0">
              <a:buNone/>
            </a:pPr>
            <a:r>
              <a:rPr lang="en-US" dirty="0"/>
              <a:t>Example:</a:t>
            </a:r>
          </a:p>
          <a:p>
            <a:r>
              <a:rPr lang="en-US" dirty="0" err="1"/>
              <a:t>chmod</a:t>
            </a:r>
            <a:r>
              <a:rPr lang="en-US" dirty="0"/>
              <a:t> 755 file1</a:t>
            </a:r>
            <a:br>
              <a:rPr lang="en-US" dirty="0"/>
            </a:br>
            <a:r>
              <a:rPr lang="en-US" dirty="0" err="1"/>
              <a:t>chmod</a:t>
            </a:r>
            <a:r>
              <a:rPr lang="en-US" dirty="0"/>
              <a:t> 644 file1</a:t>
            </a:r>
          </a:p>
          <a:p>
            <a:pPr marL="0" indent="0">
              <a:buNone/>
            </a:pPr>
            <a:r>
              <a:rPr lang="en-US" dirty="0"/>
              <a:t>Meaning:</a:t>
            </a:r>
          </a:p>
          <a:p>
            <a:r>
              <a:rPr lang="en-US" dirty="0"/>
              <a:t>7 → </a:t>
            </a:r>
            <a:r>
              <a:rPr lang="en-US" dirty="0" err="1"/>
              <a:t>rwx</a:t>
            </a:r>
            <a:br>
              <a:rPr lang="en-US" dirty="0"/>
            </a:br>
            <a:r>
              <a:rPr lang="en-US" dirty="0"/>
              <a:t>5 → r-x</a:t>
            </a:r>
            <a:br>
              <a:rPr lang="en-US" dirty="0"/>
            </a:br>
            <a:r>
              <a:rPr lang="en-US" dirty="0"/>
              <a:t>4 → r--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b="1" dirty="0"/>
              <a:t>Symbolic Method</a:t>
            </a:r>
          </a:p>
          <a:p>
            <a:r>
              <a:rPr lang="en-US" dirty="0" err="1"/>
              <a:t>chmod</a:t>
            </a:r>
            <a:r>
              <a:rPr lang="en-US" dirty="0"/>
              <a:t> [</a:t>
            </a:r>
            <a:r>
              <a:rPr lang="en-US" dirty="0" err="1"/>
              <a:t>ugoa</a:t>
            </a:r>
            <a:r>
              <a:rPr lang="en-US" dirty="0"/>
              <a:t>][+/-][</a:t>
            </a:r>
            <a:r>
              <a:rPr lang="en-US" dirty="0" err="1"/>
              <a:t>rwx</a:t>
            </a:r>
            <a:r>
              <a:rPr lang="en-US" dirty="0"/>
              <a:t>] filename</a:t>
            </a:r>
          </a:p>
          <a:p>
            <a:pPr marL="0" indent="0">
              <a:buNone/>
            </a:pPr>
            <a:r>
              <a:rPr lang="en-US" dirty="0"/>
              <a:t>Examples:</a:t>
            </a:r>
          </a:p>
          <a:p>
            <a:r>
              <a:rPr lang="en-US" dirty="0" err="1"/>
              <a:t>chmod</a:t>
            </a:r>
            <a:r>
              <a:rPr lang="en-US" dirty="0"/>
              <a:t> </a:t>
            </a:r>
            <a:r>
              <a:rPr lang="en-US" dirty="0" err="1"/>
              <a:t>o+w</a:t>
            </a:r>
            <a:r>
              <a:rPr lang="en-US" dirty="0"/>
              <a:t> file1</a:t>
            </a:r>
            <a:br>
              <a:rPr lang="en-US" dirty="0"/>
            </a:br>
            <a:r>
              <a:rPr lang="en-US" dirty="0" err="1"/>
              <a:t>chmod</a:t>
            </a:r>
            <a:r>
              <a:rPr lang="en-US" dirty="0"/>
              <a:t> g-x file1</a:t>
            </a:r>
            <a:br>
              <a:rPr lang="en-US" dirty="0"/>
            </a:br>
            <a:r>
              <a:rPr lang="en-US" dirty="0" err="1"/>
              <a:t>chmod</a:t>
            </a:r>
            <a:r>
              <a:rPr lang="en-US" dirty="0"/>
              <a:t> </a:t>
            </a:r>
            <a:r>
              <a:rPr lang="en-US" dirty="0" err="1"/>
              <a:t>u+rwx</a:t>
            </a:r>
            <a:r>
              <a:rPr lang="en-US" dirty="0"/>
              <a:t> file1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39767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3DD0A-ACC2-4260-921A-C2761BDC1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chown</a:t>
            </a:r>
            <a:r>
              <a:rPr lang="en-US" dirty="0"/>
              <a:t> &amp; </a:t>
            </a:r>
            <a:r>
              <a:rPr lang="en-US" dirty="0" err="1"/>
              <a:t>chgrp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9D414A-275A-17D9-0AD2-38A891B28D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b="1" dirty="0"/>
              <a:t>Change Owner</a:t>
            </a:r>
          </a:p>
          <a:p>
            <a:r>
              <a:rPr lang="en-IN" dirty="0" err="1"/>
              <a:t>chown</a:t>
            </a:r>
            <a:r>
              <a:rPr lang="en-IN" dirty="0"/>
              <a:t> user file</a:t>
            </a:r>
            <a:br>
              <a:rPr lang="en-IN" dirty="0"/>
            </a:br>
            <a:r>
              <a:rPr lang="en-IN" dirty="0" err="1"/>
              <a:t>chown</a:t>
            </a:r>
            <a:r>
              <a:rPr lang="en-IN" dirty="0"/>
              <a:t> </a:t>
            </a:r>
            <a:r>
              <a:rPr lang="en-IN" dirty="0" err="1"/>
              <a:t>user:group</a:t>
            </a:r>
            <a:r>
              <a:rPr lang="en-IN" dirty="0"/>
              <a:t> file</a:t>
            </a:r>
          </a:p>
          <a:p>
            <a:pPr marL="0" indent="0">
              <a:buNone/>
            </a:pPr>
            <a:r>
              <a:rPr lang="en-IN" dirty="0"/>
              <a:t>Example:</a:t>
            </a:r>
          </a:p>
          <a:p>
            <a:r>
              <a:rPr lang="en-IN" dirty="0" err="1"/>
              <a:t>chown</a:t>
            </a:r>
            <a:r>
              <a:rPr lang="en-IN" dirty="0"/>
              <a:t> </a:t>
            </a:r>
            <a:r>
              <a:rPr lang="en-IN" dirty="0" err="1"/>
              <a:t>neha</a:t>
            </a:r>
            <a:r>
              <a:rPr lang="en-IN" dirty="0"/>
              <a:t> file1</a:t>
            </a:r>
            <a:br>
              <a:rPr lang="en-IN" dirty="0"/>
            </a:br>
            <a:r>
              <a:rPr lang="en-IN" dirty="0" err="1"/>
              <a:t>chown</a:t>
            </a:r>
            <a:r>
              <a:rPr lang="en-IN" dirty="0"/>
              <a:t> </a:t>
            </a:r>
            <a:r>
              <a:rPr lang="en-IN" dirty="0" err="1"/>
              <a:t>neha:neha</a:t>
            </a:r>
            <a:r>
              <a:rPr lang="en-IN" dirty="0"/>
              <a:t> file1</a:t>
            </a:r>
          </a:p>
          <a:p>
            <a:pPr marL="0" indent="0">
              <a:buNone/>
            </a:pPr>
            <a:r>
              <a:rPr lang="en-IN" dirty="0"/>
              <a:t>⚠ Only root can change ownership.</a:t>
            </a:r>
          </a:p>
          <a:p>
            <a:pPr marL="0" indent="0">
              <a:buNone/>
            </a:pPr>
            <a:br>
              <a:rPr lang="en-IN" dirty="0"/>
            </a:br>
            <a:endParaRPr lang="en-IN" dirty="0"/>
          </a:p>
          <a:p>
            <a:pPr marL="0" indent="0">
              <a:buNone/>
            </a:pPr>
            <a:r>
              <a:rPr lang="en-IN" b="1" dirty="0"/>
              <a:t>Change Group</a:t>
            </a:r>
          </a:p>
          <a:p>
            <a:r>
              <a:rPr lang="en-IN" dirty="0" err="1"/>
              <a:t>chgrp</a:t>
            </a:r>
            <a:r>
              <a:rPr lang="en-IN" dirty="0"/>
              <a:t> group file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70001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203374-6E35-0D6C-B51E-8C7539683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 dirty="0"/>
              <a:t>Access Control List (ACL)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91A212-A4C3-0791-164B-0182F0C016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03648"/>
            <a:ext cx="10515600" cy="5281127"/>
          </a:xfrm>
        </p:spPr>
        <p:txBody>
          <a:bodyPr>
            <a:normAutofit/>
          </a:bodyPr>
          <a:lstStyle/>
          <a:p>
            <a:r>
              <a:rPr lang="en-US" dirty="0"/>
              <a:t>Used when permission needs to be given to </a:t>
            </a:r>
            <a:r>
              <a:rPr lang="en-US" b="1" dirty="0"/>
              <a:t>specific user only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Set ACL</a:t>
            </a:r>
          </a:p>
          <a:p>
            <a:r>
              <a:rPr lang="en-US" dirty="0" err="1"/>
              <a:t>setfacl</a:t>
            </a:r>
            <a:r>
              <a:rPr lang="en-US" dirty="0"/>
              <a:t> -m u:username:permission filename</a:t>
            </a:r>
          </a:p>
          <a:p>
            <a:pPr marL="0" indent="0">
              <a:buNone/>
            </a:pPr>
            <a:r>
              <a:rPr lang="en-US" dirty="0"/>
              <a:t>Example:</a:t>
            </a:r>
          </a:p>
          <a:p>
            <a:r>
              <a:rPr lang="en-US" dirty="0" err="1"/>
              <a:t>setfacl</a:t>
            </a:r>
            <a:r>
              <a:rPr lang="en-US" dirty="0"/>
              <a:t> -m u:ron:rwx file1</a:t>
            </a:r>
          </a:p>
          <a:p>
            <a:pPr marL="0" indent="0">
              <a:buNone/>
            </a:pPr>
            <a:r>
              <a:rPr lang="en-US" b="1" dirty="0"/>
              <a:t>Recursive ACL</a:t>
            </a:r>
          </a:p>
          <a:p>
            <a:r>
              <a:rPr lang="en-US" dirty="0" err="1"/>
              <a:t>setfacl</a:t>
            </a:r>
            <a:r>
              <a:rPr lang="en-US" dirty="0"/>
              <a:t> -R -m u:ron:rwx folder</a:t>
            </a:r>
          </a:p>
          <a:p>
            <a:pPr marL="0" indent="0">
              <a:buNone/>
            </a:pPr>
            <a:r>
              <a:rPr lang="en-US" b="1" dirty="0"/>
              <a:t>View ACL</a:t>
            </a:r>
          </a:p>
          <a:p>
            <a:r>
              <a:rPr lang="en-US" dirty="0" err="1"/>
              <a:t>getfacl</a:t>
            </a:r>
            <a:r>
              <a:rPr lang="en-US" dirty="0"/>
              <a:t> filename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20785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35B1F-A84B-811B-EA27-4617F03FB0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UMASK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C6EFEA-26DC-9D4B-4EC8-5AB287A39D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Default permissions:</a:t>
            </a:r>
          </a:p>
          <a:p>
            <a:pPr lvl="1"/>
            <a:r>
              <a:rPr lang="en-US" dirty="0"/>
              <a:t>File → 666</a:t>
            </a:r>
          </a:p>
          <a:p>
            <a:pPr lvl="1"/>
            <a:r>
              <a:rPr lang="en-US" dirty="0"/>
              <a:t>Directory → 777</a:t>
            </a:r>
          </a:p>
          <a:p>
            <a:r>
              <a:rPr lang="en-US" dirty="0"/>
              <a:t>Effective permission:</a:t>
            </a:r>
          </a:p>
          <a:p>
            <a:pPr lvl="1"/>
            <a:r>
              <a:rPr lang="en-US" dirty="0"/>
              <a:t>Default – </a:t>
            </a:r>
            <a:r>
              <a:rPr lang="en-US" dirty="0" err="1"/>
              <a:t>Umask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Example:</a:t>
            </a:r>
          </a:p>
          <a:p>
            <a:pPr lvl="1"/>
            <a:r>
              <a:rPr lang="en-US" dirty="0"/>
              <a:t>666 – 022 = 644</a:t>
            </a:r>
          </a:p>
          <a:p>
            <a:pPr marL="0" indent="0">
              <a:buNone/>
            </a:pPr>
            <a:r>
              <a:rPr lang="en-US" dirty="0"/>
              <a:t>Check:</a:t>
            </a:r>
          </a:p>
          <a:p>
            <a:r>
              <a:rPr lang="en-US" dirty="0" err="1"/>
              <a:t>umask</a:t>
            </a:r>
            <a:br>
              <a:rPr lang="en-US" dirty="0"/>
            </a:br>
            <a:r>
              <a:rPr lang="en-US" dirty="0"/>
              <a:t>stat -c %a file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13147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DD3B9-4029-5F90-0FE2-892CDE4CD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399985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Sticky Bit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81DCFC-751F-65DB-2FB8-C10A3FD184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49086"/>
            <a:ext cx="10515600" cy="5327877"/>
          </a:xfrm>
        </p:spPr>
        <p:txBody>
          <a:bodyPr/>
          <a:lstStyle/>
          <a:p>
            <a:r>
              <a:rPr lang="en-IN" dirty="0"/>
              <a:t>Applied on directories.</a:t>
            </a:r>
          </a:p>
          <a:p>
            <a:r>
              <a:rPr lang="en-IN" dirty="0"/>
              <a:t>Only file owner can delete file.</a:t>
            </a:r>
          </a:p>
          <a:p>
            <a:pPr marL="0" indent="0">
              <a:buNone/>
            </a:pPr>
            <a:r>
              <a:rPr lang="en-IN" b="1" dirty="0"/>
              <a:t>Apply Sticky Bit</a:t>
            </a:r>
          </a:p>
          <a:p>
            <a:pPr lvl="1"/>
            <a:r>
              <a:rPr lang="en-IN" dirty="0" err="1"/>
              <a:t>chmod</a:t>
            </a:r>
            <a:r>
              <a:rPr lang="en-IN" dirty="0"/>
              <a:t> +t folder</a:t>
            </a:r>
          </a:p>
          <a:p>
            <a:pPr marL="0" indent="0">
              <a:buNone/>
            </a:pPr>
            <a:r>
              <a:rPr lang="en-IN" b="1" dirty="0"/>
              <a:t>Check</a:t>
            </a:r>
          </a:p>
          <a:p>
            <a:pPr lvl="1"/>
            <a:r>
              <a:rPr lang="en-IN" dirty="0"/>
              <a:t>ls -</a:t>
            </a:r>
            <a:r>
              <a:rPr lang="en-IN" dirty="0" err="1"/>
              <a:t>ld</a:t>
            </a:r>
            <a:r>
              <a:rPr lang="en-IN" dirty="0"/>
              <a:t> folder</a:t>
            </a:r>
          </a:p>
          <a:p>
            <a:pPr marL="0" indent="0">
              <a:buNone/>
            </a:pPr>
            <a:r>
              <a:rPr lang="en-IN" dirty="0"/>
              <a:t>Output:</a:t>
            </a:r>
          </a:p>
          <a:p>
            <a:pPr lvl="1"/>
            <a:r>
              <a:rPr lang="en-IN" dirty="0" err="1"/>
              <a:t>drwxrwxr</a:t>
            </a:r>
            <a:r>
              <a:rPr lang="en-IN" dirty="0"/>
              <a:t>-t</a:t>
            </a:r>
          </a:p>
          <a:p>
            <a:pPr lvl="1"/>
            <a:endParaRPr lang="en-IN" dirty="0"/>
          </a:p>
          <a:p>
            <a:r>
              <a:rPr lang="en-IN" dirty="0"/>
              <a:t>T indicates sticky bit.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9815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F08C9-0919-8DE0-F159-551ABB495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Remote Commands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C1C6B4-4EFA-1357-C347-0D817EC15D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SSH</a:t>
            </a:r>
          </a:p>
          <a:p>
            <a:pPr marL="0" indent="0">
              <a:buNone/>
            </a:pPr>
            <a:r>
              <a:rPr lang="en-IN" dirty="0"/>
              <a:t>ssh </a:t>
            </a:r>
            <a:r>
              <a:rPr lang="en-IN" dirty="0" err="1"/>
              <a:t>user@ip</a:t>
            </a:r>
            <a:endParaRPr lang="en-IN" dirty="0"/>
          </a:p>
          <a:p>
            <a:pPr marL="0" indent="0">
              <a:buNone/>
            </a:pPr>
            <a:endParaRPr lang="en-IN" dirty="0"/>
          </a:p>
          <a:p>
            <a:r>
              <a:rPr lang="en-IN" b="1" dirty="0"/>
              <a:t>SFTP</a:t>
            </a:r>
          </a:p>
          <a:p>
            <a:pPr marL="0" indent="0">
              <a:buNone/>
            </a:pPr>
            <a:r>
              <a:rPr lang="en-IN" dirty="0"/>
              <a:t>sftp </a:t>
            </a:r>
            <a:r>
              <a:rPr lang="en-IN" dirty="0" err="1"/>
              <a:t>user@ip</a:t>
            </a:r>
            <a:endParaRPr lang="en-IN" dirty="0"/>
          </a:p>
          <a:p>
            <a:pPr marL="0" indent="0">
              <a:buNone/>
            </a:pPr>
            <a:endParaRPr lang="en-IN" dirty="0"/>
          </a:p>
          <a:p>
            <a:r>
              <a:rPr lang="en-IN" b="1" dirty="0"/>
              <a:t>FTP</a:t>
            </a:r>
          </a:p>
          <a:p>
            <a:pPr marL="0" indent="0">
              <a:buNone/>
            </a:pPr>
            <a:r>
              <a:rPr lang="en-IN" dirty="0"/>
              <a:t>ftp </a:t>
            </a:r>
            <a:r>
              <a:rPr lang="en-IN" dirty="0" err="1"/>
              <a:t>ip_address</a:t>
            </a:r>
            <a:endParaRPr lang="en-I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72110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DB244E-831B-F49B-799A-0CD885091B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 dirty="0"/>
              <a:t>Mount &amp; Unmount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1149A1-2A9A-9878-1FC1-FE9E111E69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3818"/>
            <a:ext cx="10515600" cy="4833145"/>
          </a:xfrm>
        </p:spPr>
        <p:txBody>
          <a:bodyPr/>
          <a:lstStyle/>
          <a:p>
            <a:r>
              <a:rPr lang="en-US" dirty="0"/>
              <a:t>Attach storage:</a:t>
            </a:r>
          </a:p>
          <a:p>
            <a:pPr lvl="1"/>
            <a:r>
              <a:rPr lang="en-US" dirty="0"/>
              <a:t>mount /dev/sdb1 /</a:t>
            </a:r>
            <a:r>
              <a:rPr lang="en-US" dirty="0" err="1"/>
              <a:t>mnt</a:t>
            </a:r>
            <a:endParaRPr lang="en-US" dirty="0"/>
          </a:p>
          <a:p>
            <a:r>
              <a:rPr lang="en-US" dirty="0"/>
              <a:t>Detach:</a:t>
            </a:r>
          </a:p>
          <a:p>
            <a:pPr lvl="1"/>
            <a:r>
              <a:rPr lang="en-US" dirty="0" err="1"/>
              <a:t>umount</a:t>
            </a:r>
            <a:r>
              <a:rPr lang="en-US" dirty="0"/>
              <a:t> /</a:t>
            </a:r>
            <a:r>
              <a:rPr lang="en-US" dirty="0" err="1"/>
              <a:t>mnt</a:t>
            </a:r>
            <a:endParaRPr lang="en-US" dirty="0"/>
          </a:p>
          <a:p>
            <a:r>
              <a:rPr lang="en-US" dirty="0"/>
              <a:t>Used for:</a:t>
            </a:r>
          </a:p>
          <a:p>
            <a:pPr lvl="1"/>
            <a:r>
              <a:rPr lang="en-US" dirty="0"/>
              <a:t>USB</a:t>
            </a:r>
          </a:p>
          <a:p>
            <a:pPr lvl="1"/>
            <a:r>
              <a:rPr lang="en-US" dirty="0"/>
              <a:t>External storage</a:t>
            </a:r>
          </a:p>
          <a:p>
            <a:pPr lvl="1"/>
            <a:r>
              <a:rPr lang="en-US" dirty="0"/>
              <a:t>Network drives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358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B1730F-F90D-55A3-CD40-156C2ED690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588235"/>
          </a:xfrm>
        </p:spPr>
        <p:txBody>
          <a:bodyPr>
            <a:normAutofit fontScale="90000"/>
          </a:bodyPr>
          <a:lstStyle/>
          <a:p>
            <a:r>
              <a:rPr lang="en-US" dirty="0"/>
              <a:t>VI Editor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171186-BBCE-256C-D9E0-A148C31AF9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06490"/>
            <a:ext cx="10515600" cy="5570473"/>
          </a:xfrm>
        </p:spPr>
        <p:txBody>
          <a:bodyPr>
            <a:normAutofit fontScale="85000" lnSpcReduction="20000"/>
          </a:bodyPr>
          <a:lstStyle/>
          <a:p>
            <a:r>
              <a:rPr lang="fr-FR" b="1" dirty="0"/>
              <a:t>Modes</a:t>
            </a:r>
          </a:p>
          <a:p>
            <a:pPr lvl="1"/>
            <a:r>
              <a:rPr lang="fr-FR" dirty="0"/>
              <a:t>Command Mode</a:t>
            </a:r>
          </a:p>
          <a:p>
            <a:pPr lvl="1"/>
            <a:r>
              <a:rPr lang="fr-FR" dirty="0"/>
              <a:t>Insert Mode</a:t>
            </a:r>
          </a:p>
          <a:p>
            <a:pPr lvl="1"/>
            <a:r>
              <a:rPr lang="fr-FR" dirty="0"/>
              <a:t>Last Line Mode</a:t>
            </a:r>
            <a:br>
              <a:rPr lang="fr-FR" dirty="0"/>
            </a:br>
            <a:endParaRPr lang="fr-FR" dirty="0"/>
          </a:p>
          <a:p>
            <a:r>
              <a:rPr lang="fr-FR" b="1" dirty="0"/>
              <a:t>Basic Operations</a:t>
            </a:r>
          </a:p>
          <a:p>
            <a:pPr marL="0" indent="0">
              <a:buNone/>
            </a:pPr>
            <a:r>
              <a:rPr lang="fr-FR" dirty="0"/>
              <a:t>Enter insert:</a:t>
            </a:r>
          </a:p>
          <a:p>
            <a:pPr lvl="1"/>
            <a:r>
              <a:rPr lang="fr-FR" dirty="0"/>
              <a:t>i</a:t>
            </a:r>
          </a:p>
          <a:p>
            <a:pPr marL="0" indent="0">
              <a:buNone/>
            </a:pPr>
            <a:r>
              <a:rPr lang="fr-FR" dirty="0"/>
              <a:t>Save:</a:t>
            </a:r>
          </a:p>
          <a:p>
            <a:pPr lvl="1"/>
            <a:r>
              <a:rPr lang="fr-FR" dirty="0"/>
              <a:t>:w</a:t>
            </a:r>
          </a:p>
          <a:p>
            <a:pPr marL="0" indent="0">
              <a:buNone/>
            </a:pPr>
            <a:r>
              <a:rPr lang="fr-FR" dirty="0" err="1"/>
              <a:t>Quit</a:t>
            </a:r>
            <a:r>
              <a:rPr lang="fr-FR" dirty="0"/>
              <a:t>:</a:t>
            </a:r>
          </a:p>
          <a:p>
            <a:pPr lvl="1"/>
            <a:r>
              <a:rPr lang="fr-FR" dirty="0"/>
              <a:t>:q</a:t>
            </a:r>
          </a:p>
          <a:p>
            <a:pPr marL="0" indent="0">
              <a:buNone/>
            </a:pPr>
            <a:r>
              <a:rPr lang="fr-FR" dirty="0"/>
              <a:t>Save &amp; Exit:</a:t>
            </a:r>
          </a:p>
          <a:p>
            <a:pPr lvl="1"/>
            <a:r>
              <a:rPr lang="fr-FR" dirty="0"/>
              <a:t>:</a:t>
            </a:r>
            <a:r>
              <a:rPr lang="fr-FR" dirty="0" err="1"/>
              <a:t>wq</a:t>
            </a:r>
            <a:endParaRPr lang="fr-FR" dirty="0"/>
          </a:p>
          <a:p>
            <a:pPr marL="0" indent="0">
              <a:buNone/>
            </a:pPr>
            <a:r>
              <a:rPr lang="fr-FR" dirty="0"/>
              <a:t>Force </a:t>
            </a:r>
            <a:r>
              <a:rPr lang="fr-FR" dirty="0" err="1"/>
              <a:t>Quit</a:t>
            </a:r>
            <a:r>
              <a:rPr lang="fr-FR" dirty="0"/>
              <a:t>:</a:t>
            </a:r>
          </a:p>
          <a:p>
            <a:pPr lvl="1"/>
            <a:r>
              <a:rPr lang="fr-FR" dirty="0"/>
              <a:t>:q!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44986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F4111-F01B-E8CC-6403-F58A2A7BD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"/>
            <a:ext cx="10515600" cy="662782"/>
          </a:xfrm>
        </p:spPr>
        <p:txBody>
          <a:bodyPr>
            <a:normAutofit fontScale="90000"/>
          </a:bodyPr>
          <a:lstStyle/>
          <a:p>
            <a:r>
              <a:rPr lang="en-US" dirty="0"/>
              <a:t>Search &amp; Replace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A68194-B6F0-088A-3216-A8DB68FC0E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74441"/>
            <a:ext cx="10515600" cy="54025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Search &amp; Replace</a:t>
            </a:r>
          </a:p>
          <a:p>
            <a:r>
              <a:rPr lang="en-IN" dirty="0"/>
              <a:t>Search:</a:t>
            </a:r>
          </a:p>
          <a:p>
            <a:pPr lvl="1"/>
            <a:r>
              <a:rPr lang="en-IN" dirty="0"/>
              <a:t>/pattern</a:t>
            </a:r>
          </a:p>
          <a:p>
            <a:r>
              <a:rPr lang="en-IN" dirty="0"/>
              <a:t>Replace:</a:t>
            </a:r>
          </a:p>
          <a:p>
            <a:pPr lvl="1"/>
            <a:r>
              <a:rPr lang="en-IN" dirty="0"/>
              <a:t>:%s/old/new/g</a:t>
            </a:r>
          </a:p>
          <a:p>
            <a:pPr marL="0" indent="0">
              <a:buNone/>
            </a:pPr>
            <a:br>
              <a:rPr lang="en-IN" dirty="0"/>
            </a:br>
            <a:endParaRPr lang="en-IN" dirty="0"/>
          </a:p>
          <a:p>
            <a:pPr marL="0" indent="0">
              <a:buNone/>
            </a:pPr>
            <a:r>
              <a:rPr lang="en-IN" b="1" dirty="0"/>
              <a:t>Copy / Cut / Paste</a:t>
            </a:r>
          </a:p>
          <a:p>
            <a:r>
              <a:rPr lang="en-IN" dirty="0" err="1"/>
              <a:t>yy</a:t>
            </a:r>
            <a:r>
              <a:rPr lang="en-IN" dirty="0"/>
              <a:t> → copy line</a:t>
            </a:r>
            <a:br>
              <a:rPr lang="en-IN" dirty="0"/>
            </a:br>
            <a:r>
              <a:rPr lang="en-IN" dirty="0"/>
              <a:t>dd → delete line</a:t>
            </a:r>
            <a:br>
              <a:rPr lang="en-IN" dirty="0"/>
            </a:br>
            <a:r>
              <a:rPr lang="en-IN" dirty="0"/>
              <a:t>p  → paste</a:t>
            </a:r>
            <a:br>
              <a:rPr lang="en-IN" dirty="0"/>
            </a:br>
            <a:r>
              <a:rPr lang="en-IN" dirty="0"/>
              <a:t>u  → undo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83418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F26DA-70D1-79FE-E393-FF4C53E3A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241" y="596754"/>
            <a:ext cx="10515600" cy="793508"/>
          </a:xfrm>
        </p:spPr>
        <p:txBody>
          <a:bodyPr/>
          <a:lstStyle/>
          <a:p>
            <a:r>
              <a:rPr lang="en-US" dirty="0"/>
              <a:t>Lab Practice Tasks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923C795-12A2-FF8A-60CB-A1176670DB0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98241" y="0"/>
            <a:ext cx="10515600" cy="5057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 3 users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 shared directory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Apply permissions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Apply ACL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Apply sticky bit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Search users with bash shell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Edit files using vi</a:t>
            </a:r>
          </a:p>
        </p:txBody>
      </p:sp>
    </p:spTree>
    <p:extLst>
      <p:ext uri="{BB962C8B-B14F-4D97-AF65-F5344CB8AC3E}">
        <p14:creationId xmlns:p14="http://schemas.microsoft.com/office/powerpoint/2010/main" val="36068220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Linux creator Linus Torvalds slates Nvidia - eTeknix">
            <a:extLst>
              <a:ext uri="{FF2B5EF4-FFF2-40B4-BE49-F238E27FC236}">
                <a16:creationId xmlns:a16="http://schemas.microsoft.com/office/drawing/2014/main" id="{A3FED335-C65C-CAAC-5967-AF38CE2AE2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0644" y="0"/>
            <a:ext cx="752980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935711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4515</TotalTime>
  <Words>802</Words>
  <Application>Microsoft Office PowerPoint</Application>
  <PresentationFormat>Widescreen</PresentationFormat>
  <Paragraphs>230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Calibri Light</vt:lpstr>
      <vt:lpstr>Office Theme</vt:lpstr>
      <vt:lpstr>Linux Basics  PGCP-VLSI  Linux Shell Scripting &amp; Python  Mr. Mukund Waghmare – HPC/AI Engineer – CDAC Noida</vt:lpstr>
      <vt:lpstr>Operating System Fundamentals</vt:lpstr>
      <vt:lpstr>What is Linux?</vt:lpstr>
      <vt:lpstr>Linux Architecture </vt:lpstr>
      <vt:lpstr>Important Features of Linux</vt:lpstr>
      <vt:lpstr>Linux File System Hierarchy</vt:lpstr>
      <vt:lpstr>Basic Navigation Commands</vt:lpstr>
      <vt:lpstr>File Creation &amp; Viewing Commands</vt:lpstr>
      <vt:lpstr>Copy &amp; Move Commands </vt:lpstr>
      <vt:lpstr>Search &amp; Pattern Matching</vt:lpstr>
      <vt:lpstr>File Permissions</vt:lpstr>
      <vt:lpstr>chmod</vt:lpstr>
      <vt:lpstr>chown &amp; chgrp</vt:lpstr>
      <vt:lpstr>Access Control List (ACL)</vt:lpstr>
      <vt:lpstr>UMASK </vt:lpstr>
      <vt:lpstr>Sticky Bit </vt:lpstr>
      <vt:lpstr>Remote Commands</vt:lpstr>
      <vt:lpstr>Mount &amp; Unmount</vt:lpstr>
      <vt:lpstr>VI Editor </vt:lpstr>
      <vt:lpstr>Search &amp; Replace</vt:lpstr>
      <vt:lpstr>Lab Practice Tasks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WAGHAMARE MUKUND POSHETTI</dc:creator>
  <cp:lastModifiedBy>WAGHAMARE MUKUND POSHETTI</cp:lastModifiedBy>
  <cp:revision>5</cp:revision>
  <dcterms:created xsi:type="dcterms:W3CDTF">2026-02-22T05:16:42Z</dcterms:created>
  <dcterms:modified xsi:type="dcterms:W3CDTF">2026-02-25T08:31:46Z</dcterms:modified>
</cp:coreProperties>
</file>