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14" r:id="rId58"/>
    <p:sldId id="315" r:id="rId59"/>
    <p:sldId id="316" r:id="rId60"/>
    <p:sldId id="317" r:id="rId61"/>
    <p:sldId id="318" r:id="rId62"/>
    <p:sldId id="319" r:id="rId63"/>
    <p:sldId id="320" r:id="rId64"/>
    <p:sldId id="321" r:id="rId65"/>
    <p:sldId id="322" r:id="rId66"/>
    <p:sldId id="323" r:id="rId67"/>
    <p:sldId id="324" r:id="rId68"/>
    <p:sldId id="325" r:id="rId69"/>
  </p:sldIdLst>
  <p:sldSz cx="9144000" cy="6858000" type="screen4x3"/>
  <p:notesSz cx="9144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17D966-E2F6-4F85-922E-651319866F28}" v="8" dt="2026-03-02T06:47:04.689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8" d="100"/>
          <a:sy n="118" d="100"/>
        </p:scale>
        <p:origin x="582" y="10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" Type="http://schemas.openxmlformats.org/officeDocument/2006/relationships/slide" Target="slides/slide6.xml"/><Relationship Id="rId71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75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tel rakesh" userId="74ee47eba30fd748" providerId="LiveId" clId="{6D32CA86-25F8-411B-B6F7-5DE79421E0F4}"/>
    <pc:docChg chg="undo custSel addSld delSld modSld">
      <pc:chgData name="patel rakesh" userId="74ee47eba30fd748" providerId="LiveId" clId="{6D32CA86-25F8-411B-B6F7-5DE79421E0F4}" dt="2026-03-02T06:50:15.857" v="34" actId="5793"/>
      <pc:docMkLst>
        <pc:docMk/>
      </pc:docMkLst>
      <pc:sldChg chg="modSp mod">
        <pc:chgData name="patel rakesh" userId="74ee47eba30fd748" providerId="LiveId" clId="{6D32CA86-25F8-411B-B6F7-5DE79421E0F4}" dt="2026-03-02T06:48:13.160" v="31" actId="255"/>
        <pc:sldMkLst>
          <pc:docMk/>
          <pc:sldMk cId="0" sldId="260"/>
        </pc:sldMkLst>
        <pc:spChg chg="mod">
          <ac:chgData name="patel rakesh" userId="74ee47eba30fd748" providerId="LiveId" clId="{6D32CA86-25F8-411B-B6F7-5DE79421E0F4}" dt="2026-03-02T06:46:34.823" v="20" actId="1076"/>
          <ac:spMkLst>
            <pc:docMk/>
            <pc:sldMk cId="0" sldId="260"/>
            <ac:spMk id="2" creationId="{00000000-0000-0000-0000-000000000000}"/>
          </ac:spMkLst>
        </pc:spChg>
        <pc:spChg chg="mod">
          <ac:chgData name="patel rakesh" userId="74ee47eba30fd748" providerId="LiveId" clId="{6D32CA86-25F8-411B-B6F7-5DE79421E0F4}" dt="2026-03-02T06:48:13.160" v="31" actId="255"/>
          <ac:spMkLst>
            <pc:docMk/>
            <pc:sldMk cId="0" sldId="260"/>
            <ac:spMk id="3" creationId="{00000000-0000-0000-0000-000000000000}"/>
          </ac:spMkLst>
        </pc:spChg>
      </pc:sldChg>
      <pc:sldChg chg="modSp mod">
        <pc:chgData name="patel rakesh" userId="74ee47eba30fd748" providerId="LiveId" clId="{6D32CA86-25F8-411B-B6F7-5DE79421E0F4}" dt="2026-03-02T06:50:15.857" v="34" actId="5793"/>
        <pc:sldMkLst>
          <pc:docMk/>
          <pc:sldMk cId="0" sldId="263"/>
        </pc:sldMkLst>
        <pc:spChg chg="mod">
          <ac:chgData name="patel rakesh" userId="74ee47eba30fd748" providerId="LiveId" clId="{6D32CA86-25F8-411B-B6F7-5DE79421E0F4}" dt="2026-03-02T06:50:15.857" v="34" actId="5793"/>
          <ac:spMkLst>
            <pc:docMk/>
            <pc:sldMk cId="0" sldId="263"/>
            <ac:spMk id="3" creationId="{00000000-0000-0000-0000-000000000000}"/>
          </ac:spMkLst>
        </pc:spChg>
      </pc:sldChg>
      <pc:sldChg chg="modSp mod">
        <pc:chgData name="patel rakesh" userId="74ee47eba30fd748" providerId="LiveId" clId="{6D32CA86-25F8-411B-B6F7-5DE79421E0F4}" dt="2026-02-27T08:13:06.507" v="3" actId="20577"/>
        <pc:sldMkLst>
          <pc:docMk/>
          <pc:sldMk cId="0" sldId="268"/>
        </pc:sldMkLst>
        <pc:spChg chg="mod">
          <ac:chgData name="patel rakesh" userId="74ee47eba30fd748" providerId="LiveId" clId="{6D32CA86-25F8-411B-B6F7-5DE79421E0F4}" dt="2026-02-27T08:13:06.507" v="3" actId="20577"/>
          <ac:spMkLst>
            <pc:docMk/>
            <pc:sldMk cId="0" sldId="268"/>
            <ac:spMk id="5" creationId="{00000000-0000-0000-0000-000000000000}"/>
          </ac:spMkLst>
        </pc:spChg>
      </pc:sldChg>
      <pc:sldChg chg="addSp delSp modSp new del">
        <pc:chgData name="patel rakesh" userId="74ee47eba30fd748" providerId="LiveId" clId="{6D32CA86-25F8-411B-B6F7-5DE79421E0F4}" dt="2026-03-02T06:45:17.001" v="9" actId="680"/>
        <pc:sldMkLst>
          <pc:docMk/>
          <pc:sldMk cId="3496470168" sldId="326"/>
        </pc:sldMkLst>
        <pc:spChg chg="add del">
          <ac:chgData name="patel rakesh" userId="74ee47eba30fd748" providerId="LiveId" clId="{6D32CA86-25F8-411B-B6F7-5DE79421E0F4}" dt="2026-03-02T06:45:16.142" v="8"/>
          <ac:spMkLst>
            <pc:docMk/>
            <pc:sldMk cId="3496470168" sldId="326"/>
            <ac:spMk id="3" creationId="{1BF0C61D-021A-DAF7-6DCF-11D6249C40A0}"/>
          </ac:spMkLst>
        </pc:spChg>
        <pc:spChg chg="add del mod">
          <ac:chgData name="patel rakesh" userId="74ee47eba30fd748" providerId="LiveId" clId="{6D32CA86-25F8-411B-B6F7-5DE79421E0F4}" dt="2026-03-02T06:45:16.142" v="8"/>
          <ac:spMkLst>
            <pc:docMk/>
            <pc:sldMk cId="3496470168" sldId="326"/>
            <ac:spMk id="4" creationId="{5DF4B13E-4875-3289-C36A-5FD8416D45A7}"/>
          </ac:spMkLst>
        </pc:spChg>
        <pc:spChg chg="add mod">
          <ac:chgData name="patel rakesh" userId="74ee47eba30fd748" providerId="LiveId" clId="{6D32CA86-25F8-411B-B6F7-5DE79421E0F4}" dt="2026-03-02T06:45:14.767" v="6" actId="21"/>
          <ac:spMkLst>
            <pc:docMk/>
            <pc:sldMk cId="3496470168" sldId="326"/>
            <ac:spMk id="5" creationId="{C7B45C79-50C6-AF47-11D7-14923E4A445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2125980"/>
            <a:ext cx="77724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3840480"/>
            <a:ext cx="64008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1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200" b="1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535940" y="1553083"/>
            <a:ext cx="3340100" cy="4156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577340"/>
            <a:ext cx="397764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8763761" y="761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3810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156447" y="5715000"/>
            <a:ext cx="550545" cy="548640"/>
          </a:xfrm>
          <a:custGeom>
            <a:avLst/>
            <a:gdLst/>
            <a:ahLst/>
            <a:cxnLst/>
            <a:rect l="l" t="t" r="r" b="b"/>
            <a:pathLst>
              <a:path w="550545" h="548639">
                <a:moveTo>
                  <a:pt x="275081" y="0"/>
                </a:moveTo>
                <a:lnTo>
                  <a:pt x="225643" y="4419"/>
                </a:lnTo>
                <a:lnTo>
                  <a:pt x="179109" y="17162"/>
                </a:lnTo>
                <a:lnTo>
                  <a:pt x="136256" y="37453"/>
                </a:lnTo>
                <a:lnTo>
                  <a:pt x="97863" y="64518"/>
                </a:lnTo>
                <a:lnTo>
                  <a:pt x="64706" y="97580"/>
                </a:lnTo>
                <a:lnTo>
                  <a:pt x="37563" y="135867"/>
                </a:lnTo>
                <a:lnTo>
                  <a:pt x="17213" y="178602"/>
                </a:lnTo>
                <a:lnTo>
                  <a:pt x="4432" y="225011"/>
                </a:lnTo>
                <a:lnTo>
                  <a:pt x="0" y="274319"/>
                </a:lnTo>
                <a:lnTo>
                  <a:pt x="4432" y="323628"/>
                </a:lnTo>
                <a:lnTo>
                  <a:pt x="17213" y="370037"/>
                </a:lnTo>
                <a:lnTo>
                  <a:pt x="37563" y="412772"/>
                </a:lnTo>
                <a:lnTo>
                  <a:pt x="64706" y="451059"/>
                </a:lnTo>
                <a:lnTo>
                  <a:pt x="97863" y="484121"/>
                </a:lnTo>
                <a:lnTo>
                  <a:pt x="136256" y="511186"/>
                </a:lnTo>
                <a:lnTo>
                  <a:pt x="179109" y="531477"/>
                </a:lnTo>
                <a:lnTo>
                  <a:pt x="225643" y="544220"/>
                </a:lnTo>
                <a:lnTo>
                  <a:pt x="275081" y="548640"/>
                </a:lnTo>
                <a:lnTo>
                  <a:pt x="324520" y="544220"/>
                </a:lnTo>
                <a:lnTo>
                  <a:pt x="371054" y="531477"/>
                </a:lnTo>
                <a:lnTo>
                  <a:pt x="413907" y="511186"/>
                </a:lnTo>
                <a:lnTo>
                  <a:pt x="452300" y="484121"/>
                </a:lnTo>
                <a:lnTo>
                  <a:pt x="485457" y="451059"/>
                </a:lnTo>
                <a:lnTo>
                  <a:pt x="512600" y="412772"/>
                </a:lnTo>
                <a:lnTo>
                  <a:pt x="532950" y="370037"/>
                </a:lnTo>
                <a:lnTo>
                  <a:pt x="545731" y="323628"/>
                </a:lnTo>
                <a:lnTo>
                  <a:pt x="550163" y="274319"/>
                </a:lnTo>
                <a:lnTo>
                  <a:pt x="545731" y="225011"/>
                </a:lnTo>
                <a:lnTo>
                  <a:pt x="532950" y="178602"/>
                </a:lnTo>
                <a:lnTo>
                  <a:pt x="512600" y="135867"/>
                </a:lnTo>
                <a:lnTo>
                  <a:pt x="485457" y="97580"/>
                </a:lnTo>
                <a:lnTo>
                  <a:pt x="452300" y="64518"/>
                </a:lnTo>
                <a:lnTo>
                  <a:pt x="413907" y="37453"/>
                </a:lnTo>
                <a:lnTo>
                  <a:pt x="371054" y="17162"/>
                </a:lnTo>
                <a:lnTo>
                  <a:pt x="324520" y="4419"/>
                </a:lnTo>
                <a:lnTo>
                  <a:pt x="275081" y="0"/>
                </a:lnTo>
                <a:close/>
              </a:path>
            </a:pathLst>
          </a:custGeom>
          <a:solidFill>
            <a:srgbClr val="FD853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7625" y="0"/>
            <a:ext cx="57150" cy="6858000"/>
          </a:xfrm>
          <a:custGeom>
            <a:avLst/>
            <a:gdLst/>
            <a:ahLst/>
            <a:cxnLst/>
            <a:rect l="l" t="t" r="r" b="b"/>
            <a:pathLst>
              <a:path w="57150" h="6858000">
                <a:moveTo>
                  <a:pt x="11430" y="0"/>
                </a:moveTo>
                <a:lnTo>
                  <a:pt x="0" y="0"/>
                </a:lnTo>
                <a:lnTo>
                  <a:pt x="0" y="6858000"/>
                </a:lnTo>
                <a:lnTo>
                  <a:pt x="11430" y="6858000"/>
                </a:lnTo>
                <a:lnTo>
                  <a:pt x="11430" y="0"/>
                </a:lnTo>
                <a:close/>
              </a:path>
              <a:path w="57150" h="6858000">
                <a:moveTo>
                  <a:pt x="57150" y="0"/>
                </a:moveTo>
                <a:lnTo>
                  <a:pt x="22860" y="0"/>
                </a:lnTo>
                <a:lnTo>
                  <a:pt x="22860" y="6858000"/>
                </a:lnTo>
                <a:lnTo>
                  <a:pt x="57150" y="6858000"/>
                </a:lnTo>
                <a:lnTo>
                  <a:pt x="57150" y="0"/>
                </a:lnTo>
                <a:close/>
              </a:path>
            </a:pathLst>
          </a:custGeom>
          <a:solidFill>
            <a:srgbClr val="FDC3A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8839200" y="0"/>
            <a:ext cx="304800" cy="6858000"/>
          </a:xfrm>
          <a:custGeom>
            <a:avLst/>
            <a:gdLst/>
            <a:ahLst/>
            <a:cxnLst/>
            <a:rect l="l" t="t" r="r" b="b"/>
            <a:pathLst>
              <a:path w="304800" h="6858000">
                <a:moveTo>
                  <a:pt x="304800" y="0"/>
                </a:moveTo>
                <a:lnTo>
                  <a:pt x="0" y="0"/>
                </a:lnTo>
                <a:lnTo>
                  <a:pt x="0" y="6858000"/>
                </a:lnTo>
                <a:lnTo>
                  <a:pt x="304800" y="6858000"/>
                </a:lnTo>
                <a:lnTo>
                  <a:pt x="304800" y="0"/>
                </a:lnTo>
                <a:close/>
              </a:path>
            </a:pathLst>
          </a:custGeom>
          <a:solidFill>
            <a:srgbClr val="FDC3AD">
              <a:alpha val="8705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9154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9525">
            <a:solidFill>
              <a:srgbClr val="FD853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83514" y="32111"/>
            <a:ext cx="7069175" cy="134672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rgbClr val="565F6C"/>
                </a:solidFill>
                <a:latin typeface="Cambria"/>
                <a:cs typeface="Cambr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5940" y="1532661"/>
            <a:ext cx="5746115" cy="41840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200" b="1" i="0">
                <a:solidFill>
                  <a:schemeClr val="tx1"/>
                </a:solidFill>
                <a:latin typeface="Courier New"/>
                <a:cs typeface="Courier New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6377940"/>
            <a:ext cx="292608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6377940"/>
            <a:ext cx="210312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306689" y="5889964"/>
            <a:ext cx="269240" cy="2228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bg1"/>
                </a:solidFill>
                <a:latin typeface="Times New Roman"/>
                <a:cs typeface="Times New Roman"/>
              </a:defRPr>
            </a:lvl1pPr>
          </a:lstStyle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381000" y="0"/>
            <a:ext cx="443865" cy="6858000"/>
          </a:xfrm>
          <a:custGeom>
            <a:avLst/>
            <a:gdLst/>
            <a:ahLst/>
            <a:cxnLst/>
            <a:rect l="l" t="t" r="r" b="b"/>
            <a:pathLst>
              <a:path w="443865" h="6858000">
                <a:moveTo>
                  <a:pt x="0" y="6858000"/>
                </a:moveTo>
                <a:lnTo>
                  <a:pt x="443865" y="6858000"/>
                </a:lnTo>
                <a:lnTo>
                  <a:pt x="443865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DC3AD">
              <a:alpha val="5411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/>
          <p:nvPr/>
        </p:nvSpPr>
        <p:spPr>
          <a:xfrm>
            <a:off x="882014" y="0"/>
            <a:ext cx="3810" cy="6858000"/>
          </a:xfrm>
          <a:custGeom>
            <a:avLst/>
            <a:gdLst/>
            <a:ahLst/>
            <a:cxnLst/>
            <a:rect l="l" t="t" r="r" b="b"/>
            <a:pathLst>
              <a:path w="3809" h="6858000">
                <a:moveTo>
                  <a:pt x="0" y="6858000"/>
                </a:moveTo>
                <a:lnTo>
                  <a:pt x="3809" y="6858000"/>
                </a:lnTo>
                <a:lnTo>
                  <a:pt x="3809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DC3AD">
              <a:alpha val="5411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942975" y="0"/>
            <a:ext cx="47625" cy="6858000"/>
          </a:xfrm>
          <a:custGeom>
            <a:avLst/>
            <a:gdLst/>
            <a:ahLst/>
            <a:cxnLst/>
            <a:rect l="l" t="t" r="r" b="b"/>
            <a:pathLst>
              <a:path w="47625" h="6858000">
                <a:moveTo>
                  <a:pt x="0" y="6858000"/>
                </a:moveTo>
                <a:lnTo>
                  <a:pt x="47625" y="6858000"/>
                </a:lnTo>
                <a:lnTo>
                  <a:pt x="47625" y="0"/>
                </a:lnTo>
                <a:lnTo>
                  <a:pt x="0" y="0"/>
                </a:lnTo>
                <a:lnTo>
                  <a:pt x="0" y="6858000"/>
                </a:lnTo>
                <a:close/>
              </a:path>
            </a:pathLst>
          </a:custGeom>
          <a:solidFill>
            <a:srgbClr val="FDC3AD">
              <a:alpha val="5411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>
            <a:off x="275843" y="0"/>
            <a:ext cx="105410" cy="6858000"/>
          </a:xfrm>
          <a:custGeom>
            <a:avLst/>
            <a:gdLst/>
            <a:ahLst/>
            <a:cxnLst/>
            <a:rect l="l" t="t" r="r" b="b"/>
            <a:pathLst>
              <a:path w="105410" h="6858000">
                <a:moveTo>
                  <a:pt x="105156" y="0"/>
                </a:moveTo>
                <a:lnTo>
                  <a:pt x="0" y="0"/>
                </a:lnTo>
                <a:lnTo>
                  <a:pt x="0" y="6858000"/>
                </a:lnTo>
                <a:lnTo>
                  <a:pt x="105156" y="6858000"/>
                </a:lnTo>
                <a:lnTo>
                  <a:pt x="105156" y="0"/>
                </a:lnTo>
                <a:close/>
              </a:path>
            </a:pathLst>
          </a:custGeom>
          <a:solidFill>
            <a:srgbClr val="FFD9CE">
              <a:alpha val="3607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990600" y="0"/>
            <a:ext cx="381000" cy="6858000"/>
            <a:chOff x="990600" y="0"/>
            <a:chExt cx="381000" cy="6858000"/>
          </a:xfrm>
        </p:grpSpPr>
        <p:sp>
          <p:nvSpPr>
            <p:cNvPr id="7" name="object 7"/>
            <p:cNvSpPr/>
            <p:nvPr/>
          </p:nvSpPr>
          <p:spPr>
            <a:xfrm>
              <a:off x="990600" y="0"/>
              <a:ext cx="182880" cy="6858000"/>
            </a:xfrm>
            <a:custGeom>
              <a:avLst/>
              <a:gdLst/>
              <a:ahLst/>
              <a:cxnLst/>
              <a:rect l="l" t="t" r="r" b="b"/>
              <a:pathLst>
                <a:path w="182880" h="6858000">
                  <a:moveTo>
                    <a:pt x="18288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182880" y="6858000"/>
                  </a:lnTo>
                  <a:lnTo>
                    <a:pt x="182880" y="0"/>
                  </a:lnTo>
                  <a:close/>
                </a:path>
              </a:pathLst>
            </a:custGeom>
            <a:solidFill>
              <a:srgbClr val="FFD9CE">
                <a:alpha val="7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41476" y="0"/>
              <a:ext cx="230504" cy="6858000"/>
            </a:xfrm>
            <a:custGeom>
              <a:avLst/>
              <a:gdLst/>
              <a:ahLst/>
              <a:cxnLst/>
              <a:rect l="l" t="t" r="r" b="b"/>
              <a:pathLst>
                <a:path w="230505" h="6858000">
                  <a:moveTo>
                    <a:pt x="230124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230124" y="6858000"/>
                  </a:lnTo>
                  <a:lnTo>
                    <a:pt x="230124" y="0"/>
                  </a:lnTo>
                  <a:close/>
                </a:path>
              </a:pathLst>
            </a:custGeom>
            <a:solidFill>
              <a:srgbClr val="FFECE8">
                <a:alpha val="709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106679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1" y="6857999"/>
                </a:lnTo>
              </a:path>
            </a:pathLst>
          </a:custGeom>
          <a:ln w="57150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0" name="object 10"/>
          <p:cNvGrpSpPr/>
          <p:nvPr/>
        </p:nvGrpSpPr>
        <p:grpSpPr>
          <a:xfrm>
            <a:off x="824864" y="0"/>
            <a:ext cx="118110" cy="6858000"/>
            <a:chOff x="824864" y="0"/>
            <a:chExt cx="118110" cy="6858000"/>
          </a:xfrm>
        </p:grpSpPr>
        <p:sp>
          <p:nvSpPr>
            <p:cNvPr id="11" name="object 11"/>
            <p:cNvSpPr/>
            <p:nvPr/>
          </p:nvSpPr>
          <p:spPr>
            <a:xfrm>
              <a:off x="885824" y="0"/>
              <a:ext cx="57150" cy="6858000"/>
            </a:xfrm>
            <a:custGeom>
              <a:avLst/>
              <a:gdLst/>
              <a:ahLst/>
              <a:cxnLst/>
              <a:rect l="l" t="t" r="r" b="b"/>
              <a:pathLst>
                <a:path w="57150" h="6858000">
                  <a:moveTo>
                    <a:pt x="0" y="6857999"/>
                  </a:moveTo>
                  <a:lnTo>
                    <a:pt x="57150" y="6857999"/>
                  </a:lnTo>
                  <a:lnTo>
                    <a:pt x="57150" y="0"/>
                  </a:lnTo>
                  <a:lnTo>
                    <a:pt x="0" y="0"/>
                  </a:lnTo>
                  <a:lnTo>
                    <a:pt x="0" y="6857999"/>
                  </a:lnTo>
                  <a:close/>
                </a:path>
              </a:pathLst>
            </a:custGeom>
            <a:solidFill>
              <a:srgbClr val="FFEC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824864" y="0"/>
              <a:ext cx="57150" cy="6858000"/>
            </a:xfrm>
            <a:custGeom>
              <a:avLst/>
              <a:gdLst/>
              <a:ahLst/>
              <a:cxnLst/>
              <a:rect l="l" t="t" r="r" b="b"/>
              <a:pathLst>
                <a:path w="57150" h="6858000">
                  <a:moveTo>
                    <a:pt x="0" y="6857999"/>
                  </a:moveTo>
                  <a:lnTo>
                    <a:pt x="57150" y="6857999"/>
                  </a:lnTo>
                  <a:lnTo>
                    <a:pt x="57150" y="0"/>
                  </a:lnTo>
                  <a:lnTo>
                    <a:pt x="0" y="0"/>
                  </a:lnTo>
                  <a:lnTo>
                    <a:pt x="0" y="6857999"/>
                  </a:lnTo>
                  <a:close/>
                </a:path>
              </a:pathLst>
            </a:custGeom>
            <a:solidFill>
              <a:srgbClr val="FDC3A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/>
          <p:nvPr/>
        </p:nvSpPr>
        <p:spPr>
          <a:xfrm>
            <a:off x="1727454" y="761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28575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/>
          <p:nvPr/>
        </p:nvSpPr>
        <p:spPr>
          <a:xfrm>
            <a:off x="1066800" y="0"/>
            <a:ext cx="0" cy="6858000"/>
          </a:xfrm>
          <a:custGeom>
            <a:avLst/>
            <a:gdLst/>
            <a:ahLst/>
            <a:cxnLst/>
            <a:rect l="l" t="t" r="r" b="b"/>
            <a:pathLst>
              <a:path h="6858000">
                <a:moveTo>
                  <a:pt x="0" y="0"/>
                </a:moveTo>
                <a:lnTo>
                  <a:pt x="0" y="6857999"/>
                </a:lnTo>
              </a:path>
            </a:pathLst>
          </a:custGeom>
          <a:ln w="9525">
            <a:solidFill>
              <a:srgbClr val="FDC3AD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/>
          <p:nvPr/>
        </p:nvSpPr>
        <p:spPr>
          <a:xfrm>
            <a:off x="9084945" y="0"/>
            <a:ext cx="57150" cy="6858000"/>
          </a:xfrm>
          <a:custGeom>
            <a:avLst/>
            <a:gdLst/>
            <a:ahLst/>
            <a:cxnLst/>
            <a:rect l="l" t="t" r="r" b="b"/>
            <a:pathLst>
              <a:path w="57150" h="6858000">
                <a:moveTo>
                  <a:pt x="11430" y="0"/>
                </a:moveTo>
                <a:lnTo>
                  <a:pt x="0" y="0"/>
                </a:lnTo>
                <a:lnTo>
                  <a:pt x="0" y="6858000"/>
                </a:lnTo>
                <a:lnTo>
                  <a:pt x="11430" y="6858000"/>
                </a:lnTo>
                <a:lnTo>
                  <a:pt x="11430" y="0"/>
                </a:lnTo>
                <a:close/>
              </a:path>
              <a:path w="57150" h="6858000">
                <a:moveTo>
                  <a:pt x="57150" y="0"/>
                </a:moveTo>
                <a:lnTo>
                  <a:pt x="22860" y="0"/>
                </a:lnTo>
                <a:lnTo>
                  <a:pt x="22860" y="6858000"/>
                </a:lnTo>
                <a:lnTo>
                  <a:pt x="57150" y="6858000"/>
                </a:lnTo>
                <a:lnTo>
                  <a:pt x="57150" y="0"/>
                </a:lnTo>
                <a:close/>
              </a:path>
            </a:pathLst>
          </a:custGeom>
          <a:solidFill>
            <a:srgbClr val="FDC3A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16" name="object 16"/>
          <p:cNvGrpSpPr/>
          <p:nvPr/>
        </p:nvGrpSpPr>
        <p:grpSpPr>
          <a:xfrm>
            <a:off x="609600" y="0"/>
            <a:ext cx="1661160" cy="6858000"/>
            <a:chOff x="609600" y="0"/>
            <a:chExt cx="1661160" cy="6858000"/>
          </a:xfrm>
        </p:grpSpPr>
        <p:sp>
          <p:nvSpPr>
            <p:cNvPr id="17" name="object 17"/>
            <p:cNvSpPr/>
            <p:nvPr/>
          </p:nvSpPr>
          <p:spPr>
            <a:xfrm>
              <a:off x="1219200" y="0"/>
              <a:ext cx="76200" cy="6858000"/>
            </a:xfrm>
            <a:custGeom>
              <a:avLst/>
              <a:gdLst/>
              <a:ahLst/>
              <a:cxnLst/>
              <a:rect l="l" t="t" r="r" b="b"/>
              <a:pathLst>
                <a:path w="76200" h="6858000">
                  <a:moveTo>
                    <a:pt x="762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76200" y="6858000"/>
                  </a:lnTo>
                  <a:lnTo>
                    <a:pt x="76200" y="0"/>
                  </a:lnTo>
                  <a:close/>
                </a:path>
              </a:pathLst>
            </a:custGeom>
            <a:solidFill>
              <a:srgbClr val="FDC3AD">
                <a:alpha val="5097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609600" y="3429000"/>
              <a:ext cx="1341120" cy="2080260"/>
            </a:xfrm>
            <a:custGeom>
              <a:avLst/>
              <a:gdLst/>
              <a:ahLst/>
              <a:cxnLst/>
              <a:rect l="l" t="t" r="r" b="b"/>
              <a:pathLst>
                <a:path w="1341120" h="2080260">
                  <a:moveTo>
                    <a:pt x="1295400" y="647700"/>
                  </a:moveTo>
                  <a:lnTo>
                    <a:pt x="1293622" y="599363"/>
                  </a:lnTo>
                  <a:lnTo>
                    <a:pt x="1288376" y="551980"/>
                  </a:lnTo>
                  <a:lnTo>
                    <a:pt x="1279779" y="505701"/>
                  </a:lnTo>
                  <a:lnTo>
                    <a:pt x="1267968" y="460629"/>
                  </a:lnTo>
                  <a:lnTo>
                    <a:pt x="1253070" y="416890"/>
                  </a:lnTo>
                  <a:lnTo>
                    <a:pt x="1235202" y="374637"/>
                  </a:lnTo>
                  <a:lnTo>
                    <a:pt x="1214488" y="333959"/>
                  </a:lnTo>
                  <a:lnTo>
                    <a:pt x="1191056" y="295008"/>
                  </a:lnTo>
                  <a:lnTo>
                    <a:pt x="1165034" y="257898"/>
                  </a:lnTo>
                  <a:lnTo>
                    <a:pt x="1136535" y="222745"/>
                  </a:lnTo>
                  <a:lnTo>
                    <a:pt x="1105700" y="189699"/>
                  </a:lnTo>
                  <a:lnTo>
                    <a:pt x="1072654" y="158864"/>
                  </a:lnTo>
                  <a:lnTo>
                    <a:pt x="1037501" y="130365"/>
                  </a:lnTo>
                  <a:lnTo>
                    <a:pt x="1000391" y="104343"/>
                  </a:lnTo>
                  <a:lnTo>
                    <a:pt x="961440" y="80911"/>
                  </a:lnTo>
                  <a:lnTo>
                    <a:pt x="920762" y="60198"/>
                  </a:lnTo>
                  <a:lnTo>
                    <a:pt x="878509" y="42329"/>
                  </a:lnTo>
                  <a:lnTo>
                    <a:pt x="834771" y="27432"/>
                  </a:lnTo>
                  <a:lnTo>
                    <a:pt x="789698" y="15621"/>
                  </a:lnTo>
                  <a:lnTo>
                    <a:pt x="743419" y="7023"/>
                  </a:lnTo>
                  <a:lnTo>
                    <a:pt x="696036" y="1778"/>
                  </a:lnTo>
                  <a:lnTo>
                    <a:pt x="647700" y="0"/>
                  </a:lnTo>
                  <a:lnTo>
                    <a:pt x="599351" y="1778"/>
                  </a:lnTo>
                  <a:lnTo>
                    <a:pt x="551980" y="7023"/>
                  </a:lnTo>
                  <a:lnTo>
                    <a:pt x="505701" y="15621"/>
                  </a:lnTo>
                  <a:lnTo>
                    <a:pt x="460629" y="27432"/>
                  </a:lnTo>
                  <a:lnTo>
                    <a:pt x="416902" y="42329"/>
                  </a:lnTo>
                  <a:lnTo>
                    <a:pt x="374637" y="60198"/>
                  </a:lnTo>
                  <a:lnTo>
                    <a:pt x="333971" y="80911"/>
                  </a:lnTo>
                  <a:lnTo>
                    <a:pt x="295008" y="104343"/>
                  </a:lnTo>
                  <a:lnTo>
                    <a:pt x="257898" y="130365"/>
                  </a:lnTo>
                  <a:lnTo>
                    <a:pt x="222758" y="158864"/>
                  </a:lnTo>
                  <a:lnTo>
                    <a:pt x="189699" y="189699"/>
                  </a:lnTo>
                  <a:lnTo>
                    <a:pt x="158864" y="222745"/>
                  </a:lnTo>
                  <a:lnTo>
                    <a:pt x="130365" y="257898"/>
                  </a:lnTo>
                  <a:lnTo>
                    <a:pt x="104343" y="295008"/>
                  </a:lnTo>
                  <a:lnTo>
                    <a:pt x="80911" y="333959"/>
                  </a:lnTo>
                  <a:lnTo>
                    <a:pt x="60185" y="374637"/>
                  </a:lnTo>
                  <a:lnTo>
                    <a:pt x="42316" y="416890"/>
                  </a:lnTo>
                  <a:lnTo>
                    <a:pt x="27419" y="460629"/>
                  </a:lnTo>
                  <a:lnTo>
                    <a:pt x="15608" y="505701"/>
                  </a:lnTo>
                  <a:lnTo>
                    <a:pt x="7010" y="551980"/>
                  </a:lnTo>
                  <a:lnTo>
                    <a:pt x="1765" y="599363"/>
                  </a:lnTo>
                  <a:lnTo>
                    <a:pt x="0" y="647700"/>
                  </a:lnTo>
                  <a:lnTo>
                    <a:pt x="1765" y="696048"/>
                  </a:lnTo>
                  <a:lnTo>
                    <a:pt x="7010" y="743432"/>
                  </a:lnTo>
                  <a:lnTo>
                    <a:pt x="15608" y="789711"/>
                  </a:lnTo>
                  <a:lnTo>
                    <a:pt x="27419" y="834783"/>
                  </a:lnTo>
                  <a:lnTo>
                    <a:pt x="42316" y="878522"/>
                  </a:lnTo>
                  <a:lnTo>
                    <a:pt x="60185" y="920775"/>
                  </a:lnTo>
                  <a:lnTo>
                    <a:pt x="80911" y="961453"/>
                  </a:lnTo>
                  <a:lnTo>
                    <a:pt x="104343" y="1000404"/>
                  </a:lnTo>
                  <a:lnTo>
                    <a:pt x="130365" y="1037513"/>
                  </a:lnTo>
                  <a:lnTo>
                    <a:pt x="158864" y="1072667"/>
                  </a:lnTo>
                  <a:lnTo>
                    <a:pt x="189699" y="1105712"/>
                  </a:lnTo>
                  <a:lnTo>
                    <a:pt x="222758" y="1136548"/>
                  </a:lnTo>
                  <a:lnTo>
                    <a:pt x="257898" y="1165047"/>
                  </a:lnTo>
                  <a:lnTo>
                    <a:pt x="295008" y="1191069"/>
                  </a:lnTo>
                  <a:lnTo>
                    <a:pt x="333971" y="1214501"/>
                  </a:lnTo>
                  <a:lnTo>
                    <a:pt x="374637" y="1235214"/>
                  </a:lnTo>
                  <a:lnTo>
                    <a:pt x="416902" y="1253083"/>
                  </a:lnTo>
                  <a:lnTo>
                    <a:pt x="460629" y="1267980"/>
                  </a:lnTo>
                  <a:lnTo>
                    <a:pt x="505701" y="1279791"/>
                  </a:lnTo>
                  <a:lnTo>
                    <a:pt x="551980" y="1288389"/>
                  </a:lnTo>
                  <a:lnTo>
                    <a:pt x="599351" y="1293634"/>
                  </a:lnTo>
                  <a:lnTo>
                    <a:pt x="647700" y="1295400"/>
                  </a:lnTo>
                  <a:lnTo>
                    <a:pt x="696036" y="1293634"/>
                  </a:lnTo>
                  <a:lnTo>
                    <a:pt x="743419" y="1288389"/>
                  </a:lnTo>
                  <a:lnTo>
                    <a:pt x="789698" y="1279791"/>
                  </a:lnTo>
                  <a:lnTo>
                    <a:pt x="834771" y="1267980"/>
                  </a:lnTo>
                  <a:lnTo>
                    <a:pt x="878509" y="1253083"/>
                  </a:lnTo>
                  <a:lnTo>
                    <a:pt x="920762" y="1235214"/>
                  </a:lnTo>
                  <a:lnTo>
                    <a:pt x="961440" y="1214501"/>
                  </a:lnTo>
                  <a:lnTo>
                    <a:pt x="1000391" y="1191069"/>
                  </a:lnTo>
                  <a:lnTo>
                    <a:pt x="1037501" y="1165047"/>
                  </a:lnTo>
                  <a:lnTo>
                    <a:pt x="1072654" y="1136548"/>
                  </a:lnTo>
                  <a:lnTo>
                    <a:pt x="1105700" y="1105712"/>
                  </a:lnTo>
                  <a:lnTo>
                    <a:pt x="1136535" y="1072667"/>
                  </a:lnTo>
                  <a:lnTo>
                    <a:pt x="1165034" y="1037513"/>
                  </a:lnTo>
                  <a:lnTo>
                    <a:pt x="1191056" y="1000404"/>
                  </a:lnTo>
                  <a:lnTo>
                    <a:pt x="1214488" y="961453"/>
                  </a:lnTo>
                  <a:lnTo>
                    <a:pt x="1235202" y="920775"/>
                  </a:lnTo>
                  <a:lnTo>
                    <a:pt x="1253070" y="878522"/>
                  </a:lnTo>
                  <a:lnTo>
                    <a:pt x="1267968" y="834783"/>
                  </a:lnTo>
                  <a:lnTo>
                    <a:pt x="1279779" y="789711"/>
                  </a:lnTo>
                  <a:lnTo>
                    <a:pt x="1288376" y="743432"/>
                  </a:lnTo>
                  <a:lnTo>
                    <a:pt x="1293622" y="696048"/>
                  </a:lnTo>
                  <a:lnTo>
                    <a:pt x="1295400" y="647700"/>
                  </a:lnTo>
                  <a:close/>
                </a:path>
                <a:path w="1341120" h="2080260">
                  <a:moveTo>
                    <a:pt x="1341120" y="1759458"/>
                  </a:moveTo>
                  <a:lnTo>
                    <a:pt x="1337640" y="1712061"/>
                  </a:lnTo>
                  <a:lnTo>
                    <a:pt x="1327531" y="1666811"/>
                  </a:lnTo>
                  <a:lnTo>
                    <a:pt x="1311300" y="1624228"/>
                  </a:lnTo>
                  <a:lnTo>
                    <a:pt x="1289431" y="1584782"/>
                  </a:lnTo>
                  <a:lnTo>
                    <a:pt x="1262418" y="1548993"/>
                  </a:lnTo>
                  <a:lnTo>
                    <a:pt x="1230782" y="1517357"/>
                  </a:lnTo>
                  <a:lnTo>
                    <a:pt x="1194993" y="1490345"/>
                  </a:lnTo>
                  <a:lnTo>
                    <a:pt x="1155547" y="1468475"/>
                  </a:lnTo>
                  <a:lnTo>
                    <a:pt x="1112964" y="1452245"/>
                  </a:lnTo>
                  <a:lnTo>
                    <a:pt x="1067714" y="1442135"/>
                  </a:lnTo>
                  <a:lnTo>
                    <a:pt x="1020318" y="1438656"/>
                  </a:lnTo>
                  <a:lnTo>
                    <a:pt x="972908" y="1442135"/>
                  </a:lnTo>
                  <a:lnTo>
                    <a:pt x="927658" y="1452245"/>
                  </a:lnTo>
                  <a:lnTo>
                    <a:pt x="885075" y="1468475"/>
                  </a:lnTo>
                  <a:lnTo>
                    <a:pt x="845629" y="1490345"/>
                  </a:lnTo>
                  <a:lnTo>
                    <a:pt x="809840" y="1517357"/>
                  </a:lnTo>
                  <a:lnTo>
                    <a:pt x="778205" y="1548993"/>
                  </a:lnTo>
                  <a:lnTo>
                    <a:pt x="751192" y="1584782"/>
                  </a:lnTo>
                  <a:lnTo>
                    <a:pt x="729322" y="1624228"/>
                  </a:lnTo>
                  <a:lnTo>
                    <a:pt x="713092" y="1666811"/>
                  </a:lnTo>
                  <a:lnTo>
                    <a:pt x="702983" y="1712061"/>
                  </a:lnTo>
                  <a:lnTo>
                    <a:pt x="699516" y="1759458"/>
                  </a:lnTo>
                  <a:lnTo>
                    <a:pt x="702983" y="1806867"/>
                  </a:lnTo>
                  <a:lnTo>
                    <a:pt x="713092" y="1852117"/>
                  </a:lnTo>
                  <a:lnTo>
                    <a:pt x="729322" y="1894700"/>
                  </a:lnTo>
                  <a:lnTo>
                    <a:pt x="751192" y="1934146"/>
                  </a:lnTo>
                  <a:lnTo>
                    <a:pt x="778205" y="1969935"/>
                  </a:lnTo>
                  <a:lnTo>
                    <a:pt x="809840" y="2001570"/>
                  </a:lnTo>
                  <a:lnTo>
                    <a:pt x="845629" y="2028583"/>
                  </a:lnTo>
                  <a:lnTo>
                    <a:pt x="885075" y="2050453"/>
                  </a:lnTo>
                  <a:lnTo>
                    <a:pt x="927658" y="2066683"/>
                  </a:lnTo>
                  <a:lnTo>
                    <a:pt x="972908" y="2076792"/>
                  </a:lnTo>
                  <a:lnTo>
                    <a:pt x="1020318" y="2080260"/>
                  </a:lnTo>
                  <a:lnTo>
                    <a:pt x="1067714" y="2076792"/>
                  </a:lnTo>
                  <a:lnTo>
                    <a:pt x="1112964" y="2066683"/>
                  </a:lnTo>
                  <a:lnTo>
                    <a:pt x="1155547" y="2050453"/>
                  </a:lnTo>
                  <a:lnTo>
                    <a:pt x="1194993" y="2028583"/>
                  </a:lnTo>
                  <a:lnTo>
                    <a:pt x="1230782" y="2001570"/>
                  </a:lnTo>
                  <a:lnTo>
                    <a:pt x="1262418" y="1969935"/>
                  </a:lnTo>
                  <a:lnTo>
                    <a:pt x="1289431" y="1934146"/>
                  </a:lnTo>
                  <a:lnTo>
                    <a:pt x="1311300" y="1894700"/>
                  </a:lnTo>
                  <a:lnTo>
                    <a:pt x="1327531" y="1852117"/>
                  </a:lnTo>
                  <a:lnTo>
                    <a:pt x="1337640" y="1806867"/>
                  </a:lnTo>
                  <a:lnTo>
                    <a:pt x="1341120" y="1759458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91183" y="5500115"/>
              <a:ext cx="137159" cy="137159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1664195" y="4495800"/>
              <a:ext cx="607060" cy="1567180"/>
            </a:xfrm>
            <a:custGeom>
              <a:avLst/>
              <a:gdLst/>
              <a:ahLst/>
              <a:cxnLst/>
              <a:rect l="l" t="t" r="r" b="b"/>
              <a:pathLst>
                <a:path w="607060" h="1567179">
                  <a:moveTo>
                    <a:pt x="274332" y="1429512"/>
                  </a:moveTo>
                  <a:lnTo>
                    <a:pt x="267322" y="1386166"/>
                  </a:lnTo>
                  <a:lnTo>
                    <a:pt x="247840" y="1348511"/>
                  </a:lnTo>
                  <a:lnTo>
                    <a:pt x="218147" y="1318818"/>
                  </a:lnTo>
                  <a:lnTo>
                    <a:pt x="180492" y="1299349"/>
                  </a:lnTo>
                  <a:lnTo>
                    <a:pt x="137172" y="1292352"/>
                  </a:lnTo>
                  <a:lnTo>
                    <a:pt x="93840" y="1299349"/>
                  </a:lnTo>
                  <a:lnTo>
                    <a:pt x="56184" y="1318818"/>
                  </a:lnTo>
                  <a:lnTo>
                    <a:pt x="26492" y="1348511"/>
                  </a:lnTo>
                  <a:lnTo>
                    <a:pt x="7010" y="1386166"/>
                  </a:lnTo>
                  <a:lnTo>
                    <a:pt x="0" y="1429512"/>
                  </a:lnTo>
                  <a:lnTo>
                    <a:pt x="7010" y="1472869"/>
                  </a:lnTo>
                  <a:lnTo>
                    <a:pt x="26492" y="1510525"/>
                  </a:lnTo>
                  <a:lnTo>
                    <a:pt x="56184" y="1540217"/>
                  </a:lnTo>
                  <a:lnTo>
                    <a:pt x="93840" y="1559687"/>
                  </a:lnTo>
                  <a:lnTo>
                    <a:pt x="137172" y="1566672"/>
                  </a:lnTo>
                  <a:lnTo>
                    <a:pt x="180492" y="1559687"/>
                  </a:lnTo>
                  <a:lnTo>
                    <a:pt x="218147" y="1540217"/>
                  </a:lnTo>
                  <a:lnTo>
                    <a:pt x="247840" y="1510525"/>
                  </a:lnTo>
                  <a:lnTo>
                    <a:pt x="267322" y="1472869"/>
                  </a:lnTo>
                  <a:lnTo>
                    <a:pt x="274332" y="1429512"/>
                  </a:lnTo>
                  <a:close/>
                </a:path>
                <a:path w="607060" h="1567179">
                  <a:moveTo>
                    <a:pt x="606564" y="182880"/>
                  </a:moveTo>
                  <a:lnTo>
                    <a:pt x="600024" y="134277"/>
                  </a:lnTo>
                  <a:lnTo>
                    <a:pt x="581583" y="90601"/>
                  </a:lnTo>
                  <a:lnTo>
                    <a:pt x="552983" y="53581"/>
                  </a:lnTo>
                  <a:lnTo>
                    <a:pt x="515962" y="24980"/>
                  </a:lnTo>
                  <a:lnTo>
                    <a:pt x="472287" y="6540"/>
                  </a:lnTo>
                  <a:lnTo>
                    <a:pt x="423684" y="0"/>
                  </a:lnTo>
                  <a:lnTo>
                    <a:pt x="375069" y="6540"/>
                  </a:lnTo>
                  <a:lnTo>
                    <a:pt x="331393" y="24980"/>
                  </a:lnTo>
                  <a:lnTo>
                    <a:pt x="294373" y="53581"/>
                  </a:lnTo>
                  <a:lnTo>
                    <a:pt x="265772" y="90601"/>
                  </a:lnTo>
                  <a:lnTo>
                    <a:pt x="247332" y="134277"/>
                  </a:lnTo>
                  <a:lnTo>
                    <a:pt x="240804" y="182880"/>
                  </a:lnTo>
                  <a:lnTo>
                    <a:pt x="247332" y="231495"/>
                  </a:lnTo>
                  <a:lnTo>
                    <a:pt x="265772" y="275170"/>
                  </a:lnTo>
                  <a:lnTo>
                    <a:pt x="294373" y="312191"/>
                  </a:lnTo>
                  <a:lnTo>
                    <a:pt x="331393" y="340791"/>
                  </a:lnTo>
                  <a:lnTo>
                    <a:pt x="375069" y="359232"/>
                  </a:lnTo>
                  <a:lnTo>
                    <a:pt x="423684" y="365760"/>
                  </a:lnTo>
                  <a:lnTo>
                    <a:pt x="472287" y="359232"/>
                  </a:lnTo>
                  <a:lnTo>
                    <a:pt x="515962" y="340791"/>
                  </a:lnTo>
                  <a:lnTo>
                    <a:pt x="552983" y="312191"/>
                  </a:lnTo>
                  <a:lnTo>
                    <a:pt x="581583" y="275170"/>
                  </a:lnTo>
                  <a:lnTo>
                    <a:pt x="600024" y="231495"/>
                  </a:lnTo>
                  <a:lnTo>
                    <a:pt x="606564" y="18288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1" name="object 21"/>
          <p:cNvSpPr txBox="1">
            <a:spLocks noGrp="1"/>
          </p:cNvSpPr>
          <p:nvPr>
            <p:ph type="title"/>
          </p:nvPr>
        </p:nvSpPr>
        <p:spPr>
          <a:xfrm>
            <a:off x="2364994" y="4334078"/>
            <a:ext cx="3862070" cy="63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4000" cap="small" dirty="0">
                <a:latin typeface="Times New Roman"/>
                <a:cs typeface="Times New Roman"/>
              </a:rPr>
              <a:t>Shell</a:t>
            </a:r>
            <a:r>
              <a:rPr sz="4000" cap="small" spc="-5" dirty="0">
                <a:latin typeface="Times New Roman"/>
                <a:cs typeface="Times New Roman"/>
              </a:rPr>
              <a:t> </a:t>
            </a:r>
            <a:r>
              <a:rPr sz="4000" cap="small" spc="-50" dirty="0">
                <a:latin typeface="Times New Roman"/>
                <a:cs typeface="Times New Roman"/>
              </a:rPr>
              <a:t>Scripting</a:t>
            </a:r>
            <a:endParaRPr sz="40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03497" y="331978"/>
            <a:ext cx="209105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>
                <a:solidFill>
                  <a:srgbClr val="000000"/>
                </a:solidFill>
              </a:rPr>
              <a:t>What</a:t>
            </a:r>
            <a:r>
              <a:rPr spc="170" dirty="0">
                <a:solidFill>
                  <a:srgbClr val="000000"/>
                </a:solidFill>
              </a:rPr>
              <a:t> </a:t>
            </a:r>
            <a:r>
              <a:rPr spc="110" dirty="0">
                <a:solidFill>
                  <a:srgbClr val="000000"/>
                </a:solidFill>
              </a:rPr>
              <a:t>is</a:t>
            </a:r>
            <a:r>
              <a:rPr spc="165" dirty="0">
                <a:solidFill>
                  <a:srgbClr val="000000"/>
                </a:solidFill>
              </a:rPr>
              <a:t> </a:t>
            </a:r>
            <a:r>
              <a:rPr spc="155" dirty="0">
                <a:solidFill>
                  <a:srgbClr val="000000"/>
                </a:solidFill>
              </a:rPr>
              <a:t>Shell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2</a:t>
            </a:fld>
            <a:endParaRPr spc="-50" dirty="0"/>
          </a:p>
        </p:txBody>
      </p:sp>
      <p:sp>
        <p:nvSpPr>
          <p:cNvPr id="3" name="object 3"/>
          <p:cNvSpPr txBox="1"/>
          <p:nvPr/>
        </p:nvSpPr>
        <p:spPr>
          <a:xfrm>
            <a:off x="383540" y="954303"/>
            <a:ext cx="8002905" cy="35477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5600" marR="1213485" indent="-342900">
              <a:lnSpc>
                <a:spcPct val="150100"/>
              </a:lnSpc>
              <a:spcBef>
                <a:spcPts val="100"/>
              </a:spcBef>
              <a:buFont typeface="Arial MT"/>
              <a:buChar char="•"/>
              <a:tabLst>
                <a:tab pos="355600" algn="l"/>
              </a:tabLst>
            </a:pPr>
            <a:r>
              <a:rPr sz="2200" spc="204" dirty="0">
                <a:latin typeface="Cambria"/>
                <a:cs typeface="Cambria"/>
              </a:rPr>
              <a:t>A</a:t>
            </a:r>
            <a:r>
              <a:rPr sz="2200" spc="35" dirty="0">
                <a:latin typeface="Cambria"/>
                <a:cs typeface="Cambria"/>
              </a:rPr>
              <a:t> </a:t>
            </a:r>
            <a:r>
              <a:rPr sz="2200" spc="75" dirty="0">
                <a:latin typeface="Cambria"/>
                <a:cs typeface="Cambria"/>
              </a:rPr>
              <a:t>shell</a:t>
            </a:r>
            <a:r>
              <a:rPr sz="2200" spc="145" dirty="0">
                <a:latin typeface="Cambria"/>
                <a:cs typeface="Cambria"/>
              </a:rPr>
              <a:t> </a:t>
            </a:r>
            <a:r>
              <a:rPr sz="2200" spc="70" dirty="0">
                <a:latin typeface="Cambria"/>
                <a:cs typeface="Cambria"/>
              </a:rPr>
              <a:t>is</a:t>
            </a:r>
            <a:r>
              <a:rPr sz="2200" spc="150" dirty="0">
                <a:latin typeface="Cambria"/>
                <a:cs typeface="Cambria"/>
              </a:rPr>
              <a:t> </a:t>
            </a:r>
            <a:r>
              <a:rPr sz="2200" spc="55" dirty="0">
                <a:latin typeface="Cambria"/>
                <a:cs typeface="Cambria"/>
              </a:rPr>
              <a:t>special</a:t>
            </a:r>
            <a:r>
              <a:rPr sz="2200" spc="150" dirty="0">
                <a:latin typeface="Cambria"/>
                <a:cs typeface="Cambria"/>
              </a:rPr>
              <a:t> </a:t>
            </a:r>
            <a:r>
              <a:rPr sz="2200" spc="60" dirty="0">
                <a:latin typeface="Cambria"/>
                <a:cs typeface="Cambria"/>
              </a:rPr>
              <a:t>user</a:t>
            </a:r>
            <a:r>
              <a:rPr sz="2200" spc="165" dirty="0">
                <a:latin typeface="Cambria"/>
                <a:cs typeface="Cambria"/>
              </a:rPr>
              <a:t> </a:t>
            </a:r>
            <a:r>
              <a:rPr sz="2200" spc="50" dirty="0">
                <a:latin typeface="Cambria"/>
                <a:cs typeface="Cambria"/>
              </a:rPr>
              <a:t>program</a:t>
            </a:r>
            <a:r>
              <a:rPr sz="2200" spc="180" dirty="0">
                <a:latin typeface="Cambria"/>
                <a:cs typeface="Cambria"/>
              </a:rPr>
              <a:t> </a:t>
            </a:r>
            <a:r>
              <a:rPr sz="2200" spc="65" dirty="0">
                <a:latin typeface="Cambria"/>
                <a:cs typeface="Cambria"/>
              </a:rPr>
              <a:t>which</a:t>
            </a:r>
            <a:r>
              <a:rPr sz="2200" spc="180" dirty="0">
                <a:latin typeface="Cambria"/>
                <a:cs typeface="Cambria"/>
              </a:rPr>
              <a:t> </a:t>
            </a:r>
            <a:r>
              <a:rPr sz="2200" dirty="0">
                <a:latin typeface="Cambria"/>
                <a:cs typeface="Cambria"/>
              </a:rPr>
              <a:t>provide</a:t>
            </a:r>
            <a:r>
              <a:rPr sz="2200" spc="180" dirty="0">
                <a:latin typeface="Cambria"/>
                <a:cs typeface="Cambria"/>
              </a:rPr>
              <a:t> </a:t>
            </a:r>
            <a:r>
              <a:rPr sz="2200" spc="100" dirty="0">
                <a:latin typeface="Cambria"/>
                <a:cs typeface="Cambria"/>
              </a:rPr>
              <a:t>an </a:t>
            </a:r>
            <a:r>
              <a:rPr sz="2200" spc="60" dirty="0">
                <a:latin typeface="Cambria"/>
                <a:cs typeface="Cambria"/>
              </a:rPr>
              <a:t>interface</a:t>
            </a:r>
            <a:r>
              <a:rPr sz="2200" spc="150" dirty="0">
                <a:latin typeface="Cambria"/>
                <a:cs typeface="Cambria"/>
              </a:rPr>
              <a:t> </a:t>
            </a:r>
            <a:r>
              <a:rPr sz="2200" dirty="0">
                <a:latin typeface="Cambria"/>
                <a:cs typeface="Cambria"/>
              </a:rPr>
              <a:t>to</a:t>
            </a:r>
            <a:r>
              <a:rPr sz="2200" spc="155" dirty="0">
                <a:latin typeface="Cambria"/>
                <a:cs typeface="Cambria"/>
              </a:rPr>
              <a:t> </a:t>
            </a:r>
            <a:r>
              <a:rPr sz="2200" spc="65" dirty="0">
                <a:latin typeface="Cambria"/>
                <a:cs typeface="Cambria"/>
              </a:rPr>
              <a:t>user</a:t>
            </a:r>
            <a:r>
              <a:rPr sz="2200" spc="140" dirty="0">
                <a:latin typeface="Cambria"/>
                <a:cs typeface="Cambria"/>
              </a:rPr>
              <a:t> </a:t>
            </a:r>
            <a:r>
              <a:rPr sz="2200" dirty="0">
                <a:latin typeface="Cambria"/>
                <a:cs typeface="Cambria"/>
              </a:rPr>
              <a:t>to</a:t>
            </a:r>
            <a:r>
              <a:rPr sz="2200" spc="150" dirty="0">
                <a:latin typeface="Cambria"/>
                <a:cs typeface="Cambria"/>
              </a:rPr>
              <a:t> </a:t>
            </a:r>
            <a:r>
              <a:rPr sz="2200" spc="65" dirty="0">
                <a:latin typeface="Cambria"/>
                <a:cs typeface="Cambria"/>
              </a:rPr>
              <a:t>use</a:t>
            </a:r>
            <a:r>
              <a:rPr sz="2200" spc="155" dirty="0">
                <a:latin typeface="Cambria"/>
                <a:cs typeface="Cambria"/>
              </a:rPr>
              <a:t> </a:t>
            </a:r>
            <a:r>
              <a:rPr sz="2200" spc="55" dirty="0">
                <a:latin typeface="Cambria"/>
                <a:cs typeface="Cambria"/>
              </a:rPr>
              <a:t>operating</a:t>
            </a:r>
            <a:r>
              <a:rPr sz="2200" spc="155" dirty="0">
                <a:latin typeface="Cambria"/>
                <a:cs typeface="Cambria"/>
              </a:rPr>
              <a:t> </a:t>
            </a:r>
            <a:r>
              <a:rPr sz="2200" spc="65" dirty="0">
                <a:latin typeface="Cambria"/>
                <a:cs typeface="Cambria"/>
              </a:rPr>
              <a:t>system</a:t>
            </a:r>
            <a:r>
              <a:rPr sz="2200" spc="150" dirty="0">
                <a:latin typeface="Cambria"/>
                <a:cs typeface="Cambria"/>
              </a:rPr>
              <a:t> </a:t>
            </a:r>
            <a:r>
              <a:rPr sz="2200" spc="50" dirty="0">
                <a:latin typeface="Cambria"/>
                <a:cs typeface="Cambria"/>
              </a:rPr>
              <a:t>services.</a:t>
            </a:r>
            <a:endParaRPr sz="2200">
              <a:latin typeface="Cambria"/>
              <a:cs typeface="Cambria"/>
            </a:endParaRPr>
          </a:p>
          <a:p>
            <a:pPr marL="354965" indent="-342265">
              <a:lnSpc>
                <a:spcPct val="100000"/>
              </a:lnSpc>
              <a:spcBef>
                <a:spcPts val="1320"/>
              </a:spcBef>
              <a:buFont typeface="Arial MT"/>
              <a:buChar char="•"/>
              <a:tabLst>
                <a:tab pos="354965" algn="l"/>
              </a:tabLst>
            </a:pPr>
            <a:r>
              <a:rPr sz="2200" spc="120" dirty="0">
                <a:latin typeface="Cambria"/>
                <a:cs typeface="Cambria"/>
              </a:rPr>
              <a:t>Shell</a:t>
            </a:r>
            <a:r>
              <a:rPr sz="2200" spc="195" dirty="0">
                <a:latin typeface="Cambria"/>
                <a:cs typeface="Cambria"/>
              </a:rPr>
              <a:t> </a:t>
            </a:r>
            <a:r>
              <a:rPr sz="2200" dirty="0">
                <a:latin typeface="Cambria"/>
                <a:cs typeface="Cambria"/>
              </a:rPr>
              <a:t>accept</a:t>
            </a:r>
            <a:r>
              <a:rPr sz="2200" spc="210" dirty="0">
                <a:latin typeface="Cambria"/>
                <a:cs typeface="Cambria"/>
              </a:rPr>
              <a:t> </a:t>
            </a:r>
            <a:r>
              <a:rPr sz="2200" spc="125" dirty="0">
                <a:latin typeface="Cambria"/>
                <a:cs typeface="Cambria"/>
              </a:rPr>
              <a:t>human</a:t>
            </a:r>
            <a:r>
              <a:rPr sz="2200" spc="210" dirty="0">
                <a:latin typeface="Cambria"/>
                <a:cs typeface="Cambria"/>
              </a:rPr>
              <a:t> </a:t>
            </a:r>
            <a:r>
              <a:rPr sz="2200" spc="60" dirty="0">
                <a:latin typeface="Cambria"/>
                <a:cs typeface="Cambria"/>
              </a:rPr>
              <a:t>readable</a:t>
            </a:r>
            <a:r>
              <a:rPr sz="2200" spc="195" dirty="0">
                <a:latin typeface="Cambria"/>
                <a:cs typeface="Cambria"/>
              </a:rPr>
              <a:t> </a:t>
            </a:r>
            <a:r>
              <a:rPr sz="2200" spc="60" dirty="0">
                <a:latin typeface="Cambria"/>
                <a:cs typeface="Cambria"/>
              </a:rPr>
              <a:t>commands</a:t>
            </a:r>
            <a:r>
              <a:rPr sz="2200" spc="195" dirty="0">
                <a:latin typeface="Cambria"/>
                <a:cs typeface="Cambria"/>
              </a:rPr>
              <a:t> </a:t>
            </a:r>
            <a:r>
              <a:rPr sz="2200" dirty="0">
                <a:latin typeface="Cambria"/>
                <a:cs typeface="Cambria"/>
              </a:rPr>
              <a:t>from</a:t>
            </a:r>
            <a:r>
              <a:rPr sz="2200" spc="210" dirty="0">
                <a:latin typeface="Cambria"/>
                <a:cs typeface="Cambria"/>
              </a:rPr>
              <a:t> </a:t>
            </a:r>
            <a:r>
              <a:rPr sz="2200" spc="65" dirty="0">
                <a:latin typeface="Cambria"/>
                <a:cs typeface="Cambria"/>
              </a:rPr>
              <a:t>user</a:t>
            </a:r>
            <a:r>
              <a:rPr sz="2200" spc="195" dirty="0">
                <a:latin typeface="Cambria"/>
                <a:cs typeface="Cambria"/>
              </a:rPr>
              <a:t> </a:t>
            </a:r>
            <a:r>
              <a:rPr sz="2200" spc="65" dirty="0">
                <a:latin typeface="Cambria"/>
                <a:cs typeface="Cambria"/>
              </a:rPr>
              <a:t>and</a:t>
            </a:r>
            <a:endParaRPr sz="2200">
              <a:latin typeface="Cambria"/>
              <a:cs typeface="Cambria"/>
            </a:endParaRPr>
          </a:p>
          <a:p>
            <a:pPr marL="355600">
              <a:lnSpc>
                <a:spcPct val="100000"/>
              </a:lnSpc>
              <a:spcBef>
                <a:spcPts val="1320"/>
              </a:spcBef>
            </a:pPr>
            <a:r>
              <a:rPr sz="2200" dirty="0">
                <a:latin typeface="Cambria"/>
                <a:cs typeface="Cambria"/>
              </a:rPr>
              <a:t>convert</a:t>
            </a:r>
            <a:r>
              <a:rPr sz="2200" spc="180" dirty="0">
                <a:latin typeface="Cambria"/>
                <a:cs typeface="Cambria"/>
              </a:rPr>
              <a:t> </a:t>
            </a:r>
            <a:r>
              <a:rPr sz="2200" spc="90" dirty="0">
                <a:latin typeface="Cambria"/>
                <a:cs typeface="Cambria"/>
              </a:rPr>
              <a:t>them</a:t>
            </a:r>
            <a:r>
              <a:rPr sz="2200" spc="180" dirty="0">
                <a:latin typeface="Cambria"/>
                <a:cs typeface="Cambria"/>
              </a:rPr>
              <a:t> </a:t>
            </a:r>
            <a:r>
              <a:rPr sz="2200" spc="55" dirty="0">
                <a:latin typeface="Cambria"/>
                <a:cs typeface="Cambria"/>
              </a:rPr>
              <a:t>into</a:t>
            </a:r>
            <a:r>
              <a:rPr sz="2200" spc="175" dirty="0">
                <a:latin typeface="Cambria"/>
                <a:cs typeface="Cambria"/>
              </a:rPr>
              <a:t> </a:t>
            </a:r>
            <a:r>
              <a:rPr sz="2200" spc="65" dirty="0">
                <a:latin typeface="Cambria"/>
                <a:cs typeface="Cambria"/>
              </a:rPr>
              <a:t>something</a:t>
            </a:r>
            <a:r>
              <a:rPr sz="2200" spc="160" dirty="0">
                <a:latin typeface="Cambria"/>
                <a:cs typeface="Cambria"/>
              </a:rPr>
              <a:t> </a:t>
            </a:r>
            <a:r>
              <a:rPr sz="2200" spc="65" dirty="0">
                <a:latin typeface="Cambria"/>
                <a:cs typeface="Cambria"/>
              </a:rPr>
              <a:t>which</a:t>
            </a:r>
            <a:r>
              <a:rPr sz="2200" spc="195" dirty="0">
                <a:latin typeface="Cambria"/>
                <a:cs typeface="Cambria"/>
              </a:rPr>
              <a:t> </a:t>
            </a:r>
            <a:r>
              <a:rPr sz="2200" spc="70" dirty="0">
                <a:latin typeface="Cambria"/>
                <a:cs typeface="Cambria"/>
              </a:rPr>
              <a:t>kernel</a:t>
            </a:r>
            <a:r>
              <a:rPr sz="2200" spc="170" dirty="0">
                <a:latin typeface="Cambria"/>
                <a:cs typeface="Cambria"/>
              </a:rPr>
              <a:t> </a:t>
            </a:r>
            <a:r>
              <a:rPr sz="2200" spc="85" dirty="0">
                <a:latin typeface="Cambria"/>
                <a:cs typeface="Cambria"/>
              </a:rPr>
              <a:t>can</a:t>
            </a:r>
            <a:r>
              <a:rPr sz="2200" spc="185" dirty="0">
                <a:latin typeface="Cambria"/>
                <a:cs typeface="Cambria"/>
              </a:rPr>
              <a:t> </a:t>
            </a:r>
            <a:r>
              <a:rPr sz="2200" spc="70" dirty="0">
                <a:latin typeface="Cambria"/>
                <a:cs typeface="Cambria"/>
              </a:rPr>
              <a:t>understand.</a:t>
            </a:r>
            <a:endParaRPr sz="2200">
              <a:latin typeface="Cambria"/>
              <a:cs typeface="Cambria"/>
            </a:endParaRPr>
          </a:p>
          <a:p>
            <a:pPr marL="355600" marR="368935" indent="-342900">
              <a:lnSpc>
                <a:spcPct val="150100"/>
              </a:lnSpc>
              <a:buFont typeface="Arial MT"/>
              <a:buChar char="•"/>
              <a:tabLst>
                <a:tab pos="355600" algn="l"/>
              </a:tabLst>
            </a:pPr>
            <a:r>
              <a:rPr sz="2200" spc="135" dirty="0">
                <a:latin typeface="Cambria"/>
                <a:cs typeface="Cambria"/>
              </a:rPr>
              <a:t>It</a:t>
            </a:r>
            <a:r>
              <a:rPr sz="2200" spc="140" dirty="0">
                <a:latin typeface="Cambria"/>
                <a:cs typeface="Cambria"/>
              </a:rPr>
              <a:t> </a:t>
            </a:r>
            <a:r>
              <a:rPr sz="2200" spc="70" dirty="0">
                <a:latin typeface="Cambria"/>
                <a:cs typeface="Cambria"/>
              </a:rPr>
              <a:t>is</a:t>
            </a:r>
            <a:r>
              <a:rPr sz="2200" spc="135" dirty="0">
                <a:latin typeface="Cambria"/>
                <a:cs typeface="Cambria"/>
              </a:rPr>
              <a:t> a</a:t>
            </a:r>
            <a:r>
              <a:rPr sz="2200" spc="145" dirty="0">
                <a:latin typeface="Cambria"/>
                <a:cs typeface="Cambria"/>
              </a:rPr>
              <a:t> </a:t>
            </a:r>
            <a:r>
              <a:rPr sz="2200" spc="55" dirty="0">
                <a:latin typeface="Cambria"/>
                <a:cs typeface="Cambria"/>
              </a:rPr>
              <a:t>command</a:t>
            </a:r>
            <a:r>
              <a:rPr sz="2200" spc="145" dirty="0">
                <a:latin typeface="Cambria"/>
                <a:cs typeface="Cambria"/>
              </a:rPr>
              <a:t> </a:t>
            </a:r>
            <a:r>
              <a:rPr sz="2200" spc="90" dirty="0">
                <a:latin typeface="Cambria"/>
                <a:cs typeface="Cambria"/>
              </a:rPr>
              <a:t>language</a:t>
            </a:r>
            <a:r>
              <a:rPr sz="2200" spc="185" dirty="0">
                <a:latin typeface="Cambria"/>
                <a:cs typeface="Cambria"/>
              </a:rPr>
              <a:t> </a:t>
            </a:r>
            <a:r>
              <a:rPr sz="2200" spc="55" dirty="0">
                <a:latin typeface="Cambria"/>
                <a:cs typeface="Cambria"/>
              </a:rPr>
              <a:t>interpreter</a:t>
            </a:r>
            <a:r>
              <a:rPr sz="2200" spc="130" dirty="0">
                <a:latin typeface="Cambria"/>
                <a:cs typeface="Cambria"/>
              </a:rPr>
              <a:t> </a:t>
            </a:r>
            <a:r>
              <a:rPr sz="2200" spc="105" dirty="0">
                <a:latin typeface="Cambria"/>
                <a:cs typeface="Cambria"/>
              </a:rPr>
              <a:t>that</a:t>
            </a:r>
            <a:r>
              <a:rPr sz="2200" spc="145" dirty="0">
                <a:latin typeface="Cambria"/>
                <a:cs typeface="Cambria"/>
              </a:rPr>
              <a:t> </a:t>
            </a:r>
            <a:r>
              <a:rPr sz="2200" spc="45" dirty="0">
                <a:latin typeface="Cambria"/>
                <a:cs typeface="Cambria"/>
              </a:rPr>
              <a:t>execute </a:t>
            </a:r>
            <a:r>
              <a:rPr sz="2200" spc="60" dirty="0">
                <a:latin typeface="Cambria"/>
                <a:cs typeface="Cambria"/>
              </a:rPr>
              <a:t>commands</a:t>
            </a:r>
            <a:r>
              <a:rPr sz="2200" spc="185" dirty="0">
                <a:latin typeface="Cambria"/>
                <a:cs typeface="Cambria"/>
              </a:rPr>
              <a:t> </a:t>
            </a:r>
            <a:r>
              <a:rPr sz="2200" spc="50" dirty="0">
                <a:latin typeface="Cambria"/>
                <a:cs typeface="Cambria"/>
              </a:rPr>
              <a:t>read</a:t>
            </a:r>
            <a:r>
              <a:rPr sz="2200" spc="185" dirty="0">
                <a:latin typeface="Cambria"/>
                <a:cs typeface="Cambria"/>
              </a:rPr>
              <a:t> </a:t>
            </a:r>
            <a:r>
              <a:rPr sz="2200" dirty="0">
                <a:latin typeface="Cambria"/>
                <a:cs typeface="Cambria"/>
              </a:rPr>
              <a:t>from</a:t>
            </a:r>
            <a:r>
              <a:rPr sz="2200" spc="195" dirty="0">
                <a:latin typeface="Cambria"/>
                <a:cs typeface="Cambria"/>
              </a:rPr>
              <a:t> </a:t>
            </a:r>
            <a:r>
              <a:rPr sz="2200" spc="85" dirty="0">
                <a:latin typeface="Cambria"/>
                <a:cs typeface="Cambria"/>
              </a:rPr>
              <a:t>input</a:t>
            </a:r>
            <a:r>
              <a:rPr sz="2200" spc="200" dirty="0">
                <a:latin typeface="Cambria"/>
                <a:cs typeface="Cambria"/>
              </a:rPr>
              <a:t> </a:t>
            </a:r>
            <a:r>
              <a:rPr sz="2200" dirty="0">
                <a:latin typeface="Cambria"/>
                <a:cs typeface="Cambria"/>
              </a:rPr>
              <a:t>devices</a:t>
            </a:r>
            <a:r>
              <a:rPr sz="2200" spc="175" dirty="0">
                <a:latin typeface="Cambria"/>
                <a:cs typeface="Cambria"/>
              </a:rPr>
              <a:t> </a:t>
            </a:r>
            <a:r>
              <a:rPr sz="2200" spc="75" dirty="0">
                <a:latin typeface="Cambria"/>
                <a:cs typeface="Cambria"/>
              </a:rPr>
              <a:t>such</a:t>
            </a:r>
            <a:r>
              <a:rPr sz="2200" spc="204" dirty="0">
                <a:latin typeface="Cambria"/>
                <a:cs typeface="Cambria"/>
              </a:rPr>
              <a:t> </a:t>
            </a:r>
            <a:r>
              <a:rPr sz="2200" spc="100" dirty="0">
                <a:latin typeface="Cambria"/>
                <a:cs typeface="Cambria"/>
              </a:rPr>
              <a:t>as</a:t>
            </a:r>
            <a:r>
              <a:rPr sz="2200" spc="185" dirty="0">
                <a:latin typeface="Cambria"/>
                <a:cs typeface="Cambria"/>
              </a:rPr>
              <a:t> </a:t>
            </a:r>
            <a:r>
              <a:rPr sz="2200" spc="50" dirty="0">
                <a:latin typeface="Cambria"/>
                <a:cs typeface="Cambria"/>
              </a:rPr>
              <a:t>keyboards</a:t>
            </a:r>
            <a:r>
              <a:rPr sz="2200" spc="200" dirty="0">
                <a:latin typeface="Cambria"/>
                <a:cs typeface="Cambria"/>
              </a:rPr>
              <a:t> </a:t>
            </a:r>
            <a:r>
              <a:rPr sz="2200" spc="-25" dirty="0">
                <a:latin typeface="Cambria"/>
                <a:cs typeface="Cambria"/>
              </a:rPr>
              <a:t>or </a:t>
            </a:r>
            <a:r>
              <a:rPr sz="2200" dirty="0">
                <a:latin typeface="Cambria"/>
                <a:cs typeface="Cambria"/>
              </a:rPr>
              <a:t>from</a:t>
            </a:r>
            <a:r>
              <a:rPr sz="2200" spc="295" dirty="0">
                <a:latin typeface="Cambria"/>
                <a:cs typeface="Cambria"/>
              </a:rPr>
              <a:t> </a:t>
            </a:r>
            <a:r>
              <a:rPr sz="2200" spc="65" dirty="0">
                <a:latin typeface="Cambria"/>
                <a:cs typeface="Cambria"/>
              </a:rPr>
              <a:t>files.</a:t>
            </a:r>
            <a:endParaRPr sz="22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7422" y="304798"/>
            <a:ext cx="6991593" cy="6476998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3</a:t>
            </a:fld>
            <a:endParaRPr spc="-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57200" y="-673364"/>
            <a:ext cx="7069175" cy="1346727"/>
          </a:xfrm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85" dirty="0">
                <a:latin typeface="Cambria"/>
                <a:cs typeface="Cambria"/>
              </a:rPr>
              <a:t>Types</a:t>
            </a:r>
            <a:r>
              <a:rPr sz="3000" b="0" cap="small" spc="305" dirty="0">
                <a:latin typeface="Cambria"/>
                <a:cs typeface="Cambria"/>
              </a:rPr>
              <a:t> </a:t>
            </a:r>
            <a:r>
              <a:rPr sz="3000" b="0" cap="small" spc="295" dirty="0">
                <a:latin typeface="Cambria"/>
                <a:cs typeface="Cambria"/>
              </a:rPr>
              <a:t>of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60" dirty="0">
                <a:latin typeface="Cambria"/>
                <a:cs typeface="Cambria"/>
              </a:rPr>
              <a:t>shells</a:t>
            </a:r>
            <a:endParaRPr sz="3000" dirty="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4</a:t>
            </a:fld>
            <a:endParaRPr spc="-5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609600"/>
            <a:ext cx="8039989" cy="5014193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700"/>
              </a:spcBef>
            </a:pPr>
            <a:r>
              <a:rPr sz="2000" spc="70" dirty="0">
                <a:latin typeface="Cambria"/>
                <a:cs typeface="Cambria"/>
              </a:rPr>
              <a:t>There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are</a:t>
            </a:r>
            <a:r>
              <a:rPr sz="2000" spc="110" dirty="0">
                <a:latin typeface="Cambria"/>
                <a:cs typeface="Cambria"/>
              </a:rPr>
              <a:t> </a:t>
            </a:r>
            <a:r>
              <a:rPr sz="2000" dirty="0">
                <a:latin typeface="Cambria"/>
                <a:cs typeface="Cambria"/>
              </a:rPr>
              <a:t>four</a:t>
            </a:r>
            <a:r>
              <a:rPr sz="2000" spc="114" dirty="0">
                <a:latin typeface="Cambria"/>
                <a:cs typeface="Cambria"/>
              </a:rPr>
              <a:t> </a:t>
            </a:r>
            <a:r>
              <a:rPr sz="2000" spc="70" dirty="0">
                <a:latin typeface="Cambria"/>
                <a:cs typeface="Cambria"/>
              </a:rPr>
              <a:t>shells</a:t>
            </a:r>
            <a:endParaRPr sz="2000" dirty="0">
              <a:latin typeface="Cambria"/>
              <a:cs typeface="Cambria"/>
            </a:endParaRPr>
          </a:p>
          <a:p>
            <a:pPr marL="285115" indent="-272415" algn="just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000" b="1" spc="75" dirty="0">
                <a:latin typeface="Cambria"/>
                <a:cs typeface="Cambria"/>
              </a:rPr>
              <a:t>Bourne</a:t>
            </a:r>
            <a:r>
              <a:rPr sz="2000" b="1" spc="60" dirty="0">
                <a:latin typeface="Cambria"/>
                <a:cs typeface="Cambria"/>
              </a:rPr>
              <a:t> </a:t>
            </a:r>
            <a:r>
              <a:rPr sz="2000" b="1" spc="45" dirty="0">
                <a:latin typeface="Cambria"/>
                <a:cs typeface="Cambria"/>
              </a:rPr>
              <a:t>shell(</a:t>
            </a:r>
            <a:r>
              <a:rPr sz="2000" b="1" spc="45" dirty="0" err="1">
                <a:latin typeface="Cambria"/>
                <a:cs typeface="Cambria"/>
              </a:rPr>
              <a:t>sh</a:t>
            </a:r>
            <a:r>
              <a:rPr sz="2000" b="1" spc="45" dirty="0">
                <a:latin typeface="Cambria"/>
                <a:cs typeface="Cambria"/>
              </a:rPr>
              <a:t>)</a:t>
            </a:r>
            <a:r>
              <a:rPr lang="en-US" sz="2000" b="1" spc="45" dirty="0">
                <a:latin typeface="Cambria"/>
                <a:cs typeface="Cambria"/>
              </a:rPr>
              <a:t>:</a:t>
            </a:r>
            <a:r>
              <a:rPr lang="en-US" sz="2000" b="1" dirty="0"/>
              <a:t> </a:t>
            </a:r>
            <a:r>
              <a:rPr lang="en-US" sz="2000" dirty="0"/>
              <a:t>The original, foundational Unix shell from the 1970s, known for its simplicity and portability for writing basic, universally compatible shell scripts.</a:t>
            </a:r>
            <a:endParaRPr sz="2000" dirty="0">
              <a:latin typeface="Cambria"/>
              <a:cs typeface="Cambria"/>
            </a:endParaRPr>
          </a:p>
          <a:p>
            <a:pPr marL="284480" indent="-271780" algn="just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000" b="1" spc="105" dirty="0">
                <a:latin typeface="Cambria"/>
                <a:cs typeface="Cambria"/>
              </a:rPr>
              <a:t>Korn</a:t>
            </a:r>
            <a:r>
              <a:rPr sz="2000" b="1" spc="50" dirty="0">
                <a:latin typeface="Cambria"/>
                <a:cs typeface="Cambria"/>
              </a:rPr>
              <a:t> shell(</a:t>
            </a:r>
            <a:r>
              <a:rPr sz="2000" b="1" spc="50" dirty="0" err="1">
                <a:latin typeface="Cambria"/>
                <a:cs typeface="Cambria"/>
              </a:rPr>
              <a:t>ksh</a:t>
            </a:r>
            <a:r>
              <a:rPr sz="2000" b="1" spc="50" dirty="0">
                <a:latin typeface="Cambria"/>
                <a:cs typeface="Cambria"/>
              </a:rPr>
              <a:t>)</a:t>
            </a:r>
            <a:r>
              <a:rPr lang="en-US" sz="2000" b="1" spc="50" dirty="0">
                <a:latin typeface="Cambria"/>
                <a:cs typeface="Cambria"/>
              </a:rPr>
              <a:t>: </a:t>
            </a:r>
            <a:r>
              <a:rPr lang="en-US" sz="2000" b="1" dirty="0"/>
              <a:t> </a:t>
            </a:r>
            <a:r>
              <a:rPr lang="en-US" sz="2000" dirty="0"/>
              <a:t>Created to improve upon the Bourne shell, </a:t>
            </a:r>
            <a:r>
              <a:rPr lang="en-US" sz="2000" dirty="0" err="1"/>
              <a:t>ksh</a:t>
            </a:r>
            <a:r>
              <a:rPr lang="en-US" sz="2000" dirty="0"/>
              <a:t> incorporates features from both </a:t>
            </a:r>
            <a:r>
              <a:rPr lang="en-US" sz="2000" dirty="0" err="1"/>
              <a:t>sh</a:t>
            </a:r>
            <a:r>
              <a:rPr lang="en-US" sz="2000" dirty="0"/>
              <a:t> and </a:t>
            </a:r>
            <a:r>
              <a:rPr lang="en-US" sz="2000" dirty="0" err="1"/>
              <a:t>csh</a:t>
            </a:r>
            <a:r>
              <a:rPr lang="en-US" sz="2000" dirty="0"/>
              <a:t>, offering robust scripting capabilities, advanced arithmetic expressions, and efficiency.</a:t>
            </a:r>
            <a:endParaRPr sz="2000" dirty="0">
              <a:latin typeface="Cambria"/>
              <a:cs typeface="Cambria"/>
            </a:endParaRPr>
          </a:p>
          <a:p>
            <a:pPr marL="285115" indent="-272415" algn="just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000" b="1" spc="375" dirty="0">
                <a:latin typeface="Cambria"/>
                <a:cs typeface="Cambria"/>
              </a:rPr>
              <a:t>C</a:t>
            </a:r>
            <a:r>
              <a:rPr sz="2000" b="1" spc="265" dirty="0">
                <a:latin typeface="Cambria"/>
                <a:cs typeface="Cambria"/>
              </a:rPr>
              <a:t> </a:t>
            </a:r>
            <a:r>
              <a:rPr sz="2000" b="1" dirty="0">
                <a:latin typeface="Cambria"/>
                <a:cs typeface="Cambria"/>
              </a:rPr>
              <a:t>shell(</a:t>
            </a:r>
            <a:r>
              <a:rPr sz="2000" b="1" dirty="0" err="1">
                <a:latin typeface="Cambria"/>
                <a:cs typeface="Cambria"/>
              </a:rPr>
              <a:t>csh</a:t>
            </a:r>
            <a:r>
              <a:rPr sz="2000" b="1" dirty="0">
                <a:latin typeface="Cambria"/>
                <a:cs typeface="Cambria"/>
              </a:rPr>
              <a:t>)</a:t>
            </a:r>
            <a:r>
              <a:rPr lang="en-US" sz="2000" b="1" dirty="0">
                <a:latin typeface="Cambria"/>
                <a:cs typeface="Cambria"/>
              </a:rPr>
              <a:t>:</a:t>
            </a:r>
            <a:r>
              <a:rPr sz="2000" b="1" spc="229" dirty="0">
                <a:latin typeface="Cambria"/>
                <a:cs typeface="Cambria"/>
              </a:rPr>
              <a:t> </a:t>
            </a:r>
            <a:r>
              <a:rPr lang="en-US" sz="2000" dirty="0"/>
              <a:t>Developed at the University of California, Berkeley, it features a syntax similar to the C programming language and was popular for its interactive features like command history and job control.</a:t>
            </a:r>
            <a:endParaRPr sz="2000" dirty="0">
              <a:latin typeface="Cambria"/>
              <a:cs typeface="Cambria"/>
            </a:endParaRPr>
          </a:p>
          <a:p>
            <a:pPr marL="285115" indent="-272415" algn="just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000" b="1" spc="75" dirty="0">
                <a:latin typeface="Cambria"/>
                <a:cs typeface="Cambria"/>
              </a:rPr>
              <a:t>Bourne</a:t>
            </a:r>
            <a:r>
              <a:rPr sz="2000" b="1" spc="-40" dirty="0">
                <a:latin typeface="Cambria"/>
                <a:cs typeface="Cambria"/>
              </a:rPr>
              <a:t> </a:t>
            </a:r>
            <a:r>
              <a:rPr sz="2000" b="1" spc="125" dirty="0">
                <a:latin typeface="Cambria"/>
                <a:cs typeface="Cambria"/>
              </a:rPr>
              <a:t>Again</a:t>
            </a:r>
            <a:r>
              <a:rPr sz="2000" b="1" spc="110" dirty="0">
                <a:latin typeface="Cambria"/>
                <a:cs typeface="Cambria"/>
              </a:rPr>
              <a:t> </a:t>
            </a:r>
            <a:r>
              <a:rPr sz="2000" b="1" spc="130" dirty="0">
                <a:latin typeface="Cambria"/>
                <a:cs typeface="Cambria"/>
              </a:rPr>
              <a:t>Shell</a:t>
            </a:r>
            <a:r>
              <a:rPr sz="2000" b="1" spc="100" dirty="0">
                <a:latin typeface="Cambria"/>
                <a:cs typeface="Cambria"/>
              </a:rPr>
              <a:t> </a:t>
            </a:r>
            <a:r>
              <a:rPr sz="2000" b="1" spc="-10" dirty="0">
                <a:latin typeface="Cambria"/>
                <a:cs typeface="Cambria"/>
              </a:rPr>
              <a:t>(bash)</a:t>
            </a:r>
            <a:r>
              <a:rPr lang="en-US" sz="2000" b="1" spc="-10" dirty="0">
                <a:latin typeface="Cambria"/>
                <a:cs typeface="Cambria"/>
              </a:rPr>
              <a:t>: </a:t>
            </a:r>
            <a:r>
              <a:rPr lang="en-US" sz="2000" dirty="0"/>
              <a:t>Developed at the University of California, Berkeley, it features a syntax similar to the C programming language and was popular for its interactive features like command history and job control.</a:t>
            </a:r>
            <a:endParaRPr sz="2000" dirty="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80" dirty="0">
                <a:latin typeface="Cambria"/>
                <a:cs typeface="Cambria"/>
              </a:rPr>
              <a:t>Basic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335" dirty="0">
                <a:latin typeface="Cambria"/>
                <a:cs typeface="Cambria"/>
              </a:rPr>
              <a:t>Shell</a:t>
            </a:r>
            <a:r>
              <a:rPr sz="3000" b="0" cap="small" spc="265" dirty="0">
                <a:latin typeface="Cambria"/>
                <a:cs typeface="Cambria"/>
              </a:rPr>
              <a:t> </a:t>
            </a:r>
            <a:r>
              <a:rPr sz="3000" b="0" cap="small" spc="260" dirty="0">
                <a:latin typeface="Cambria"/>
                <a:cs typeface="Cambria"/>
              </a:rPr>
              <a:t>Programming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83185">
              <a:lnSpc>
                <a:spcPts val="1630"/>
              </a:lnSpc>
            </a:pPr>
            <a:fld id="{81D60167-4931-47E6-BA6A-407CBD079E47}" type="slidenum">
              <a:rPr spc="-50" dirty="0"/>
              <a:t>5</a:t>
            </a:fld>
            <a:endParaRPr spc="-50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56131"/>
            <a:ext cx="6786245" cy="374967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67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225" dirty="0">
                <a:latin typeface="Cambria"/>
                <a:cs typeface="Cambria"/>
              </a:rPr>
              <a:t>A</a:t>
            </a:r>
            <a:r>
              <a:rPr sz="2400" spc="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script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file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contains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shell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commands</a:t>
            </a:r>
            <a:endParaRPr sz="24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95" dirty="0">
                <a:latin typeface="Cambria"/>
                <a:cs typeface="Cambria"/>
              </a:rPr>
              <a:t>data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structure: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variables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dirty="0">
                <a:latin typeface="Cambria"/>
                <a:cs typeface="Cambria"/>
              </a:rPr>
              <a:t>control</a:t>
            </a:r>
            <a:r>
              <a:rPr sz="2100" spc="275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structure:</a:t>
            </a:r>
            <a:r>
              <a:rPr sz="2100" spc="30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sequence,</a:t>
            </a:r>
            <a:r>
              <a:rPr sz="2100" spc="29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decision,</a:t>
            </a:r>
            <a:r>
              <a:rPr sz="2100" spc="300" dirty="0">
                <a:latin typeface="Cambria"/>
                <a:cs typeface="Cambria"/>
              </a:rPr>
              <a:t> </a:t>
            </a:r>
            <a:r>
              <a:rPr sz="2100" spc="-20" dirty="0">
                <a:latin typeface="Cambria"/>
                <a:cs typeface="Cambria"/>
              </a:rPr>
              <a:t>loop</a:t>
            </a:r>
            <a:endParaRPr sz="21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20" dirty="0">
                <a:latin typeface="Cambria"/>
                <a:cs typeface="Cambria"/>
              </a:rPr>
              <a:t>Shebang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line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for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bash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shell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script:</a:t>
            </a:r>
            <a:endParaRPr sz="2400">
              <a:latin typeface="Cambria"/>
              <a:cs typeface="Cambria"/>
            </a:endParaRPr>
          </a:p>
          <a:p>
            <a:pPr marL="285115" marR="4298315">
              <a:lnSpc>
                <a:spcPts val="3420"/>
              </a:lnSpc>
              <a:spcBef>
                <a:spcPts val="70"/>
              </a:spcBef>
            </a:pPr>
            <a:r>
              <a:rPr sz="2400" b="1" dirty="0">
                <a:latin typeface="Courier New"/>
                <a:cs typeface="Courier New"/>
              </a:rPr>
              <a:t>#!</a:t>
            </a:r>
            <a:r>
              <a:rPr sz="2400" b="1" spc="-10" dirty="0">
                <a:latin typeface="Courier New"/>
                <a:cs typeface="Courier New"/>
              </a:rPr>
              <a:t> /bin/bash </a:t>
            </a:r>
            <a:r>
              <a:rPr sz="2400" b="1" dirty="0">
                <a:latin typeface="Courier New"/>
                <a:cs typeface="Courier New"/>
              </a:rPr>
              <a:t>#!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/bin/sh</a:t>
            </a:r>
            <a:endParaRPr sz="2400">
              <a:latin typeface="Courier New"/>
              <a:cs typeface="Courier New"/>
            </a:endParaRPr>
          </a:p>
          <a:p>
            <a:pPr marL="285115" indent="-272415">
              <a:lnSpc>
                <a:spcPct val="100000"/>
              </a:lnSpc>
              <a:spcBef>
                <a:spcPts val="65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dirty="0">
                <a:latin typeface="Cambria"/>
                <a:cs typeface="Cambria"/>
              </a:rPr>
              <a:t>to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run:</a:t>
            </a:r>
            <a:endParaRPr sz="24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35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2936240" algn="l"/>
              </a:tabLst>
            </a:pPr>
            <a:r>
              <a:rPr sz="2100" spc="95" dirty="0">
                <a:latin typeface="Cambria"/>
                <a:cs typeface="Cambria"/>
              </a:rPr>
              <a:t>make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executable:</a:t>
            </a:r>
            <a:r>
              <a:rPr sz="2100" dirty="0">
                <a:latin typeface="Cambria"/>
                <a:cs typeface="Cambria"/>
              </a:rPr>
              <a:t>	</a:t>
            </a:r>
            <a:r>
              <a:rPr sz="2100" b="1" dirty="0">
                <a:latin typeface="Courier New"/>
                <a:cs typeface="Courier New"/>
              </a:rPr>
              <a:t>%</a:t>
            </a:r>
            <a:r>
              <a:rPr sz="2100" b="1" spc="-50" dirty="0">
                <a:latin typeface="Courier New"/>
                <a:cs typeface="Courier New"/>
              </a:rPr>
              <a:t> </a:t>
            </a:r>
            <a:r>
              <a:rPr sz="2100" b="1" dirty="0">
                <a:latin typeface="Courier New"/>
                <a:cs typeface="Courier New"/>
              </a:rPr>
              <a:t>chmod</a:t>
            </a:r>
            <a:r>
              <a:rPr sz="2100" b="1" spc="-20" dirty="0">
                <a:latin typeface="Courier New"/>
                <a:cs typeface="Courier New"/>
              </a:rPr>
              <a:t> </a:t>
            </a:r>
            <a:r>
              <a:rPr sz="2100" b="1" dirty="0">
                <a:latin typeface="Courier New"/>
                <a:cs typeface="Courier New"/>
              </a:rPr>
              <a:t>+x</a:t>
            </a:r>
            <a:r>
              <a:rPr sz="2100" b="1" spc="-50" dirty="0">
                <a:latin typeface="Courier New"/>
                <a:cs typeface="Courier New"/>
              </a:rPr>
              <a:t> </a:t>
            </a:r>
            <a:r>
              <a:rPr sz="2100" b="1" spc="-10" dirty="0">
                <a:latin typeface="Courier New"/>
                <a:cs typeface="Courier New"/>
              </a:rPr>
              <a:t>script</a:t>
            </a:r>
            <a:endParaRPr sz="2100">
              <a:latin typeface="Courier New"/>
              <a:cs typeface="Courier New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  <a:tab pos="2905760" algn="l"/>
              </a:tabLst>
            </a:pPr>
            <a:r>
              <a:rPr sz="2100" spc="50" dirty="0">
                <a:latin typeface="Cambria"/>
                <a:cs typeface="Cambria"/>
              </a:rPr>
              <a:t>invoke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via:</a:t>
            </a:r>
            <a:r>
              <a:rPr sz="2100" dirty="0">
                <a:latin typeface="Cambria"/>
                <a:cs typeface="Cambria"/>
              </a:rPr>
              <a:t>	</a:t>
            </a:r>
            <a:r>
              <a:rPr sz="2100" b="1" dirty="0">
                <a:latin typeface="Courier New"/>
                <a:cs typeface="Courier New"/>
              </a:rPr>
              <a:t>%</a:t>
            </a:r>
            <a:r>
              <a:rPr sz="2100" b="1" spc="-20" dirty="0">
                <a:latin typeface="Courier New"/>
                <a:cs typeface="Courier New"/>
              </a:rPr>
              <a:t> </a:t>
            </a:r>
            <a:r>
              <a:rPr sz="2100" b="1" spc="-10" dirty="0">
                <a:latin typeface="Courier New"/>
                <a:cs typeface="Courier New"/>
              </a:rPr>
              <a:t>./script</a:t>
            </a:r>
            <a:endParaRPr sz="21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95" dirty="0">
                <a:latin typeface="Cambria"/>
                <a:cs typeface="Cambria"/>
              </a:rPr>
              <a:t>Bash </a:t>
            </a:r>
            <a:r>
              <a:rPr sz="3000" b="0" cap="small" spc="325" dirty="0">
                <a:latin typeface="Cambria"/>
                <a:cs typeface="Cambria"/>
              </a:rPr>
              <a:t>shell</a:t>
            </a:r>
            <a:r>
              <a:rPr sz="3000" b="0" cap="small" spc="275" dirty="0">
                <a:latin typeface="Cambria"/>
                <a:cs typeface="Cambria"/>
              </a:rPr>
              <a:t> </a:t>
            </a:r>
            <a:r>
              <a:rPr sz="3000" b="0" cap="small" spc="254" dirty="0">
                <a:latin typeface="Cambria"/>
                <a:cs typeface="Cambria"/>
              </a:rPr>
              <a:t>programming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556130"/>
            <a:ext cx="3803015" cy="4514850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286385" indent="-273685">
              <a:lnSpc>
                <a:spcPct val="100000"/>
              </a:lnSpc>
              <a:spcBef>
                <a:spcPts val="38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6385" algn="l"/>
              </a:tabLst>
            </a:pPr>
            <a:r>
              <a:rPr sz="2400" spc="105" dirty="0">
                <a:latin typeface="Cambria"/>
                <a:cs typeface="Cambria"/>
              </a:rPr>
              <a:t>Input</a:t>
            </a:r>
            <a:endParaRPr sz="2400">
              <a:latin typeface="Cambria"/>
              <a:cs typeface="Cambria"/>
            </a:endParaRPr>
          </a:p>
          <a:p>
            <a:pPr marL="652780" lvl="1" indent="-274955">
              <a:lnSpc>
                <a:spcPct val="100000"/>
              </a:lnSpc>
              <a:spcBef>
                <a:spcPts val="254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55" dirty="0">
                <a:latin typeface="Cambria"/>
                <a:cs typeface="Cambria"/>
              </a:rPr>
              <a:t>prompting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user</a:t>
            </a:r>
            <a:endParaRPr sz="2100">
              <a:latin typeface="Cambria"/>
              <a:cs typeface="Cambria"/>
            </a:endParaRPr>
          </a:p>
          <a:p>
            <a:pPr marL="652780" lvl="1" indent="-274955">
              <a:lnSpc>
                <a:spcPct val="100000"/>
              </a:lnSpc>
              <a:spcBef>
                <a:spcPts val="25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55" dirty="0">
                <a:latin typeface="Cambria"/>
                <a:cs typeface="Cambria"/>
              </a:rPr>
              <a:t>command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line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arguments</a:t>
            </a:r>
            <a:endParaRPr sz="2100">
              <a:latin typeface="Cambria"/>
              <a:cs typeface="Cambria"/>
            </a:endParaRPr>
          </a:p>
          <a:p>
            <a:pPr marL="286385" indent="-273685">
              <a:lnSpc>
                <a:spcPct val="100000"/>
              </a:lnSpc>
              <a:spcBef>
                <a:spcPts val="31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6385" algn="l"/>
              </a:tabLst>
            </a:pPr>
            <a:r>
              <a:rPr sz="2400" spc="55" dirty="0">
                <a:latin typeface="Cambria"/>
                <a:cs typeface="Cambria"/>
              </a:rPr>
              <a:t>Decision:</a:t>
            </a:r>
            <a:endParaRPr sz="2400">
              <a:latin typeface="Cambria"/>
              <a:cs typeface="Cambria"/>
            </a:endParaRPr>
          </a:p>
          <a:p>
            <a:pPr marL="652780" lvl="1" indent="-274955">
              <a:lnSpc>
                <a:spcPct val="100000"/>
              </a:lnSpc>
              <a:spcBef>
                <a:spcPts val="254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dirty="0">
                <a:latin typeface="Cambria"/>
                <a:cs typeface="Cambria"/>
              </a:rPr>
              <a:t>if-</a:t>
            </a:r>
            <a:r>
              <a:rPr sz="2100" spc="60" dirty="0">
                <a:latin typeface="Cambria"/>
                <a:cs typeface="Cambria"/>
              </a:rPr>
              <a:t>then-</a:t>
            </a:r>
            <a:r>
              <a:rPr sz="2100" spc="-20" dirty="0">
                <a:latin typeface="Cambria"/>
                <a:cs typeface="Cambria"/>
              </a:rPr>
              <a:t>else</a:t>
            </a:r>
            <a:endParaRPr sz="2100">
              <a:latin typeface="Cambria"/>
              <a:cs typeface="Cambria"/>
            </a:endParaRPr>
          </a:p>
          <a:p>
            <a:pPr marL="652780" lvl="1" indent="-274955">
              <a:lnSpc>
                <a:spcPct val="100000"/>
              </a:lnSpc>
              <a:spcBef>
                <a:spcPts val="254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35" dirty="0">
                <a:latin typeface="Cambria"/>
                <a:cs typeface="Cambria"/>
              </a:rPr>
              <a:t>case</a:t>
            </a:r>
            <a:endParaRPr sz="2100">
              <a:latin typeface="Cambria"/>
              <a:cs typeface="Cambria"/>
            </a:endParaRPr>
          </a:p>
          <a:p>
            <a:pPr marL="286385" indent="-273685">
              <a:lnSpc>
                <a:spcPct val="100000"/>
              </a:lnSpc>
              <a:spcBef>
                <a:spcPts val="31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6385" algn="l"/>
              </a:tabLst>
            </a:pPr>
            <a:r>
              <a:rPr sz="2400" spc="65" dirty="0">
                <a:latin typeface="Cambria"/>
                <a:cs typeface="Cambria"/>
              </a:rPr>
              <a:t>Repetition</a:t>
            </a:r>
            <a:endParaRPr sz="2400">
              <a:latin typeface="Cambria"/>
              <a:cs typeface="Cambria"/>
            </a:endParaRPr>
          </a:p>
          <a:p>
            <a:pPr marL="652780" lvl="1" indent="-274955">
              <a:lnSpc>
                <a:spcPct val="100000"/>
              </a:lnSpc>
              <a:spcBef>
                <a:spcPts val="254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-20" dirty="0">
                <a:latin typeface="Cambria"/>
                <a:cs typeface="Cambria"/>
              </a:rPr>
              <a:t>do-</a:t>
            </a:r>
            <a:r>
              <a:rPr sz="2100" spc="70" dirty="0">
                <a:latin typeface="Cambria"/>
                <a:cs typeface="Cambria"/>
              </a:rPr>
              <a:t>while,</a:t>
            </a:r>
            <a:r>
              <a:rPr sz="2100" spc="17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repeat-</a:t>
            </a:r>
            <a:r>
              <a:rPr sz="2100" spc="80" dirty="0">
                <a:latin typeface="Cambria"/>
                <a:cs typeface="Cambria"/>
              </a:rPr>
              <a:t>until</a:t>
            </a:r>
            <a:endParaRPr sz="2100">
              <a:latin typeface="Cambria"/>
              <a:cs typeface="Cambria"/>
            </a:endParaRPr>
          </a:p>
          <a:p>
            <a:pPr marL="652780" lvl="1" indent="-274955">
              <a:lnSpc>
                <a:spcPct val="100000"/>
              </a:lnSpc>
              <a:spcBef>
                <a:spcPts val="254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-25" dirty="0">
                <a:latin typeface="Cambria"/>
                <a:cs typeface="Cambria"/>
              </a:rPr>
              <a:t>for</a:t>
            </a:r>
            <a:endParaRPr sz="2100">
              <a:latin typeface="Cambria"/>
              <a:cs typeface="Cambria"/>
            </a:endParaRPr>
          </a:p>
          <a:p>
            <a:pPr marL="652780" lvl="1" indent="-274955">
              <a:lnSpc>
                <a:spcPct val="100000"/>
              </a:lnSpc>
              <a:spcBef>
                <a:spcPts val="25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-10" dirty="0">
                <a:latin typeface="Cambria"/>
                <a:cs typeface="Cambria"/>
              </a:rPr>
              <a:t>select</a:t>
            </a:r>
            <a:endParaRPr sz="2100">
              <a:latin typeface="Cambria"/>
              <a:cs typeface="Cambria"/>
            </a:endParaRPr>
          </a:p>
          <a:p>
            <a:pPr marL="286385" indent="-273685">
              <a:lnSpc>
                <a:spcPct val="100000"/>
              </a:lnSpc>
              <a:spcBef>
                <a:spcPts val="31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6385" algn="l"/>
              </a:tabLst>
            </a:pPr>
            <a:r>
              <a:rPr sz="2400" spc="85" dirty="0">
                <a:latin typeface="Cambria"/>
                <a:cs typeface="Cambria"/>
              </a:rPr>
              <a:t>Functions</a:t>
            </a:r>
            <a:endParaRPr sz="2400">
              <a:latin typeface="Cambria"/>
              <a:cs typeface="Cambria"/>
            </a:endParaRPr>
          </a:p>
          <a:p>
            <a:pPr marL="286385" indent="-273685">
              <a:lnSpc>
                <a:spcPct val="100000"/>
              </a:lnSpc>
              <a:spcBef>
                <a:spcPts val="31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6385" algn="l"/>
              </a:tabLst>
            </a:pPr>
            <a:r>
              <a:rPr sz="2400" spc="55" dirty="0">
                <a:latin typeface="Cambria"/>
                <a:cs typeface="Cambria"/>
              </a:rPr>
              <a:t>Traps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377808" y="5870549"/>
            <a:ext cx="1149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50" dirty="0">
                <a:solidFill>
                  <a:srgbClr val="FFFFFF"/>
                </a:solidFill>
                <a:latin typeface="Times New Roman"/>
                <a:cs typeface="Times New Roman"/>
              </a:rPr>
              <a:t>7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286639"/>
            <a:ext cx="168465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190" dirty="0">
                <a:latin typeface="Cambria"/>
                <a:cs typeface="Cambria"/>
              </a:rPr>
              <a:t>Variable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019302"/>
            <a:ext cx="6465570" cy="55441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080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225" dirty="0">
                <a:latin typeface="Cambria"/>
                <a:cs typeface="Cambria"/>
              </a:rPr>
              <a:t>A</a:t>
            </a:r>
            <a:r>
              <a:rPr sz="2400" spc="1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variable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character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string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to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which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-25" dirty="0">
                <a:latin typeface="Cambria"/>
                <a:cs typeface="Cambria"/>
              </a:rPr>
              <a:t>we </a:t>
            </a:r>
            <a:r>
              <a:rPr sz="2400" spc="100" dirty="0">
                <a:latin typeface="Cambria"/>
                <a:cs typeface="Cambria"/>
              </a:rPr>
              <a:t>assign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value.</a:t>
            </a:r>
            <a:endParaRPr sz="2400" dirty="0">
              <a:latin typeface="Cambria"/>
              <a:cs typeface="Cambria"/>
            </a:endParaRPr>
          </a:p>
          <a:p>
            <a:pPr marL="285115" marR="5080" indent="-27305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0" dirty="0">
                <a:latin typeface="Cambria"/>
                <a:cs typeface="Cambria"/>
              </a:rPr>
              <a:t>The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value</a:t>
            </a:r>
            <a:r>
              <a:rPr sz="2400" spc="18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assigned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could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number,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text, </a:t>
            </a:r>
            <a:r>
              <a:rPr sz="2400" spc="95" dirty="0">
                <a:latin typeface="Cambria"/>
                <a:cs typeface="Cambria"/>
              </a:rPr>
              <a:t>filename,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device,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or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any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other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type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dat</a:t>
            </a:r>
            <a:r>
              <a:rPr lang="en-US" sz="2400" spc="65" dirty="0">
                <a:latin typeface="Cambria"/>
                <a:cs typeface="Cambria"/>
              </a:rPr>
              <a:t>a</a:t>
            </a:r>
            <a:endParaRPr sz="2400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tabLst>
                <a:tab pos="284480" algn="l"/>
              </a:tabLst>
            </a:pPr>
            <a:r>
              <a:rPr sz="2400" spc="85" dirty="0">
                <a:latin typeface="Cambria"/>
                <a:cs typeface="Cambria"/>
              </a:rPr>
              <a:t>Valid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variables</a:t>
            </a:r>
            <a:endParaRPr sz="2400" dirty="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0" dirty="0">
                <a:latin typeface="Cambria"/>
                <a:cs typeface="Cambria"/>
              </a:rPr>
              <a:t>_abc</a:t>
            </a:r>
            <a:endParaRPr sz="2400" dirty="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10" dirty="0">
                <a:latin typeface="Cambria"/>
                <a:cs typeface="Cambria"/>
              </a:rPr>
              <a:t>Ab_c</a:t>
            </a:r>
            <a:endParaRPr sz="2400" dirty="0">
              <a:latin typeface="Cambria"/>
              <a:cs typeface="Cambria"/>
            </a:endParaRPr>
          </a:p>
          <a:p>
            <a:pPr marL="284480" indent="-27178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110" dirty="0">
                <a:latin typeface="Cambria"/>
                <a:cs typeface="Cambria"/>
              </a:rPr>
              <a:t>Ab_1</a:t>
            </a:r>
            <a:endParaRPr sz="2400" dirty="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tabLst>
                <a:tab pos="285115" algn="l"/>
              </a:tabLst>
            </a:pPr>
            <a:r>
              <a:rPr sz="2400" spc="105" dirty="0">
                <a:latin typeface="Cambria"/>
                <a:cs typeface="Cambria"/>
              </a:rPr>
              <a:t>Invalid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Variables</a:t>
            </a:r>
            <a:endParaRPr sz="2400" dirty="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90" dirty="0">
                <a:latin typeface="Cambria"/>
                <a:cs typeface="Cambria"/>
              </a:rPr>
              <a:t>1_ab</a:t>
            </a:r>
            <a:endParaRPr sz="2400" dirty="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-10" dirty="0">
                <a:latin typeface="Cambria"/>
                <a:cs typeface="Cambria"/>
              </a:rPr>
              <a:t>-</a:t>
            </a:r>
            <a:r>
              <a:rPr sz="2400" spc="55" dirty="0">
                <a:latin typeface="Cambria"/>
                <a:cs typeface="Cambria"/>
              </a:rPr>
              <a:t>ab</a:t>
            </a:r>
            <a:endParaRPr sz="2400" dirty="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75" dirty="0">
                <a:latin typeface="Cambria"/>
                <a:cs typeface="Cambria"/>
              </a:rPr>
              <a:t>Ab-</a:t>
            </a:r>
            <a:r>
              <a:rPr sz="2400" spc="-25" dirty="0">
                <a:latin typeface="Cambria"/>
                <a:cs typeface="Cambria"/>
              </a:rPr>
              <a:t>cd</a:t>
            </a:r>
            <a:endParaRPr sz="2400" dirty="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95" dirty="0">
                <a:latin typeface="Cambria"/>
                <a:cs typeface="Cambria"/>
              </a:rPr>
              <a:t>Ab_c!</a:t>
            </a:r>
            <a:endParaRPr sz="2400" dirty="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377808" y="5870549"/>
            <a:ext cx="114935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50" dirty="0">
                <a:solidFill>
                  <a:srgbClr val="FFFFFF"/>
                </a:solidFill>
                <a:latin typeface="Times New Roman"/>
                <a:cs typeface="Times New Roman"/>
              </a:rPr>
              <a:t>8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90" dirty="0">
                <a:latin typeface="Cambria"/>
                <a:cs typeface="Cambria"/>
              </a:rPr>
              <a:t>Special</a:t>
            </a:r>
            <a:r>
              <a:rPr sz="3000" b="0" cap="small" spc="300" dirty="0">
                <a:latin typeface="Cambria"/>
                <a:cs typeface="Cambria"/>
              </a:rPr>
              <a:t> </a:t>
            </a:r>
            <a:r>
              <a:rPr sz="3000" b="0" cap="small" spc="325" dirty="0">
                <a:latin typeface="Cambria"/>
                <a:cs typeface="Cambria"/>
              </a:rPr>
              <a:t>shell</a:t>
            </a:r>
            <a:r>
              <a:rPr sz="3000" b="0" cap="small" spc="280" dirty="0">
                <a:latin typeface="Cambria"/>
                <a:cs typeface="Cambria"/>
              </a:rPr>
              <a:t> </a:t>
            </a:r>
            <a:r>
              <a:rPr sz="3000" b="0" cap="small" spc="195" dirty="0">
                <a:latin typeface="Cambria"/>
                <a:cs typeface="Cambria"/>
              </a:rPr>
              <a:t>variables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8</a:t>
            </a:fld>
            <a:endParaRPr spc="-25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442912" y="1662112"/>
          <a:ext cx="7620000" cy="40386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433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766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400" spc="-10" dirty="0">
                          <a:latin typeface="Times New Roman"/>
                          <a:cs typeface="Times New Roman"/>
                        </a:rPr>
                        <a:t>Parameter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3556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80"/>
                        </a:spcBef>
                      </a:pPr>
                      <a:r>
                        <a:rPr sz="2400" spc="-10" dirty="0">
                          <a:latin typeface="Times New Roman"/>
                          <a:cs typeface="Times New Roman"/>
                        </a:rPr>
                        <a:t>Meaning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3556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26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$0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Name</a:t>
                      </a:r>
                      <a:r>
                        <a:rPr sz="2000" spc="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current</a:t>
                      </a:r>
                      <a:r>
                        <a:rPr sz="20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shell</a:t>
                      </a:r>
                      <a:r>
                        <a:rPr sz="20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script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$1-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$9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Positional</a:t>
                      </a:r>
                      <a:r>
                        <a:rPr sz="20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parameters</a:t>
                      </a:r>
                      <a:r>
                        <a:rPr sz="20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1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through</a:t>
                      </a:r>
                      <a:r>
                        <a:rPr sz="2000" spc="-50" dirty="0">
                          <a:latin typeface="Times New Roman"/>
                          <a:cs typeface="Times New Roman"/>
                        </a:rPr>
                        <a:t> 9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$#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number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positional</a:t>
                      </a:r>
                      <a:r>
                        <a:rPr sz="20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parameters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$*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All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positional</a:t>
                      </a:r>
                      <a:r>
                        <a:rPr sz="20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parameters,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“$*”</a:t>
                      </a:r>
                      <a:r>
                        <a:rPr sz="20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is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one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string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$@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All</a:t>
                      </a:r>
                      <a:r>
                        <a:rPr sz="20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positional</a:t>
                      </a:r>
                      <a:r>
                        <a:rPr sz="20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parameters,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“$@”</a:t>
                      </a:r>
                      <a:r>
                        <a:rPr sz="20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is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a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set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of 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strings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$?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Return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status</a:t>
                      </a:r>
                      <a:r>
                        <a:rPr sz="20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most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recently</a:t>
                      </a:r>
                      <a:r>
                        <a:rPr sz="20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executed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command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$$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Process</a:t>
                      </a:r>
                      <a:r>
                        <a:rPr sz="20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id</a:t>
                      </a:r>
                      <a:r>
                        <a:rPr sz="20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current</a:t>
                      </a:r>
                      <a:r>
                        <a:rPr sz="20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process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543814"/>
            <a:ext cx="8031480" cy="37261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290" dirty="0">
                <a:solidFill>
                  <a:srgbClr val="565F6C"/>
                </a:solidFill>
                <a:latin typeface="Cambria"/>
                <a:cs typeface="Cambria"/>
              </a:rPr>
              <a:t>ARRAY</a:t>
            </a:r>
            <a:r>
              <a:rPr sz="2400" b="1" spc="335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b="1" spc="300" dirty="0">
                <a:solidFill>
                  <a:srgbClr val="565F6C"/>
                </a:solidFill>
                <a:latin typeface="Cambria"/>
                <a:cs typeface="Cambria"/>
              </a:rPr>
              <a:t>VARIABLE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875"/>
              </a:spcBef>
            </a:pP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10" dirty="0">
                <a:latin typeface="Cambria"/>
                <a:cs typeface="Cambria"/>
              </a:rPr>
              <a:t>This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hold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multiple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values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same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time.</a:t>
            </a:r>
            <a:endParaRPr sz="2400">
              <a:latin typeface="Cambria"/>
              <a:cs typeface="Cambria"/>
            </a:endParaRPr>
          </a:p>
          <a:p>
            <a:pPr marL="284480" indent="-271780">
              <a:lnSpc>
                <a:spcPct val="100000"/>
              </a:lnSpc>
              <a:spcBef>
                <a:spcPts val="2039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114" dirty="0">
                <a:latin typeface="Cambria"/>
                <a:cs typeface="Cambria"/>
              </a:rPr>
              <a:t>Arrays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provide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method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grouping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set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variables.</a:t>
            </a:r>
            <a:endParaRPr sz="2400">
              <a:latin typeface="Cambria"/>
              <a:cs typeface="Cambria"/>
            </a:endParaRPr>
          </a:p>
          <a:p>
            <a:pPr marL="368935" indent="-356235">
              <a:lnSpc>
                <a:spcPct val="100000"/>
              </a:lnSpc>
              <a:spcBef>
                <a:spcPts val="204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368935" algn="l"/>
              </a:tabLst>
            </a:pPr>
            <a:r>
              <a:rPr sz="2400" spc="110" dirty="0">
                <a:latin typeface="Cambria"/>
                <a:cs typeface="Cambria"/>
              </a:rPr>
              <a:t>syntax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array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initialization</a:t>
            </a:r>
            <a:endParaRPr sz="2400">
              <a:latin typeface="Cambria"/>
              <a:cs typeface="Cambria"/>
            </a:endParaRPr>
          </a:p>
          <a:p>
            <a:pPr marL="284480" indent="-271780">
              <a:lnSpc>
                <a:spcPct val="100000"/>
              </a:lnSpc>
              <a:spcBef>
                <a:spcPts val="2039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75" dirty="0">
                <a:latin typeface="Cambria"/>
                <a:cs typeface="Cambria"/>
              </a:rPr>
              <a:t>Array=(va1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va2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-20" dirty="0">
                <a:latin typeface="Cambria"/>
                <a:cs typeface="Cambria"/>
              </a:rPr>
              <a:t>va3)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2039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  <a:tab pos="1082040" algn="l"/>
              </a:tabLst>
            </a:pPr>
            <a:r>
              <a:rPr sz="2400" spc="-20" dirty="0">
                <a:latin typeface="Cambria"/>
                <a:cs typeface="Cambria"/>
              </a:rPr>
              <a:t>echo</a:t>
            </a:r>
            <a:r>
              <a:rPr sz="2400" dirty="0">
                <a:latin typeface="Cambria"/>
                <a:cs typeface="Cambria"/>
              </a:rPr>
              <a:t>	</a:t>
            </a:r>
            <a:r>
              <a:rPr sz="2400" spc="75" dirty="0">
                <a:latin typeface="Cambria"/>
                <a:cs typeface="Cambria"/>
              </a:rPr>
              <a:t>“first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value=${Array[0]}”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9</a:t>
            </a:fld>
            <a:endParaRPr spc="-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439039"/>
            <a:ext cx="3333115" cy="47567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29" dirty="0">
                <a:solidFill>
                  <a:srgbClr val="565F6C"/>
                </a:solidFill>
                <a:latin typeface="Cambria"/>
                <a:cs typeface="Cambria"/>
              </a:rPr>
              <a:t>OPERATORS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</a:pP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95" dirty="0">
                <a:latin typeface="Cambria"/>
                <a:cs typeface="Cambria"/>
              </a:rPr>
              <a:t>Arithmetic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Operators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665"/>
              </a:spcBef>
              <a:buClr>
                <a:srgbClr val="FD8537"/>
              </a:buClr>
              <a:buFont typeface="Wingdings"/>
              <a:buChar char=""/>
            </a:pP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0" dirty="0">
                <a:latin typeface="Cambria"/>
                <a:cs typeface="Cambria"/>
              </a:rPr>
              <a:t>Relational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Operators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670"/>
              </a:spcBef>
              <a:buClr>
                <a:srgbClr val="FD8537"/>
              </a:buClr>
              <a:buFont typeface="Wingdings"/>
              <a:buChar char=""/>
            </a:pP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70" dirty="0">
                <a:latin typeface="Cambria"/>
                <a:cs typeface="Cambria"/>
              </a:rPr>
              <a:t>Boolean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Operators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665"/>
              </a:spcBef>
              <a:buClr>
                <a:srgbClr val="FD8537"/>
              </a:buClr>
              <a:buFont typeface="Wingdings"/>
              <a:buChar char=""/>
            </a:pP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35" dirty="0">
                <a:latin typeface="Cambria"/>
                <a:cs typeface="Cambria"/>
              </a:rPr>
              <a:t>String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Operators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665"/>
              </a:spcBef>
              <a:buClr>
                <a:srgbClr val="FD8537"/>
              </a:buClr>
              <a:buFont typeface="Wingdings"/>
              <a:buChar char=""/>
            </a:pP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30" dirty="0">
                <a:latin typeface="Cambria"/>
                <a:cs typeface="Cambria"/>
              </a:rPr>
              <a:t>File</a:t>
            </a:r>
            <a:r>
              <a:rPr sz="2400" spc="22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Test</a:t>
            </a:r>
            <a:r>
              <a:rPr sz="2400" spc="2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Operators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10</a:t>
            </a:fld>
            <a:endParaRPr spc="-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286639"/>
            <a:ext cx="42576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254" dirty="0">
                <a:latin typeface="Cambria"/>
                <a:cs typeface="Cambria"/>
              </a:rPr>
              <a:t>Arithmetic</a:t>
            </a:r>
            <a:r>
              <a:rPr sz="3000" b="0" cap="small" spc="325" dirty="0">
                <a:latin typeface="Cambria"/>
                <a:cs typeface="Cambria"/>
              </a:rPr>
              <a:t> </a:t>
            </a:r>
            <a:r>
              <a:rPr sz="3000" b="0" cap="small" spc="215" dirty="0">
                <a:latin typeface="Cambria"/>
                <a:cs typeface="Cambria"/>
              </a:rPr>
              <a:t>Operators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07340" y="1023065"/>
            <a:ext cx="8164195" cy="4645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255904" indent="-273050">
              <a:lnSpc>
                <a:spcPct val="1501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85" dirty="0">
                <a:latin typeface="Cambria"/>
                <a:cs typeface="Cambria"/>
              </a:rPr>
              <a:t>shell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didn't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originally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have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any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mechanism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to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perform </a:t>
            </a:r>
            <a:r>
              <a:rPr sz="2400" spc="70" dirty="0">
                <a:latin typeface="Cambria"/>
                <a:cs typeface="Cambria"/>
              </a:rPr>
              <a:t>simple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arithmetic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operations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but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it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uses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external programs,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either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b="1" spc="185" dirty="0">
                <a:latin typeface="Cambria"/>
                <a:cs typeface="Cambria"/>
              </a:rPr>
              <a:t>awk</a:t>
            </a:r>
            <a:r>
              <a:rPr sz="2400" b="1" spc="13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or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b="1" spc="130" dirty="0">
                <a:latin typeface="Cambria"/>
                <a:cs typeface="Cambria"/>
              </a:rPr>
              <a:t>expr</a:t>
            </a:r>
            <a:r>
              <a:rPr sz="2400" spc="130" dirty="0">
                <a:latin typeface="Cambria"/>
                <a:cs typeface="Cambria"/>
              </a:rPr>
              <a:t>.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204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20" dirty="0">
                <a:latin typeface="Cambria"/>
                <a:cs typeface="Cambria"/>
              </a:rPr>
              <a:t>C=`expr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1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+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35" dirty="0">
                <a:latin typeface="Cambria"/>
                <a:cs typeface="Cambria"/>
              </a:rPr>
              <a:t>1`</a:t>
            </a:r>
            <a:endParaRPr sz="2400">
              <a:latin typeface="Cambria"/>
              <a:cs typeface="Cambria"/>
            </a:endParaRPr>
          </a:p>
          <a:p>
            <a:pPr marL="285115" marR="307975" indent="-273050">
              <a:lnSpc>
                <a:spcPct val="150100"/>
              </a:lnSpc>
              <a:spcBef>
                <a:spcPts val="59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85" dirty="0">
                <a:latin typeface="Cambria"/>
                <a:cs typeface="Cambria"/>
              </a:rPr>
              <a:t>There</a:t>
            </a:r>
            <a:r>
              <a:rPr sz="2400" spc="240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must</a:t>
            </a:r>
            <a:r>
              <a:rPr sz="2400" spc="26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</a:t>
            </a:r>
            <a:r>
              <a:rPr sz="2400" spc="25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spaces</a:t>
            </a:r>
            <a:r>
              <a:rPr sz="2400" spc="24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between</a:t>
            </a:r>
            <a:r>
              <a:rPr sz="2400" spc="254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operators</a:t>
            </a:r>
            <a:r>
              <a:rPr sz="2400" spc="24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and </a:t>
            </a:r>
            <a:r>
              <a:rPr sz="2400" spc="65" dirty="0">
                <a:latin typeface="Cambria"/>
                <a:cs typeface="Cambria"/>
              </a:rPr>
              <a:t>expressions.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For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example,</a:t>
            </a:r>
            <a:r>
              <a:rPr sz="2400" spc="19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2+2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not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correct;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100" dirty="0">
                <a:latin typeface="Cambria"/>
                <a:cs typeface="Cambria"/>
              </a:rPr>
              <a:t>it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should </a:t>
            </a:r>
            <a:r>
              <a:rPr sz="2400" dirty="0">
                <a:latin typeface="Cambria"/>
                <a:cs typeface="Cambria"/>
              </a:rPr>
              <a:t>be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written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as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2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+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2.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204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0" dirty="0">
                <a:latin typeface="Cambria"/>
                <a:cs typeface="Cambria"/>
              </a:rPr>
              <a:t>The</a:t>
            </a:r>
            <a:r>
              <a:rPr sz="2400" spc="229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complete</a:t>
            </a:r>
            <a:r>
              <a:rPr sz="2400" spc="24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expression</a:t>
            </a:r>
            <a:r>
              <a:rPr sz="2400" spc="21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should</a:t>
            </a:r>
            <a:r>
              <a:rPr sz="2400" spc="229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</a:t>
            </a:r>
            <a:r>
              <a:rPr sz="2400" spc="24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enclosed</a:t>
            </a:r>
            <a:r>
              <a:rPr sz="2400" spc="2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between</a:t>
            </a:r>
            <a:r>
              <a:rPr sz="2400" spc="270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`</a:t>
            </a:r>
            <a:r>
              <a:rPr sz="2400" spc="25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`,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80136" y="5825744"/>
            <a:ext cx="27444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65" dirty="0">
                <a:latin typeface="Cambria"/>
                <a:cs typeface="Cambria"/>
              </a:rPr>
              <a:t>called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backtick.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32089" y="5870549"/>
            <a:ext cx="205740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1</a:t>
            </a:r>
            <a:r>
              <a:rPr lang="en-US"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2</a:t>
            </a:r>
            <a:endParaRPr sz="14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528637" y="798512"/>
          <a:ext cx="8077835" cy="59524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951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09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316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7185">
                <a:tc>
                  <a:txBody>
                    <a:bodyPr/>
                    <a:lstStyle/>
                    <a:p>
                      <a:pPr marL="47244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spc="40" dirty="0">
                          <a:latin typeface="Cambria"/>
                          <a:cs typeface="Cambria"/>
                        </a:rPr>
                        <a:t>Operator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spc="40" dirty="0">
                          <a:latin typeface="Cambria"/>
                          <a:cs typeface="Cambria"/>
                        </a:rPr>
                        <a:t>Description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65151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spc="65" dirty="0">
                          <a:latin typeface="Cambria"/>
                          <a:cs typeface="Cambria"/>
                        </a:rPr>
                        <a:t>Example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spc="70" dirty="0">
                          <a:latin typeface="Cambria"/>
                          <a:cs typeface="Cambria"/>
                        </a:rPr>
                        <a:t>+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(Addition)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spc="55" dirty="0">
                          <a:latin typeface="Cambria"/>
                          <a:cs typeface="Cambria"/>
                        </a:rPr>
                        <a:t>Adds</a:t>
                      </a:r>
                      <a:r>
                        <a:rPr sz="16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values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on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either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side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operator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`expr</a:t>
                      </a:r>
                      <a:r>
                        <a:rPr sz="1600" spc="20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0" dirty="0">
                          <a:latin typeface="Cambria"/>
                          <a:cs typeface="Cambria"/>
                        </a:rPr>
                        <a:t>+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25" dirty="0">
                          <a:latin typeface="Cambria"/>
                          <a:cs typeface="Cambria"/>
                        </a:rPr>
                        <a:t>$b`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9455"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spc="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(Subtraction)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spc="65" dirty="0">
                          <a:latin typeface="Cambria"/>
                          <a:cs typeface="Cambria"/>
                        </a:rPr>
                        <a:t>Subtracts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right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hand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from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30" dirty="0">
                          <a:latin typeface="Cambria"/>
                          <a:cs typeface="Cambria"/>
                        </a:rPr>
                        <a:t>left</a:t>
                      </a:r>
                      <a:endParaRPr sz="1600">
                        <a:latin typeface="Cambria"/>
                        <a:cs typeface="Cambria"/>
                      </a:endParaRPr>
                    </a:p>
                    <a:p>
                      <a:pPr marL="46355">
                        <a:lnSpc>
                          <a:spcPct val="100000"/>
                        </a:lnSpc>
                      </a:pPr>
                      <a:r>
                        <a:rPr sz="1600" spc="65" dirty="0">
                          <a:latin typeface="Cambria"/>
                          <a:cs typeface="Cambria"/>
                        </a:rPr>
                        <a:t>hand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operand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`expr</a:t>
                      </a:r>
                      <a:r>
                        <a:rPr sz="1600" spc="2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$b`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spc="110" dirty="0">
                          <a:latin typeface="Cambria"/>
                          <a:cs typeface="Cambria"/>
                        </a:rPr>
                        <a:t>*</a:t>
                      </a:r>
                      <a:r>
                        <a:rPr sz="16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(Multiplication)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spc="65" dirty="0">
                          <a:latin typeface="Cambria"/>
                          <a:cs typeface="Cambria"/>
                        </a:rPr>
                        <a:t>Multiplies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values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on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either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side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30" dirty="0">
                          <a:latin typeface="Cambria"/>
                          <a:cs typeface="Cambria"/>
                        </a:rPr>
                        <a:t>the</a:t>
                      </a:r>
                      <a:endParaRPr sz="1600">
                        <a:latin typeface="Cambria"/>
                        <a:cs typeface="Cambria"/>
                      </a:endParaRPr>
                    </a:p>
                    <a:p>
                      <a:pPr marL="4635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spc="-10" dirty="0">
                          <a:latin typeface="Cambria"/>
                          <a:cs typeface="Cambria"/>
                        </a:rPr>
                        <a:t>operator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`expr</a:t>
                      </a:r>
                      <a:r>
                        <a:rPr sz="1600" spc="20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8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\*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30" dirty="0">
                          <a:latin typeface="Cambria"/>
                          <a:cs typeface="Cambria"/>
                        </a:rPr>
                        <a:t>$b`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18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600" spc="-350" dirty="0">
                          <a:latin typeface="Cambria"/>
                          <a:cs typeface="Cambria"/>
                        </a:rPr>
                        <a:t>/</a:t>
                      </a:r>
                      <a:r>
                        <a:rPr sz="16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(Division)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600" spc="50" dirty="0">
                          <a:latin typeface="Cambria"/>
                          <a:cs typeface="Cambria"/>
                        </a:rPr>
                        <a:t>Divides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left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hand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by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right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45" dirty="0">
                          <a:latin typeface="Cambria"/>
                          <a:cs typeface="Cambria"/>
                        </a:rPr>
                        <a:t>hand</a:t>
                      </a:r>
                      <a:endParaRPr sz="1600">
                        <a:latin typeface="Cambria"/>
                        <a:cs typeface="Cambria"/>
                      </a:endParaRPr>
                    </a:p>
                    <a:p>
                      <a:pPr marL="46355">
                        <a:lnSpc>
                          <a:spcPct val="100000"/>
                        </a:lnSpc>
                      </a:pPr>
                      <a:r>
                        <a:rPr sz="1600" spc="-10" dirty="0">
                          <a:latin typeface="Cambria"/>
                          <a:cs typeface="Cambria"/>
                        </a:rPr>
                        <a:t>operand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`expr</a:t>
                      </a:r>
                      <a:r>
                        <a:rPr sz="1600" spc="229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2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350" dirty="0">
                          <a:latin typeface="Cambria"/>
                          <a:cs typeface="Cambria"/>
                        </a:rPr>
                        <a:t>/</a:t>
                      </a:r>
                      <a:r>
                        <a:rPr sz="1600" spc="20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$a`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8820"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%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(Modulus)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600" spc="50" dirty="0">
                          <a:latin typeface="Cambria"/>
                          <a:cs typeface="Cambria"/>
                        </a:rPr>
                        <a:t>Divides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left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hand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by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right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45" dirty="0">
                          <a:latin typeface="Cambria"/>
                          <a:cs typeface="Cambria"/>
                        </a:rPr>
                        <a:t>hand</a:t>
                      </a:r>
                      <a:endParaRPr sz="1600">
                        <a:latin typeface="Cambria"/>
                        <a:cs typeface="Cambria"/>
                      </a:endParaRPr>
                    </a:p>
                    <a:p>
                      <a:pPr marL="4635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and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returns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35" dirty="0">
                          <a:latin typeface="Cambria"/>
                          <a:cs typeface="Cambria"/>
                        </a:rPr>
                        <a:t>remainder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345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`expr</a:t>
                      </a:r>
                      <a:r>
                        <a:rPr sz="1600" spc="1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%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$a`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381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9455"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600" spc="70" dirty="0">
                          <a:latin typeface="Cambria"/>
                          <a:cs typeface="Cambria"/>
                        </a:rPr>
                        <a:t>=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(Assignment)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445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46355">
                        <a:lnSpc>
                          <a:spcPct val="100000"/>
                        </a:lnSpc>
                      </a:pPr>
                      <a:r>
                        <a:rPr sz="1600" spc="65" dirty="0">
                          <a:latin typeface="Cambria"/>
                          <a:cs typeface="Cambria"/>
                        </a:rPr>
                        <a:t>Assigns</a:t>
                      </a:r>
                      <a:r>
                        <a:rPr sz="16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right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in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left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operand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190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600" spc="90" dirty="0">
                          <a:latin typeface="Cambria"/>
                          <a:cs typeface="Cambria"/>
                        </a:rPr>
                        <a:t>a </a:t>
                      </a:r>
                      <a:r>
                        <a:rPr sz="1600" spc="70" dirty="0">
                          <a:latin typeface="Cambria"/>
                          <a:cs typeface="Cambria"/>
                        </a:rPr>
                        <a:t>=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$b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445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19455"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600" spc="70" dirty="0">
                          <a:latin typeface="Cambria"/>
                          <a:cs typeface="Cambria"/>
                        </a:rPr>
                        <a:t>==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35" dirty="0">
                          <a:latin typeface="Cambria"/>
                          <a:cs typeface="Cambria"/>
                        </a:rPr>
                        <a:t>(Equality)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445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 marR="244475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600" spc="55" dirty="0">
                          <a:latin typeface="Cambria"/>
                          <a:cs typeface="Cambria"/>
                        </a:rPr>
                        <a:t>Compares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two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numbers,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both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are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40" dirty="0">
                          <a:latin typeface="Cambria"/>
                          <a:cs typeface="Cambria"/>
                        </a:rPr>
                        <a:t>same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returns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4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445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0" dirty="0">
                          <a:latin typeface="Cambria"/>
                          <a:cs typeface="Cambria"/>
                        </a:rPr>
                        <a:t>==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50" dirty="0">
                          <a:latin typeface="Cambria"/>
                          <a:cs typeface="Cambria"/>
                        </a:rPr>
                        <a:t>]</a:t>
                      </a:r>
                      <a:endParaRPr sz="1600">
                        <a:latin typeface="Cambria"/>
                        <a:cs typeface="Cambria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33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R="78105" algn="r">
                        <a:lnSpc>
                          <a:spcPts val="1120"/>
                        </a:lnSpc>
                      </a:pPr>
                      <a:r>
                        <a:rPr sz="1400" b="1" spc="-25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14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445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19455">
                <a:tc>
                  <a:txBody>
                    <a:bodyPr/>
                    <a:lstStyle/>
                    <a:p>
                      <a:pPr marL="46355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!=</a:t>
                      </a:r>
                      <a:r>
                        <a:rPr sz="1600" spc="21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(Not</a:t>
                      </a:r>
                      <a:r>
                        <a:rPr sz="1600" spc="2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Equality)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445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 marR="78994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600" spc="55" dirty="0">
                          <a:latin typeface="Cambria"/>
                          <a:cs typeface="Cambria"/>
                        </a:rPr>
                        <a:t>Compares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two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numbers,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both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25" dirty="0">
                          <a:latin typeface="Cambria"/>
                          <a:cs typeface="Cambria"/>
                        </a:rPr>
                        <a:t>are </a:t>
                      </a:r>
                      <a:r>
                        <a:rPr sz="1600" spc="45" dirty="0">
                          <a:latin typeface="Cambria"/>
                          <a:cs typeface="Cambria"/>
                        </a:rPr>
                        <a:t>different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returns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445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!=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50" dirty="0">
                          <a:latin typeface="Cambria"/>
                          <a:cs typeface="Cambria"/>
                        </a:rPr>
                        <a:t>]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4445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535940" y="134239"/>
            <a:ext cx="42576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254" dirty="0">
                <a:latin typeface="Cambria"/>
                <a:cs typeface="Cambria"/>
              </a:rPr>
              <a:t>Arithmetic</a:t>
            </a:r>
            <a:r>
              <a:rPr sz="3000" b="0" cap="small" spc="325" dirty="0">
                <a:latin typeface="Cambria"/>
                <a:cs typeface="Cambria"/>
              </a:rPr>
              <a:t> </a:t>
            </a:r>
            <a:r>
              <a:rPr sz="3000" b="0" cap="small" spc="215" dirty="0">
                <a:latin typeface="Cambria"/>
                <a:cs typeface="Cambria"/>
              </a:rPr>
              <a:t>Operators</a:t>
            </a:r>
            <a:endParaRPr sz="30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83514" y="948390"/>
            <a:ext cx="6922770" cy="2999105"/>
          </a:xfrm>
          <a:prstGeom prst="rect">
            <a:avLst/>
          </a:prstGeom>
        </p:spPr>
        <p:txBody>
          <a:bodyPr vert="horz" wrap="square" lIns="0" tIns="19621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154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20" dirty="0">
                <a:latin typeface="Cambria"/>
                <a:cs typeface="Cambria"/>
              </a:rPr>
              <a:t>all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conditional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expressions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should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inside</a:t>
            </a:r>
            <a:endParaRPr sz="2400">
              <a:latin typeface="Cambria"/>
              <a:cs typeface="Cambria"/>
            </a:endParaRPr>
          </a:p>
          <a:p>
            <a:pPr marL="285750">
              <a:lnSpc>
                <a:spcPct val="100000"/>
              </a:lnSpc>
              <a:spcBef>
                <a:spcPts val="1445"/>
              </a:spcBef>
            </a:pPr>
            <a:r>
              <a:rPr sz="2400" spc="80" dirty="0">
                <a:latin typeface="Cambria"/>
                <a:cs typeface="Cambria"/>
              </a:rPr>
              <a:t>square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braces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with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spaces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around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them,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204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dirty="0">
                <a:latin typeface="Cambria"/>
                <a:cs typeface="Cambria"/>
              </a:rPr>
              <a:t>for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example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2039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b="1" dirty="0">
                <a:latin typeface="Cambria"/>
                <a:cs typeface="Cambria"/>
              </a:rPr>
              <a:t>[</a:t>
            </a:r>
            <a:r>
              <a:rPr sz="2400" b="1" spc="180" dirty="0">
                <a:latin typeface="Cambria"/>
                <a:cs typeface="Cambria"/>
              </a:rPr>
              <a:t> </a:t>
            </a:r>
            <a:r>
              <a:rPr sz="2400" b="1" spc="114" dirty="0">
                <a:latin typeface="Cambria"/>
                <a:cs typeface="Cambria"/>
              </a:rPr>
              <a:t>$a</a:t>
            </a:r>
            <a:r>
              <a:rPr sz="2400" b="1" spc="175" dirty="0">
                <a:latin typeface="Cambria"/>
                <a:cs typeface="Cambria"/>
              </a:rPr>
              <a:t> </a:t>
            </a:r>
            <a:r>
              <a:rPr sz="2400" b="1" dirty="0">
                <a:latin typeface="Cambria"/>
                <a:cs typeface="Cambria"/>
              </a:rPr>
              <a:t>==</a:t>
            </a:r>
            <a:r>
              <a:rPr sz="2400" b="1" spc="175" dirty="0">
                <a:latin typeface="Cambria"/>
                <a:cs typeface="Cambria"/>
              </a:rPr>
              <a:t> </a:t>
            </a:r>
            <a:r>
              <a:rPr sz="2400" b="1" spc="95" dirty="0">
                <a:latin typeface="Cambria"/>
                <a:cs typeface="Cambria"/>
              </a:rPr>
              <a:t>$b</a:t>
            </a:r>
            <a:r>
              <a:rPr sz="2400" b="1" spc="170" dirty="0">
                <a:latin typeface="Cambria"/>
                <a:cs typeface="Cambria"/>
              </a:rPr>
              <a:t> </a:t>
            </a:r>
            <a:r>
              <a:rPr sz="2400" b="1" dirty="0">
                <a:latin typeface="Cambria"/>
                <a:cs typeface="Cambria"/>
              </a:rPr>
              <a:t>]</a:t>
            </a:r>
            <a:r>
              <a:rPr sz="2400" b="1" spc="17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correct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2039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b="1" spc="65" dirty="0">
                <a:latin typeface="Cambria"/>
                <a:cs typeface="Cambria"/>
              </a:rPr>
              <a:t>[$a==$b]</a:t>
            </a:r>
            <a:r>
              <a:rPr sz="2400" b="1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incorrect.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15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134823"/>
            <a:ext cx="3836670" cy="437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700" b="0" cap="small" spc="229" dirty="0">
                <a:latin typeface="Cambria"/>
                <a:cs typeface="Cambria"/>
              </a:rPr>
              <a:t>Relational</a:t>
            </a:r>
            <a:r>
              <a:rPr sz="2700" b="0" cap="small" spc="265" dirty="0">
                <a:latin typeface="Cambria"/>
                <a:cs typeface="Cambria"/>
              </a:rPr>
              <a:t> </a:t>
            </a:r>
            <a:r>
              <a:rPr sz="2700" b="0" cap="small" spc="195" dirty="0">
                <a:latin typeface="Cambria"/>
                <a:cs typeface="Cambria"/>
              </a:rPr>
              <a:t>Operators</a:t>
            </a:r>
            <a:endParaRPr sz="2700">
              <a:latin typeface="Cambria"/>
              <a:cs typeface="Cambria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476250" y="808037"/>
          <a:ext cx="8129904" cy="5664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195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08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21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7500">
                <a:tc>
                  <a:txBody>
                    <a:bodyPr/>
                    <a:lstStyle/>
                    <a:p>
                      <a:pPr marL="135255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600" spc="40" dirty="0">
                          <a:latin typeface="Cambria"/>
                          <a:cs typeface="Cambria"/>
                        </a:rPr>
                        <a:t>Operator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6034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600" spc="40" dirty="0">
                          <a:latin typeface="Cambria"/>
                          <a:cs typeface="Cambria"/>
                        </a:rPr>
                        <a:t>Description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6034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487680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600" spc="65" dirty="0">
                          <a:latin typeface="Cambria"/>
                          <a:cs typeface="Cambria"/>
                        </a:rPr>
                        <a:t>Example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6034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9925">
                <a:tc>
                  <a:txBody>
                    <a:bodyPr/>
                    <a:lstStyle/>
                    <a:p>
                      <a:pPr marL="29209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600" b="1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b="1" spc="40" dirty="0">
                          <a:latin typeface="Cambria"/>
                          <a:cs typeface="Cambria"/>
                        </a:rPr>
                        <a:t>eq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159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209" marR="47625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two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operands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are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equal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or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not;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if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yes,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condition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600" spc="1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6034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845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eq</a:t>
                      </a:r>
                      <a:r>
                        <a:rPr sz="16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50" dirty="0">
                          <a:latin typeface="Cambria"/>
                          <a:cs typeface="Cambria"/>
                        </a:rPr>
                        <a:t>]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6034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1225">
                <a:tc>
                  <a:txBody>
                    <a:bodyPr/>
                    <a:lstStyle/>
                    <a:p>
                      <a:pPr marL="29209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600" b="1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b="1" spc="60" dirty="0">
                          <a:latin typeface="Cambria"/>
                          <a:cs typeface="Cambria"/>
                        </a:rPr>
                        <a:t>ne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159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209" marR="47625">
                        <a:lnSpc>
                          <a:spcPct val="100000"/>
                        </a:lnSpc>
                        <a:spcBef>
                          <a:spcPts val="204"/>
                        </a:spcBef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two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operands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are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equal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or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not;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if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values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are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equal,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condition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6034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6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8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ne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50" dirty="0">
                          <a:latin typeface="Cambria"/>
                          <a:cs typeface="Cambria"/>
                        </a:rPr>
                        <a:t>]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9652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1225">
                <a:tc>
                  <a:txBody>
                    <a:bodyPr/>
                    <a:lstStyle/>
                    <a:p>
                      <a:pPr marL="29209">
                        <a:lnSpc>
                          <a:spcPct val="100000"/>
                        </a:lnSpc>
                        <a:spcBef>
                          <a:spcPts val="170"/>
                        </a:spcBef>
                      </a:pPr>
                      <a:r>
                        <a:rPr sz="1600" b="1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b="1" spc="80" dirty="0">
                          <a:latin typeface="Cambria"/>
                          <a:cs typeface="Cambria"/>
                        </a:rPr>
                        <a:t>gt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159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209" marR="142875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left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45" dirty="0">
                          <a:latin typeface="Cambria"/>
                          <a:cs typeface="Cambria"/>
                        </a:rPr>
                        <a:t>greater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85" dirty="0">
                          <a:latin typeface="Cambria"/>
                          <a:cs typeface="Cambria"/>
                        </a:rPr>
                        <a:t>than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30" dirty="0">
                          <a:latin typeface="Cambria"/>
                          <a:cs typeface="Cambria"/>
                        </a:rPr>
                        <a:t>the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right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operand;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yes,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condition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600" spc="2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667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6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845">
                        <a:lnSpc>
                          <a:spcPct val="100000"/>
                        </a:lnSpc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8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gt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50" dirty="0">
                          <a:latin typeface="Cambria"/>
                          <a:cs typeface="Cambria"/>
                        </a:rPr>
                        <a:t>]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9715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1225">
                <a:tc>
                  <a:txBody>
                    <a:bodyPr/>
                    <a:lstStyle/>
                    <a:p>
                      <a:pPr marL="29209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600" b="1" spc="-2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b="1" spc="55" dirty="0">
                          <a:latin typeface="Cambria"/>
                          <a:cs typeface="Cambria"/>
                        </a:rPr>
                        <a:t>lt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222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209" marR="475615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1600" spc="80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left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less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85" dirty="0">
                          <a:latin typeface="Cambria"/>
                          <a:cs typeface="Cambria"/>
                        </a:rPr>
                        <a:t>than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30" dirty="0">
                          <a:latin typeface="Cambria"/>
                          <a:cs typeface="Cambria"/>
                        </a:rPr>
                        <a:t>the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right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operand;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yes,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condition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600" spc="2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667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6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84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spc="70" dirty="0">
                          <a:latin typeface="Cambria"/>
                          <a:cs typeface="Cambria"/>
                        </a:rPr>
                        <a:t>lt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50" dirty="0">
                          <a:latin typeface="Cambria"/>
                          <a:cs typeface="Cambria"/>
                        </a:rPr>
                        <a:t>]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9715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31875">
                <a:tc>
                  <a:txBody>
                    <a:bodyPr/>
                    <a:lstStyle/>
                    <a:p>
                      <a:pPr marL="29209">
                        <a:lnSpc>
                          <a:spcPct val="100000"/>
                        </a:lnSpc>
                        <a:spcBef>
                          <a:spcPts val="175"/>
                        </a:spcBef>
                      </a:pPr>
                      <a:r>
                        <a:rPr sz="1600" b="1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b="1" spc="70" dirty="0">
                          <a:latin typeface="Cambria"/>
                          <a:cs typeface="Cambria"/>
                        </a:rPr>
                        <a:t>ge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222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209" marR="254635">
                        <a:lnSpc>
                          <a:spcPct val="100000"/>
                        </a:lnSpc>
                        <a:spcBef>
                          <a:spcPts val="210"/>
                        </a:spcBef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left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45" dirty="0">
                          <a:latin typeface="Cambria"/>
                          <a:cs typeface="Cambria"/>
                        </a:rPr>
                        <a:t>greater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85" dirty="0">
                          <a:latin typeface="Cambria"/>
                          <a:cs typeface="Cambria"/>
                        </a:rPr>
                        <a:t>than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or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equal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to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right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operand;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yes,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30" dirty="0">
                          <a:latin typeface="Cambria"/>
                          <a:cs typeface="Cambria"/>
                        </a:rPr>
                        <a:t>the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condition</a:t>
                      </a:r>
                      <a:r>
                        <a:rPr sz="1600" spc="2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600" spc="2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667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1245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845">
                        <a:lnSpc>
                          <a:spcPct val="100000"/>
                        </a:lnSpc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ge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50" dirty="0">
                          <a:latin typeface="Cambria"/>
                          <a:cs typeface="Cambria"/>
                        </a:rPr>
                        <a:t>]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15811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11225">
                <a:tc>
                  <a:txBody>
                    <a:bodyPr/>
                    <a:lstStyle/>
                    <a:p>
                      <a:pPr marL="29209">
                        <a:lnSpc>
                          <a:spcPct val="100000"/>
                        </a:lnSpc>
                        <a:spcBef>
                          <a:spcPts val="180"/>
                        </a:spcBef>
                      </a:pPr>
                      <a:r>
                        <a:rPr sz="1600" b="1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b="1" spc="40" dirty="0">
                          <a:latin typeface="Cambria"/>
                          <a:cs typeface="Cambria"/>
                        </a:rPr>
                        <a:t>le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286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9209" marR="405130">
                        <a:lnSpc>
                          <a:spcPct val="100000"/>
                        </a:lnSpc>
                        <a:spcBef>
                          <a:spcPts val="215"/>
                        </a:spcBef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left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less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85" dirty="0">
                          <a:latin typeface="Cambria"/>
                          <a:cs typeface="Cambria"/>
                        </a:rPr>
                        <a:t>than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or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equal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to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right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operand;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yes,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30" dirty="0">
                          <a:latin typeface="Cambria"/>
                          <a:cs typeface="Cambria"/>
                        </a:rPr>
                        <a:t>the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condition</a:t>
                      </a:r>
                      <a:r>
                        <a:rPr sz="1600" spc="2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600" spc="2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2730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770"/>
                        </a:spcBef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  <a:p>
                      <a:pPr marL="29845">
                        <a:lnSpc>
                          <a:spcPct val="100000"/>
                        </a:lnSpc>
                        <a:tabLst>
                          <a:tab pos="1536065" algn="l"/>
                        </a:tabLst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$a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le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$b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50" dirty="0">
                          <a:latin typeface="Cambria"/>
                          <a:cs typeface="Cambria"/>
                        </a:rPr>
                        <a:t>]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	</a:t>
                      </a:r>
                      <a:r>
                        <a:rPr sz="2100" b="1" spc="-37" baseline="11904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16</a:t>
                      </a:r>
                      <a:endParaRPr sz="2100" baseline="11904">
                        <a:latin typeface="Times New Roman"/>
                        <a:cs typeface="Times New Roman"/>
                      </a:endParaRPr>
                    </a:p>
                  </a:txBody>
                  <a:tcPr marL="0" marR="0" marT="9779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86639"/>
            <a:ext cx="376491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Boolean</a:t>
            </a:r>
            <a:r>
              <a:rPr sz="3000" b="0" cap="small" spc="295" dirty="0">
                <a:latin typeface="Cambria"/>
                <a:cs typeface="Cambria"/>
              </a:rPr>
              <a:t> </a:t>
            </a:r>
            <a:r>
              <a:rPr sz="3000" b="0" cap="small" spc="210" dirty="0">
                <a:latin typeface="Cambria"/>
                <a:cs typeface="Cambria"/>
              </a:rPr>
              <a:t>Operators</a:t>
            </a:r>
            <a:endParaRPr sz="3000">
              <a:latin typeface="Cambria"/>
              <a:cs typeface="Cambria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400050" y="1671637"/>
          <a:ext cx="8128634" cy="49510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243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7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64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8625">
                <a:tc>
                  <a:txBody>
                    <a:bodyPr/>
                    <a:lstStyle/>
                    <a:p>
                      <a:pPr marL="233045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sz="1800" spc="50" dirty="0">
                          <a:latin typeface="Cambria"/>
                          <a:cs typeface="Cambria"/>
                        </a:rPr>
                        <a:t>Operator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7175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sz="1800" spc="40" dirty="0">
                          <a:latin typeface="Cambria"/>
                          <a:cs typeface="Cambria"/>
                        </a:rPr>
                        <a:t>Description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7175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713740" marR="67310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sz="1800" spc="80" dirty="0">
                          <a:latin typeface="Cambria"/>
                          <a:cs typeface="Cambria"/>
                        </a:rPr>
                        <a:t>Example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7175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7490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530"/>
                        </a:spcBef>
                      </a:pPr>
                      <a:r>
                        <a:rPr sz="1800" b="1" spc="-50" dirty="0">
                          <a:latin typeface="Cambria"/>
                          <a:cs typeface="Cambria"/>
                        </a:rPr>
                        <a:t>!</a:t>
                      </a:r>
                      <a:endParaRPr sz="1800" dirty="0">
                        <a:latin typeface="Cambria"/>
                        <a:cs typeface="Cambria"/>
                      </a:endParaRPr>
                    </a:p>
                  </a:txBody>
                  <a:tcPr marL="0" marR="0" marT="6731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295" marR="154940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sz="1800" spc="90" dirty="0">
                          <a:latin typeface="Cambria"/>
                          <a:cs typeface="Cambria"/>
                        </a:rPr>
                        <a:t>This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45" dirty="0">
                          <a:latin typeface="Cambria"/>
                          <a:cs typeface="Cambria"/>
                        </a:rPr>
                        <a:t>logical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5" dirty="0">
                          <a:latin typeface="Cambria"/>
                          <a:cs typeface="Cambria"/>
                        </a:rPr>
                        <a:t>negation.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This</a:t>
                      </a:r>
                      <a:r>
                        <a:rPr sz="18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inverts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0" dirty="0">
                          <a:latin typeface="Cambria"/>
                          <a:cs typeface="Cambria"/>
                        </a:rPr>
                        <a:t>a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true</a:t>
                      </a:r>
                      <a:r>
                        <a:rPr sz="1800" spc="20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condition</a:t>
                      </a:r>
                      <a:r>
                        <a:rPr sz="1800" spc="20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into</a:t>
                      </a:r>
                      <a:r>
                        <a:rPr sz="1800" spc="1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false</a:t>
                      </a:r>
                      <a:r>
                        <a:rPr sz="1800" spc="2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80" dirty="0">
                          <a:latin typeface="Cambria"/>
                          <a:cs typeface="Cambria"/>
                        </a:rPr>
                        <a:t>and</a:t>
                      </a:r>
                      <a:r>
                        <a:rPr sz="1800" spc="20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20" dirty="0">
                          <a:latin typeface="Cambria"/>
                          <a:cs typeface="Cambria"/>
                        </a:rPr>
                        <a:t>vice </a:t>
                      </a:r>
                      <a:r>
                        <a:rPr sz="1800" spc="50" dirty="0">
                          <a:latin typeface="Cambria"/>
                          <a:cs typeface="Cambria"/>
                        </a:rPr>
                        <a:t>versa.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7175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7310"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R="67310">
                        <a:lnSpc>
                          <a:spcPct val="100000"/>
                        </a:lnSpc>
                        <a:spcBef>
                          <a:spcPts val="695"/>
                        </a:spcBef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  <a:p>
                      <a:pPr marL="74930" marR="6731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!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false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]</a:t>
                      </a:r>
                      <a:r>
                        <a:rPr sz="1800" spc="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true.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7490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530"/>
                        </a:spcBef>
                      </a:pPr>
                      <a:r>
                        <a:rPr sz="1800" b="1" spc="-3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800" b="1" spc="20" dirty="0">
                          <a:latin typeface="Cambria"/>
                          <a:cs typeface="Cambria"/>
                        </a:rPr>
                        <a:t>o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6731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295" marR="416559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sz="1800" spc="90" dirty="0">
                          <a:latin typeface="Cambria"/>
                          <a:cs typeface="Cambria"/>
                        </a:rPr>
                        <a:t>This</a:t>
                      </a:r>
                      <a:r>
                        <a:rPr sz="18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logical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2700" b="1" spc="307" baseline="1543" dirty="0">
                          <a:latin typeface="Cambria"/>
                          <a:cs typeface="Cambria"/>
                        </a:rPr>
                        <a:t>OR</a:t>
                      </a:r>
                      <a:r>
                        <a:rPr sz="1800" spc="204" dirty="0">
                          <a:latin typeface="Cambria"/>
                          <a:cs typeface="Cambria"/>
                        </a:rPr>
                        <a:t>.</a:t>
                      </a:r>
                      <a:r>
                        <a:rPr sz="18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8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one</a:t>
                      </a:r>
                      <a:r>
                        <a:rPr sz="18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8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45" dirty="0">
                          <a:latin typeface="Cambria"/>
                          <a:cs typeface="Cambria"/>
                        </a:rPr>
                        <a:t>the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operands</a:t>
                      </a:r>
                      <a:r>
                        <a:rPr sz="1800" spc="1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8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5" dirty="0">
                          <a:latin typeface="Cambria"/>
                          <a:cs typeface="Cambria"/>
                        </a:rPr>
                        <a:t>true,</a:t>
                      </a:r>
                      <a:r>
                        <a:rPr sz="18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5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800" spc="1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0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8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condition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800" spc="229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true.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7175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930" marR="67310">
                        <a:lnSpc>
                          <a:spcPct val="100000"/>
                        </a:lnSpc>
                        <a:spcBef>
                          <a:spcPts val="565"/>
                        </a:spcBef>
                      </a:pPr>
                      <a:r>
                        <a:rPr sz="18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800" spc="85" dirty="0">
                          <a:latin typeface="Cambria"/>
                          <a:cs typeface="Cambria"/>
                        </a:rPr>
                        <a:t> $x</a:t>
                      </a:r>
                      <a:r>
                        <a:rPr sz="1800" spc="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800" spc="80" dirty="0">
                          <a:latin typeface="Cambria"/>
                          <a:cs typeface="Cambria"/>
                        </a:rPr>
                        <a:t>lt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10</a:t>
                      </a:r>
                      <a:r>
                        <a:rPr sz="1800" spc="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-o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$y</a:t>
                      </a:r>
                      <a:r>
                        <a:rPr sz="1800" spc="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gt</a:t>
                      </a:r>
                      <a:endParaRPr sz="1800">
                        <a:latin typeface="Cambria"/>
                        <a:cs typeface="Cambria"/>
                      </a:endParaRPr>
                    </a:p>
                    <a:p>
                      <a:pPr marL="74930" marR="6731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800" dirty="0">
                          <a:latin typeface="Cambria"/>
                          <a:cs typeface="Cambria"/>
                        </a:rPr>
                        <a:t>100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]</a:t>
                      </a:r>
                      <a:r>
                        <a:rPr sz="1800" spc="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true.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7175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7490">
                <a:tc>
                  <a:txBody>
                    <a:bodyPr/>
                    <a:lstStyle/>
                    <a:p>
                      <a:pPr marL="74295">
                        <a:lnSpc>
                          <a:spcPct val="100000"/>
                        </a:lnSpc>
                        <a:spcBef>
                          <a:spcPts val="535"/>
                        </a:spcBef>
                      </a:pPr>
                      <a:r>
                        <a:rPr sz="1800" b="1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800" b="1" spc="80" dirty="0">
                          <a:latin typeface="Cambria"/>
                          <a:cs typeface="Cambria"/>
                        </a:rPr>
                        <a:t>a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6794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4295" marR="250190">
                        <a:lnSpc>
                          <a:spcPct val="100000"/>
                        </a:lnSpc>
                        <a:spcBef>
                          <a:spcPts val="570"/>
                        </a:spcBef>
                      </a:pPr>
                      <a:r>
                        <a:rPr sz="1800" spc="90" dirty="0">
                          <a:latin typeface="Cambria"/>
                          <a:cs typeface="Cambria"/>
                        </a:rPr>
                        <a:t>This</a:t>
                      </a:r>
                      <a:r>
                        <a:rPr sz="18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8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45" dirty="0">
                          <a:latin typeface="Cambria"/>
                          <a:cs typeface="Cambria"/>
                        </a:rPr>
                        <a:t>logical</a:t>
                      </a:r>
                      <a:r>
                        <a:rPr sz="18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2700" b="1" spc="300" baseline="1543" dirty="0">
                          <a:latin typeface="Cambria"/>
                          <a:cs typeface="Cambria"/>
                        </a:rPr>
                        <a:t>AND</a:t>
                      </a:r>
                      <a:r>
                        <a:rPr sz="1800" spc="200" dirty="0">
                          <a:latin typeface="Cambria"/>
                          <a:cs typeface="Cambria"/>
                        </a:rPr>
                        <a:t>.</a:t>
                      </a:r>
                      <a:r>
                        <a:rPr sz="18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8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both</a:t>
                      </a:r>
                      <a:r>
                        <a:rPr sz="18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45" dirty="0">
                          <a:latin typeface="Cambria"/>
                          <a:cs typeface="Cambria"/>
                        </a:rPr>
                        <a:t>the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operands</a:t>
                      </a:r>
                      <a:r>
                        <a:rPr sz="18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5" dirty="0">
                          <a:latin typeface="Cambria"/>
                          <a:cs typeface="Cambria"/>
                        </a:rPr>
                        <a:t>are</a:t>
                      </a:r>
                      <a:r>
                        <a:rPr sz="18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5" dirty="0">
                          <a:latin typeface="Cambria"/>
                          <a:cs typeface="Cambria"/>
                        </a:rPr>
                        <a:t>true,</a:t>
                      </a:r>
                      <a:r>
                        <a:rPr sz="18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5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8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0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8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condition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800" spc="2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true</a:t>
                      </a:r>
                      <a:r>
                        <a:rPr sz="1800" spc="2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otherwise</a:t>
                      </a:r>
                      <a:r>
                        <a:rPr sz="1800" spc="2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false.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7239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7310">
                        <a:lnSpc>
                          <a:spcPct val="100000"/>
                        </a:lnSpc>
                        <a:spcBef>
                          <a:spcPts val="1689"/>
                        </a:spcBef>
                      </a:pPr>
                      <a:endParaRPr sz="1800" dirty="0">
                        <a:latin typeface="Times New Roman"/>
                        <a:cs typeface="Times New Roman"/>
                      </a:endParaRPr>
                    </a:p>
                    <a:p>
                      <a:pPr marL="74930">
                        <a:lnSpc>
                          <a:spcPct val="100000"/>
                        </a:lnSpc>
                        <a:spcBef>
                          <a:spcPts val="5"/>
                        </a:spcBef>
                        <a:tabLst>
                          <a:tab pos="2248535" algn="l"/>
                        </a:tabLst>
                      </a:pPr>
                      <a:r>
                        <a:rPr sz="18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85" dirty="0">
                          <a:latin typeface="Cambria"/>
                          <a:cs typeface="Cambria"/>
                        </a:rPr>
                        <a:t>$x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800" spc="80" dirty="0">
                          <a:latin typeface="Cambria"/>
                          <a:cs typeface="Cambria"/>
                        </a:rPr>
                        <a:t>lt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20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800" spc="120" dirty="0">
                          <a:latin typeface="Cambria"/>
                          <a:cs typeface="Cambria"/>
                        </a:rPr>
                        <a:t>a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$y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gt</a:t>
                      </a:r>
                      <a:r>
                        <a:rPr sz="1800" spc="5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100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]</a:t>
                      </a:r>
                      <a:r>
                        <a:rPr sz="1800" spc="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false.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	</a:t>
                      </a:r>
                      <a:r>
                        <a:rPr sz="2100" b="1" spc="-37" baseline="11904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17</a:t>
                      </a:r>
                      <a:endParaRPr sz="2100" baseline="11904" dirty="0">
                        <a:latin typeface="Times New Roman"/>
                        <a:cs typeface="Times New Roman"/>
                      </a:endParaRPr>
                    </a:p>
                  </a:txBody>
                  <a:tcPr marL="0" marR="0" marT="214629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2517394" y="1013205"/>
            <a:ext cx="502284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5" dirty="0">
                <a:latin typeface="Times New Roman"/>
                <a:cs typeface="Times New Roman"/>
              </a:rPr>
              <a:t>x=5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37090" y="1013205"/>
            <a:ext cx="6546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20" dirty="0">
                <a:latin typeface="Times New Roman"/>
                <a:cs typeface="Times New Roman"/>
              </a:rPr>
              <a:t>y=10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83540" y="210439"/>
            <a:ext cx="339597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275" dirty="0">
                <a:latin typeface="Cambria"/>
                <a:cs typeface="Cambria"/>
              </a:rPr>
              <a:t>String</a:t>
            </a:r>
            <a:r>
              <a:rPr sz="3000" b="0" cap="small" spc="330" dirty="0">
                <a:latin typeface="Cambria"/>
                <a:cs typeface="Cambria"/>
              </a:rPr>
              <a:t> </a:t>
            </a:r>
            <a:r>
              <a:rPr sz="3000" b="0" cap="small" spc="210" dirty="0">
                <a:latin typeface="Cambria"/>
                <a:cs typeface="Cambria"/>
              </a:rPr>
              <a:t>Operators</a:t>
            </a:r>
            <a:endParaRPr sz="3000">
              <a:latin typeface="Cambria"/>
              <a:cs typeface="Cambria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300037" y="1519237"/>
          <a:ext cx="8227060" cy="49517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104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74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marL="18478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600" spc="35" dirty="0">
                          <a:latin typeface="Cambria"/>
                          <a:cs typeface="Cambria"/>
                        </a:rPr>
                        <a:t>Operator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600" spc="-10" dirty="0">
                          <a:latin typeface="Cambria"/>
                          <a:cs typeface="Cambria"/>
                        </a:rPr>
                        <a:t>Description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697230" marR="6731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600" spc="65" dirty="0">
                          <a:latin typeface="Cambria"/>
                          <a:cs typeface="Cambria"/>
                        </a:rPr>
                        <a:t>Example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4250"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b="1" spc="-50" dirty="0">
                          <a:latin typeface="Cambria"/>
                          <a:cs typeface="Cambria"/>
                        </a:rPr>
                        <a:t>=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429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910" marR="1441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two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operands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are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equal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or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not;</a:t>
                      </a:r>
                      <a:r>
                        <a:rPr sz="1600" spc="1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yes,</a:t>
                      </a:r>
                      <a:r>
                        <a:rPr sz="1600" spc="1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condition</a:t>
                      </a:r>
                      <a:r>
                        <a:rPr sz="16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6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2545" marR="6731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$x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0" dirty="0">
                          <a:latin typeface="Cambria"/>
                          <a:cs typeface="Cambria"/>
                        </a:rPr>
                        <a:t>=</a:t>
                      </a:r>
                      <a:r>
                        <a:rPr sz="16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$y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]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34110"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600" b="1" spc="-25" dirty="0">
                          <a:latin typeface="Cambria"/>
                          <a:cs typeface="Cambria"/>
                        </a:rPr>
                        <a:t>!=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429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910" marR="144145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two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operands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are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equal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or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not;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values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are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equal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10" dirty="0">
                          <a:latin typeface="Cambria"/>
                          <a:cs typeface="Cambria"/>
                        </a:rPr>
                        <a:t>condition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becomes</a:t>
                      </a:r>
                      <a:r>
                        <a:rPr sz="1600" spc="2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2545" marR="6731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$x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!=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$y</a:t>
                      </a:r>
                      <a:r>
                        <a:rPr sz="16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]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873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755"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600" b="1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b="1" spc="40" dirty="0">
                          <a:latin typeface="Cambria"/>
                          <a:cs typeface="Cambria"/>
                        </a:rPr>
                        <a:t>z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492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910" marR="10795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given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string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size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zero;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if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it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zero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0" dirty="0">
                          <a:latin typeface="Cambria"/>
                          <a:cs typeface="Cambria"/>
                        </a:rPr>
                        <a:t>length,</a:t>
                      </a:r>
                      <a:r>
                        <a:rPr sz="16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it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returns</a:t>
                      </a:r>
                      <a:r>
                        <a:rPr sz="16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4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2545" marR="6731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z</a:t>
                      </a:r>
                      <a:r>
                        <a:rPr sz="16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$x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]</a:t>
                      </a:r>
                      <a:r>
                        <a:rPr sz="16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4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83615"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600" b="1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b="1" spc="75" dirty="0">
                          <a:latin typeface="Cambria"/>
                          <a:cs typeface="Cambria"/>
                        </a:rPr>
                        <a:t>n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492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910" marR="14224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85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given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string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operand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size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0" dirty="0">
                          <a:latin typeface="Cambria"/>
                          <a:cs typeface="Cambria"/>
                        </a:rPr>
                        <a:t>non-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zero;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it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nonzero</a:t>
                      </a:r>
                      <a:r>
                        <a:rPr sz="16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0" dirty="0">
                          <a:latin typeface="Cambria"/>
                          <a:cs typeface="Cambria"/>
                        </a:rPr>
                        <a:t>length,</a:t>
                      </a:r>
                      <a:r>
                        <a:rPr sz="16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it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returns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true.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2545" marR="6731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-25" dirty="0">
                          <a:latin typeface="Cambria"/>
                          <a:cs typeface="Cambria"/>
                        </a:rPr>
                        <a:t>-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n</a:t>
                      </a:r>
                      <a:r>
                        <a:rPr sz="1600" spc="12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5" dirty="0">
                          <a:latin typeface="Cambria"/>
                          <a:cs typeface="Cambria"/>
                        </a:rPr>
                        <a:t>$x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]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false.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3895"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1600" b="1" spc="45" dirty="0">
                          <a:latin typeface="Cambria"/>
                          <a:cs typeface="Cambria"/>
                        </a:rPr>
                        <a:t>str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4925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1910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sz="1600" spc="80" dirty="0">
                          <a:latin typeface="Cambria"/>
                          <a:cs typeface="Cambria"/>
                        </a:rPr>
                        <a:t>Checks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2400" b="1" spc="112" baseline="1736" dirty="0">
                          <a:latin typeface="Cambria"/>
                          <a:cs typeface="Cambria"/>
                        </a:rPr>
                        <a:t>str</a:t>
                      </a:r>
                      <a:r>
                        <a:rPr sz="2400" b="1" spc="232" baseline="1736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</a:t>
                      </a:r>
                      <a:r>
                        <a:rPr sz="16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the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empty</a:t>
                      </a:r>
                      <a:r>
                        <a:rPr sz="16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string;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if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it</a:t>
                      </a:r>
                      <a:r>
                        <a:rPr sz="1600" spc="15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25" dirty="0">
                          <a:latin typeface="Cambria"/>
                          <a:cs typeface="Cambria"/>
                        </a:rPr>
                        <a:t>is</a:t>
                      </a:r>
                      <a:endParaRPr sz="1600">
                        <a:latin typeface="Cambria"/>
                        <a:cs typeface="Cambria"/>
                      </a:endParaRPr>
                    </a:p>
                    <a:p>
                      <a:pPr marL="4191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empty,</a:t>
                      </a:r>
                      <a:r>
                        <a:rPr sz="16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then</a:t>
                      </a:r>
                      <a:r>
                        <a:rPr sz="1600" spc="13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60" dirty="0">
                          <a:latin typeface="Cambria"/>
                          <a:cs typeface="Cambria"/>
                        </a:rPr>
                        <a:t>it</a:t>
                      </a:r>
                      <a:r>
                        <a:rPr sz="1600" spc="13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5" dirty="0">
                          <a:latin typeface="Cambria"/>
                          <a:cs typeface="Cambria"/>
                        </a:rPr>
                        <a:t>returns</a:t>
                      </a:r>
                      <a:r>
                        <a:rPr sz="16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false.</a:t>
                      </a:r>
                      <a:endParaRPr sz="1600">
                        <a:latin typeface="Cambria"/>
                        <a:cs typeface="Cambria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  <a:spcBef>
                          <a:spcPts val="310"/>
                        </a:spcBef>
                        <a:tabLst>
                          <a:tab pos="2110105" algn="l"/>
                        </a:tabLst>
                      </a:pPr>
                      <a:r>
                        <a:rPr sz="1600" dirty="0">
                          <a:latin typeface="Cambria"/>
                          <a:cs typeface="Cambria"/>
                        </a:rPr>
                        <a:t>[</a:t>
                      </a:r>
                      <a:r>
                        <a:rPr sz="16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75" dirty="0">
                          <a:latin typeface="Cambria"/>
                          <a:cs typeface="Cambria"/>
                        </a:rPr>
                        <a:t>$x</a:t>
                      </a:r>
                      <a:r>
                        <a:rPr sz="16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]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is</a:t>
                      </a:r>
                      <a:r>
                        <a:rPr sz="16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not</a:t>
                      </a:r>
                      <a:r>
                        <a:rPr sz="16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600" spc="50" dirty="0">
                          <a:latin typeface="Cambria"/>
                          <a:cs typeface="Cambria"/>
                        </a:rPr>
                        <a:t>false.</a:t>
                      </a:r>
                      <a:r>
                        <a:rPr sz="1600" dirty="0">
                          <a:latin typeface="Cambria"/>
                          <a:cs typeface="Cambria"/>
                        </a:rPr>
                        <a:t>	</a:t>
                      </a:r>
                      <a:r>
                        <a:rPr sz="2100" b="1" spc="-37" baseline="-7936" dirty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18</a:t>
                      </a:r>
                      <a:endParaRPr sz="2100" baseline="-7936">
                        <a:latin typeface="Times New Roman"/>
                        <a:cs typeface="Times New Roman"/>
                      </a:endParaRPr>
                    </a:p>
                  </a:txBody>
                  <a:tcPr marL="0" marR="0" marT="39370" marB="0">
                    <a:lnL w="9525">
                      <a:solidFill>
                        <a:srgbClr val="DDDDDD"/>
                      </a:solidFill>
                      <a:prstDash val="solid"/>
                    </a:lnL>
                    <a:lnR w="9525">
                      <a:solidFill>
                        <a:srgbClr val="DDDDDD"/>
                      </a:solidFill>
                      <a:prstDash val="solid"/>
                    </a:lnR>
                    <a:lnT w="9525">
                      <a:solidFill>
                        <a:srgbClr val="DDDDDD"/>
                      </a:solidFill>
                      <a:prstDash val="solid"/>
                    </a:lnT>
                    <a:lnB w="9525">
                      <a:solidFill>
                        <a:srgbClr val="DDDDDD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2543048" y="855675"/>
            <a:ext cx="909319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x=“ab”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024899" y="855675"/>
            <a:ext cx="87376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-10" dirty="0">
                <a:latin typeface="Times New Roman"/>
                <a:cs typeface="Times New Roman"/>
              </a:rPr>
              <a:t>y=“fg”</a:t>
            </a:r>
            <a:endParaRPr sz="2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40" dirty="0">
                <a:latin typeface="Cambria"/>
                <a:cs typeface="Cambria"/>
              </a:rPr>
              <a:t>User</a:t>
            </a:r>
            <a:r>
              <a:rPr sz="3000" b="0" cap="small" spc="325" dirty="0">
                <a:latin typeface="Cambria"/>
                <a:cs typeface="Cambria"/>
              </a:rPr>
              <a:t> </a:t>
            </a:r>
            <a:r>
              <a:rPr sz="3000" b="0" cap="small" spc="185" dirty="0">
                <a:latin typeface="Cambria"/>
                <a:cs typeface="Cambria"/>
              </a:rPr>
              <a:t>input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553083"/>
            <a:ext cx="6163310" cy="3037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32155" indent="272415">
              <a:lnSpc>
                <a:spcPct val="1108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85" dirty="0">
                <a:latin typeface="Cambria"/>
                <a:cs typeface="Cambria"/>
              </a:rPr>
              <a:t>shell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allows</a:t>
            </a:r>
            <a:r>
              <a:rPr sz="2400" spc="18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to</a:t>
            </a:r>
            <a:r>
              <a:rPr sz="2400" spc="22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prompt</a:t>
            </a:r>
            <a:r>
              <a:rPr sz="2400" spc="19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for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user</a:t>
            </a:r>
            <a:r>
              <a:rPr sz="2400" spc="204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input </a:t>
            </a:r>
            <a:r>
              <a:rPr sz="2400" u="sng" spc="12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Syntax: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484"/>
              </a:spcBef>
              <a:buClr>
                <a:srgbClr val="FD8537"/>
              </a:buClr>
              <a:buFont typeface="Wingdings"/>
              <a:buChar char=""/>
            </a:pPr>
            <a:endParaRPr sz="2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  <a:spcBef>
                <a:spcPts val="5"/>
              </a:spcBef>
            </a:pPr>
            <a:r>
              <a:rPr sz="2100" b="1" dirty="0">
                <a:latin typeface="Courier New"/>
                <a:cs typeface="Courier New"/>
              </a:rPr>
              <a:t>read</a:t>
            </a:r>
            <a:r>
              <a:rPr sz="2100" b="1" spc="-75" dirty="0">
                <a:latin typeface="Courier New"/>
                <a:cs typeface="Courier New"/>
              </a:rPr>
              <a:t> </a:t>
            </a:r>
            <a:r>
              <a:rPr sz="2100" b="1" dirty="0">
                <a:latin typeface="Courier New"/>
                <a:cs typeface="Courier New"/>
              </a:rPr>
              <a:t>varname</a:t>
            </a:r>
            <a:r>
              <a:rPr sz="2100" b="1" spc="-70" dirty="0">
                <a:latin typeface="Courier New"/>
                <a:cs typeface="Courier New"/>
              </a:rPr>
              <a:t> </a:t>
            </a:r>
            <a:r>
              <a:rPr sz="2100" b="1" dirty="0">
                <a:latin typeface="Courier New"/>
                <a:cs typeface="Courier New"/>
              </a:rPr>
              <a:t>[more</a:t>
            </a:r>
            <a:r>
              <a:rPr sz="2100" b="1" spc="-60" dirty="0">
                <a:latin typeface="Courier New"/>
                <a:cs typeface="Courier New"/>
              </a:rPr>
              <a:t> </a:t>
            </a:r>
            <a:r>
              <a:rPr sz="2100" b="1" spc="-10" dirty="0">
                <a:latin typeface="Courier New"/>
                <a:cs typeface="Courier New"/>
              </a:rPr>
              <a:t>vars]</a:t>
            </a:r>
            <a:endParaRPr sz="21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44"/>
              </a:spcBef>
            </a:pPr>
            <a:endParaRPr sz="2100">
              <a:latin typeface="Courier New"/>
              <a:cs typeface="Courier New"/>
            </a:endParaRPr>
          </a:p>
          <a:p>
            <a:pPr marL="285115" indent="-272415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-25" dirty="0">
                <a:latin typeface="Cambria"/>
                <a:cs typeface="Cambria"/>
              </a:rPr>
              <a:t>or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70"/>
              </a:spcBef>
            </a:pPr>
            <a:endParaRPr sz="2400">
              <a:latin typeface="Cambria"/>
              <a:cs typeface="Cambria"/>
            </a:endParaRPr>
          </a:p>
          <a:p>
            <a:pPr marL="379730">
              <a:lnSpc>
                <a:spcPct val="100000"/>
              </a:lnSpc>
            </a:pPr>
            <a:r>
              <a:rPr sz="2100" b="1" dirty="0">
                <a:latin typeface="Courier New"/>
                <a:cs typeface="Courier New"/>
              </a:rPr>
              <a:t>read</a:t>
            </a:r>
            <a:r>
              <a:rPr sz="2100" b="1" spc="-85" dirty="0">
                <a:latin typeface="Courier New"/>
                <a:cs typeface="Courier New"/>
              </a:rPr>
              <a:t> </a:t>
            </a:r>
            <a:r>
              <a:rPr sz="2100" b="1" dirty="0">
                <a:latin typeface="Courier New"/>
                <a:cs typeface="Courier New"/>
              </a:rPr>
              <a:t>–p</a:t>
            </a:r>
            <a:r>
              <a:rPr sz="2100" b="1" spc="-65" dirty="0">
                <a:latin typeface="Courier New"/>
                <a:cs typeface="Courier New"/>
              </a:rPr>
              <a:t> </a:t>
            </a:r>
            <a:r>
              <a:rPr sz="2100" b="1" dirty="0">
                <a:latin typeface="Courier New"/>
                <a:cs typeface="Courier New"/>
              </a:rPr>
              <a:t>"prompt"</a:t>
            </a:r>
            <a:r>
              <a:rPr sz="2100" b="1" spc="-65" dirty="0">
                <a:latin typeface="Courier New"/>
                <a:cs typeface="Courier New"/>
              </a:rPr>
              <a:t> </a:t>
            </a:r>
            <a:r>
              <a:rPr sz="2100" b="1" dirty="0">
                <a:latin typeface="Courier New"/>
                <a:cs typeface="Courier New"/>
              </a:rPr>
              <a:t>varname</a:t>
            </a:r>
            <a:r>
              <a:rPr sz="2100" b="1" spc="-65" dirty="0">
                <a:latin typeface="Courier New"/>
                <a:cs typeface="Courier New"/>
              </a:rPr>
              <a:t> </a:t>
            </a:r>
            <a:r>
              <a:rPr sz="2100" b="1" dirty="0">
                <a:latin typeface="Courier New"/>
                <a:cs typeface="Courier New"/>
              </a:rPr>
              <a:t>[more</a:t>
            </a:r>
            <a:r>
              <a:rPr sz="2100" b="1" spc="-80" dirty="0">
                <a:latin typeface="Courier New"/>
                <a:cs typeface="Courier New"/>
              </a:rPr>
              <a:t> </a:t>
            </a:r>
            <a:r>
              <a:rPr sz="2100" b="1" spc="-10" dirty="0">
                <a:latin typeface="Courier New"/>
                <a:cs typeface="Courier New"/>
              </a:rPr>
              <a:t>vars]</a:t>
            </a:r>
            <a:endParaRPr sz="21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951717"/>
            <a:ext cx="5623560" cy="1226185"/>
          </a:xfrm>
          <a:prstGeom prst="rect">
            <a:avLst/>
          </a:prstGeom>
        </p:spPr>
        <p:txBody>
          <a:bodyPr vert="horz" wrap="square" lIns="0" tIns="36194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284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dirty="0">
                <a:latin typeface="Cambria"/>
                <a:cs typeface="Cambria"/>
              </a:rPr>
              <a:t>words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entered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by</a:t>
            </a:r>
            <a:r>
              <a:rPr sz="2400" spc="18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user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are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assigned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-25" dirty="0">
                <a:latin typeface="Cambria"/>
                <a:cs typeface="Cambria"/>
              </a:rPr>
              <a:t>to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180"/>
              </a:spcBef>
            </a:pPr>
            <a:r>
              <a:rPr sz="2400" b="1" dirty="0">
                <a:latin typeface="Courier New"/>
                <a:cs typeface="Courier New"/>
              </a:rPr>
              <a:t>varname</a:t>
            </a:r>
            <a:r>
              <a:rPr sz="2400" b="1" spc="-810" dirty="0">
                <a:latin typeface="Courier New"/>
                <a:cs typeface="Courier New"/>
              </a:rPr>
              <a:t> </a:t>
            </a:r>
            <a:r>
              <a:rPr sz="2400" spc="95" dirty="0">
                <a:latin typeface="Cambria"/>
                <a:cs typeface="Cambria"/>
              </a:rPr>
              <a:t>and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“</a:t>
            </a:r>
            <a:r>
              <a:rPr sz="2400" b="1" dirty="0">
                <a:latin typeface="Courier New"/>
                <a:cs typeface="Courier New"/>
              </a:rPr>
              <a:t>more</a:t>
            </a:r>
            <a:r>
              <a:rPr sz="2400" b="1" spc="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vars</a:t>
            </a:r>
            <a:r>
              <a:rPr sz="2400" spc="-10" dirty="0">
                <a:latin typeface="Cambria"/>
                <a:cs typeface="Cambria"/>
              </a:rPr>
              <a:t>”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44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5" dirty="0">
                <a:latin typeface="Cambria"/>
                <a:cs typeface="Cambria"/>
              </a:rPr>
              <a:t>last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variable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gets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rest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input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line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19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40" dirty="0">
                <a:latin typeface="Cambria"/>
                <a:cs typeface="Cambria"/>
              </a:rPr>
              <a:t>User</a:t>
            </a:r>
            <a:r>
              <a:rPr sz="3000" b="0" cap="small" spc="325" dirty="0">
                <a:latin typeface="Cambria"/>
                <a:cs typeface="Cambria"/>
              </a:rPr>
              <a:t> </a:t>
            </a:r>
            <a:r>
              <a:rPr sz="3000" b="0" cap="small" spc="260" dirty="0">
                <a:latin typeface="Cambria"/>
                <a:cs typeface="Cambria"/>
              </a:rPr>
              <a:t>input</a:t>
            </a:r>
            <a:r>
              <a:rPr sz="3000" b="0" cap="small" spc="300" dirty="0">
                <a:latin typeface="Cambria"/>
                <a:cs typeface="Cambria"/>
              </a:rPr>
              <a:t> </a:t>
            </a:r>
            <a:r>
              <a:rPr sz="3000" b="0" cap="small" spc="245" dirty="0">
                <a:latin typeface="Cambria"/>
                <a:cs typeface="Cambria"/>
              </a:rPr>
              <a:t>example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18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612140" y="1444878"/>
            <a:ext cx="6963409" cy="223583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2400" b="1" dirty="0">
                <a:latin typeface="Courier New"/>
                <a:cs typeface="Courier New"/>
              </a:rPr>
              <a:t>#!</a:t>
            </a:r>
            <a:r>
              <a:rPr sz="2400" b="1" spc="-10" dirty="0">
                <a:latin typeface="Courier New"/>
                <a:cs typeface="Courier New"/>
              </a:rPr>
              <a:t> /bin/bash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read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-</a:t>
            </a:r>
            <a:r>
              <a:rPr sz="2400" b="1" dirty="0">
                <a:latin typeface="Courier New"/>
                <a:cs typeface="Courier New"/>
              </a:rPr>
              <a:t>p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"enter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your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name: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first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spc="-20" dirty="0">
                <a:latin typeface="Courier New"/>
                <a:cs typeface="Courier New"/>
              </a:rPr>
              <a:t>last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60"/>
              </a:spcBef>
            </a:pPr>
            <a:endParaRPr sz="2400">
              <a:latin typeface="Courier New"/>
              <a:cs typeface="Courier New"/>
            </a:endParaRPr>
          </a:p>
          <a:p>
            <a:pPr marL="12700" marR="2379345">
              <a:lnSpc>
                <a:spcPct val="120800"/>
              </a:lnSpc>
              <a:spcBef>
                <a:spcPts val="5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"First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name: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$first" </a:t>
            </a: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"Last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name: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$last"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530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b="0" spc="285" dirty="0">
                <a:latin typeface="Cambria"/>
                <a:cs typeface="Cambria"/>
              </a:rPr>
              <a:t>BASH</a:t>
            </a:r>
            <a:r>
              <a:rPr b="0" spc="335" dirty="0">
                <a:latin typeface="Cambria"/>
                <a:cs typeface="Cambria"/>
              </a:rPr>
              <a:t> </a:t>
            </a:r>
            <a:r>
              <a:rPr b="0" spc="280" dirty="0">
                <a:latin typeface="Cambria"/>
                <a:cs typeface="Cambria"/>
              </a:rPr>
              <a:t>CONTROL STRUCTURES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19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53083"/>
            <a:ext cx="1885950" cy="288861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50" dirty="0">
                <a:latin typeface="Cambria"/>
                <a:cs typeface="Cambria"/>
              </a:rPr>
              <a:t>if-</a:t>
            </a:r>
            <a:r>
              <a:rPr sz="2400" spc="70" dirty="0">
                <a:latin typeface="Cambria"/>
                <a:cs typeface="Cambria"/>
              </a:rPr>
              <a:t>then-</a:t>
            </a:r>
            <a:r>
              <a:rPr sz="2400" spc="30" dirty="0">
                <a:latin typeface="Cambria"/>
                <a:cs typeface="Cambria"/>
              </a:rPr>
              <a:t>else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40" dirty="0">
                <a:latin typeface="Cambria"/>
                <a:cs typeface="Cambria"/>
              </a:rPr>
              <a:t>case</a:t>
            </a:r>
            <a:endParaRPr sz="2400">
              <a:latin typeface="Cambria"/>
              <a:cs typeface="Cambria"/>
            </a:endParaRPr>
          </a:p>
          <a:p>
            <a:pPr marL="284480" indent="-271780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-10" dirty="0">
                <a:latin typeface="Cambria"/>
                <a:cs typeface="Cambria"/>
              </a:rPr>
              <a:t>loops</a:t>
            </a:r>
            <a:endParaRPr sz="24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-25" dirty="0">
                <a:latin typeface="Cambria"/>
                <a:cs typeface="Cambria"/>
              </a:rPr>
              <a:t>for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45" dirty="0">
                <a:latin typeface="Cambria"/>
                <a:cs typeface="Cambria"/>
              </a:rPr>
              <a:t>while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80" dirty="0">
                <a:latin typeface="Cambria"/>
                <a:cs typeface="Cambria"/>
              </a:rPr>
              <a:t>until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-10" dirty="0">
                <a:latin typeface="Cambria"/>
                <a:cs typeface="Cambria"/>
              </a:rPr>
              <a:t>select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35940" y="972439"/>
            <a:ext cx="2491740" cy="2332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spc="254" dirty="0">
                <a:solidFill>
                  <a:srgbClr val="565F6C"/>
                </a:solidFill>
                <a:latin typeface="Cambria"/>
                <a:cs typeface="Cambria"/>
              </a:rPr>
              <a:t>IF</a:t>
            </a:r>
            <a:r>
              <a:rPr sz="2400" spc="305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220" dirty="0">
                <a:solidFill>
                  <a:srgbClr val="565F6C"/>
                </a:solidFill>
                <a:latin typeface="Cambria"/>
                <a:cs typeface="Cambria"/>
              </a:rPr>
              <a:t>STATEMENT</a:t>
            </a:r>
            <a:endParaRPr sz="2400">
              <a:latin typeface="Cambria"/>
              <a:cs typeface="Cambria"/>
            </a:endParaRPr>
          </a:p>
          <a:p>
            <a:pPr marL="379730" marR="275590">
              <a:lnSpc>
                <a:spcPct val="120000"/>
              </a:lnSpc>
              <a:spcBef>
                <a:spcPts val="1460"/>
              </a:spcBef>
            </a:pPr>
            <a:r>
              <a:rPr sz="2400" b="1" dirty="0">
                <a:latin typeface="Courier New"/>
                <a:cs typeface="Courier New"/>
              </a:rPr>
              <a:t>if</a:t>
            </a:r>
            <a:r>
              <a:rPr sz="2400" b="1" spc="-10" dirty="0">
                <a:latin typeface="Courier New"/>
                <a:cs typeface="Courier New"/>
              </a:rPr>
              <a:t> command </a:t>
            </a:r>
            <a:r>
              <a:rPr sz="2400" b="1" spc="-20" dirty="0">
                <a:latin typeface="Courier New"/>
                <a:cs typeface="Courier New"/>
              </a:rPr>
              <a:t>then</a:t>
            </a:r>
            <a:endParaRPr sz="2400">
              <a:latin typeface="Courier New"/>
              <a:cs typeface="Courier New"/>
            </a:endParaRPr>
          </a:p>
          <a:p>
            <a:pPr marL="652780">
              <a:lnSpc>
                <a:spcPct val="100000"/>
              </a:lnSpc>
              <a:spcBef>
                <a:spcPts val="580"/>
              </a:spcBef>
            </a:pPr>
            <a:r>
              <a:rPr sz="2400" b="1" spc="-10" dirty="0">
                <a:latin typeface="Courier New"/>
                <a:cs typeface="Courier New"/>
              </a:rPr>
              <a:t>statements</a:t>
            </a:r>
            <a:endParaRPr sz="2400">
              <a:latin typeface="Courier New"/>
              <a:cs typeface="Courier New"/>
            </a:endParaRPr>
          </a:p>
          <a:p>
            <a:pPr marL="379730">
              <a:lnSpc>
                <a:spcPct val="100000"/>
              </a:lnSpc>
              <a:spcBef>
                <a:spcPts val="575"/>
              </a:spcBef>
            </a:pPr>
            <a:r>
              <a:rPr sz="2400" b="1" spc="-25" dirty="0">
                <a:latin typeface="Courier New"/>
                <a:cs typeface="Courier New"/>
              </a:rPr>
              <a:t>fi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20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4223765"/>
            <a:ext cx="6058535" cy="805815"/>
          </a:xfrm>
          <a:prstGeom prst="rect">
            <a:avLst/>
          </a:prstGeom>
        </p:spPr>
        <p:txBody>
          <a:bodyPr vert="horz" wrap="square" lIns="0" tIns="3683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29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90" dirty="0">
                <a:latin typeface="Cambria"/>
                <a:cs typeface="Cambria"/>
              </a:rPr>
              <a:t>statements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are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executed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only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05" dirty="0">
                <a:latin typeface="Cambria"/>
                <a:cs typeface="Cambria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command</a:t>
            </a:r>
            <a:endParaRPr sz="2400">
              <a:latin typeface="Courier New"/>
              <a:cs typeface="Courier New"/>
            </a:endParaRPr>
          </a:p>
          <a:p>
            <a:pPr marL="285115">
              <a:lnSpc>
                <a:spcPct val="100000"/>
              </a:lnSpc>
              <a:spcBef>
                <a:spcPts val="195"/>
              </a:spcBef>
            </a:pPr>
            <a:r>
              <a:rPr sz="2400" spc="55" dirty="0">
                <a:latin typeface="Cambria"/>
                <a:cs typeface="Cambria"/>
              </a:rPr>
              <a:t>succeeds,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i.e.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has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return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status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-25" dirty="0">
                <a:latin typeface="Cambria"/>
                <a:cs typeface="Cambria"/>
              </a:rPr>
              <a:t>“0”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499617"/>
            <a:ext cx="268986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0" spc="250" dirty="0">
                <a:latin typeface="Cambria"/>
                <a:cs typeface="Cambria"/>
              </a:rPr>
              <a:t>TEST</a:t>
            </a:r>
            <a:r>
              <a:rPr b="0" spc="325" dirty="0">
                <a:latin typeface="Cambria"/>
                <a:cs typeface="Cambria"/>
              </a:rPr>
              <a:t> </a:t>
            </a:r>
            <a:r>
              <a:rPr b="0" spc="285" dirty="0">
                <a:latin typeface="Cambria"/>
                <a:cs typeface="Cambria"/>
              </a:rPr>
              <a:t>COMMAND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271609"/>
            <a:ext cx="6891655" cy="177038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sz="2400" u="sng" spc="114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Syntax:</a:t>
            </a:r>
            <a:endParaRPr sz="2400">
              <a:latin typeface="Cambria"/>
              <a:cs typeface="Cambria"/>
            </a:endParaRPr>
          </a:p>
          <a:p>
            <a:pPr marL="285115" marR="3854450">
              <a:lnSpc>
                <a:spcPts val="3420"/>
              </a:lnSpc>
              <a:spcBef>
                <a:spcPts val="75"/>
              </a:spcBef>
            </a:pPr>
            <a:r>
              <a:rPr sz="2400" b="1" dirty="0">
                <a:latin typeface="Courier New"/>
                <a:cs typeface="Courier New"/>
              </a:rPr>
              <a:t>test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expression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expression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]</a:t>
            </a:r>
            <a:endParaRPr sz="2400">
              <a:latin typeface="Courier New"/>
              <a:cs typeface="Courier New"/>
            </a:endParaRPr>
          </a:p>
          <a:p>
            <a:pPr marL="284480" indent="-271780">
              <a:lnSpc>
                <a:spcPct val="100000"/>
              </a:lnSpc>
              <a:spcBef>
                <a:spcPts val="65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95" dirty="0">
                <a:latin typeface="Cambria"/>
                <a:cs typeface="Cambria"/>
              </a:rPr>
              <a:t>evaluates</a:t>
            </a:r>
            <a:r>
              <a:rPr sz="2400" spc="2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‘expression’</a:t>
            </a:r>
            <a:r>
              <a:rPr sz="2400" spc="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and</a:t>
            </a:r>
            <a:r>
              <a:rPr sz="2400" spc="2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returns</a:t>
            </a:r>
            <a:r>
              <a:rPr sz="2400" spc="22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true</a:t>
            </a:r>
            <a:r>
              <a:rPr sz="2400" spc="22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or</a:t>
            </a:r>
            <a:r>
              <a:rPr sz="2400" spc="2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false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3458717"/>
            <a:ext cx="5331460" cy="264541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5"/>
              </a:spcBef>
            </a:pPr>
            <a:r>
              <a:rPr sz="2400" u="sng" spc="105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Example: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spc="65" dirty="0">
                <a:latin typeface="Cambria"/>
                <a:cs typeface="Cambria"/>
              </a:rPr>
              <a:t>read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–p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“Enter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your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password=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“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pass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350"/>
              </a:spcBef>
            </a:pPr>
            <a:r>
              <a:rPr sz="2400" b="1" dirty="0">
                <a:latin typeface="Courier New"/>
                <a:cs typeface="Courier New"/>
              </a:rPr>
              <a:t>if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test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“$pass“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==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“admin”</a:t>
            </a:r>
            <a:endParaRPr sz="2400">
              <a:latin typeface="Courier New"/>
              <a:cs typeface="Courier New"/>
            </a:endParaRPr>
          </a:p>
          <a:p>
            <a:pPr marL="651510">
              <a:lnSpc>
                <a:spcPct val="100000"/>
              </a:lnSpc>
              <a:spcBef>
                <a:spcPts val="600"/>
              </a:spcBef>
            </a:pPr>
            <a:r>
              <a:rPr sz="2400" b="1" spc="-20" dirty="0">
                <a:latin typeface="Courier New"/>
                <a:cs typeface="Courier New"/>
              </a:rPr>
              <a:t>then</a:t>
            </a:r>
            <a:endParaRPr sz="2400">
              <a:latin typeface="Courier New"/>
              <a:cs typeface="Courier New"/>
            </a:endParaRPr>
          </a:p>
          <a:p>
            <a:pPr marL="651510">
              <a:lnSpc>
                <a:spcPct val="100000"/>
              </a:lnSpc>
              <a:spcBef>
                <a:spcPts val="605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5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“Password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Verfied"</a:t>
            </a:r>
            <a:endParaRPr sz="2400">
              <a:latin typeface="Courier New"/>
              <a:cs typeface="Courier New"/>
            </a:endParaRPr>
          </a:p>
          <a:p>
            <a:pPr marL="285115">
              <a:lnSpc>
                <a:spcPct val="100000"/>
              </a:lnSpc>
              <a:spcBef>
                <a:spcPts val="600"/>
              </a:spcBef>
            </a:pPr>
            <a:r>
              <a:rPr sz="2400" b="1" spc="-25" dirty="0">
                <a:latin typeface="Courier New"/>
                <a:cs typeface="Courier New"/>
              </a:rPr>
              <a:t>fi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23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80" dirty="0">
                <a:latin typeface="Cambria"/>
                <a:cs typeface="Cambria"/>
              </a:rPr>
              <a:t>simple</a:t>
            </a:r>
            <a:r>
              <a:rPr sz="3000" b="0" cap="small" spc="325" dirty="0">
                <a:latin typeface="Cambria"/>
                <a:cs typeface="Cambria"/>
              </a:rPr>
              <a:t> </a:t>
            </a:r>
            <a:r>
              <a:rPr sz="3000" b="0" cap="small" spc="254" dirty="0">
                <a:latin typeface="Cambria"/>
                <a:cs typeface="Cambria"/>
              </a:rPr>
              <a:t>if</a:t>
            </a:r>
            <a:r>
              <a:rPr sz="3000" b="0" cap="small" spc="320" dirty="0">
                <a:latin typeface="Cambria"/>
                <a:cs typeface="Cambria"/>
              </a:rPr>
              <a:t> </a:t>
            </a:r>
            <a:r>
              <a:rPr sz="3000" b="0" cap="small" spc="190" dirty="0">
                <a:latin typeface="Cambria"/>
                <a:cs typeface="Cambria"/>
              </a:rPr>
              <a:t>statement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22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24126"/>
            <a:ext cx="6709409" cy="26244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52780" marR="2298700" indent="-273685">
              <a:lnSpc>
                <a:spcPct val="120000"/>
              </a:lnSpc>
              <a:spcBef>
                <a:spcPts val="100"/>
              </a:spcBef>
            </a:pPr>
            <a:r>
              <a:rPr sz="2400" b="1" dirty="0">
                <a:latin typeface="Courier New"/>
                <a:cs typeface="Courier New"/>
              </a:rPr>
              <a:t>if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condition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];</a:t>
            </a:r>
            <a:r>
              <a:rPr sz="2400" b="1" spc="-20" dirty="0">
                <a:latin typeface="Courier New"/>
                <a:cs typeface="Courier New"/>
              </a:rPr>
              <a:t> then </a:t>
            </a:r>
            <a:r>
              <a:rPr sz="2400" b="1" spc="-10" dirty="0">
                <a:latin typeface="Courier New"/>
                <a:cs typeface="Courier New"/>
              </a:rPr>
              <a:t>statements</a:t>
            </a:r>
            <a:endParaRPr sz="2400">
              <a:latin typeface="Courier New"/>
              <a:cs typeface="Courier New"/>
            </a:endParaRPr>
          </a:p>
          <a:p>
            <a:pPr marL="379730">
              <a:lnSpc>
                <a:spcPct val="100000"/>
              </a:lnSpc>
              <a:spcBef>
                <a:spcPts val="575"/>
              </a:spcBef>
            </a:pPr>
            <a:r>
              <a:rPr sz="2400" b="1" spc="-25" dirty="0">
                <a:latin typeface="Courier New"/>
                <a:cs typeface="Courier New"/>
              </a:rPr>
              <a:t>fi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30"/>
              </a:spcBef>
            </a:pPr>
            <a:endParaRPr sz="2400">
              <a:latin typeface="Courier New"/>
              <a:cs typeface="Courier New"/>
            </a:endParaRPr>
          </a:p>
          <a:p>
            <a:pPr marL="285115" marR="5080" indent="-273050">
              <a:lnSpc>
                <a:spcPct val="1067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55" dirty="0">
                <a:latin typeface="Cambria"/>
                <a:cs typeface="Cambria"/>
              </a:rPr>
              <a:t>executes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statements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only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condition</a:t>
            </a:r>
            <a:r>
              <a:rPr sz="2400" b="1" spc="-780" dirty="0">
                <a:latin typeface="Courier New"/>
                <a:cs typeface="Courier New"/>
              </a:rPr>
              <a:t> </a:t>
            </a:r>
            <a:r>
              <a:rPr sz="2400" spc="50" dirty="0">
                <a:latin typeface="Cambria"/>
                <a:cs typeface="Cambria"/>
              </a:rPr>
              <a:t>is </a:t>
            </a:r>
            <a:r>
              <a:rPr sz="2400" spc="65" dirty="0">
                <a:latin typeface="Cambria"/>
                <a:cs typeface="Cambria"/>
              </a:rPr>
              <a:t>true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20" dirty="0">
                <a:latin typeface="Cambria"/>
                <a:cs typeface="Cambria"/>
              </a:rPr>
              <a:t> </a:t>
            </a:r>
            <a:r>
              <a:rPr sz="3000" b="0" cap="small" spc="160" dirty="0">
                <a:latin typeface="Cambria"/>
                <a:cs typeface="Cambria"/>
              </a:rPr>
              <a:t>if-</a:t>
            </a:r>
            <a:r>
              <a:rPr sz="3000" b="0" cap="small" spc="225" dirty="0">
                <a:latin typeface="Cambria"/>
                <a:cs typeface="Cambria"/>
              </a:rPr>
              <a:t>then-</a:t>
            </a:r>
            <a:r>
              <a:rPr sz="3000" b="0" cap="small" spc="325" dirty="0">
                <a:latin typeface="Cambria"/>
                <a:cs typeface="Cambria"/>
              </a:rPr>
              <a:t>else</a:t>
            </a:r>
            <a:r>
              <a:rPr sz="3000" b="0" cap="small" spc="360" dirty="0">
                <a:latin typeface="Cambria"/>
                <a:cs typeface="Cambria"/>
              </a:rPr>
              <a:t> </a:t>
            </a:r>
            <a:r>
              <a:rPr sz="3000" b="0" cap="small" spc="195" dirty="0">
                <a:latin typeface="Cambria"/>
                <a:cs typeface="Cambria"/>
              </a:rPr>
              <a:t>statement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23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24126"/>
            <a:ext cx="6153785" cy="3521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27100" marR="1743075" indent="-547370">
              <a:lnSpc>
                <a:spcPct val="120000"/>
              </a:lnSpc>
              <a:spcBef>
                <a:spcPts val="100"/>
              </a:spcBef>
            </a:pPr>
            <a:r>
              <a:rPr sz="2400" b="1" dirty="0">
                <a:latin typeface="Courier New"/>
                <a:cs typeface="Courier New"/>
              </a:rPr>
              <a:t>if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condition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];</a:t>
            </a:r>
            <a:r>
              <a:rPr sz="2400" b="1" spc="-20" dirty="0">
                <a:latin typeface="Courier New"/>
                <a:cs typeface="Courier New"/>
              </a:rPr>
              <a:t> then </a:t>
            </a:r>
            <a:r>
              <a:rPr sz="2400" b="1" spc="-10" dirty="0">
                <a:latin typeface="Courier New"/>
                <a:cs typeface="Courier New"/>
              </a:rPr>
              <a:t>statements-</a:t>
            </a:r>
            <a:r>
              <a:rPr sz="2400" b="1" spc="-50" dirty="0">
                <a:latin typeface="Courier New"/>
                <a:cs typeface="Courier New"/>
              </a:rPr>
              <a:t>1</a:t>
            </a:r>
            <a:endParaRPr sz="2400">
              <a:latin typeface="Courier New"/>
              <a:cs typeface="Courier New"/>
            </a:endParaRPr>
          </a:p>
          <a:p>
            <a:pPr marL="379730">
              <a:lnSpc>
                <a:spcPct val="100000"/>
              </a:lnSpc>
              <a:spcBef>
                <a:spcPts val="575"/>
              </a:spcBef>
            </a:pPr>
            <a:r>
              <a:rPr sz="2400" b="1" spc="-20" dirty="0">
                <a:latin typeface="Courier New"/>
                <a:cs typeface="Courier New"/>
              </a:rPr>
              <a:t>else</a:t>
            </a:r>
            <a:endParaRPr sz="2400">
              <a:latin typeface="Courier New"/>
              <a:cs typeface="Courier New"/>
            </a:endParaRPr>
          </a:p>
          <a:p>
            <a:pPr marL="379730" marR="3207385" indent="365760">
              <a:lnSpc>
                <a:spcPct val="120000"/>
              </a:lnSpc>
            </a:pPr>
            <a:r>
              <a:rPr sz="2400" b="1" spc="-10" dirty="0">
                <a:latin typeface="Courier New"/>
                <a:cs typeface="Courier New"/>
              </a:rPr>
              <a:t>statements-</a:t>
            </a:r>
            <a:r>
              <a:rPr sz="2400" b="1" spc="-50" dirty="0">
                <a:latin typeface="Courier New"/>
                <a:cs typeface="Courier New"/>
              </a:rPr>
              <a:t>2 </a:t>
            </a:r>
            <a:r>
              <a:rPr sz="2400" b="1" spc="-25" dirty="0">
                <a:latin typeface="Courier New"/>
                <a:cs typeface="Courier New"/>
              </a:rPr>
              <a:t>fi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160"/>
              </a:spcBef>
            </a:pPr>
            <a:endParaRPr sz="2400">
              <a:latin typeface="Courier New"/>
              <a:cs typeface="Courier New"/>
            </a:endParaRPr>
          </a:p>
          <a:p>
            <a:pPr marL="285115" indent="-272415">
              <a:lnSpc>
                <a:spcPct val="100000"/>
              </a:lnSpc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55" dirty="0">
                <a:latin typeface="Cambria"/>
                <a:cs typeface="Cambria"/>
              </a:rPr>
              <a:t>executes</a:t>
            </a:r>
            <a:r>
              <a:rPr sz="2400" spc="2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statements-</a:t>
            </a:r>
            <a:r>
              <a:rPr sz="2400" dirty="0">
                <a:latin typeface="Cambria"/>
                <a:cs typeface="Cambria"/>
              </a:rPr>
              <a:t>1</a:t>
            </a:r>
            <a:r>
              <a:rPr sz="2400" spc="21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229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condition</a:t>
            </a:r>
            <a:r>
              <a:rPr sz="2400" spc="19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21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true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55" dirty="0">
                <a:latin typeface="Cambria"/>
                <a:cs typeface="Cambria"/>
              </a:rPr>
              <a:t>executes</a:t>
            </a:r>
            <a:r>
              <a:rPr sz="2400" spc="2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statements-</a:t>
            </a:r>
            <a:r>
              <a:rPr sz="2400" dirty="0">
                <a:latin typeface="Cambria"/>
                <a:cs typeface="Cambria"/>
              </a:rPr>
              <a:t>2</a:t>
            </a:r>
            <a:r>
              <a:rPr sz="2400" spc="21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229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condition</a:t>
            </a:r>
            <a:r>
              <a:rPr sz="2400" spc="19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21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false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40" dirty="0">
                <a:latin typeface="Cambria"/>
                <a:cs typeface="Cambria"/>
              </a:rPr>
              <a:t>if…statement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524126"/>
            <a:ext cx="5072380" cy="3990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18540" marR="661670" indent="-638810">
              <a:lnSpc>
                <a:spcPct val="120000"/>
              </a:lnSpc>
              <a:spcBef>
                <a:spcPts val="100"/>
              </a:spcBef>
            </a:pPr>
            <a:r>
              <a:rPr sz="2400" b="1" dirty="0">
                <a:latin typeface="Courier New"/>
                <a:cs typeface="Courier New"/>
              </a:rPr>
              <a:t>if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condition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];</a:t>
            </a:r>
            <a:r>
              <a:rPr sz="2400" b="1" spc="-20" dirty="0">
                <a:latin typeface="Courier New"/>
                <a:cs typeface="Courier New"/>
              </a:rPr>
              <a:t> then </a:t>
            </a:r>
            <a:r>
              <a:rPr sz="2400" b="1" spc="-10" dirty="0">
                <a:latin typeface="Courier New"/>
                <a:cs typeface="Courier New"/>
              </a:rPr>
              <a:t>statements</a:t>
            </a:r>
            <a:endParaRPr sz="2400">
              <a:latin typeface="Courier New"/>
              <a:cs typeface="Courier New"/>
            </a:endParaRPr>
          </a:p>
          <a:p>
            <a:pPr marL="379730">
              <a:lnSpc>
                <a:spcPct val="100000"/>
              </a:lnSpc>
              <a:spcBef>
                <a:spcPts val="575"/>
              </a:spcBef>
            </a:pPr>
            <a:r>
              <a:rPr sz="2400" b="1" dirty="0">
                <a:latin typeface="Courier New"/>
                <a:cs typeface="Courier New"/>
              </a:rPr>
              <a:t>elif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condition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];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spc="-20" dirty="0">
                <a:latin typeface="Courier New"/>
                <a:cs typeface="Courier New"/>
              </a:rPr>
              <a:t>then</a:t>
            </a:r>
            <a:endParaRPr sz="2400">
              <a:latin typeface="Courier New"/>
              <a:cs typeface="Courier New"/>
            </a:endParaRPr>
          </a:p>
          <a:p>
            <a:pPr marL="379730" marR="2309495" indent="731520">
              <a:lnSpc>
                <a:spcPct val="120000"/>
              </a:lnSpc>
            </a:pPr>
            <a:r>
              <a:rPr sz="2400" b="1" spc="-10" dirty="0">
                <a:latin typeface="Courier New"/>
                <a:cs typeface="Courier New"/>
              </a:rPr>
              <a:t>statement </a:t>
            </a:r>
            <a:r>
              <a:rPr sz="2400" b="1" spc="-20" dirty="0">
                <a:latin typeface="Courier New"/>
                <a:cs typeface="Courier New"/>
              </a:rPr>
              <a:t>else</a:t>
            </a:r>
            <a:endParaRPr sz="2400">
              <a:latin typeface="Courier New"/>
              <a:cs typeface="Courier New"/>
            </a:endParaRPr>
          </a:p>
          <a:p>
            <a:pPr marL="1111250">
              <a:lnSpc>
                <a:spcPct val="100000"/>
              </a:lnSpc>
              <a:spcBef>
                <a:spcPts val="580"/>
              </a:spcBef>
            </a:pPr>
            <a:r>
              <a:rPr sz="2400" b="1" spc="-10" dirty="0">
                <a:latin typeface="Courier New"/>
                <a:cs typeface="Courier New"/>
              </a:rPr>
              <a:t>statements</a:t>
            </a:r>
            <a:endParaRPr sz="2400">
              <a:latin typeface="Courier New"/>
              <a:cs typeface="Courier New"/>
            </a:endParaRPr>
          </a:p>
          <a:p>
            <a:pPr marL="379730">
              <a:lnSpc>
                <a:spcPct val="100000"/>
              </a:lnSpc>
              <a:spcBef>
                <a:spcPts val="575"/>
              </a:spcBef>
            </a:pPr>
            <a:r>
              <a:rPr sz="2400" b="1" spc="-25" dirty="0">
                <a:latin typeface="Courier New"/>
                <a:cs typeface="Courier New"/>
              </a:rPr>
              <a:t>fi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420"/>
              </a:spcBef>
            </a:pPr>
            <a:endParaRPr sz="2400">
              <a:latin typeface="Courier New"/>
              <a:cs typeface="Courier New"/>
            </a:endParaRPr>
          </a:p>
          <a:p>
            <a:pPr marL="284480" indent="-271780">
              <a:lnSpc>
                <a:spcPct val="100000"/>
              </a:lnSpc>
              <a:spcBef>
                <a:spcPts val="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100" dirty="0">
                <a:latin typeface="Cambria"/>
                <a:cs typeface="Cambria"/>
              </a:rPr>
              <a:t>The</a:t>
            </a:r>
            <a:r>
              <a:rPr sz="2400" spc="19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word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elif</a:t>
            </a:r>
            <a:r>
              <a:rPr sz="2400" b="1" spc="-725" dirty="0">
                <a:latin typeface="Courier New"/>
                <a:cs typeface="Courier New"/>
              </a:rPr>
              <a:t> </a:t>
            </a:r>
            <a:r>
              <a:rPr sz="2400" spc="85" dirty="0">
                <a:latin typeface="Cambria"/>
                <a:cs typeface="Cambria"/>
              </a:rPr>
              <a:t>stands</a:t>
            </a:r>
            <a:r>
              <a:rPr sz="2400" spc="204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for</a:t>
            </a:r>
            <a:r>
              <a:rPr sz="2400" spc="18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“else</a:t>
            </a:r>
            <a:r>
              <a:rPr sz="2400" spc="204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if”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5589523"/>
            <a:ext cx="7021830" cy="756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08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55" dirty="0">
                <a:latin typeface="Cambria"/>
                <a:cs typeface="Cambria"/>
              </a:rPr>
              <a:t>It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part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statement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and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cannot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used </a:t>
            </a:r>
            <a:r>
              <a:rPr sz="2400" dirty="0">
                <a:latin typeface="Cambria"/>
                <a:cs typeface="Cambria"/>
              </a:rPr>
              <a:t>by</a:t>
            </a:r>
            <a:r>
              <a:rPr sz="2400" spc="204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itself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26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64540" y="621538"/>
            <a:ext cx="425767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250" dirty="0">
                <a:latin typeface="Cambria"/>
                <a:cs typeface="Cambria"/>
              </a:rPr>
              <a:t>Relational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10" dirty="0">
                <a:latin typeface="Cambria"/>
                <a:cs typeface="Cambria"/>
              </a:rPr>
              <a:t>Operators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332089" y="5889964"/>
            <a:ext cx="205740" cy="2228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630"/>
              </a:lnSpc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27</a:t>
            </a:r>
            <a:endParaRPr sz="1400">
              <a:latin typeface="Times New Roman"/>
              <a:cs typeface="Times New Roman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747712" y="1281112"/>
          <a:ext cx="6629400" cy="50266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100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2400" spc="-10" dirty="0">
                          <a:latin typeface="Times New Roman"/>
                          <a:cs typeface="Times New Roman"/>
                        </a:rPr>
                        <a:t>Meaning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3492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2400" spc="-10" dirty="0">
                          <a:latin typeface="Times New Roman"/>
                          <a:cs typeface="Times New Roman"/>
                        </a:rPr>
                        <a:t>Numeric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5"/>
                        </a:spcBef>
                      </a:pPr>
                      <a:r>
                        <a:rPr sz="2400" spc="-10" dirty="0">
                          <a:latin typeface="Times New Roman"/>
                          <a:cs typeface="Times New Roman"/>
                        </a:rPr>
                        <a:t>String</a:t>
                      </a: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3492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28575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834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Greater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than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-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gt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465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Greater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than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or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equal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-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ge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834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Less 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than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-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lt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Less than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or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equal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9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-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le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74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Equal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-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eg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77825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=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or 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==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93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Not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 equal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-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ne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!=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str1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is</a:t>
                      </a:r>
                      <a:r>
                        <a:rPr sz="20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less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than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str2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tc>
                  <a:txBody>
                    <a:bodyPr/>
                    <a:lstStyle/>
                    <a:p>
                      <a:pPr marR="238125" algn="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str1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&lt;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str2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str1</a:t>
                      </a:r>
                      <a:r>
                        <a:rPr sz="20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is greater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str2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tc>
                  <a:txBody>
                    <a:bodyPr/>
                    <a:lstStyle/>
                    <a:p>
                      <a:pPr marR="238125" algn="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str1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&gt;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str2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String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length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is greater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than</a:t>
                      </a:r>
                      <a:r>
                        <a:rPr sz="2000" spc="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zero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tc>
                  <a:txBody>
                    <a:bodyPr/>
                    <a:lstStyle/>
                    <a:p>
                      <a:pPr marL="497840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-n</a:t>
                      </a:r>
                      <a:r>
                        <a:rPr sz="20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str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10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656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String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length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2000" spc="-20" dirty="0">
                          <a:latin typeface="Times New Roman"/>
                          <a:cs typeface="Times New Roman"/>
                        </a:rPr>
                        <a:t>zero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28575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  <a:solidFill>
                      <a:srgbClr val="009999"/>
                    </a:solidFill>
                  </a:tcPr>
                </a:tc>
                <a:tc>
                  <a:txBody>
                    <a:bodyPr/>
                    <a:lstStyle/>
                    <a:p>
                      <a:pPr marL="504190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sz="2000" dirty="0">
                          <a:latin typeface="Times New Roman"/>
                          <a:cs typeface="Times New Roman"/>
                        </a:rPr>
                        <a:t>-z</a:t>
                      </a:r>
                      <a:r>
                        <a:rPr sz="20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000" spc="-25" dirty="0">
                          <a:latin typeface="Times New Roman"/>
                          <a:cs typeface="Times New Roman"/>
                        </a:rPr>
                        <a:t>str</a:t>
                      </a:r>
                      <a:endParaRPr sz="2000">
                        <a:latin typeface="Times New Roman"/>
                        <a:cs typeface="Times New Roman"/>
                      </a:endParaRPr>
                    </a:p>
                  </a:txBody>
                  <a:tcPr marL="0" marR="0" marT="387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28575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25" dirty="0">
                <a:latin typeface="Cambria"/>
                <a:cs typeface="Cambria"/>
              </a:rPr>
              <a:t>Compound</a:t>
            </a:r>
            <a:r>
              <a:rPr sz="3000" b="0" cap="small" spc="285" dirty="0">
                <a:latin typeface="Cambria"/>
                <a:cs typeface="Cambria"/>
              </a:rPr>
              <a:t> </a:t>
            </a:r>
            <a:r>
              <a:rPr sz="3000" b="0" cap="small" spc="295" dirty="0">
                <a:latin typeface="Cambria"/>
                <a:cs typeface="Cambria"/>
              </a:rPr>
              <a:t>logical</a:t>
            </a:r>
            <a:r>
              <a:rPr sz="3000" b="0" cap="small" spc="260" dirty="0">
                <a:latin typeface="Cambria"/>
                <a:cs typeface="Cambria"/>
              </a:rPr>
              <a:t> </a:t>
            </a:r>
            <a:r>
              <a:rPr sz="3000" b="0" cap="small" spc="265" dirty="0">
                <a:latin typeface="Cambria"/>
                <a:cs typeface="Cambria"/>
              </a:rPr>
              <a:t>expressions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604898"/>
            <a:ext cx="231203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1841500" algn="l"/>
              </a:tabLst>
            </a:pPr>
            <a:r>
              <a:rPr sz="2400" b="1" spc="-50" dirty="0">
                <a:latin typeface="Courier New"/>
                <a:cs typeface="Courier New"/>
              </a:rPr>
              <a:t>!</a:t>
            </a:r>
            <a:r>
              <a:rPr sz="2400" b="1" dirty="0">
                <a:latin typeface="Courier New"/>
                <a:cs typeface="Courier New"/>
              </a:rPr>
              <a:t>	</a:t>
            </a:r>
            <a:r>
              <a:rPr sz="2400" spc="25" dirty="0">
                <a:latin typeface="Cambria"/>
                <a:cs typeface="Cambria"/>
              </a:rPr>
              <a:t>not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2854833"/>
            <a:ext cx="391160" cy="909319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2400" b="1" spc="-25" dirty="0">
                <a:latin typeface="Courier New"/>
                <a:cs typeface="Courier New"/>
              </a:rPr>
              <a:t>&amp;&amp;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spc="-25" dirty="0">
                <a:latin typeface="Courier New"/>
                <a:cs typeface="Courier New"/>
              </a:rPr>
              <a:t>||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364994" y="2854833"/>
            <a:ext cx="555625" cy="9093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800"/>
              </a:lnSpc>
              <a:spcBef>
                <a:spcPts val="100"/>
              </a:spcBef>
            </a:pPr>
            <a:r>
              <a:rPr sz="2400" spc="70" dirty="0">
                <a:latin typeface="Cambria"/>
                <a:cs typeface="Cambria"/>
              </a:rPr>
              <a:t>and </a:t>
            </a:r>
            <a:r>
              <a:rPr sz="2400" spc="-25" dirty="0">
                <a:latin typeface="Cambria"/>
                <a:cs typeface="Cambria"/>
              </a:rPr>
              <a:t>or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575175" y="2613482"/>
            <a:ext cx="2978150" cy="1489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and, </a:t>
            </a:r>
            <a:r>
              <a:rPr sz="2400" u="sng" spc="-2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or</a:t>
            </a:r>
            <a:r>
              <a:rPr sz="2400" u="sng" spc="600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dirty="0">
                <a:latin typeface="Times New Roman"/>
                <a:cs typeface="Times New Roman"/>
              </a:rPr>
              <a:t>must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be</a:t>
            </a:r>
            <a:r>
              <a:rPr sz="2400" spc="-2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enclosed</a:t>
            </a:r>
            <a:r>
              <a:rPr sz="2400" spc="-40" dirty="0">
                <a:latin typeface="Times New Roman"/>
                <a:cs typeface="Times New Roman"/>
              </a:rPr>
              <a:t> </a:t>
            </a:r>
            <a:r>
              <a:rPr sz="2400" spc="-10" dirty="0">
                <a:latin typeface="Times New Roman"/>
                <a:cs typeface="Times New Roman"/>
              </a:rPr>
              <a:t>within</a:t>
            </a:r>
            <a:endParaRPr sz="24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14"/>
              </a:spcBef>
            </a:pPr>
            <a:endParaRPr sz="24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1816100" algn="l"/>
              </a:tabLst>
            </a:pPr>
            <a:r>
              <a:rPr sz="2400" spc="-25" dirty="0">
                <a:latin typeface="Times New Roman"/>
                <a:cs typeface="Times New Roman"/>
              </a:rPr>
              <a:t>[[</a:t>
            </a:r>
            <a:r>
              <a:rPr sz="2400" dirty="0">
                <a:latin typeface="Times New Roman"/>
                <a:cs typeface="Times New Roman"/>
              </a:rPr>
              <a:t>	</a:t>
            </a:r>
            <a:r>
              <a:rPr sz="2400" spc="-25" dirty="0">
                <a:latin typeface="Times New Roman"/>
                <a:cs typeface="Times New Roman"/>
              </a:rPr>
              <a:t>]]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3733800" y="2590800"/>
            <a:ext cx="384175" cy="1447800"/>
          </a:xfrm>
          <a:custGeom>
            <a:avLst/>
            <a:gdLst/>
            <a:ahLst/>
            <a:cxnLst/>
            <a:rect l="l" t="t" r="r" b="b"/>
            <a:pathLst>
              <a:path w="384175" h="1447800">
                <a:moveTo>
                  <a:pt x="0" y="0"/>
                </a:moveTo>
                <a:lnTo>
                  <a:pt x="74741" y="2518"/>
                </a:lnTo>
                <a:lnTo>
                  <a:pt x="135778" y="9382"/>
                </a:lnTo>
                <a:lnTo>
                  <a:pt x="176932" y="19556"/>
                </a:lnTo>
                <a:lnTo>
                  <a:pt x="192024" y="32003"/>
                </a:lnTo>
                <a:lnTo>
                  <a:pt x="192024" y="691896"/>
                </a:lnTo>
                <a:lnTo>
                  <a:pt x="207115" y="704343"/>
                </a:lnTo>
                <a:lnTo>
                  <a:pt x="248269" y="714517"/>
                </a:lnTo>
                <a:lnTo>
                  <a:pt x="309306" y="721381"/>
                </a:lnTo>
                <a:lnTo>
                  <a:pt x="384048" y="723900"/>
                </a:lnTo>
                <a:lnTo>
                  <a:pt x="309306" y="726418"/>
                </a:lnTo>
                <a:lnTo>
                  <a:pt x="248269" y="733282"/>
                </a:lnTo>
                <a:lnTo>
                  <a:pt x="207115" y="743456"/>
                </a:lnTo>
                <a:lnTo>
                  <a:pt x="192024" y="755903"/>
                </a:lnTo>
                <a:lnTo>
                  <a:pt x="192024" y="1415795"/>
                </a:lnTo>
                <a:lnTo>
                  <a:pt x="176932" y="1428243"/>
                </a:lnTo>
                <a:lnTo>
                  <a:pt x="135778" y="1438417"/>
                </a:lnTo>
                <a:lnTo>
                  <a:pt x="74741" y="1445281"/>
                </a:lnTo>
                <a:lnTo>
                  <a:pt x="0" y="1447800"/>
                </a:lnTo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26</a:t>
            </a:fld>
            <a:endParaRPr spc="-25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195" dirty="0">
                <a:latin typeface="Cambria"/>
                <a:cs typeface="Cambria"/>
              </a:rPr>
              <a:t> </a:t>
            </a:r>
            <a:r>
              <a:rPr sz="3000" b="0" cap="small" spc="340" dirty="0">
                <a:latin typeface="Cambria"/>
                <a:cs typeface="Cambria"/>
              </a:rPr>
              <a:t>Using</a:t>
            </a:r>
            <a:r>
              <a:rPr sz="3000" b="0" cap="small" spc="315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the</a:t>
            </a:r>
            <a:r>
              <a:rPr sz="3000" b="0" cap="small" spc="335" dirty="0">
                <a:latin typeface="Cambria"/>
                <a:cs typeface="Cambria"/>
              </a:rPr>
              <a:t> </a:t>
            </a:r>
            <a:r>
              <a:rPr sz="3000" b="0" cap="small" dirty="0">
                <a:latin typeface="Cambria"/>
                <a:cs typeface="Cambria"/>
              </a:rPr>
              <a:t>!</a:t>
            </a:r>
            <a:r>
              <a:rPr sz="3000" b="0" cap="small" spc="185" dirty="0">
                <a:latin typeface="Cambria"/>
                <a:cs typeface="Cambria"/>
              </a:rPr>
              <a:t> </a:t>
            </a:r>
            <a:r>
              <a:rPr sz="3000" b="0" cap="small" spc="229" dirty="0">
                <a:latin typeface="Cambria"/>
                <a:cs typeface="Cambria"/>
              </a:rPr>
              <a:t>Operator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27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97278"/>
            <a:ext cx="6963409" cy="3485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Courier New"/>
                <a:cs typeface="Courier New"/>
              </a:rPr>
              <a:t>#!/bin/bash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60"/>
              </a:spcBef>
            </a:pP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tabLst>
                <a:tab pos="927100" algn="l"/>
              </a:tabLst>
            </a:pPr>
            <a:r>
              <a:rPr sz="2400" b="1" spc="-20" dirty="0">
                <a:latin typeface="Courier New"/>
                <a:cs typeface="Courier New"/>
              </a:rPr>
              <a:t>read</a:t>
            </a:r>
            <a:r>
              <a:rPr sz="2400" b="1" dirty="0">
                <a:latin typeface="Courier New"/>
                <a:cs typeface="Courier New"/>
              </a:rPr>
              <a:t>	</a:t>
            </a:r>
            <a:r>
              <a:rPr sz="2400" b="1" spc="-10" dirty="0">
                <a:latin typeface="Courier New"/>
                <a:cs typeface="Courier New"/>
              </a:rPr>
              <a:t>-</a:t>
            </a:r>
            <a:r>
              <a:rPr sz="2400" b="1" dirty="0">
                <a:latin typeface="Courier New"/>
                <a:cs typeface="Courier New"/>
              </a:rPr>
              <a:t>p</a:t>
            </a:r>
            <a:r>
              <a:rPr sz="2400" b="1" spc="-5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"Enter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years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of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work: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Years</a:t>
            </a:r>
            <a:endParaRPr sz="2400">
              <a:latin typeface="Courier New"/>
              <a:cs typeface="Courier New"/>
            </a:endParaRPr>
          </a:p>
          <a:p>
            <a:pPr marL="561340" marR="1464310" indent="-549275">
              <a:lnSpc>
                <a:spcPct val="120800"/>
              </a:lnSpc>
              <a:spcBef>
                <a:spcPts val="5"/>
              </a:spcBef>
            </a:pPr>
            <a:r>
              <a:rPr sz="2400" b="1" dirty="0">
                <a:latin typeface="Courier New"/>
                <a:cs typeface="Courier New"/>
              </a:rPr>
              <a:t>if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!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"$Years"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-</a:t>
            </a:r>
            <a:r>
              <a:rPr sz="2400" b="1" dirty="0">
                <a:latin typeface="Courier New"/>
                <a:cs typeface="Courier New"/>
              </a:rPr>
              <a:t>lt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20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];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spc="-20" dirty="0">
                <a:latin typeface="Courier New"/>
                <a:cs typeface="Courier New"/>
              </a:rPr>
              <a:t>then </a:t>
            </a: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5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"You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can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retire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now."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spc="-20" dirty="0">
                <a:latin typeface="Courier New"/>
                <a:cs typeface="Courier New"/>
              </a:rPr>
              <a:t>else</a:t>
            </a:r>
            <a:endParaRPr sz="2400">
              <a:latin typeface="Courier New"/>
              <a:cs typeface="Courier New"/>
            </a:endParaRPr>
          </a:p>
          <a:p>
            <a:pPr marL="56134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5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"You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need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20+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years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to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retire"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spc="-25" dirty="0">
                <a:latin typeface="Courier New"/>
                <a:cs typeface="Courier New"/>
              </a:rPr>
              <a:t>fi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190" dirty="0">
                <a:latin typeface="Cambria"/>
                <a:cs typeface="Cambria"/>
              </a:rPr>
              <a:t> </a:t>
            </a:r>
            <a:r>
              <a:rPr sz="3000" b="0" cap="small" spc="340" dirty="0">
                <a:latin typeface="Cambria"/>
                <a:cs typeface="Cambria"/>
              </a:rPr>
              <a:t>Using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the</a:t>
            </a:r>
            <a:r>
              <a:rPr sz="3000" b="0" cap="small" spc="335" dirty="0">
                <a:latin typeface="Cambria"/>
                <a:cs typeface="Cambria"/>
              </a:rPr>
              <a:t> </a:t>
            </a:r>
            <a:r>
              <a:rPr sz="3000" b="0" cap="small" spc="370" dirty="0">
                <a:latin typeface="Cambria"/>
                <a:cs typeface="Cambria"/>
              </a:rPr>
              <a:t>&amp;&amp;</a:t>
            </a:r>
            <a:r>
              <a:rPr sz="3000" b="0" cap="small" spc="190" dirty="0">
                <a:latin typeface="Cambria"/>
                <a:cs typeface="Cambria"/>
              </a:rPr>
              <a:t> </a:t>
            </a:r>
            <a:r>
              <a:rPr sz="3000" b="0" cap="small" spc="229" dirty="0">
                <a:latin typeface="Cambria"/>
                <a:cs typeface="Cambria"/>
              </a:rPr>
              <a:t>Operator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5890740"/>
            <a:ext cx="360680" cy="34163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370"/>
              </a:lnSpc>
            </a:pPr>
            <a:r>
              <a:rPr sz="2200" b="1" spc="-25" dirty="0">
                <a:latin typeface="Courier New"/>
                <a:cs typeface="Courier New"/>
              </a:rPr>
              <a:t>fi</a:t>
            </a:r>
            <a:endParaRPr sz="22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28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75942"/>
            <a:ext cx="7105015" cy="42481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b="1" spc="-10" dirty="0">
                <a:latin typeface="Courier New"/>
                <a:cs typeface="Courier New"/>
              </a:rPr>
              <a:t>#!/bin/bash</a:t>
            </a:r>
            <a:endParaRPr sz="22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819"/>
              </a:spcBef>
            </a:pPr>
            <a:endParaRPr sz="2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200" b="1" spc="-10" dirty="0">
                <a:latin typeface="Courier New"/>
                <a:cs typeface="Courier New"/>
              </a:rPr>
              <a:t>Bonus=500</a:t>
            </a:r>
            <a:endParaRPr sz="2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2200" b="1" dirty="0">
                <a:latin typeface="Courier New"/>
                <a:cs typeface="Courier New"/>
              </a:rPr>
              <a:t>read</a:t>
            </a:r>
            <a:r>
              <a:rPr sz="2200" b="1" spc="-45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-</a:t>
            </a:r>
            <a:r>
              <a:rPr sz="2200" b="1" dirty="0">
                <a:latin typeface="Courier New"/>
                <a:cs typeface="Courier New"/>
              </a:rPr>
              <a:t>p</a:t>
            </a:r>
            <a:r>
              <a:rPr sz="2200" b="1" spc="-4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"Enter</a:t>
            </a:r>
            <a:r>
              <a:rPr sz="2200" b="1" spc="-4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Status:</a:t>
            </a:r>
            <a:r>
              <a:rPr sz="2200" b="1" spc="-4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"</a:t>
            </a:r>
            <a:r>
              <a:rPr sz="2200" b="1" spc="-35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Status</a:t>
            </a:r>
            <a:endParaRPr sz="2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40"/>
              </a:spcBef>
            </a:pPr>
            <a:r>
              <a:rPr sz="2200" b="1" dirty="0">
                <a:latin typeface="Courier New"/>
                <a:cs typeface="Courier New"/>
              </a:rPr>
              <a:t>read</a:t>
            </a:r>
            <a:r>
              <a:rPr sz="2200" b="1" spc="-40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-</a:t>
            </a:r>
            <a:r>
              <a:rPr sz="2200" b="1" dirty="0">
                <a:latin typeface="Courier New"/>
                <a:cs typeface="Courier New"/>
              </a:rPr>
              <a:t>p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"Enter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Shift:</a:t>
            </a:r>
            <a:r>
              <a:rPr sz="2200" b="1" spc="-3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"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Shift</a:t>
            </a:r>
            <a:endParaRPr sz="2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290"/>
              </a:spcBef>
            </a:pPr>
            <a:r>
              <a:rPr sz="2200" b="1" dirty="0">
                <a:latin typeface="Courier New"/>
                <a:cs typeface="Courier New"/>
              </a:rPr>
              <a:t>if</a:t>
            </a:r>
            <a:r>
              <a:rPr sz="2200" b="1" spc="-2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[[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200" b="1" dirty="0">
                <a:latin typeface="Courier New"/>
                <a:cs typeface="Courier New"/>
              </a:rPr>
              <a:t>$Status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400" b="1" spc="-14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=</a:t>
            </a:r>
            <a:r>
              <a:rPr sz="2200" b="1" spc="-2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"H"</a:t>
            </a:r>
            <a:r>
              <a:rPr sz="2200" b="1" spc="-2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&amp;&amp;</a:t>
            </a:r>
            <a:r>
              <a:rPr sz="22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200" b="1" dirty="0">
                <a:latin typeface="Courier New"/>
                <a:cs typeface="Courier New"/>
              </a:rPr>
              <a:t>$Shift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400" b="1" spc="-14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=</a:t>
            </a:r>
            <a:r>
              <a:rPr sz="2200" b="1" spc="-2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3</a:t>
            </a:r>
            <a:r>
              <a:rPr sz="2200" b="1" spc="-40" dirty="0">
                <a:latin typeface="Courier New"/>
                <a:cs typeface="Courier New"/>
              </a:rPr>
              <a:t> </a:t>
            </a:r>
            <a:r>
              <a:rPr sz="2200" b="1" spc="-35" dirty="0">
                <a:latin typeface="Courier New"/>
                <a:cs typeface="Courier New"/>
              </a:rPr>
              <a:t>]]</a:t>
            </a:r>
            <a:endParaRPr sz="2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55"/>
              </a:spcBef>
            </a:pPr>
            <a:r>
              <a:rPr sz="2200" b="1" spc="-20" dirty="0">
                <a:latin typeface="Courier New"/>
                <a:cs typeface="Courier New"/>
              </a:rPr>
              <a:t>then</a:t>
            </a:r>
            <a:endParaRPr sz="2200">
              <a:latin typeface="Courier New"/>
              <a:cs typeface="Courier New"/>
            </a:endParaRPr>
          </a:p>
          <a:p>
            <a:pPr marL="12700" marR="5080" indent="504190">
              <a:lnSpc>
                <a:spcPts val="3040"/>
              </a:lnSpc>
              <a:spcBef>
                <a:spcPts val="265"/>
              </a:spcBef>
            </a:pPr>
            <a:r>
              <a:rPr sz="2200" b="1" dirty="0">
                <a:latin typeface="Courier New"/>
                <a:cs typeface="Courier New"/>
              </a:rPr>
              <a:t>echo</a:t>
            </a:r>
            <a:r>
              <a:rPr sz="2200" b="1" spc="-6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200" b="1" dirty="0">
                <a:latin typeface="Courier New"/>
                <a:cs typeface="Courier New"/>
              </a:rPr>
              <a:t>shift</a:t>
            </a:r>
            <a:r>
              <a:rPr sz="2200" b="1" spc="-5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$Shift</a:t>
            </a:r>
            <a:r>
              <a:rPr sz="2200" b="1" spc="-5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gets</a:t>
            </a:r>
            <a:r>
              <a:rPr sz="2200" b="1" spc="-2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\$$Bonus</a:t>
            </a:r>
            <a:r>
              <a:rPr sz="2200" b="1" spc="-40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bonus" </a:t>
            </a:r>
            <a:r>
              <a:rPr sz="2200" b="1" spc="-20" dirty="0">
                <a:latin typeface="Courier New"/>
                <a:cs typeface="Courier New"/>
              </a:rPr>
              <a:t>else</a:t>
            </a:r>
            <a:endParaRPr sz="2200">
              <a:latin typeface="Courier New"/>
              <a:cs typeface="Courier New"/>
            </a:endParaRPr>
          </a:p>
          <a:p>
            <a:pPr marL="516890">
              <a:lnSpc>
                <a:spcPct val="100000"/>
              </a:lnSpc>
              <a:spcBef>
                <a:spcPts val="120"/>
              </a:spcBef>
            </a:pPr>
            <a:r>
              <a:rPr sz="2200" b="1" dirty="0">
                <a:latin typeface="Courier New"/>
                <a:cs typeface="Courier New"/>
              </a:rPr>
              <a:t>echo</a:t>
            </a:r>
            <a:r>
              <a:rPr sz="2200" b="1" spc="-6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200" b="1" dirty="0">
                <a:latin typeface="Courier New"/>
                <a:cs typeface="Courier New"/>
              </a:rPr>
              <a:t>only</a:t>
            </a:r>
            <a:r>
              <a:rPr sz="2200" b="1" spc="-6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hourly</a:t>
            </a:r>
            <a:r>
              <a:rPr sz="2200" b="1" spc="-5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workers</a:t>
            </a:r>
            <a:r>
              <a:rPr sz="2200" b="1" spc="-60" dirty="0">
                <a:latin typeface="Courier New"/>
                <a:cs typeface="Courier New"/>
              </a:rPr>
              <a:t> </a:t>
            </a:r>
            <a:r>
              <a:rPr sz="2200" b="1" spc="-25" dirty="0">
                <a:latin typeface="Courier New"/>
                <a:cs typeface="Courier New"/>
              </a:rPr>
              <a:t>in"</a:t>
            </a:r>
            <a:endParaRPr sz="2200">
              <a:latin typeface="Courier New"/>
              <a:cs typeface="Courier New"/>
            </a:endParaRPr>
          </a:p>
          <a:p>
            <a:pPr marL="516890">
              <a:lnSpc>
                <a:spcPct val="100000"/>
              </a:lnSpc>
              <a:spcBef>
                <a:spcPts val="315"/>
              </a:spcBef>
            </a:pPr>
            <a:r>
              <a:rPr sz="2200" b="1" dirty="0">
                <a:latin typeface="Courier New"/>
                <a:cs typeface="Courier New"/>
              </a:rPr>
              <a:t>echo</a:t>
            </a:r>
            <a:r>
              <a:rPr sz="22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200" b="1" dirty="0">
                <a:latin typeface="Courier New"/>
                <a:cs typeface="Courier New"/>
              </a:rPr>
              <a:t>shift</a:t>
            </a:r>
            <a:r>
              <a:rPr sz="2200" b="1" spc="-2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3</a:t>
            </a:r>
            <a:r>
              <a:rPr sz="2200" b="1" spc="-2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get</a:t>
            </a:r>
            <a:r>
              <a:rPr sz="2200" b="1" spc="-2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a</a:t>
            </a:r>
            <a:r>
              <a:rPr sz="2200" b="1" spc="-40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bonus"</a:t>
            </a:r>
            <a:endParaRPr sz="22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195" dirty="0">
                <a:latin typeface="Cambria"/>
                <a:cs typeface="Cambria"/>
              </a:rPr>
              <a:t> </a:t>
            </a:r>
            <a:r>
              <a:rPr sz="3000" b="0" cap="small" spc="340" dirty="0">
                <a:latin typeface="Cambria"/>
                <a:cs typeface="Cambria"/>
              </a:rPr>
              <a:t>Using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the</a:t>
            </a:r>
            <a:r>
              <a:rPr sz="3000" b="0" cap="small" spc="335" dirty="0">
                <a:latin typeface="Cambria"/>
                <a:cs typeface="Cambria"/>
              </a:rPr>
              <a:t> </a:t>
            </a:r>
            <a:r>
              <a:rPr sz="3000" b="0" cap="small" spc="860" dirty="0">
                <a:latin typeface="Cambria"/>
                <a:cs typeface="Cambria"/>
              </a:rPr>
              <a:t>||</a:t>
            </a:r>
            <a:r>
              <a:rPr sz="3000" b="0" cap="small" spc="175" dirty="0">
                <a:latin typeface="Cambria"/>
                <a:cs typeface="Cambria"/>
              </a:rPr>
              <a:t> </a:t>
            </a:r>
            <a:r>
              <a:rPr sz="3000" b="0" cap="small" spc="229" dirty="0">
                <a:latin typeface="Cambria"/>
                <a:cs typeface="Cambria"/>
              </a:rPr>
              <a:t>Operator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35940" y="5843985"/>
            <a:ext cx="330200" cy="31432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170"/>
              </a:lnSpc>
            </a:pPr>
            <a:r>
              <a:rPr sz="2000" b="1" spc="-25" dirty="0">
                <a:latin typeface="Courier New"/>
                <a:cs typeface="Courier New"/>
              </a:rPr>
              <a:t>fi</a:t>
            </a:r>
            <a:endParaRPr sz="20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29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03375"/>
            <a:ext cx="7189470" cy="2998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10" dirty="0">
                <a:latin typeface="Courier New"/>
                <a:cs typeface="Courier New"/>
              </a:rPr>
              <a:t>#!/bin/bash</a:t>
            </a:r>
            <a:endParaRPr sz="2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30"/>
              </a:spcBef>
            </a:pP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000" b="1" dirty="0">
                <a:latin typeface="Courier New"/>
                <a:cs typeface="Courier New"/>
              </a:rPr>
              <a:t>read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-</a:t>
            </a:r>
            <a:r>
              <a:rPr sz="2000" b="1" dirty="0">
                <a:latin typeface="Courier New"/>
                <a:cs typeface="Courier New"/>
              </a:rPr>
              <a:t>p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"Enter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calls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handled:"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CHandle</a:t>
            </a: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000" b="1" dirty="0">
                <a:latin typeface="Courier New"/>
                <a:cs typeface="Courier New"/>
              </a:rPr>
              <a:t>read</a:t>
            </a:r>
            <a:r>
              <a:rPr sz="2000" b="1" spc="-30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-</a:t>
            </a:r>
            <a:r>
              <a:rPr sz="2000" b="1" dirty="0">
                <a:latin typeface="Courier New"/>
                <a:cs typeface="Courier New"/>
              </a:rPr>
              <a:t>p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"Enter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calls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closed: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CClose</a:t>
            </a:r>
            <a:endParaRPr sz="2000">
              <a:latin typeface="Courier New"/>
              <a:cs typeface="Courier New"/>
            </a:endParaRPr>
          </a:p>
          <a:p>
            <a:pPr marL="469900" marR="5080" indent="-457834">
              <a:lnSpc>
                <a:spcPct val="125000"/>
              </a:lnSpc>
              <a:spcBef>
                <a:spcPts val="5"/>
              </a:spcBef>
            </a:pPr>
            <a:r>
              <a:rPr sz="2000" b="1" dirty="0">
                <a:latin typeface="Courier New"/>
                <a:cs typeface="Courier New"/>
              </a:rPr>
              <a:t>if</a:t>
            </a:r>
            <a:r>
              <a:rPr sz="2000" b="1" spc="-3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[[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"$CHandle"</a:t>
            </a:r>
            <a:r>
              <a:rPr sz="2000" b="1" spc="-10" dirty="0">
                <a:latin typeface="Courier New"/>
                <a:cs typeface="Courier New"/>
              </a:rPr>
              <a:t> -</a:t>
            </a:r>
            <a:r>
              <a:rPr sz="2000" b="1" dirty="0">
                <a:latin typeface="Courier New"/>
                <a:cs typeface="Courier New"/>
              </a:rPr>
              <a:t>gt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150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||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"$CClose"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-</a:t>
            </a:r>
            <a:r>
              <a:rPr sz="2000" b="1" dirty="0">
                <a:latin typeface="Courier New"/>
                <a:cs typeface="Courier New"/>
              </a:rPr>
              <a:t>gt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50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spc="-25" dirty="0">
                <a:latin typeface="Courier New"/>
                <a:cs typeface="Courier New"/>
              </a:rPr>
              <a:t>]] </a:t>
            </a:r>
            <a:r>
              <a:rPr sz="2000" b="1" spc="-20" dirty="0">
                <a:latin typeface="Courier New"/>
                <a:cs typeface="Courier New"/>
              </a:rPr>
              <a:t>then</a:t>
            </a:r>
            <a:endParaRPr sz="2000">
              <a:latin typeface="Courier New"/>
              <a:cs typeface="Courier New"/>
            </a:endParaRPr>
          </a:p>
          <a:p>
            <a:pPr marL="469900">
              <a:lnSpc>
                <a:spcPct val="100000"/>
              </a:lnSpc>
              <a:spcBef>
                <a:spcPts val="600"/>
              </a:spcBef>
            </a:pPr>
            <a:r>
              <a:rPr sz="2000" b="1" dirty="0">
                <a:latin typeface="Courier New"/>
                <a:cs typeface="Courier New"/>
              </a:rPr>
              <a:t>echo</a:t>
            </a:r>
            <a:r>
              <a:rPr sz="2000" b="1" spc="-3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"You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are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entitled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to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a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bonus"</a:t>
            </a: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000" b="1" spc="-20" dirty="0">
                <a:latin typeface="Courier New"/>
                <a:cs typeface="Courier New"/>
              </a:rPr>
              <a:t>else</a:t>
            </a:r>
            <a:endParaRPr sz="2000">
              <a:latin typeface="Courier New"/>
              <a:cs typeface="Courier New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974394" y="4707335"/>
          <a:ext cx="5397500" cy="6692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17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8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4645">
                <a:tc>
                  <a:txBody>
                    <a:bodyPr/>
                    <a:lstStyle/>
                    <a:p>
                      <a:pPr marR="36830" algn="ctr">
                        <a:lnSpc>
                          <a:spcPts val="2070"/>
                        </a:lnSpc>
                      </a:pPr>
                      <a:r>
                        <a:rPr sz="2000" b="1" spc="-20" dirty="0">
                          <a:latin typeface="Courier New"/>
                          <a:cs typeface="Courier New"/>
                        </a:rPr>
                        <a:t>echo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70"/>
                        </a:lnSpc>
                      </a:pPr>
                      <a:r>
                        <a:rPr sz="2000" b="1" dirty="0">
                          <a:latin typeface="Courier New"/>
                          <a:cs typeface="Courier New"/>
                        </a:rPr>
                        <a:t>"You</a:t>
                      </a:r>
                      <a:r>
                        <a:rPr sz="2000" b="1" spc="-20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2000" b="1" spc="-25" dirty="0">
                          <a:latin typeface="Courier New"/>
                          <a:cs typeface="Courier New"/>
                        </a:rPr>
                        <a:t>get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ts val="2070"/>
                        </a:lnSpc>
                      </a:pPr>
                      <a:r>
                        <a:rPr sz="2000" b="1" dirty="0">
                          <a:latin typeface="Courier New"/>
                          <a:cs typeface="Courier New"/>
                        </a:rPr>
                        <a:t>a</a:t>
                      </a:r>
                      <a:r>
                        <a:rPr sz="2000" b="1" spc="-1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2000" b="1" dirty="0">
                          <a:latin typeface="Courier New"/>
                          <a:cs typeface="Courier New"/>
                        </a:rPr>
                        <a:t>bonus</a:t>
                      </a:r>
                      <a:r>
                        <a:rPr sz="2000" b="1" spc="-1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2000" b="1" dirty="0">
                          <a:latin typeface="Courier New"/>
                          <a:cs typeface="Courier New"/>
                        </a:rPr>
                        <a:t>if</a:t>
                      </a:r>
                      <a:r>
                        <a:rPr sz="2000" b="1" spc="-1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2000" b="1" dirty="0">
                          <a:latin typeface="Courier New"/>
                          <a:cs typeface="Courier New"/>
                        </a:rPr>
                        <a:t>the</a:t>
                      </a:r>
                      <a:r>
                        <a:rPr sz="2000" b="1" spc="-10" dirty="0">
                          <a:latin typeface="Courier New"/>
                          <a:cs typeface="Courier New"/>
                        </a:rPr>
                        <a:t> calls"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4645">
                <a:tc>
                  <a:txBody>
                    <a:bodyPr/>
                    <a:lstStyle/>
                    <a:p>
                      <a:pPr marR="36830" algn="ctr">
                        <a:lnSpc>
                          <a:spcPct val="100000"/>
                        </a:lnSpc>
                        <a:spcBef>
                          <a:spcPts val="30"/>
                        </a:spcBef>
                      </a:pPr>
                      <a:r>
                        <a:rPr sz="2000" b="1" spc="-20" dirty="0">
                          <a:latin typeface="Courier New"/>
                          <a:cs typeface="Courier New"/>
                        </a:rPr>
                        <a:t>echo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381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"/>
                        </a:spcBef>
                      </a:pPr>
                      <a:r>
                        <a:rPr sz="2000" b="1" spc="-10" dirty="0">
                          <a:latin typeface="Courier New"/>
                          <a:cs typeface="Courier New"/>
                        </a:rPr>
                        <a:t>"handled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3810" marB="0"/>
                </a:tc>
                <a:tc>
                  <a:txBody>
                    <a:bodyPr/>
                    <a:lstStyle/>
                    <a:p>
                      <a:pPr marL="76200">
                        <a:lnSpc>
                          <a:spcPct val="100000"/>
                        </a:lnSpc>
                        <a:spcBef>
                          <a:spcPts val="30"/>
                        </a:spcBef>
                      </a:pPr>
                      <a:r>
                        <a:rPr sz="2000" b="1" dirty="0">
                          <a:latin typeface="Courier New"/>
                          <a:cs typeface="Courier New"/>
                        </a:rPr>
                        <a:t>exceeds</a:t>
                      </a:r>
                      <a:r>
                        <a:rPr sz="2000" b="1" spc="-2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2000" b="1" dirty="0">
                          <a:latin typeface="Courier New"/>
                          <a:cs typeface="Courier New"/>
                        </a:rPr>
                        <a:t>150</a:t>
                      </a:r>
                      <a:r>
                        <a:rPr sz="2000" b="1" spc="-25" dirty="0">
                          <a:latin typeface="Courier New"/>
                          <a:cs typeface="Courier New"/>
                        </a:rPr>
                        <a:t> or"</a:t>
                      </a:r>
                      <a:endParaRPr sz="2000">
                        <a:latin typeface="Courier New"/>
                        <a:cs typeface="Courier New"/>
                      </a:endParaRPr>
                    </a:p>
                  </a:txBody>
                  <a:tcPr marL="0" marR="0" marT="381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993444" y="5414264"/>
            <a:ext cx="4597400" cy="3308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latin typeface="Courier New"/>
                <a:cs typeface="Courier New"/>
              </a:rPr>
              <a:t>echo</a:t>
            </a:r>
            <a:r>
              <a:rPr sz="2000" b="1" spc="-3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"calls</a:t>
            </a:r>
            <a:r>
              <a:rPr sz="2000" b="1" spc="-3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closed</a:t>
            </a:r>
            <a:r>
              <a:rPr sz="2000" b="1" spc="-3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exceeds</a:t>
            </a:r>
            <a:r>
              <a:rPr sz="2000" b="1" spc="-25" dirty="0">
                <a:latin typeface="Courier New"/>
                <a:cs typeface="Courier New"/>
              </a:rPr>
              <a:t> 50"</a:t>
            </a:r>
            <a:endParaRPr sz="2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5" dirty="0">
                <a:latin typeface="Cambria"/>
                <a:cs typeface="Cambria"/>
              </a:rPr>
              <a:t>File</a:t>
            </a:r>
            <a:r>
              <a:rPr sz="3000" b="0" cap="small" spc="325" dirty="0">
                <a:latin typeface="Cambria"/>
                <a:cs typeface="Cambria"/>
              </a:rPr>
              <a:t> </a:t>
            </a:r>
            <a:r>
              <a:rPr sz="3000" b="0" cap="small" spc="220" dirty="0">
                <a:latin typeface="Cambria"/>
                <a:cs typeface="Cambria"/>
              </a:rPr>
              <a:t>Testing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30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3279775" y="1553083"/>
            <a:ext cx="4438650" cy="311975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2400" u="sng" spc="11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Meaning</a:t>
            </a:r>
            <a:endParaRPr sz="2400">
              <a:latin typeface="Cambria"/>
              <a:cs typeface="Cambria"/>
            </a:endParaRPr>
          </a:p>
          <a:p>
            <a:pPr marL="12700" marR="920115">
              <a:lnSpc>
                <a:spcPct val="120800"/>
              </a:lnSpc>
            </a:pPr>
            <a:r>
              <a:rPr sz="2400" spc="60" dirty="0">
                <a:latin typeface="Cambria"/>
                <a:cs typeface="Cambria"/>
              </a:rPr>
              <a:t>True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‘file’</a:t>
            </a:r>
            <a:r>
              <a:rPr sz="2400" spc="1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185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directory </a:t>
            </a:r>
            <a:r>
              <a:rPr sz="2400" spc="55" dirty="0">
                <a:latin typeface="Cambria"/>
                <a:cs typeface="Cambria"/>
              </a:rPr>
              <a:t>True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‘file’</a:t>
            </a:r>
            <a:r>
              <a:rPr sz="2400" spc="1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an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ord.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file</a:t>
            </a:r>
            <a:endParaRPr sz="2400">
              <a:latin typeface="Cambria"/>
              <a:cs typeface="Cambria"/>
            </a:endParaRPr>
          </a:p>
          <a:p>
            <a:pPr marL="12700" marR="944880">
              <a:lnSpc>
                <a:spcPct val="120800"/>
              </a:lnSpc>
            </a:pPr>
            <a:r>
              <a:rPr sz="2400" spc="60" dirty="0">
                <a:latin typeface="Cambria"/>
                <a:cs typeface="Cambria"/>
              </a:rPr>
              <a:t>True</a:t>
            </a:r>
            <a:r>
              <a:rPr sz="2400" spc="18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‘file’</a:t>
            </a:r>
            <a:r>
              <a:rPr sz="2400" spc="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readable </a:t>
            </a:r>
            <a:r>
              <a:rPr sz="2400" spc="60" dirty="0">
                <a:latin typeface="Cambria"/>
                <a:cs typeface="Cambria"/>
              </a:rPr>
              <a:t>True</a:t>
            </a:r>
            <a:r>
              <a:rPr sz="2400" spc="18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‘file’</a:t>
            </a:r>
            <a:r>
              <a:rPr sz="2400" spc="2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writable True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‘file’</a:t>
            </a:r>
            <a:r>
              <a:rPr sz="2400" spc="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executable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2400" spc="60" dirty="0">
                <a:latin typeface="Cambria"/>
                <a:cs typeface="Cambria"/>
              </a:rPr>
              <a:t>True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if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length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‘file’</a:t>
            </a:r>
            <a:r>
              <a:rPr sz="2400" spc="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nonzero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1995423"/>
            <a:ext cx="893444" cy="2677795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95"/>
              </a:spcBef>
            </a:pPr>
            <a:r>
              <a:rPr sz="2400" spc="-10" dirty="0">
                <a:latin typeface="Cambria"/>
                <a:cs typeface="Cambria"/>
              </a:rPr>
              <a:t>-</a:t>
            </a:r>
            <a:r>
              <a:rPr sz="2400" dirty="0">
                <a:latin typeface="Cambria"/>
                <a:cs typeface="Cambria"/>
              </a:rPr>
              <a:t>d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file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dirty="0">
                <a:latin typeface="Cambria"/>
                <a:cs typeface="Cambria"/>
              </a:rPr>
              <a:t>-</a:t>
            </a:r>
            <a:r>
              <a:rPr sz="2400" spc="70" dirty="0">
                <a:latin typeface="Cambria"/>
                <a:cs typeface="Cambria"/>
              </a:rPr>
              <a:t>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file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5"/>
              </a:spcBef>
            </a:pPr>
            <a:r>
              <a:rPr sz="2400" spc="-10" dirty="0">
                <a:latin typeface="Cambria"/>
                <a:cs typeface="Cambria"/>
              </a:rPr>
              <a:t>-</a:t>
            </a:r>
            <a:r>
              <a:rPr sz="2400" spc="65" dirty="0">
                <a:latin typeface="Cambria"/>
                <a:cs typeface="Cambria"/>
              </a:rPr>
              <a:t>r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file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spc="-10" dirty="0">
                <a:latin typeface="Cambria"/>
                <a:cs typeface="Cambria"/>
              </a:rPr>
              <a:t>-</a:t>
            </a:r>
            <a:r>
              <a:rPr sz="2400" dirty="0">
                <a:latin typeface="Cambria"/>
                <a:cs typeface="Cambria"/>
              </a:rPr>
              <a:t>w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file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dirty="0">
                <a:latin typeface="Cambria"/>
                <a:cs typeface="Cambria"/>
              </a:rPr>
              <a:t>-</a:t>
            </a:r>
            <a:r>
              <a:rPr sz="2400" spc="114" dirty="0">
                <a:latin typeface="Cambria"/>
                <a:cs typeface="Cambria"/>
              </a:rPr>
              <a:t>x</a:t>
            </a:r>
            <a:r>
              <a:rPr sz="2400" spc="12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file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spc="-10" dirty="0">
                <a:latin typeface="Cambria"/>
                <a:cs typeface="Cambria"/>
              </a:rPr>
              <a:t>-</a:t>
            </a:r>
            <a:r>
              <a:rPr sz="2400" spc="70" dirty="0">
                <a:latin typeface="Cambria"/>
                <a:cs typeface="Cambria"/>
              </a:rPr>
              <a:t>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file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200" dirty="0">
                <a:latin typeface="Cambria"/>
                <a:cs typeface="Cambria"/>
              </a:rPr>
              <a:t> </a:t>
            </a:r>
            <a:r>
              <a:rPr sz="3000" b="0" cap="small" spc="310" dirty="0">
                <a:latin typeface="Cambria"/>
                <a:cs typeface="Cambria"/>
              </a:rPr>
              <a:t>File</a:t>
            </a:r>
            <a:r>
              <a:rPr sz="3000" b="0" cap="small" spc="340" dirty="0">
                <a:latin typeface="Cambria"/>
                <a:cs typeface="Cambria"/>
              </a:rPr>
              <a:t> </a:t>
            </a:r>
            <a:r>
              <a:rPr sz="3000" b="0" cap="small" spc="250" dirty="0">
                <a:latin typeface="Cambria"/>
                <a:cs typeface="Cambria"/>
              </a:rPr>
              <a:t>Testing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31</a:t>
            </a:fld>
            <a:endParaRPr spc="-25" dirty="0"/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516890" y="2102987"/>
          <a:ext cx="4627243" cy="7867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553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6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4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065">
                <a:tc>
                  <a:txBody>
                    <a:bodyPr/>
                    <a:lstStyle/>
                    <a:p>
                      <a:pPr marR="52069" algn="ctr">
                        <a:lnSpc>
                          <a:spcPts val="2480"/>
                        </a:lnSpc>
                      </a:pPr>
                      <a:r>
                        <a:rPr sz="2400" b="1" spc="-20" dirty="0">
                          <a:latin typeface="Courier New"/>
                          <a:cs typeface="Courier New"/>
                        </a:rPr>
                        <a:t>echo</a:t>
                      </a:r>
                      <a:endParaRPr sz="24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ts val="2480"/>
                        </a:lnSpc>
                      </a:pPr>
                      <a:r>
                        <a:rPr sz="2400" b="1" spc="-10" dirty="0">
                          <a:latin typeface="Courier New"/>
                          <a:cs typeface="Courier New"/>
                        </a:rPr>
                        <a:t>"Enter</a:t>
                      </a:r>
                      <a:endParaRPr sz="24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ts val="2480"/>
                        </a:lnSpc>
                      </a:pPr>
                      <a:r>
                        <a:rPr sz="2400" b="1" spc="-50" dirty="0">
                          <a:latin typeface="Courier New"/>
                          <a:cs typeface="Courier New"/>
                        </a:rPr>
                        <a:t>a</a:t>
                      </a:r>
                      <a:endParaRPr sz="24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0805">
                        <a:lnSpc>
                          <a:spcPts val="2480"/>
                        </a:lnSpc>
                      </a:pPr>
                      <a:r>
                        <a:rPr sz="2400" b="1" spc="-10" dirty="0">
                          <a:latin typeface="Courier New"/>
                          <a:cs typeface="Courier New"/>
                        </a:rPr>
                        <a:t>filename:</a:t>
                      </a:r>
                      <a:endParaRPr sz="24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89535">
                        <a:lnSpc>
                          <a:spcPts val="2480"/>
                        </a:lnSpc>
                      </a:pPr>
                      <a:r>
                        <a:rPr sz="2400" b="1" spc="-50" dirty="0">
                          <a:latin typeface="Courier New"/>
                          <a:cs typeface="Courier New"/>
                        </a:rPr>
                        <a:t>"</a:t>
                      </a:r>
                      <a:endParaRPr sz="24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700">
                <a:tc>
                  <a:txBody>
                    <a:bodyPr/>
                    <a:lstStyle/>
                    <a:p>
                      <a:pPr marR="51435" algn="ctr">
                        <a:lnSpc>
                          <a:spcPts val="2860"/>
                        </a:lnSpc>
                      </a:pPr>
                      <a:r>
                        <a:rPr sz="2400" b="1" spc="-20" dirty="0">
                          <a:latin typeface="Courier New"/>
                          <a:cs typeface="Courier New"/>
                        </a:rPr>
                        <a:t>read</a:t>
                      </a:r>
                      <a:endParaRPr sz="24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ts val="2860"/>
                        </a:lnSpc>
                      </a:pPr>
                      <a:r>
                        <a:rPr sz="2400" b="1" spc="-20" dirty="0">
                          <a:latin typeface="Courier New"/>
                          <a:cs typeface="Courier New"/>
                        </a:rPr>
                        <a:t>file</a:t>
                      </a:r>
                      <a:endParaRPr sz="24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4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535940" y="1597278"/>
            <a:ext cx="5686425" cy="3485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Courier New"/>
                <a:cs typeface="Courier New"/>
              </a:rPr>
              <a:t>#!/bin/bash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525"/>
              </a:spcBef>
            </a:pPr>
            <a:endParaRPr sz="2400">
              <a:latin typeface="Courier New"/>
              <a:cs typeface="Courier New"/>
            </a:endParaRPr>
          </a:p>
          <a:p>
            <a:pPr marL="194945" marR="2562860" indent="-182880">
              <a:lnSpc>
                <a:spcPct val="120800"/>
              </a:lnSpc>
            </a:pPr>
            <a:r>
              <a:rPr sz="2400" b="1" dirty="0">
                <a:latin typeface="Courier New"/>
                <a:cs typeface="Courier New"/>
              </a:rPr>
              <a:t>if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!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–r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$file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] </a:t>
            </a:r>
            <a:r>
              <a:rPr sz="2400" b="1" spc="-20" dirty="0">
                <a:latin typeface="Courier New"/>
                <a:cs typeface="Courier New"/>
              </a:rPr>
              <a:t>then</a:t>
            </a:r>
            <a:endParaRPr sz="2400">
              <a:latin typeface="Courier New"/>
              <a:cs typeface="Courier New"/>
            </a:endParaRPr>
          </a:p>
          <a:p>
            <a:pPr marL="56134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"File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is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not</a:t>
            </a:r>
            <a:r>
              <a:rPr sz="2400" b="1" spc="-10" dirty="0">
                <a:latin typeface="Courier New"/>
                <a:cs typeface="Courier New"/>
              </a:rPr>
              <a:t> read-able"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60"/>
              </a:spcBef>
            </a:pP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b="1" spc="-25" dirty="0">
                <a:latin typeface="Courier New"/>
                <a:cs typeface="Courier New"/>
              </a:rPr>
              <a:t>fi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200" dirty="0">
                <a:latin typeface="Cambria"/>
                <a:cs typeface="Cambria"/>
              </a:rPr>
              <a:t> </a:t>
            </a:r>
            <a:r>
              <a:rPr sz="3000" b="0" cap="small" spc="310" dirty="0">
                <a:latin typeface="Cambria"/>
                <a:cs typeface="Cambria"/>
              </a:rPr>
              <a:t>File</a:t>
            </a:r>
            <a:r>
              <a:rPr sz="3000" b="0" cap="small" spc="340" dirty="0">
                <a:latin typeface="Cambria"/>
                <a:cs typeface="Cambria"/>
              </a:rPr>
              <a:t> </a:t>
            </a:r>
            <a:r>
              <a:rPr sz="3000" b="0" cap="small" spc="250" dirty="0">
                <a:latin typeface="Cambria"/>
                <a:cs typeface="Cambria"/>
              </a:rPr>
              <a:t>Testing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32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03375"/>
            <a:ext cx="7189470" cy="3379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dirty="0">
                <a:latin typeface="Courier New"/>
                <a:cs typeface="Courier New"/>
              </a:rPr>
              <a:t>#!</a:t>
            </a:r>
            <a:r>
              <a:rPr sz="2000" b="1" spc="-10" dirty="0">
                <a:latin typeface="Courier New"/>
                <a:cs typeface="Courier New"/>
              </a:rPr>
              <a:t> /bin/bash</a:t>
            </a:r>
            <a:endParaRPr sz="2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30"/>
              </a:spcBef>
            </a:pP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000" b="1" dirty="0">
                <a:latin typeface="Courier New"/>
                <a:cs typeface="Courier New"/>
              </a:rPr>
              <a:t>echo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"Enter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a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filename: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spc="-50" dirty="0">
                <a:latin typeface="Courier New"/>
                <a:cs typeface="Courier New"/>
              </a:rPr>
              <a:t>"</a:t>
            </a: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000" b="1" dirty="0">
                <a:latin typeface="Courier New"/>
                <a:cs typeface="Courier New"/>
              </a:rPr>
              <a:t>read</a:t>
            </a:r>
            <a:r>
              <a:rPr sz="2000" b="1" spc="-20" dirty="0">
                <a:latin typeface="Courier New"/>
                <a:cs typeface="Courier New"/>
              </a:rPr>
              <a:t> file</a:t>
            </a:r>
            <a:endParaRPr sz="2000">
              <a:latin typeface="Courier New"/>
              <a:cs typeface="Courier New"/>
            </a:endParaRPr>
          </a:p>
          <a:p>
            <a:pPr marL="12700" marR="5080">
              <a:lnSpc>
                <a:spcPct val="125000"/>
              </a:lnSpc>
              <a:spcBef>
                <a:spcPts val="5"/>
              </a:spcBef>
            </a:pPr>
            <a:r>
              <a:rPr sz="2000" b="1" dirty="0">
                <a:latin typeface="Courier New"/>
                <a:cs typeface="Courier New"/>
              </a:rPr>
              <a:t>if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[[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!</a:t>
            </a:r>
            <a:r>
              <a:rPr sz="2000" b="1" spc="-10" dirty="0">
                <a:latin typeface="Courier New"/>
                <a:cs typeface="Courier New"/>
              </a:rPr>
              <a:t> -</a:t>
            </a:r>
            <a:r>
              <a:rPr sz="2000" b="1" dirty="0">
                <a:latin typeface="Courier New"/>
                <a:cs typeface="Courier New"/>
              </a:rPr>
              <a:t>f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$file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||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!</a:t>
            </a:r>
            <a:r>
              <a:rPr sz="2000" b="1" spc="-5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-</a:t>
            </a:r>
            <a:r>
              <a:rPr sz="2000" b="1" dirty="0">
                <a:latin typeface="Courier New"/>
                <a:cs typeface="Courier New"/>
              </a:rPr>
              <a:t>r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$file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||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!</a:t>
            </a:r>
            <a:r>
              <a:rPr sz="2000" b="1" spc="-10" dirty="0">
                <a:latin typeface="Courier New"/>
                <a:cs typeface="Courier New"/>
              </a:rPr>
              <a:t> -</a:t>
            </a:r>
            <a:r>
              <a:rPr sz="2000" b="1" dirty="0">
                <a:latin typeface="Courier New"/>
                <a:cs typeface="Courier New"/>
              </a:rPr>
              <a:t>w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$file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spc="-25" dirty="0">
                <a:latin typeface="Courier New"/>
                <a:cs typeface="Courier New"/>
              </a:rPr>
              <a:t>]] </a:t>
            </a:r>
            <a:r>
              <a:rPr sz="2000" b="1" spc="-20" dirty="0">
                <a:latin typeface="Courier New"/>
                <a:cs typeface="Courier New"/>
              </a:rPr>
              <a:t>then</a:t>
            </a:r>
            <a:endParaRPr sz="2000">
              <a:latin typeface="Courier New"/>
              <a:cs typeface="Courier New"/>
            </a:endParaRPr>
          </a:p>
          <a:p>
            <a:pPr marL="317500">
              <a:lnSpc>
                <a:spcPct val="100000"/>
              </a:lnSpc>
              <a:spcBef>
                <a:spcPts val="600"/>
              </a:spcBef>
            </a:pPr>
            <a:r>
              <a:rPr sz="2000" b="1" dirty="0">
                <a:latin typeface="Courier New"/>
                <a:cs typeface="Courier New"/>
              </a:rPr>
              <a:t>echo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"File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$file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is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not</a:t>
            </a:r>
            <a:r>
              <a:rPr sz="2000" b="1" spc="-10" dirty="0">
                <a:latin typeface="Courier New"/>
                <a:cs typeface="Courier New"/>
              </a:rPr>
              <a:t> accessible"</a:t>
            </a:r>
            <a:endParaRPr sz="2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35"/>
              </a:spcBef>
            </a:pP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000" b="1" spc="-25" dirty="0">
                <a:latin typeface="Courier New"/>
                <a:cs typeface="Courier New"/>
              </a:rPr>
              <a:t>fi</a:t>
            </a:r>
            <a:endParaRPr sz="2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210" dirty="0">
                <a:latin typeface="Cambria"/>
                <a:cs typeface="Cambria"/>
              </a:rPr>
              <a:t> </a:t>
            </a:r>
            <a:r>
              <a:rPr sz="3000" b="0" cap="small" spc="409" dirty="0">
                <a:latin typeface="Cambria"/>
                <a:cs typeface="Cambria"/>
              </a:rPr>
              <a:t>if…</a:t>
            </a:r>
            <a:r>
              <a:rPr sz="3000" b="0" cap="small" spc="215" dirty="0">
                <a:latin typeface="Cambria"/>
                <a:cs typeface="Cambria"/>
              </a:rPr>
              <a:t> </a:t>
            </a:r>
            <a:r>
              <a:rPr sz="3000" b="0" cap="small" spc="229" dirty="0">
                <a:latin typeface="Cambria"/>
                <a:cs typeface="Cambria"/>
              </a:rPr>
              <a:t>Statement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560016"/>
            <a:ext cx="6769734" cy="3090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latin typeface="Courier New"/>
                <a:cs typeface="Courier New"/>
              </a:rPr>
              <a:t>#</a:t>
            </a:r>
            <a:r>
              <a:rPr sz="1500" b="1" spc="-3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The</a:t>
            </a:r>
            <a:r>
              <a:rPr sz="1500" b="1" spc="-2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following</a:t>
            </a:r>
            <a:r>
              <a:rPr sz="1500" b="1" spc="-2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THREE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i="1" spc="-10" dirty="0">
                <a:latin typeface="Courier New"/>
                <a:cs typeface="Courier New"/>
              </a:rPr>
              <a:t>if</a:t>
            </a:r>
            <a:r>
              <a:rPr sz="1500" b="1" spc="-10" dirty="0">
                <a:latin typeface="Courier New"/>
                <a:cs typeface="Courier New"/>
              </a:rPr>
              <a:t>-</a:t>
            </a:r>
            <a:r>
              <a:rPr sz="1500" b="1" dirty="0">
                <a:latin typeface="Courier New"/>
                <a:cs typeface="Courier New"/>
              </a:rPr>
              <a:t>conditions</a:t>
            </a:r>
            <a:r>
              <a:rPr sz="1500" b="1" spc="-2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produce</a:t>
            </a:r>
            <a:r>
              <a:rPr sz="1500" b="1" spc="-2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the</a:t>
            </a:r>
            <a:r>
              <a:rPr sz="1500" b="1" spc="-2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same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result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sz="1500">
              <a:latin typeface="Courier New"/>
              <a:cs typeface="Courier New"/>
            </a:endParaRPr>
          </a:p>
          <a:p>
            <a:pPr marL="240665" indent="-227965">
              <a:lnSpc>
                <a:spcPct val="100000"/>
              </a:lnSpc>
              <a:buChar char="*"/>
              <a:tabLst>
                <a:tab pos="240665" algn="l"/>
              </a:tabLst>
            </a:pPr>
            <a:r>
              <a:rPr sz="1500" b="1" dirty="0">
                <a:latin typeface="Courier New"/>
                <a:cs typeface="Courier New"/>
              </a:rPr>
              <a:t>DOUBLE</a:t>
            </a:r>
            <a:r>
              <a:rPr sz="1500" b="1" spc="-3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SQUARE</a:t>
            </a:r>
            <a:r>
              <a:rPr sz="1500" b="1" spc="-30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BRACKETS</a:t>
            </a:r>
            <a:endParaRPr sz="1500">
              <a:latin typeface="Courier New"/>
              <a:cs typeface="Courier New"/>
            </a:endParaRPr>
          </a:p>
          <a:p>
            <a:pPr marL="12700" marR="2176780">
              <a:lnSpc>
                <a:spcPct val="103299"/>
              </a:lnSpc>
            </a:pPr>
            <a:r>
              <a:rPr sz="1500" b="1" dirty="0">
                <a:latin typeface="Courier New"/>
                <a:cs typeface="Courier New"/>
              </a:rPr>
              <a:t>read</a:t>
            </a:r>
            <a:r>
              <a:rPr sz="1500" b="1" spc="-25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-</a:t>
            </a:r>
            <a:r>
              <a:rPr sz="1500" b="1" dirty="0">
                <a:latin typeface="Courier New"/>
                <a:cs typeface="Courier New"/>
              </a:rPr>
              <a:t>p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"Do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you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want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to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continue?"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reply </a:t>
            </a:r>
            <a:r>
              <a:rPr sz="1500" b="1" dirty="0">
                <a:latin typeface="Courier New"/>
                <a:cs typeface="Courier New"/>
              </a:rPr>
              <a:t>if</a:t>
            </a:r>
            <a:r>
              <a:rPr sz="1500" b="1" spc="-2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[[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$reply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=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"y"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]];</a:t>
            </a:r>
            <a:r>
              <a:rPr sz="1500" b="1" spc="-10" dirty="0">
                <a:latin typeface="Courier New"/>
                <a:cs typeface="Courier New"/>
              </a:rPr>
              <a:t> </a:t>
            </a:r>
            <a:r>
              <a:rPr sz="1500" b="1" spc="-20" dirty="0">
                <a:latin typeface="Courier New"/>
                <a:cs typeface="Courier New"/>
              </a:rPr>
              <a:t>then</a:t>
            </a:r>
            <a:endParaRPr sz="1500">
              <a:latin typeface="Courier New"/>
              <a:cs typeface="Courier New"/>
            </a:endParaRPr>
          </a:p>
          <a:p>
            <a:pPr marL="355600">
              <a:lnSpc>
                <a:spcPct val="100000"/>
              </a:lnSpc>
              <a:spcBef>
                <a:spcPts val="60"/>
              </a:spcBef>
            </a:pPr>
            <a:r>
              <a:rPr sz="1500" b="1" dirty="0">
                <a:latin typeface="Courier New"/>
                <a:cs typeface="Courier New"/>
              </a:rPr>
              <a:t>echo "You entered " </a:t>
            </a:r>
            <a:r>
              <a:rPr sz="1500" b="1" spc="-10" dirty="0">
                <a:latin typeface="Courier New"/>
                <a:cs typeface="Courier New"/>
              </a:rPr>
              <a:t>$reply</a:t>
            </a: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1500" b="1" spc="-25" dirty="0">
                <a:latin typeface="Courier New"/>
                <a:cs typeface="Courier New"/>
              </a:rPr>
              <a:t>fi</a:t>
            </a:r>
            <a:endParaRPr sz="15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sz="1500">
              <a:latin typeface="Courier New"/>
              <a:cs typeface="Courier New"/>
            </a:endParaRPr>
          </a:p>
          <a:p>
            <a:pPr marL="240665" indent="-227965">
              <a:lnSpc>
                <a:spcPct val="100000"/>
              </a:lnSpc>
              <a:spcBef>
                <a:spcPts val="5"/>
              </a:spcBef>
              <a:buChar char="*"/>
              <a:tabLst>
                <a:tab pos="240665" algn="l"/>
              </a:tabLst>
            </a:pPr>
            <a:r>
              <a:rPr sz="1500" b="1" dirty="0">
                <a:latin typeface="Courier New"/>
                <a:cs typeface="Courier New"/>
              </a:rPr>
              <a:t>SINGLE</a:t>
            </a:r>
            <a:r>
              <a:rPr sz="1500" b="1" spc="-3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SQUARE</a:t>
            </a:r>
            <a:r>
              <a:rPr sz="1500" b="1" spc="-30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BRACKETS</a:t>
            </a:r>
            <a:endParaRPr sz="1500">
              <a:latin typeface="Courier New"/>
              <a:cs typeface="Courier New"/>
            </a:endParaRPr>
          </a:p>
          <a:p>
            <a:pPr marL="12700" marR="2176780">
              <a:lnSpc>
                <a:spcPct val="103299"/>
              </a:lnSpc>
            </a:pPr>
            <a:r>
              <a:rPr sz="1500" b="1" dirty="0">
                <a:latin typeface="Courier New"/>
                <a:cs typeface="Courier New"/>
              </a:rPr>
              <a:t>read</a:t>
            </a:r>
            <a:r>
              <a:rPr sz="1500" b="1" spc="-25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-</a:t>
            </a:r>
            <a:r>
              <a:rPr sz="1500" b="1" dirty="0">
                <a:latin typeface="Courier New"/>
                <a:cs typeface="Courier New"/>
              </a:rPr>
              <a:t>p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"Do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you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want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to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continue?"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reply </a:t>
            </a:r>
            <a:r>
              <a:rPr sz="1500" b="1" dirty="0">
                <a:latin typeface="Courier New"/>
                <a:cs typeface="Courier New"/>
              </a:rPr>
              <a:t>if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[</a:t>
            </a:r>
            <a:r>
              <a:rPr sz="1500" b="1" spc="-1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$reply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=</a:t>
            </a:r>
            <a:r>
              <a:rPr sz="1500" b="1" spc="-1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"y"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];</a:t>
            </a:r>
            <a:r>
              <a:rPr sz="1500" b="1" spc="-10" dirty="0">
                <a:latin typeface="Courier New"/>
                <a:cs typeface="Courier New"/>
              </a:rPr>
              <a:t> </a:t>
            </a:r>
            <a:r>
              <a:rPr sz="1500" b="1" spc="-20" dirty="0">
                <a:latin typeface="Courier New"/>
                <a:cs typeface="Courier New"/>
              </a:rPr>
              <a:t>then</a:t>
            </a:r>
            <a:endParaRPr sz="1500">
              <a:latin typeface="Courier New"/>
              <a:cs typeface="Courier New"/>
            </a:endParaRPr>
          </a:p>
          <a:p>
            <a:pPr marL="355600">
              <a:lnSpc>
                <a:spcPct val="100000"/>
              </a:lnSpc>
              <a:spcBef>
                <a:spcPts val="60"/>
              </a:spcBef>
            </a:pPr>
            <a:r>
              <a:rPr sz="1500" b="1" dirty="0">
                <a:latin typeface="Courier New"/>
                <a:cs typeface="Courier New"/>
              </a:rPr>
              <a:t>echo "You entered " </a:t>
            </a:r>
            <a:r>
              <a:rPr sz="1500" b="1" spc="-10" dirty="0">
                <a:latin typeface="Courier New"/>
                <a:cs typeface="Courier New"/>
              </a:rPr>
              <a:t>$reply</a:t>
            </a: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1500" b="1" spc="-25" dirty="0">
                <a:latin typeface="Courier New"/>
                <a:cs typeface="Courier New"/>
              </a:rPr>
              <a:t>fi</a:t>
            </a:r>
            <a:endParaRPr sz="15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4868417"/>
            <a:ext cx="4598035" cy="1199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latin typeface="Courier New"/>
                <a:cs typeface="Courier New"/>
              </a:rPr>
              <a:t>*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"TEST"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COMMAND</a:t>
            </a:r>
            <a:endParaRPr sz="1500">
              <a:latin typeface="Courier New"/>
              <a:cs typeface="Courier New"/>
            </a:endParaRPr>
          </a:p>
          <a:p>
            <a:pPr marL="12700" marR="5080">
              <a:lnSpc>
                <a:spcPts val="1860"/>
              </a:lnSpc>
              <a:spcBef>
                <a:spcPts val="70"/>
              </a:spcBef>
            </a:pPr>
            <a:r>
              <a:rPr sz="1500" b="1" dirty="0">
                <a:latin typeface="Courier New"/>
                <a:cs typeface="Courier New"/>
              </a:rPr>
              <a:t>read</a:t>
            </a:r>
            <a:r>
              <a:rPr sz="1500" b="1" spc="-25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-</a:t>
            </a:r>
            <a:r>
              <a:rPr sz="1500" b="1" dirty="0">
                <a:latin typeface="Courier New"/>
                <a:cs typeface="Courier New"/>
              </a:rPr>
              <a:t>p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"Do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you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want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to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continue?"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spc="-10" dirty="0">
                <a:latin typeface="Courier New"/>
                <a:cs typeface="Courier New"/>
              </a:rPr>
              <a:t>reply </a:t>
            </a:r>
            <a:r>
              <a:rPr sz="1500" b="1" dirty="0">
                <a:latin typeface="Courier New"/>
                <a:cs typeface="Courier New"/>
              </a:rPr>
              <a:t>if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test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$reply</a:t>
            </a:r>
            <a:r>
              <a:rPr sz="1500" b="1" spc="-20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=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dirty="0">
                <a:latin typeface="Courier New"/>
                <a:cs typeface="Courier New"/>
              </a:rPr>
              <a:t>"y";</a:t>
            </a:r>
            <a:r>
              <a:rPr sz="1500" b="1" spc="-15" dirty="0">
                <a:latin typeface="Courier New"/>
                <a:cs typeface="Courier New"/>
              </a:rPr>
              <a:t> </a:t>
            </a:r>
            <a:r>
              <a:rPr sz="1500" b="1" spc="-20" dirty="0">
                <a:latin typeface="Courier New"/>
                <a:cs typeface="Courier New"/>
              </a:rPr>
              <a:t>then</a:t>
            </a:r>
            <a:endParaRPr sz="1500">
              <a:latin typeface="Courier New"/>
              <a:cs typeface="Courier New"/>
            </a:endParaRPr>
          </a:p>
          <a:p>
            <a:pPr marL="355600">
              <a:lnSpc>
                <a:spcPts val="1789"/>
              </a:lnSpc>
            </a:pPr>
            <a:r>
              <a:rPr sz="1500" b="1" dirty="0">
                <a:latin typeface="Courier New"/>
                <a:cs typeface="Courier New"/>
              </a:rPr>
              <a:t>echo "You entered " </a:t>
            </a:r>
            <a:r>
              <a:rPr sz="1500" b="1" spc="-10" dirty="0">
                <a:latin typeface="Courier New"/>
                <a:cs typeface="Courier New"/>
              </a:rPr>
              <a:t>$reply</a:t>
            </a:r>
            <a:endParaRPr sz="15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1500" b="1" spc="-25" dirty="0">
                <a:latin typeface="Courier New"/>
                <a:cs typeface="Courier New"/>
              </a:rPr>
              <a:t>fi</a:t>
            </a:r>
            <a:endParaRPr sz="15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35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05" dirty="0">
                <a:latin typeface="Cambria"/>
                <a:cs typeface="Cambria"/>
              </a:rPr>
              <a:t> </a:t>
            </a:r>
            <a:r>
              <a:rPr sz="3000" b="0" cap="small" spc="310" dirty="0">
                <a:latin typeface="Cambria"/>
                <a:cs typeface="Cambria"/>
              </a:rPr>
              <a:t>case</a:t>
            </a:r>
            <a:r>
              <a:rPr sz="3000" b="0" cap="small" spc="335" dirty="0">
                <a:latin typeface="Cambria"/>
                <a:cs typeface="Cambria"/>
              </a:rPr>
              <a:t> </a:t>
            </a:r>
            <a:r>
              <a:rPr sz="3000" b="0" cap="small" spc="200" dirty="0">
                <a:latin typeface="Cambria"/>
                <a:cs typeface="Cambria"/>
              </a:rPr>
              <a:t>Statement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332089" y="5889964"/>
            <a:ext cx="205740" cy="2228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630"/>
              </a:lnSpc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36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08736" y="5992616"/>
            <a:ext cx="758190" cy="3708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2580"/>
              </a:lnSpc>
            </a:pPr>
            <a:r>
              <a:rPr sz="2400" b="1" spc="-20" dirty="0">
                <a:latin typeface="Courier New"/>
                <a:cs typeface="Courier New"/>
              </a:rPr>
              <a:t>esac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629283"/>
            <a:ext cx="6468110" cy="4261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marR="5080" indent="-273050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80" dirty="0">
                <a:latin typeface="Cambria"/>
                <a:cs typeface="Cambria"/>
              </a:rPr>
              <a:t>use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case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statement</a:t>
            </a:r>
            <a:r>
              <a:rPr sz="2400" spc="204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for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19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decision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130" dirty="0">
                <a:latin typeface="Cambria"/>
                <a:cs typeface="Cambria"/>
              </a:rPr>
              <a:t>that</a:t>
            </a:r>
            <a:r>
              <a:rPr sz="2400" spc="20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is </a:t>
            </a:r>
            <a:r>
              <a:rPr sz="2400" spc="55" dirty="0">
                <a:latin typeface="Cambria"/>
                <a:cs typeface="Cambria"/>
              </a:rPr>
              <a:t>based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on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multiple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choices</a:t>
            </a: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u="sng" spc="114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Syntax: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409"/>
              </a:spcBef>
            </a:pPr>
            <a:r>
              <a:rPr sz="2400" b="1" dirty="0">
                <a:latin typeface="Courier New"/>
                <a:cs typeface="Courier New"/>
              </a:rPr>
              <a:t>case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word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25" dirty="0">
                <a:latin typeface="Courier New"/>
                <a:cs typeface="Courier New"/>
              </a:rPr>
              <a:t>in</a:t>
            </a:r>
            <a:endParaRPr sz="24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540"/>
              </a:spcBef>
            </a:pPr>
            <a:r>
              <a:rPr sz="2400" b="1" dirty="0">
                <a:latin typeface="Courier New"/>
                <a:cs typeface="Courier New"/>
              </a:rPr>
              <a:t>pattern1)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command-list1</a:t>
            </a:r>
            <a:endParaRPr sz="24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600"/>
              </a:spcBef>
            </a:pPr>
            <a:r>
              <a:rPr sz="2400" b="1" spc="-25" dirty="0">
                <a:latin typeface="Courier New"/>
                <a:cs typeface="Courier New"/>
              </a:rPr>
              <a:t>;;</a:t>
            </a:r>
            <a:endParaRPr sz="24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pattern2)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command-list2</a:t>
            </a:r>
            <a:endParaRPr sz="24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600"/>
              </a:spcBef>
            </a:pPr>
            <a:r>
              <a:rPr sz="2400" b="1" spc="-25" dirty="0">
                <a:latin typeface="Courier New"/>
                <a:cs typeface="Courier New"/>
              </a:rPr>
              <a:t>;;</a:t>
            </a:r>
            <a:endParaRPr sz="24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patternN)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command-listN</a:t>
            </a:r>
            <a:endParaRPr sz="24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605"/>
              </a:spcBef>
            </a:pPr>
            <a:r>
              <a:rPr sz="2400" b="1" spc="-25" dirty="0">
                <a:latin typeface="Courier New"/>
                <a:cs typeface="Courier New"/>
              </a:rPr>
              <a:t>;;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548640" y="972439"/>
            <a:ext cx="5191125" cy="41179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2400" spc="310" dirty="0">
                <a:solidFill>
                  <a:srgbClr val="565F6C"/>
                </a:solidFill>
                <a:latin typeface="Cambria"/>
                <a:cs typeface="Cambria"/>
              </a:rPr>
              <a:t>CASE</a:t>
            </a:r>
            <a:r>
              <a:rPr sz="2400" spc="325" dirty="0">
                <a:solidFill>
                  <a:srgbClr val="565F6C"/>
                </a:solidFill>
                <a:latin typeface="Cambria"/>
                <a:cs typeface="Cambria"/>
              </a:rPr>
              <a:t> </a:t>
            </a:r>
            <a:r>
              <a:rPr sz="2400" spc="180" dirty="0">
                <a:solidFill>
                  <a:srgbClr val="565F6C"/>
                </a:solidFill>
                <a:latin typeface="Cambria"/>
                <a:cs typeface="Cambria"/>
              </a:rPr>
              <a:t>PATTERN</a:t>
            </a:r>
            <a:endParaRPr sz="2400">
              <a:latin typeface="Cambria"/>
              <a:cs typeface="Cambria"/>
            </a:endParaRPr>
          </a:p>
          <a:p>
            <a:pPr marL="272415" indent="-272415">
              <a:lnSpc>
                <a:spcPct val="100000"/>
              </a:lnSpc>
              <a:spcBef>
                <a:spcPts val="229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72415" algn="l"/>
              </a:tabLst>
            </a:pPr>
            <a:r>
              <a:rPr sz="2400" spc="50" dirty="0">
                <a:latin typeface="Cambria"/>
                <a:cs typeface="Cambria"/>
              </a:rPr>
              <a:t>checked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against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word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for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match</a:t>
            </a:r>
            <a:endParaRPr sz="2400">
              <a:latin typeface="Cambria"/>
              <a:cs typeface="Cambria"/>
            </a:endParaRPr>
          </a:p>
          <a:p>
            <a:pPr marL="2724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72415" algn="l"/>
              </a:tabLst>
            </a:pPr>
            <a:r>
              <a:rPr sz="2400" spc="110" dirty="0">
                <a:latin typeface="Cambria"/>
                <a:cs typeface="Cambria"/>
              </a:rPr>
              <a:t>may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also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contain:</a:t>
            </a:r>
            <a:endParaRPr sz="2400">
              <a:latin typeface="Cambria"/>
              <a:cs typeface="Cambria"/>
            </a:endParaRPr>
          </a:p>
          <a:p>
            <a:pPr marL="272415">
              <a:lnSpc>
                <a:spcPct val="100000"/>
              </a:lnSpc>
              <a:spcBef>
                <a:spcPts val="350"/>
              </a:spcBef>
            </a:pPr>
            <a:r>
              <a:rPr sz="2400" b="1" spc="-50" dirty="0">
                <a:latin typeface="Courier New"/>
                <a:cs typeface="Courier New"/>
              </a:rPr>
              <a:t>*</a:t>
            </a:r>
            <a:endParaRPr sz="2400">
              <a:latin typeface="Courier New"/>
              <a:cs typeface="Courier New"/>
            </a:endParaRPr>
          </a:p>
          <a:p>
            <a:pPr marL="272415">
              <a:lnSpc>
                <a:spcPct val="100000"/>
              </a:lnSpc>
              <a:spcBef>
                <a:spcPts val="600"/>
              </a:spcBef>
            </a:pPr>
            <a:r>
              <a:rPr sz="2400" b="1" spc="-50" dirty="0">
                <a:latin typeface="Courier New"/>
                <a:cs typeface="Courier New"/>
              </a:rPr>
              <a:t>?</a:t>
            </a:r>
            <a:endParaRPr sz="2400">
              <a:latin typeface="Courier New"/>
              <a:cs typeface="Courier New"/>
            </a:endParaRPr>
          </a:p>
          <a:p>
            <a:pPr marL="272415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[ … </a:t>
            </a:r>
            <a:r>
              <a:rPr sz="2400" b="1" spc="-50" dirty="0">
                <a:latin typeface="Courier New"/>
                <a:cs typeface="Courier New"/>
              </a:rPr>
              <a:t>]</a:t>
            </a:r>
            <a:endParaRPr sz="2400">
              <a:latin typeface="Courier New"/>
              <a:cs typeface="Courier New"/>
            </a:endParaRPr>
          </a:p>
          <a:p>
            <a:pPr marL="272415">
              <a:lnSpc>
                <a:spcPct val="100000"/>
              </a:lnSpc>
              <a:spcBef>
                <a:spcPts val="600"/>
              </a:spcBef>
            </a:pPr>
            <a:r>
              <a:rPr sz="2400" b="1" spc="-10" dirty="0">
                <a:latin typeface="Courier New"/>
                <a:cs typeface="Courier New"/>
              </a:rPr>
              <a:t>[:class:]</a:t>
            </a:r>
            <a:endParaRPr sz="2400">
              <a:latin typeface="Courier New"/>
              <a:cs typeface="Courier New"/>
            </a:endParaRPr>
          </a:p>
          <a:p>
            <a:pPr marL="272415" indent="-272415">
              <a:lnSpc>
                <a:spcPct val="100000"/>
              </a:lnSpc>
              <a:spcBef>
                <a:spcPts val="85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72415" algn="l"/>
              </a:tabLst>
            </a:pPr>
            <a:r>
              <a:rPr sz="2400" spc="85" dirty="0">
                <a:latin typeface="Cambria"/>
                <a:cs typeface="Cambria"/>
              </a:rPr>
              <a:t>multiple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patterns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listed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via:</a:t>
            </a:r>
            <a:endParaRPr sz="2400">
              <a:latin typeface="Cambria"/>
              <a:cs typeface="Cambria"/>
            </a:endParaRPr>
          </a:p>
          <a:p>
            <a:pPr marL="272415">
              <a:lnSpc>
                <a:spcPct val="100000"/>
              </a:lnSpc>
              <a:spcBef>
                <a:spcPts val="409"/>
              </a:spcBef>
            </a:pPr>
            <a:r>
              <a:rPr sz="2400" b="1" spc="-50" dirty="0">
                <a:latin typeface="Courier New"/>
                <a:cs typeface="Courier New"/>
              </a:rPr>
              <a:t>|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8332089" y="5889964"/>
            <a:ext cx="205740" cy="2228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630"/>
              </a:lnSpc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37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301878"/>
            <a:ext cx="598805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305" dirty="0">
                <a:latin typeface="Cambria"/>
                <a:cs typeface="Cambria"/>
              </a:rPr>
              <a:t>Example</a:t>
            </a:r>
            <a:r>
              <a:rPr sz="3000" b="0" cap="small" spc="300" dirty="0">
                <a:latin typeface="Cambria"/>
                <a:cs typeface="Cambria"/>
              </a:rPr>
              <a:t> </a:t>
            </a:r>
            <a:r>
              <a:rPr sz="3000" b="0" cap="small" dirty="0">
                <a:latin typeface="Cambria"/>
                <a:cs typeface="Cambria"/>
              </a:rPr>
              <a:t>1:</a:t>
            </a:r>
            <a:r>
              <a:rPr sz="3000" b="0" cap="small" spc="195" dirty="0">
                <a:latin typeface="Cambria"/>
                <a:cs typeface="Cambria"/>
              </a:rPr>
              <a:t> </a:t>
            </a: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10" dirty="0">
                <a:latin typeface="Cambria"/>
                <a:cs typeface="Cambria"/>
              </a:rPr>
              <a:t> case</a:t>
            </a:r>
            <a:r>
              <a:rPr sz="3000" b="0" cap="small" spc="355" dirty="0">
                <a:latin typeface="Cambria"/>
                <a:cs typeface="Cambria"/>
              </a:rPr>
              <a:t> </a:t>
            </a:r>
            <a:r>
              <a:rPr sz="3000" b="0" cap="small" spc="229" dirty="0">
                <a:latin typeface="Cambria"/>
                <a:cs typeface="Cambria"/>
              </a:rPr>
              <a:t>Statement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086690"/>
            <a:ext cx="6443345" cy="836294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65"/>
              </a:spcBef>
            </a:pPr>
            <a:r>
              <a:rPr sz="1800" b="1" spc="-10" dirty="0">
                <a:latin typeface="Courier New"/>
                <a:cs typeface="Courier New"/>
              </a:rPr>
              <a:t>#!/bin/bash</a:t>
            </a:r>
            <a:endParaRPr sz="1800">
              <a:latin typeface="Courier New"/>
              <a:cs typeface="Courier New"/>
            </a:endParaRPr>
          </a:p>
          <a:p>
            <a:pPr marL="12700">
              <a:lnSpc>
                <a:spcPts val="1945"/>
              </a:lnSpc>
              <a:spcBef>
                <a:spcPts val="165"/>
              </a:spcBef>
            </a:pPr>
            <a:r>
              <a:rPr sz="1800" b="1" dirty="0">
                <a:latin typeface="Courier New"/>
                <a:cs typeface="Courier New"/>
              </a:rPr>
              <a:t>echo</a:t>
            </a:r>
            <a:r>
              <a:rPr sz="1800" b="1" spc="-6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"Enter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Y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to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see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all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files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including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hidden</a:t>
            </a:r>
            <a:endParaRPr sz="1800">
              <a:latin typeface="Courier New"/>
              <a:cs typeface="Courier New"/>
            </a:endParaRPr>
          </a:p>
          <a:p>
            <a:pPr marL="285115">
              <a:lnSpc>
                <a:spcPts val="1945"/>
              </a:lnSpc>
            </a:pPr>
            <a:r>
              <a:rPr sz="1800" b="1" spc="-10" dirty="0">
                <a:latin typeface="Courier New"/>
                <a:cs typeface="Courier New"/>
              </a:rPr>
              <a:t>files"</a:t>
            </a:r>
            <a:endParaRPr sz="1800">
              <a:latin typeface="Courier New"/>
              <a:cs typeface="Courier New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16890" y="1969828"/>
          <a:ext cx="5795643" cy="553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6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50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4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9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1218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6860">
                <a:tc>
                  <a:txBody>
                    <a:bodyPr/>
                    <a:lstStyle/>
                    <a:p>
                      <a:pPr marR="27940" algn="ctr">
                        <a:lnSpc>
                          <a:spcPts val="1860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echo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"Enter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</a:pPr>
                      <a:r>
                        <a:rPr sz="1800" b="1" spc="-50" dirty="0">
                          <a:latin typeface="Courier New"/>
                          <a:cs typeface="Courier New"/>
                        </a:rPr>
                        <a:t>N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60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to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7310">
                        <a:lnSpc>
                          <a:spcPts val="1860"/>
                        </a:lnSpc>
                      </a:pPr>
                      <a:r>
                        <a:rPr sz="1800" b="1" dirty="0">
                          <a:latin typeface="Courier New"/>
                          <a:cs typeface="Courier New"/>
                        </a:rPr>
                        <a:t>see</a:t>
                      </a:r>
                      <a:r>
                        <a:rPr sz="1800" b="1" spc="-40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dirty="0">
                          <a:latin typeface="Courier New"/>
                          <a:cs typeface="Courier New"/>
                        </a:rPr>
                        <a:t>all</a:t>
                      </a:r>
                      <a:r>
                        <a:rPr sz="1800" b="1" spc="-40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10" dirty="0">
                          <a:latin typeface="Courier New"/>
                          <a:cs typeface="Courier New"/>
                        </a:rPr>
                        <a:t>non-</a:t>
                      </a:r>
                      <a:r>
                        <a:rPr sz="1800" b="1" dirty="0">
                          <a:latin typeface="Courier New"/>
                          <a:cs typeface="Courier New"/>
                        </a:rPr>
                        <a:t>hidden</a:t>
                      </a:r>
                      <a:r>
                        <a:rPr sz="1800" b="1" spc="-35" dirty="0">
                          <a:latin typeface="Courier New"/>
                          <a:cs typeface="Courier New"/>
                        </a:rPr>
                        <a:t> </a:t>
                      </a:r>
                      <a:r>
                        <a:rPr sz="1800" b="1" spc="-10" dirty="0">
                          <a:latin typeface="Courier New"/>
                          <a:cs typeface="Courier New"/>
                        </a:rPr>
                        <a:t>files"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860">
                <a:tc>
                  <a:txBody>
                    <a:bodyPr/>
                    <a:lstStyle/>
                    <a:p>
                      <a:pPr marR="27940" algn="ctr">
                        <a:lnSpc>
                          <a:spcPts val="2005"/>
                        </a:lnSpc>
                      </a:pPr>
                      <a:r>
                        <a:rPr sz="1800" b="1" spc="-20" dirty="0">
                          <a:latin typeface="Courier New"/>
                          <a:cs typeface="Courier New"/>
                        </a:rPr>
                        <a:t>echo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0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"Enter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05"/>
                        </a:lnSpc>
                      </a:pPr>
                      <a:r>
                        <a:rPr sz="1800" b="1" spc="-50" dirty="0">
                          <a:latin typeface="Courier New"/>
                          <a:cs typeface="Courier New"/>
                        </a:rPr>
                        <a:t>q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005"/>
                        </a:lnSpc>
                      </a:pPr>
                      <a:r>
                        <a:rPr sz="1800" b="1" spc="-25" dirty="0">
                          <a:latin typeface="Courier New"/>
                          <a:cs typeface="Courier New"/>
                        </a:rPr>
                        <a:t>to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67310">
                        <a:lnSpc>
                          <a:spcPts val="2005"/>
                        </a:lnSpc>
                      </a:pPr>
                      <a:r>
                        <a:rPr sz="1800" b="1" spc="-10" dirty="0">
                          <a:latin typeface="Courier New"/>
                          <a:cs typeface="Courier New"/>
                        </a:rPr>
                        <a:t>quit"</a:t>
                      </a:r>
                      <a:endParaRPr sz="1800">
                        <a:latin typeface="Courier New"/>
                        <a:cs typeface="Courier New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535940" y="2805506"/>
            <a:ext cx="6316980" cy="1483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Courier New"/>
                <a:cs typeface="Courier New"/>
              </a:rPr>
              <a:t>read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-</a:t>
            </a:r>
            <a:r>
              <a:rPr sz="1800" b="1" dirty="0">
                <a:latin typeface="Courier New"/>
                <a:cs typeface="Courier New"/>
              </a:rPr>
              <a:t>p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"Enter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your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choice: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"</a:t>
            </a:r>
            <a:r>
              <a:rPr sz="1800" b="1" spc="-4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reply</a:t>
            </a:r>
            <a:endParaRPr sz="18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sz="18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1800" b="1" dirty="0">
                <a:latin typeface="Courier New"/>
                <a:cs typeface="Courier New"/>
              </a:rPr>
              <a:t>case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$reply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spc="-25" dirty="0">
                <a:latin typeface="Courier New"/>
                <a:cs typeface="Courier New"/>
              </a:rPr>
              <a:t>in</a:t>
            </a:r>
            <a:endParaRPr sz="1800">
              <a:latin typeface="Courier New"/>
              <a:cs typeface="Courier New"/>
            </a:endParaRPr>
          </a:p>
          <a:p>
            <a:pPr marL="286385">
              <a:lnSpc>
                <a:spcPct val="100000"/>
              </a:lnSpc>
              <a:spcBef>
                <a:spcPts val="170"/>
              </a:spcBef>
            </a:pPr>
            <a:r>
              <a:rPr sz="1800" b="1" dirty="0">
                <a:latin typeface="Courier New"/>
                <a:cs typeface="Courier New"/>
              </a:rPr>
              <a:t>Y|YES)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echo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"Displaying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all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(really…)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files"</a:t>
            </a:r>
            <a:endParaRPr sz="1800">
              <a:latin typeface="Courier New"/>
              <a:cs typeface="Courier New"/>
            </a:endParaRPr>
          </a:p>
          <a:p>
            <a:pPr marL="1242695">
              <a:lnSpc>
                <a:spcPct val="100000"/>
              </a:lnSpc>
              <a:spcBef>
                <a:spcPts val="165"/>
              </a:spcBef>
            </a:pPr>
            <a:r>
              <a:rPr sz="1800" b="1" dirty="0">
                <a:latin typeface="Courier New"/>
                <a:cs typeface="Courier New"/>
              </a:rPr>
              <a:t>ls</a:t>
            </a:r>
            <a:r>
              <a:rPr sz="1800" b="1" spc="-20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-</a:t>
            </a:r>
            <a:r>
              <a:rPr sz="1800" b="1" dirty="0">
                <a:latin typeface="Courier New"/>
                <a:cs typeface="Courier New"/>
              </a:rPr>
              <a:t>a</a:t>
            </a:r>
            <a:r>
              <a:rPr sz="1800" b="1" spc="-20" dirty="0">
                <a:latin typeface="Courier New"/>
                <a:cs typeface="Courier New"/>
              </a:rPr>
              <a:t> </a:t>
            </a:r>
            <a:r>
              <a:rPr sz="1800" b="1" spc="-25" dirty="0">
                <a:latin typeface="Courier New"/>
                <a:cs typeface="Courier New"/>
              </a:rPr>
              <a:t>;;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810259" y="4284726"/>
            <a:ext cx="70929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latin typeface="Courier New"/>
                <a:cs typeface="Courier New"/>
              </a:rPr>
              <a:t>N|NO)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766061" y="4263390"/>
            <a:ext cx="5216525" cy="9124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905">
              <a:lnSpc>
                <a:spcPct val="107800"/>
              </a:lnSpc>
              <a:spcBef>
                <a:spcPts val="100"/>
              </a:spcBef>
            </a:pPr>
            <a:r>
              <a:rPr sz="1800" b="1" dirty="0">
                <a:latin typeface="Courier New"/>
                <a:cs typeface="Courier New"/>
              </a:rPr>
              <a:t>echo</a:t>
            </a:r>
            <a:r>
              <a:rPr sz="1800" b="1" spc="-3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"Display</a:t>
            </a:r>
            <a:r>
              <a:rPr sz="1800" b="1" spc="-3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all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spc="-30" dirty="0">
                <a:latin typeface="Courier New"/>
                <a:cs typeface="Courier New"/>
              </a:rPr>
              <a:t>non-</a:t>
            </a:r>
            <a:r>
              <a:rPr sz="1800" b="1" dirty="0">
                <a:latin typeface="Courier New"/>
                <a:cs typeface="Courier New"/>
              </a:rPr>
              <a:t>hidden</a:t>
            </a:r>
            <a:r>
              <a:rPr sz="1800" b="1" spc="-35" dirty="0">
                <a:latin typeface="Courier New"/>
                <a:cs typeface="Courier New"/>
              </a:rPr>
              <a:t> </a:t>
            </a:r>
            <a:r>
              <a:rPr sz="1800" b="1" spc="-10" dirty="0">
                <a:latin typeface="Courier New"/>
                <a:cs typeface="Courier New"/>
              </a:rPr>
              <a:t>files..." </a:t>
            </a:r>
            <a:r>
              <a:rPr sz="1800" b="1" dirty="0">
                <a:latin typeface="Courier New"/>
                <a:cs typeface="Courier New"/>
              </a:rPr>
              <a:t>ls</a:t>
            </a:r>
            <a:r>
              <a:rPr sz="1800" b="1" spc="-30" dirty="0">
                <a:latin typeface="Courier New"/>
                <a:cs typeface="Courier New"/>
              </a:rPr>
              <a:t> </a:t>
            </a:r>
            <a:r>
              <a:rPr sz="1800" b="1" spc="-25" dirty="0">
                <a:latin typeface="Courier New"/>
                <a:cs typeface="Courier New"/>
              </a:rPr>
              <a:t>;;</a:t>
            </a:r>
            <a:endParaRPr sz="1800">
              <a:latin typeface="Courier New"/>
              <a:cs typeface="Courier New"/>
            </a:endParaRPr>
          </a:p>
          <a:p>
            <a:pPr marL="14604">
              <a:lnSpc>
                <a:spcPct val="100000"/>
              </a:lnSpc>
              <a:spcBef>
                <a:spcPts val="165"/>
              </a:spcBef>
            </a:pPr>
            <a:r>
              <a:rPr sz="1800" b="1" dirty="0">
                <a:latin typeface="Courier New"/>
                <a:cs typeface="Courier New"/>
              </a:rPr>
              <a:t>exit</a:t>
            </a:r>
            <a:r>
              <a:rPr sz="1800" b="1" spc="-2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0</a:t>
            </a:r>
            <a:r>
              <a:rPr sz="1800" b="1" spc="-25" dirty="0">
                <a:latin typeface="Courier New"/>
                <a:cs typeface="Courier New"/>
              </a:rPr>
              <a:t> ;;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10259" y="4876038"/>
            <a:ext cx="2990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latin typeface="Courier New"/>
                <a:cs typeface="Courier New"/>
              </a:rPr>
              <a:t>Q)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35940" y="5446267"/>
            <a:ext cx="5224145" cy="6172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74320">
              <a:lnSpc>
                <a:spcPct val="107800"/>
              </a:lnSpc>
              <a:spcBef>
                <a:spcPts val="100"/>
              </a:spcBef>
            </a:pPr>
            <a:r>
              <a:rPr sz="1800" b="1" dirty="0">
                <a:latin typeface="Courier New"/>
                <a:cs typeface="Courier New"/>
              </a:rPr>
              <a:t>*)</a:t>
            </a:r>
            <a:r>
              <a:rPr sz="1800" b="1" spc="-5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echo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"Invalid</a:t>
            </a:r>
            <a:r>
              <a:rPr sz="1800" b="1" spc="-35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choice!";</a:t>
            </a:r>
            <a:r>
              <a:rPr sz="1800" b="1" spc="-3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exit</a:t>
            </a:r>
            <a:r>
              <a:rPr sz="1800" b="1" spc="-40" dirty="0">
                <a:latin typeface="Courier New"/>
                <a:cs typeface="Courier New"/>
              </a:rPr>
              <a:t> </a:t>
            </a:r>
            <a:r>
              <a:rPr sz="1800" b="1" dirty="0">
                <a:latin typeface="Courier New"/>
                <a:cs typeface="Courier New"/>
              </a:rPr>
              <a:t>1</a:t>
            </a:r>
            <a:r>
              <a:rPr sz="1800" b="1" spc="-30" dirty="0">
                <a:latin typeface="Courier New"/>
                <a:cs typeface="Courier New"/>
              </a:rPr>
              <a:t> </a:t>
            </a:r>
            <a:r>
              <a:rPr sz="1800" b="1" spc="-25" dirty="0">
                <a:latin typeface="Courier New"/>
                <a:cs typeface="Courier New"/>
              </a:rPr>
              <a:t>;; </a:t>
            </a:r>
            <a:r>
              <a:rPr sz="1800" b="1" spc="-20" dirty="0">
                <a:latin typeface="Courier New"/>
                <a:cs typeface="Courier New"/>
              </a:rPr>
              <a:t>esac</a:t>
            </a:r>
            <a:endParaRPr sz="1800">
              <a:latin typeface="Courier New"/>
              <a:cs typeface="Courier New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38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95" dirty="0">
                <a:latin typeface="Cambria"/>
                <a:cs typeface="Cambria"/>
              </a:rPr>
              <a:t>Bash</a:t>
            </a:r>
            <a:r>
              <a:rPr sz="3000" b="0" cap="small" spc="300" dirty="0">
                <a:latin typeface="Cambria"/>
                <a:cs typeface="Cambria"/>
              </a:rPr>
              <a:t> </a:t>
            </a:r>
            <a:r>
              <a:rPr sz="3000" b="0" cap="small" spc="260" dirty="0">
                <a:latin typeface="Cambria"/>
                <a:cs typeface="Cambria"/>
              </a:rPr>
              <a:t>programming:</a:t>
            </a:r>
            <a:r>
              <a:rPr sz="3000" b="0" cap="small" spc="175" dirty="0">
                <a:latin typeface="Cambria"/>
                <a:cs typeface="Cambria"/>
              </a:rPr>
              <a:t> </a:t>
            </a:r>
            <a:r>
              <a:rPr sz="3000" b="0" cap="small" spc="300" dirty="0">
                <a:latin typeface="Cambria"/>
                <a:cs typeface="Cambria"/>
              </a:rPr>
              <a:t>so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165" dirty="0">
                <a:latin typeface="Cambria"/>
                <a:cs typeface="Cambria"/>
              </a:rPr>
              <a:t>far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37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56131"/>
            <a:ext cx="2943225" cy="326961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67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70" dirty="0">
                <a:latin typeface="Cambria"/>
                <a:cs typeface="Cambria"/>
              </a:rPr>
              <a:t>Data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structure</a:t>
            </a:r>
            <a:endParaRPr sz="24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55" dirty="0">
                <a:latin typeface="Cambria"/>
                <a:cs typeface="Cambria"/>
              </a:rPr>
              <a:t>Variables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95" dirty="0">
                <a:latin typeface="Cambria"/>
                <a:cs typeface="Cambria"/>
              </a:rPr>
              <a:t>Numeric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variables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90" dirty="0">
                <a:latin typeface="Cambria"/>
                <a:cs typeface="Cambria"/>
              </a:rPr>
              <a:t>Arrays</a:t>
            </a:r>
            <a:endParaRPr sz="21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35" dirty="0">
                <a:latin typeface="Cambria"/>
                <a:cs typeface="Cambria"/>
              </a:rPr>
              <a:t>User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input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90" dirty="0">
                <a:latin typeface="Cambria"/>
                <a:cs typeface="Cambria"/>
              </a:rPr>
              <a:t>Control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structures</a:t>
            </a:r>
            <a:endParaRPr sz="24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dirty="0">
                <a:latin typeface="Cambria"/>
                <a:cs typeface="Cambria"/>
              </a:rPr>
              <a:t>if-</a:t>
            </a:r>
            <a:r>
              <a:rPr sz="2100" spc="60" dirty="0">
                <a:latin typeface="Cambria"/>
                <a:cs typeface="Cambria"/>
              </a:rPr>
              <a:t>then-</a:t>
            </a:r>
            <a:r>
              <a:rPr sz="2100" spc="-20" dirty="0">
                <a:latin typeface="Cambria"/>
                <a:cs typeface="Cambria"/>
              </a:rPr>
              <a:t>else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35" dirty="0">
                <a:latin typeface="Cambria"/>
                <a:cs typeface="Cambria"/>
              </a:rPr>
              <a:t>case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95" dirty="0">
                <a:latin typeface="Cambria"/>
                <a:cs typeface="Cambria"/>
              </a:rPr>
              <a:t>Bash</a:t>
            </a:r>
            <a:r>
              <a:rPr sz="3000" b="0" cap="small" spc="305" dirty="0">
                <a:latin typeface="Cambria"/>
                <a:cs typeface="Cambria"/>
              </a:rPr>
              <a:t> </a:t>
            </a:r>
            <a:r>
              <a:rPr sz="3000" b="0" cap="small" spc="260" dirty="0">
                <a:latin typeface="Cambria"/>
                <a:cs typeface="Cambria"/>
              </a:rPr>
              <a:t>programming:</a:t>
            </a:r>
            <a:r>
              <a:rPr sz="3000" b="0" cap="small" spc="175" dirty="0">
                <a:latin typeface="Cambria"/>
                <a:cs typeface="Cambria"/>
              </a:rPr>
              <a:t> </a:t>
            </a:r>
            <a:r>
              <a:rPr sz="3000" b="0" cap="small" spc="250" dirty="0">
                <a:latin typeface="Cambria"/>
                <a:cs typeface="Cambria"/>
              </a:rPr>
              <a:t>still</a:t>
            </a:r>
            <a:r>
              <a:rPr sz="3000" b="0" cap="small" spc="285" dirty="0">
                <a:latin typeface="Cambria"/>
                <a:cs typeface="Cambria"/>
              </a:rPr>
              <a:t> </a:t>
            </a:r>
            <a:r>
              <a:rPr sz="3000" b="0" cap="small" spc="235" dirty="0">
                <a:latin typeface="Cambria"/>
                <a:cs typeface="Cambria"/>
              </a:rPr>
              <a:t>to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300" dirty="0">
                <a:latin typeface="Cambria"/>
                <a:cs typeface="Cambria"/>
              </a:rPr>
              <a:t>come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38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998091"/>
            <a:ext cx="3230245" cy="272097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67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90" dirty="0">
                <a:latin typeface="Cambria"/>
                <a:cs typeface="Cambria"/>
              </a:rPr>
              <a:t>Control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structures</a:t>
            </a:r>
            <a:endParaRPr sz="24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55" dirty="0">
                <a:latin typeface="Cambria"/>
                <a:cs typeface="Cambria"/>
              </a:rPr>
              <a:t>Repetition</a:t>
            </a:r>
            <a:endParaRPr sz="2100">
              <a:latin typeface="Cambria"/>
              <a:cs typeface="Cambria"/>
            </a:endParaRPr>
          </a:p>
          <a:p>
            <a:pPr marL="926465" lvl="2" indent="-182245">
              <a:lnSpc>
                <a:spcPct val="100000"/>
              </a:lnSpc>
              <a:spcBef>
                <a:spcPts val="445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6465" algn="l"/>
              </a:tabLst>
            </a:pPr>
            <a:r>
              <a:rPr sz="1800" spc="-20" dirty="0">
                <a:latin typeface="Cambria"/>
                <a:cs typeface="Cambria"/>
              </a:rPr>
              <a:t>do-</a:t>
            </a:r>
            <a:r>
              <a:rPr sz="1800" spc="60" dirty="0">
                <a:latin typeface="Cambria"/>
                <a:cs typeface="Cambria"/>
              </a:rPr>
              <a:t>while,</a:t>
            </a:r>
            <a:r>
              <a:rPr sz="1800" spc="409" dirty="0">
                <a:latin typeface="Cambria"/>
                <a:cs typeface="Cambria"/>
              </a:rPr>
              <a:t> </a:t>
            </a:r>
            <a:r>
              <a:rPr sz="1800" dirty="0">
                <a:latin typeface="Cambria"/>
                <a:cs typeface="Cambria"/>
              </a:rPr>
              <a:t>repeat-</a:t>
            </a:r>
            <a:r>
              <a:rPr sz="1800" spc="55" dirty="0">
                <a:latin typeface="Cambria"/>
                <a:cs typeface="Cambria"/>
              </a:rPr>
              <a:t>until</a:t>
            </a:r>
            <a:endParaRPr sz="1800">
              <a:latin typeface="Cambria"/>
              <a:cs typeface="Cambria"/>
            </a:endParaRPr>
          </a:p>
          <a:p>
            <a:pPr marL="926465" lvl="2" indent="-182245">
              <a:lnSpc>
                <a:spcPct val="100000"/>
              </a:lnSpc>
              <a:spcBef>
                <a:spcPts val="430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6465" algn="l"/>
              </a:tabLst>
            </a:pPr>
            <a:r>
              <a:rPr sz="1800" spc="-25" dirty="0">
                <a:latin typeface="Cambria"/>
                <a:cs typeface="Cambria"/>
              </a:rPr>
              <a:t>for</a:t>
            </a:r>
            <a:endParaRPr sz="1800">
              <a:latin typeface="Cambria"/>
              <a:cs typeface="Cambria"/>
            </a:endParaRPr>
          </a:p>
          <a:p>
            <a:pPr marL="926465" lvl="2" indent="-182245">
              <a:lnSpc>
                <a:spcPct val="100000"/>
              </a:lnSpc>
              <a:spcBef>
                <a:spcPts val="434"/>
              </a:spcBef>
              <a:buClr>
                <a:srgbClr val="DF752E"/>
              </a:buClr>
              <a:buSzPct val="58333"/>
              <a:buFont typeface="Wingdings"/>
              <a:buChar char=""/>
              <a:tabLst>
                <a:tab pos="926465" algn="l"/>
              </a:tabLst>
            </a:pPr>
            <a:r>
              <a:rPr sz="1800" spc="-10" dirty="0">
                <a:latin typeface="Cambria"/>
                <a:cs typeface="Cambria"/>
              </a:rPr>
              <a:t>select</a:t>
            </a:r>
            <a:endParaRPr sz="1800">
              <a:latin typeface="Cambria"/>
              <a:cs typeface="Cambria"/>
            </a:endParaRPr>
          </a:p>
          <a:p>
            <a:pPr marL="284480" indent="-271780">
              <a:lnSpc>
                <a:spcPct val="100000"/>
              </a:lnSpc>
              <a:spcBef>
                <a:spcPts val="58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90" dirty="0">
                <a:latin typeface="Cambria"/>
                <a:cs typeface="Cambria"/>
              </a:rPr>
              <a:t>Functions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75" dirty="0">
                <a:latin typeface="Cambria"/>
                <a:cs typeface="Cambria"/>
              </a:rPr>
              <a:t>Trapping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signals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8156447" y="761"/>
            <a:ext cx="626745" cy="6858000"/>
            <a:chOff x="8156447" y="761"/>
            <a:chExt cx="626745" cy="6858000"/>
          </a:xfrm>
        </p:grpSpPr>
        <p:sp>
          <p:nvSpPr>
            <p:cNvPr id="3" name="object 3"/>
            <p:cNvSpPr/>
            <p:nvPr/>
          </p:nvSpPr>
          <p:spPr>
            <a:xfrm>
              <a:off x="8763761" y="761"/>
              <a:ext cx="0" cy="6858000"/>
            </a:xfrm>
            <a:custGeom>
              <a:avLst/>
              <a:gdLst/>
              <a:ahLst/>
              <a:cxnLst/>
              <a:rect l="l" t="t" r="r" b="b"/>
              <a:pathLst>
                <a:path h="6858000">
                  <a:moveTo>
                    <a:pt x="0" y="0"/>
                  </a:moveTo>
                  <a:lnTo>
                    <a:pt x="0" y="6857999"/>
                  </a:lnTo>
                </a:path>
              </a:pathLst>
            </a:custGeom>
            <a:ln w="38100">
              <a:solidFill>
                <a:srgbClr val="FDC3A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8156447" y="5715000"/>
              <a:ext cx="550545" cy="548640"/>
            </a:xfrm>
            <a:custGeom>
              <a:avLst/>
              <a:gdLst/>
              <a:ahLst/>
              <a:cxnLst/>
              <a:rect l="l" t="t" r="r" b="b"/>
              <a:pathLst>
                <a:path w="550545" h="548639">
                  <a:moveTo>
                    <a:pt x="275081" y="0"/>
                  </a:moveTo>
                  <a:lnTo>
                    <a:pt x="225643" y="4419"/>
                  </a:lnTo>
                  <a:lnTo>
                    <a:pt x="179109" y="17162"/>
                  </a:lnTo>
                  <a:lnTo>
                    <a:pt x="136256" y="37453"/>
                  </a:lnTo>
                  <a:lnTo>
                    <a:pt x="97863" y="64518"/>
                  </a:lnTo>
                  <a:lnTo>
                    <a:pt x="64706" y="97580"/>
                  </a:lnTo>
                  <a:lnTo>
                    <a:pt x="37563" y="135867"/>
                  </a:lnTo>
                  <a:lnTo>
                    <a:pt x="17213" y="178602"/>
                  </a:lnTo>
                  <a:lnTo>
                    <a:pt x="4432" y="225011"/>
                  </a:lnTo>
                  <a:lnTo>
                    <a:pt x="0" y="274319"/>
                  </a:lnTo>
                  <a:lnTo>
                    <a:pt x="4432" y="323628"/>
                  </a:lnTo>
                  <a:lnTo>
                    <a:pt x="17213" y="370037"/>
                  </a:lnTo>
                  <a:lnTo>
                    <a:pt x="37563" y="412772"/>
                  </a:lnTo>
                  <a:lnTo>
                    <a:pt x="64706" y="451059"/>
                  </a:lnTo>
                  <a:lnTo>
                    <a:pt x="97863" y="484121"/>
                  </a:lnTo>
                  <a:lnTo>
                    <a:pt x="136256" y="511186"/>
                  </a:lnTo>
                  <a:lnTo>
                    <a:pt x="179109" y="531477"/>
                  </a:lnTo>
                  <a:lnTo>
                    <a:pt x="225643" y="544220"/>
                  </a:lnTo>
                  <a:lnTo>
                    <a:pt x="275081" y="548640"/>
                  </a:lnTo>
                  <a:lnTo>
                    <a:pt x="324520" y="544220"/>
                  </a:lnTo>
                  <a:lnTo>
                    <a:pt x="371054" y="531477"/>
                  </a:lnTo>
                  <a:lnTo>
                    <a:pt x="413907" y="511186"/>
                  </a:lnTo>
                  <a:lnTo>
                    <a:pt x="452300" y="484121"/>
                  </a:lnTo>
                  <a:lnTo>
                    <a:pt x="485457" y="451059"/>
                  </a:lnTo>
                  <a:lnTo>
                    <a:pt x="512600" y="412772"/>
                  </a:lnTo>
                  <a:lnTo>
                    <a:pt x="532950" y="370037"/>
                  </a:lnTo>
                  <a:lnTo>
                    <a:pt x="545731" y="323628"/>
                  </a:lnTo>
                  <a:lnTo>
                    <a:pt x="550163" y="274319"/>
                  </a:lnTo>
                  <a:lnTo>
                    <a:pt x="545731" y="225011"/>
                  </a:lnTo>
                  <a:lnTo>
                    <a:pt x="532950" y="178602"/>
                  </a:lnTo>
                  <a:lnTo>
                    <a:pt x="512600" y="135867"/>
                  </a:lnTo>
                  <a:lnTo>
                    <a:pt x="485457" y="97580"/>
                  </a:lnTo>
                  <a:lnTo>
                    <a:pt x="452300" y="64518"/>
                  </a:lnTo>
                  <a:lnTo>
                    <a:pt x="413907" y="37453"/>
                  </a:lnTo>
                  <a:lnTo>
                    <a:pt x="371054" y="17162"/>
                  </a:lnTo>
                  <a:lnTo>
                    <a:pt x="324520" y="4419"/>
                  </a:lnTo>
                  <a:lnTo>
                    <a:pt x="275081" y="0"/>
                  </a:lnTo>
                  <a:close/>
                </a:path>
              </a:pathLst>
            </a:custGeom>
            <a:solidFill>
              <a:srgbClr val="FD853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/>
          <p:nvPr/>
        </p:nvSpPr>
        <p:spPr>
          <a:xfrm>
            <a:off x="47625" y="0"/>
            <a:ext cx="57150" cy="6858000"/>
          </a:xfrm>
          <a:custGeom>
            <a:avLst/>
            <a:gdLst/>
            <a:ahLst/>
            <a:cxnLst/>
            <a:rect l="l" t="t" r="r" b="b"/>
            <a:pathLst>
              <a:path w="57150" h="6858000">
                <a:moveTo>
                  <a:pt x="11430" y="0"/>
                </a:moveTo>
                <a:lnTo>
                  <a:pt x="0" y="0"/>
                </a:lnTo>
                <a:lnTo>
                  <a:pt x="0" y="6858000"/>
                </a:lnTo>
                <a:lnTo>
                  <a:pt x="11430" y="6858000"/>
                </a:lnTo>
                <a:lnTo>
                  <a:pt x="11430" y="0"/>
                </a:lnTo>
                <a:close/>
              </a:path>
              <a:path w="57150" h="6858000">
                <a:moveTo>
                  <a:pt x="57150" y="0"/>
                </a:moveTo>
                <a:lnTo>
                  <a:pt x="22860" y="0"/>
                </a:lnTo>
                <a:lnTo>
                  <a:pt x="22860" y="6858000"/>
                </a:lnTo>
                <a:lnTo>
                  <a:pt x="57150" y="6858000"/>
                </a:lnTo>
                <a:lnTo>
                  <a:pt x="57150" y="0"/>
                </a:lnTo>
                <a:close/>
              </a:path>
            </a:pathLst>
          </a:custGeom>
          <a:solidFill>
            <a:srgbClr val="FDC3AD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6" name="object 6"/>
          <p:cNvGrpSpPr/>
          <p:nvPr/>
        </p:nvGrpSpPr>
        <p:grpSpPr>
          <a:xfrm>
            <a:off x="8839200" y="0"/>
            <a:ext cx="304800" cy="6858000"/>
            <a:chOff x="8839200" y="0"/>
            <a:chExt cx="304800" cy="6858000"/>
          </a:xfrm>
        </p:grpSpPr>
        <p:sp>
          <p:nvSpPr>
            <p:cNvPr id="7" name="object 7"/>
            <p:cNvSpPr/>
            <p:nvPr/>
          </p:nvSpPr>
          <p:spPr>
            <a:xfrm>
              <a:off x="8839200" y="0"/>
              <a:ext cx="304800" cy="6858000"/>
            </a:xfrm>
            <a:custGeom>
              <a:avLst/>
              <a:gdLst/>
              <a:ahLst/>
              <a:cxnLst/>
              <a:rect l="l" t="t" r="r" b="b"/>
              <a:pathLst>
                <a:path w="304800" h="6858000">
                  <a:moveTo>
                    <a:pt x="304800" y="0"/>
                  </a:moveTo>
                  <a:lnTo>
                    <a:pt x="0" y="0"/>
                  </a:lnTo>
                  <a:lnTo>
                    <a:pt x="0" y="6858000"/>
                  </a:lnTo>
                  <a:lnTo>
                    <a:pt x="304800" y="6858000"/>
                  </a:lnTo>
                  <a:lnTo>
                    <a:pt x="304800" y="0"/>
                  </a:lnTo>
                  <a:close/>
                </a:path>
              </a:pathLst>
            </a:custGeom>
            <a:solidFill>
              <a:srgbClr val="FDC3AD">
                <a:alpha val="87057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8915400" y="0"/>
              <a:ext cx="0" cy="6858000"/>
            </a:xfrm>
            <a:custGeom>
              <a:avLst/>
              <a:gdLst/>
              <a:ahLst/>
              <a:cxnLst/>
              <a:rect l="l" t="t" r="r" b="b"/>
              <a:pathLst>
                <a:path h="6858000">
                  <a:moveTo>
                    <a:pt x="0" y="0"/>
                  </a:moveTo>
                  <a:lnTo>
                    <a:pt x="0" y="6857999"/>
                  </a:lnTo>
                </a:path>
              </a:pathLst>
            </a:custGeom>
            <a:ln w="9525">
              <a:solidFill>
                <a:srgbClr val="FD8537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06672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95"/>
              </a:spcBef>
            </a:pPr>
            <a:r>
              <a:rPr sz="2800" cap="small" spc="295" dirty="0"/>
              <a:t>Repetition</a:t>
            </a:r>
            <a:r>
              <a:rPr sz="2800" cap="small" spc="270" dirty="0"/>
              <a:t> </a:t>
            </a:r>
            <a:r>
              <a:rPr sz="2800" cap="small" spc="295" dirty="0"/>
              <a:t>Constructs</a:t>
            </a:r>
            <a:endParaRPr sz="2800"/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200" y="1828800"/>
            <a:ext cx="7835958" cy="3308603"/>
          </a:xfrm>
          <a:prstGeom prst="rect">
            <a:avLst/>
          </a:prstGeom>
        </p:spPr>
      </p:pic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39</a:t>
            </a:fld>
            <a:endParaRPr spc="-25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301878"/>
            <a:ext cx="3002915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15" dirty="0">
                <a:latin typeface="Cambria"/>
                <a:cs typeface="Cambria"/>
              </a:rPr>
              <a:t> </a:t>
            </a:r>
            <a:r>
              <a:rPr sz="3000" b="0" cap="small" spc="254" dirty="0">
                <a:latin typeface="Cambria"/>
                <a:cs typeface="Cambria"/>
              </a:rPr>
              <a:t>while</a:t>
            </a:r>
            <a:r>
              <a:rPr sz="3000" b="0" cap="small" spc="325" dirty="0">
                <a:latin typeface="Cambria"/>
                <a:cs typeface="Cambria"/>
              </a:rPr>
              <a:t> </a:t>
            </a:r>
            <a:r>
              <a:rPr sz="3000" b="0" cap="small" spc="225" dirty="0">
                <a:latin typeface="Cambria"/>
                <a:cs typeface="Cambria"/>
              </a:rPr>
              <a:t>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40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171000"/>
            <a:ext cx="7034530" cy="3896995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7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50" dirty="0">
                <a:latin typeface="Cambria"/>
                <a:cs typeface="Cambria"/>
              </a:rPr>
              <a:t>Purpose:</a:t>
            </a:r>
            <a:endParaRPr sz="2400">
              <a:latin typeface="Cambria"/>
              <a:cs typeface="Cambria"/>
            </a:endParaRPr>
          </a:p>
          <a:p>
            <a:pPr marL="285115" marR="5080">
              <a:lnSpc>
                <a:spcPct val="100000"/>
              </a:lnSpc>
              <a:spcBef>
                <a:spcPts val="600"/>
              </a:spcBef>
            </a:pPr>
            <a:r>
              <a:rPr sz="2400" dirty="0">
                <a:latin typeface="Cambria"/>
                <a:cs typeface="Cambria"/>
              </a:rPr>
              <a:t>To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execute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commands</a:t>
            </a:r>
            <a:r>
              <a:rPr sz="2400" spc="19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in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“command-</a:t>
            </a:r>
            <a:r>
              <a:rPr sz="2400" spc="75" dirty="0">
                <a:latin typeface="Cambria"/>
                <a:cs typeface="Cambria"/>
              </a:rPr>
              <a:t>list”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as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long </a:t>
            </a:r>
            <a:r>
              <a:rPr sz="2400" spc="110" dirty="0">
                <a:latin typeface="Cambria"/>
                <a:cs typeface="Cambria"/>
              </a:rPr>
              <a:t>as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“expression”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evaluates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to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true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270"/>
              </a:spcBef>
            </a:pP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2400" u="sng" spc="12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Syntax: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350"/>
              </a:spcBef>
            </a:pPr>
            <a:r>
              <a:rPr sz="2400" b="1" dirty="0">
                <a:latin typeface="Courier New"/>
                <a:cs typeface="Courier New"/>
              </a:rPr>
              <a:t>while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expression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]</a:t>
            </a:r>
            <a:endParaRPr sz="2400">
              <a:latin typeface="Courier New"/>
              <a:cs typeface="Courier New"/>
            </a:endParaRPr>
          </a:p>
          <a:p>
            <a:pPr marL="285115">
              <a:lnSpc>
                <a:spcPct val="100000"/>
              </a:lnSpc>
              <a:spcBef>
                <a:spcPts val="600"/>
              </a:spcBef>
            </a:pP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285115" marR="3906520" indent="641350">
              <a:lnSpc>
                <a:spcPct val="120800"/>
              </a:lnSpc>
            </a:pPr>
            <a:r>
              <a:rPr sz="2400" b="1" spc="-10" dirty="0">
                <a:latin typeface="Courier New"/>
                <a:cs typeface="Courier New"/>
              </a:rPr>
              <a:t>command-</a:t>
            </a:r>
            <a:r>
              <a:rPr sz="2400" b="1" spc="-20" dirty="0">
                <a:latin typeface="Courier New"/>
                <a:cs typeface="Courier New"/>
              </a:rPr>
              <a:t>list done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195" dirty="0">
                <a:latin typeface="Cambria"/>
                <a:cs typeface="Cambria"/>
              </a:rPr>
              <a:t> </a:t>
            </a:r>
            <a:r>
              <a:rPr sz="3000" b="0" cap="small" spc="340" dirty="0">
                <a:latin typeface="Cambria"/>
                <a:cs typeface="Cambria"/>
              </a:rPr>
              <a:t>Using</a:t>
            </a:r>
            <a:r>
              <a:rPr sz="3000" b="0" cap="small" spc="315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the</a:t>
            </a:r>
            <a:r>
              <a:rPr sz="3000" b="0" cap="small" spc="335" dirty="0">
                <a:latin typeface="Cambria"/>
                <a:cs typeface="Cambria"/>
              </a:rPr>
              <a:t> </a:t>
            </a:r>
            <a:r>
              <a:rPr sz="3000" b="0" cap="small" spc="254" dirty="0">
                <a:latin typeface="Cambria"/>
                <a:cs typeface="Cambria"/>
              </a:rPr>
              <a:t>while</a:t>
            </a:r>
            <a:r>
              <a:rPr sz="3000" b="0" cap="small" spc="320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41</a:t>
            </a:fld>
            <a:endParaRPr spc="-25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56311" rIns="0" bIns="0" rtlCol="0">
            <a:spAutoFit/>
          </a:bodyPr>
          <a:lstStyle/>
          <a:p>
            <a:pPr marL="12700" marR="3656329">
              <a:lnSpc>
                <a:spcPct val="120800"/>
              </a:lnSpc>
              <a:spcBef>
                <a:spcPts val="95"/>
              </a:spcBef>
            </a:pPr>
            <a:r>
              <a:rPr sz="2400" spc="-10" dirty="0"/>
              <a:t>#!/bin/bash COUNTER=0</a:t>
            </a:r>
            <a:endParaRPr sz="2400"/>
          </a:p>
          <a:p>
            <a:pPr marL="12700" marR="1101725">
              <a:lnSpc>
                <a:spcPct val="120800"/>
              </a:lnSpc>
              <a:spcBef>
                <a:spcPts val="5"/>
              </a:spcBef>
            </a:pPr>
            <a:r>
              <a:rPr sz="2400" dirty="0"/>
              <a:t>while</a:t>
            </a:r>
            <a:r>
              <a:rPr sz="2400" spc="-20" dirty="0"/>
              <a:t> </a:t>
            </a:r>
            <a:r>
              <a:rPr sz="2400" dirty="0"/>
              <a:t>[</a:t>
            </a:r>
            <a:r>
              <a:rPr sz="2400" spc="-40" dirty="0"/>
              <a:t> </a:t>
            </a:r>
            <a:r>
              <a:rPr sz="2400" dirty="0"/>
              <a:t>$COUNTER</a:t>
            </a:r>
            <a:r>
              <a:rPr sz="2400" spc="-25" dirty="0"/>
              <a:t> </a:t>
            </a:r>
            <a:r>
              <a:rPr sz="2400" spc="-10" dirty="0"/>
              <a:t>-</a:t>
            </a:r>
            <a:r>
              <a:rPr sz="2400" dirty="0"/>
              <a:t>lt</a:t>
            </a:r>
            <a:r>
              <a:rPr sz="2400" spc="-20" dirty="0"/>
              <a:t> </a:t>
            </a:r>
            <a:r>
              <a:rPr sz="2400" dirty="0"/>
              <a:t>10</a:t>
            </a:r>
            <a:r>
              <a:rPr sz="2400" spc="-35" dirty="0"/>
              <a:t> </a:t>
            </a:r>
            <a:r>
              <a:rPr sz="2400" spc="-50" dirty="0"/>
              <a:t>] </a:t>
            </a:r>
            <a:r>
              <a:rPr sz="2400" spc="-25" dirty="0"/>
              <a:t>do</a:t>
            </a:r>
            <a:endParaRPr sz="2400"/>
          </a:p>
          <a:p>
            <a:pPr marL="561340" marR="5080">
              <a:lnSpc>
                <a:spcPct val="120800"/>
              </a:lnSpc>
              <a:spcBef>
                <a:spcPts val="5"/>
              </a:spcBef>
            </a:pPr>
            <a:r>
              <a:rPr sz="2400" dirty="0"/>
              <a:t>echo</a:t>
            </a:r>
            <a:r>
              <a:rPr sz="2400" spc="-45" dirty="0"/>
              <a:t> </a:t>
            </a:r>
            <a:r>
              <a:rPr sz="2400" dirty="0"/>
              <a:t>The</a:t>
            </a:r>
            <a:r>
              <a:rPr sz="2400" spc="-25" dirty="0"/>
              <a:t> </a:t>
            </a:r>
            <a:r>
              <a:rPr sz="2400" dirty="0"/>
              <a:t>counter</a:t>
            </a:r>
            <a:r>
              <a:rPr sz="2400" spc="-25" dirty="0"/>
              <a:t> </a:t>
            </a:r>
            <a:r>
              <a:rPr sz="2400" dirty="0"/>
              <a:t>is</a:t>
            </a:r>
            <a:r>
              <a:rPr sz="2400" spc="-35" dirty="0"/>
              <a:t> </a:t>
            </a:r>
            <a:r>
              <a:rPr sz="2400" spc="-10" dirty="0"/>
              <a:t>$COUNTER </a:t>
            </a:r>
            <a:r>
              <a:rPr sz="2400" dirty="0"/>
              <a:t>let</a:t>
            </a:r>
            <a:r>
              <a:rPr sz="2400" spc="-35" dirty="0"/>
              <a:t> </a:t>
            </a:r>
            <a:r>
              <a:rPr sz="2400" spc="-10" dirty="0"/>
              <a:t>COUNTER=$COUNTER+1</a:t>
            </a:r>
            <a:endParaRPr sz="2400"/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spc="-20" dirty="0"/>
              <a:t>done</a:t>
            </a:r>
            <a:endParaRPr sz="24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301878"/>
            <a:ext cx="60045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195" dirty="0">
                <a:latin typeface="Cambria"/>
                <a:cs typeface="Cambria"/>
              </a:rPr>
              <a:t> </a:t>
            </a:r>
            <a:r>
              <a:rPr sz="3000" b="0" cap="small" spc="340" dirty="0">
                <a:latin typeface="Cambria"/>
                <a:cs typeface="Cambria"/>
              </a:rPr>
              <a:t>Using</a:t>
            </a:r>
            <a:r>
              <a:rPr sz="3000" b="0" cap="small" spc="315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the</a:t>
            </a:r>
            <a:r>
              <a:rPr sz="3000" b="0" cap="small" spc="335" dirty="0">
                <a:latin typeface="Cambria"/>
                <a:cs typeface="Cambria"/>
              </a:rPr>
              <a:t> </a:t>
            </a:r>
            <a:r>
              <a:rPr sz="3000" b="0" cap="small" spc="254" dirty="0">
                <a:latin typeface="Cambria"/>
                <a:cs typeface="Cambria"/>
              </a:rPr>
              <a:t>while</a:t>
            </a:r>
            <a:r>
              <a:rPr sz="3000" b="0" cap="small" spc="320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42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374089"/>
            <a:ext cx="6896734" cy="33807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10" dirty="0">
                <a:latin typeface="Courier New"/>
                <a:cs typeface="Courier New"/>
              </a:rPr>
              <a:t>#!/bin/bash</a:t>
            </a:r>
            <a:endParaRPr sz="2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35"/>
              </a:spcBef>
            </a:pP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000" b="1" spc="-10" dirty="0">
                <a:latin typeface="Courier New"/>
                <a:cs typeface="Courier New"/>
              </a:rPr>
              <a:t>Cont="Y"</a:t>
            </a:r>
            <a:endParaRPr sz="2000">
              <a:latin typeface="Courier New"/>
              <a:cs typeface="Courier New"/>
            </a:endParaRPr>
          </a:p>
          <a:p>
            <a:pPr marL="317500" marR="3065780" indent="-304800">
              <a:lnSpc>
                <a:spcPts val="3000"/>
              </a:lnSpc>
              <a:spcBef>
                <a:spcPts val="200"/>
              </a:spcBef>
            </a:pPr>
            <a:r>
              <a:rPr sz="2000" b="1" dirty="0">
                <a:latin typeface="Courier New"/>
                <a:cs typeface="Courier New"/>
              </a:rPr>
              <a:t>while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[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$Cont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=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"Y"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];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spc="-25" dirty="0">
                <a:latin typeface="Courier New"/>
                <a:cs typeface="Courier New"/>
              </a:rPr>
              <a:t>do </a:t>
            </a:r>
            <a:r>
              <a:rPr sz="2000" b="1" dirty="0">
                <a:latin typeface="Courier New"/>
                <a:cs typeface="Courier New"/>
              </a:rPr>
              <a:t>ps</a:t>
            </a:r>
            <a:r>
              <a:rPr sz="2000" b="1" spc="-5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-</a:t>
            </a:r>
            <a:r>
              <a:rPr sz="2000" b="1" spc="-50" dirty="0">
                <a:latin typeface="Courier New"/>
                <a:cs typeface="Courier New"/>
              </a:rPr>
              <a:t>A</a:t>
            </a:r>
            <a:endParaRPr sz="2000">
              <a:latin typeface="Courier New"/>
              <a:cs typeface="Courier New"/>
            </a:endParaRPr>
          </a:p>
          <a:p>
            <a:pPr marL="317500" marR="5080">
              <a:lnSpc>
                <a:spcPts val="3000"/>
              </a:lnSpc>
              <a:spcBef>
                <a:spcPts val="5"/>
              </a:spcBef>
            </a:pPr>
            <a:r>
              <a:rPr sz="2000" b="1" dirty="0">
                <a:latin typeface="Courier New"/>
                <a:cs typeface="Courier New"/>
              </a:rPr>
              <a:t>read</a:t>
            </a:r>
            <a:r>
              <a:rPr sz="2000" b="1" spc="-40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-</a:t>
            </a:r>
            <a:r>
              <a:rPr sz="2000" b="1" dirty="0">
                <a:latin typeface="Courier New"/>
                <a:cs typeface="Courier New"/>
              </a:rPr>
              <a:t>p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"want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to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continue?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(Y/N)"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reply </a:t>
            </a:r>
            <a:r>
              <a:rPr sz="2000" b="1" dirty="0">
                <a:latin typeface="Courier New"/>
                <a:cs typeface="Courier New"/>
              </a:rPr>
              <a:t>Cont=`echo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$reply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|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tr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[:lower:]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[:upper:]`</a:t>
            </a: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400"/>
              </a:spcBef>
            </a:pPr>
            <a:r>
              <a:rPr sz="2000" b="1" spc="-20" dirty="0">
                <a:latin typeface="Courier New"/>
                <a:cs typeface="Courier New"/>
              </a:rPr>
              <a:t>done</a:t>
            </a: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000" b="1" dirty="0">
                <a:latin typeface="Courier New"/>
                <a:cs typeface="Courier New"/>
              </a:rPr>
              <a:t>echo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"done"</a:t>
            </a:r>
            <a:endParaRPr sz="2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301878"/>
            <a:ext cx="60045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195" dirty="0">
                <a:latin typeface="Cambria"/>
                <a:cs typeface="Cambria"/>
              </a:rPr>
              <a:t> </a:t>
            </a:r>
            <a:r>
              <a:rPr sz="3000" b="0" cap="small" spc="340" dirty="0">
                <a:latin typeface="Cambria"/>
                <a:cs typeface="Cambria"/>
              </a:rPr>
              <a:t>Using</a:t>
            </a:r>
            <a:r>
              <a:rPr sz="3000" b="0" cap="small" spc="315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the</a:t>
            </a:r>
            <a:r>
              <a:rPr sz="3000" b="0" cap="small" spc="335" dirty="0">
                <a:latin typeface="Cambria"/>
                <a:cs typeface="Cambria"/>
              </a:rPr>
              <a:t> </a:t>
            </a:r>
            <a:r>
              <a:rPr sz="3000" b="0" cap="small" spc="254" dirty="0">
                <a:latin typeface="Cambria"/>
                <a:cs typeface="Cambria"/>
              </a:rPr>
              <a:t>while</a:t>
            </a:r>
            <a:r>
              <a:rPr sz="3000" b="0" cap="small" spc="320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43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374089"/>
            <a:ext cx="3683000" cy="26181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10" dirty="0">
                <a:latin typeface="Courier New"/>
                <a:cs typeface="Courier New"/>
              </a:rPr>
              <a:t>#!/bin/bash</a:t>
            </a:r>
            <a:endParaRPr sz="2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35"/>
              </a:spcBef>
            </a:pP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000" b="1" spc="-25" dirty="0">
                <a:latin typeface="Courier New"/>
                <a:cs typeface="Courier New"/>
              </a:rPr>
              <a:t>x=1</a:t>
            </a:r>
            <a:endParaRPr sz="2000">
              <a:latin typeface="Courier New"/>
              <a:cs typeface="Courier New"/>
            </a:endParaRPr>
          </a:p>
          <a:p>
            <a:pPr marL="165100" marR="5080" indent="-152400">
              <a:lnSpc>
                <a:spcPct val="125000"/>
              </a:lnSpc>
            </a:pPr>
            <a:r>
              <a:rPr sz="2000" b="1" dirty="0">
                <a:latin typeface="Courier New"/>
                <a:cs typeface="Courier New"/>
              </a:rPr>
              <a:t>while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[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$x</a:t>
            </a:r>
            <a:r>
              <a:rPr sz="2000" b="1" spc="-10" dirty="0">
                <a:latin typeface="Courier New"/>
                <a:cs typeface="Courier New"/>
              </a:rPr>
              <a:t> -</a:t>
            </a:r>
            <a:r>
              <a:rPr sz="2000" b="1" dirty="0">
                <a:latin typeface="Courier New"/>
                <a:cs typeface="Courier New"/>
              </a:rPr>
              <a:t>le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5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];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spc="-25" dirty="0">
                <a:latin typeface="Courier New"/>
                <a:cs typeface="Courier New"/>
              </a:rPr>
              <a:t>do </a:t>
            </a:r>
            <a:r>
              <a:rPr sz="2000" b="1" dirty="0">
                <a:latin typeface="Courier New"/>
                <a:cs typeface="Courier New"/>
              </a:rPr>
              <a:t>echo</a:t>
            </a:r>
            <a:r>
              <a:rPr sz="2000" b="1" spc="-3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“Welcome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$x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times” </a:t>
            </a:r>
            <a:r>
              <a:rPr sz="2000" b="1" dirty="0">
                <a:latin typeface="Courier New"/>
                <a:cs typeface="Courier New"/>
              </a:rPr>
              <a:t>x=$((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$x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+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1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spc="-25" dirty="0">
                <a:latin typeface="Courier New"/>
                <a:cs typeface="Courier New"/>
              </a:rPr>
              <a:t>))</a:t>
            </a: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000" b="1" spc="-20" dirty="0">
                <a:latin typeface="Courier New"/>
                <a:cs typeface="Courier New"/>
              </a:rPr>
              <a:t>done</a:t>
            </a:r>
            <a:endParaRPr sz="2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70" dirty="0">
                <a:latin typeface="Cambria"/>
                <a:cs typeface="Cambria"/>
              </a:rPr>
              <a:t>until </a:t>
            </a:r>
            <a:r>
              <a:rPr sz="3000" b="0" cap="small" spc="220" dirty="0">
                <a:latin typeface="Cambria"/>
                <a:cs typeface="Cambria"/>
              </a:rPr>
              <a:t>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44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53083"/>
            <a:ext cx="7034530" cy="389572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45" dirty="0">
                <a:latin typeface="Cambria"/>
                <a:cs typeface="Cambria"/>
              </a:rPr>
              <a:t>Purpose:</a:t>
            </a:r>
            <a:endParaRPr sz="2400">
              <a:latin typeface="Cambria"/>
              <a:cs typeface="Cambria"/>
            </a:endParaRPr>
          </a:p>
          <a:p>
            <a:pPr marL="285115" marR="5080">
              <a:lnSpc>
                <a:spcPct val="100000"/>
              </a:lnSpc>
              <a:spcBef>
                <a:spcPts val="600"/>
              </a:spcBef>
            </a:pPr>
            <a:r>
              <a:rPr sz="2400" dirty="0">
                <a:latin typeface="Cambria"/>
                <a:cs typeface="Cambria"/>
              </a:rPr>
              <a:t>To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execute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commands</a:t>
            </a:r>
            <a:r>
              <a:rPr sz="2400" spc="19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in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“command-</a:t>
            </a:r>
            <a:r>
              <a:rPr sz="2400" spc="75" dirty="0">
                <a:latin typeface="Cambria"/>
                <a:cs typeface="Cambria"/>
              </a:rPr>
              <a:t>list”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as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30" dirty="0">
                <a:latin typeface="Cambria"/>
                <a:cs typeface="Cambria"/>
              </a:rPr>
              <a:t>long </a:t>
            </a:r>
            <a:r>
              <a:rPr sz="2400" spc="110" dirty="0">
                <a:latin typeface="Cambria"/>
                <a:cs typeface="Cambria"/>
              </a:rPr>
              <a:t>as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45" dirty="0">
                <a:latin typeface="Cambria"/>
                <a:cs typeface="Cambria"/>
              </a:rPr>
              <a:t>“expression”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evaluates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to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false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265"/>
              </a:spcBef>
            </a:pP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2400" u="sng" spc="12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Syntax: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350"/>
              </a:spcBef>
            </a:pPr>
            <a:r>
              <a:rPr sz="2400" b="1" dirty="0">
                <a:latin typeface="Courier New"/>
                <a:cs typeface="Courier New"/>
              </a:rPr>
              <a:t>until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expression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]</a:t>
            </a:r>
            <a:endParaRPr sz="2400">
              <a:latin typeface="Courier New"/>
              <a:cs typeface="Courier New"/>
            </a:endParaRPr>
          </a:p>
          <a:p>
            <a:pPr marL="285115">
              <a:lnSpc>
                <a:spcPct val="100000"/>
              </a:lnSpc>
              <a:spcBef>
                <a:spcPts val="605"/>
              </a:spcBef>
            </a:pP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285115" marR="3906520" indent="641350">
              <a:lnSpc>
                <a:spcPct val="120800"/>
              </a:lnSpc>
            </a:pPr>
            <a:r>
              <a:rPr sz="2400" b="1" spc="-10" dirty="0">
                <a:latin typeface="Courier New"/>
                <a:cs typeface="Courier New"/>
              </a:rPr>
              <a:t>command-</a:t>
            </a:r>
            <a:r>
              <a:rPr sz="2400" b="1" spc="-20" dirty="0">
                <a:latin typeface="Courier New"/>
                <a:cs typeface="Courier New"/>
              </a:rPr>
              <a:t>list done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190" dirty="0">
                <a:latin typeface="Cambria"/>
                <a:cs typeface="Cambria"/>
              </a:rPr>
              <a:t> </a:t>
            </a:r>
            <a:r>
              <a:rPr sz="3000" b="0" cap="small" spc="340" dirty="0">
                <a:latin typeface="Cambria"/>
                <a:cs typeface="Cambria"/>
              </a:rPr>
              <a:t>Using</a:t>
            </a:r>
            <a:r>
              <a:rPr sz="3000" b="0" cap="small" spc="315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the</a:t>
            </a:r>
            <a:r>
              <a:rPr sz="3000" b="0" cap="small" spc="330" dirty="0">
                <a:latin typeface="Cambria"/>
                <a:cs typeface="Cambria"/>
              </a:rPr>
              <a:t> </a:t>
            </a:r>
            <a:r>
              <a:rPr sz="3000" b="0" cap="small" spc="270" dirty="0">
                <a:latin typeface="Cambria"/>
                <a:cs typeface="Cambria"/>
              </a:rPr>
              <a:t>until</a:t>
            </a:r>
            <a:r>
              <a:rPr sz="3000" b="0" cap="small" spc="275" dirty="0">
                <a:latin typeface="Cambria"/>
                <a:cs typeface="Cambria"/>
              </a:rPr>
              <a:t> 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45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73478"/>
            <a:ext cx="4589145" cy="3485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Courier New"/>
                <a:cs typeface="Courier New"/>
              </a:rPr>
              <a:t>#!/bin/bash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60"/>
              </a:spcBef>
            </a:pP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400" b="1" spc="-10" dirty="0">
                <a:latin typeface="Courier New"/>
                <a:cs typeface="Courier New"/>
              </a:rPr>
              <a:t>COUNTER=20</a:t>
            </a:r>
            <a:endParaRPr sz="2400">
              <a:latin typeface="Courier New"/>
              <a:cs typeface="Courier New"/>
            </a:endParaRPr>
          </a:p>
          <a:p>
            <a:pPr marL="12700" marR="5080">
              <a:lnSpc>
                <a:spcPct val="120800"/>
              </a:lnSpc>
              <a:spcBef>
                <a:spcPts val="5"/>
              </a:spcBef>
            </a:pPr>
            <a:r>
              <a:rPr sz="2400" b="1" dirty="0">
                <a:latin typeface="Courier New"/>
                <a:cs typeface="Courier New"/>
              </a:rPr>
              <a:t>until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$COUNTER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-</a:t>
            </a:r>
            <a:r>
              <a:rPr sz="2400" b="1" dirty="0">
                <a:latin typeface="Courier New"/>
                <a:cs typeface="Courier New"/>
              </a:rPr>
              <a:t>lt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10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] </a:t>
            </a: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56134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$COUNTER</a:t>
            </a:r>
            <a:endParaRPr sz="2400">
              <a:latin typeface="Courier New"/>
              <a:cs typeface="Courier New"/>
            </a:endParaRPr>
          </a:p>
          <a:p>
            <a:pPr marL="56134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let</a:t>
            </a:r>
            <a:r>
              <a:rPr sz="2400" b="1" spc="-10" dirty="0">
                <a:latin typeface="Courier New"/>
                <a:cs typeface="Courier New"/>
              </a:rPr>
              <a:t> COUNTER-</a:t>
            </a:r>
            <a:r>
              <a:rPr sz="2400" b="1" spc="-25" dirty="0">
                <a:latin typeface="Courier New"/>
                <a:cs typeface="Courier New"/>
              </a:rPr>
              <a:t>=1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190" dirty="0">
                <a:latin typeface="Cambria"/>
                <a:cs typeface="Cambria"/>
              </a:rPr>
              <a:t> </a:t>
            </a:r>
            <a:r>
              <a:rPr sz="3000" b="0" cap="small" spc="340" dirty="0">
                <a:latin typeface="Cambria"/>
                <a:cs typeface="Cambria"/>
              </a:rPr>
              <a:t>Using</a:t>
            </a:r>
            <a:r>
              <a:rPr sz="3000" b="0" cap="small" spc="315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the</a:t>
            </a:r>
            <a:r>
              <a:rPr sz="3000" b="0" cap="small" spc="330" dirty="0">
                <a:latin typeface="Cambria"/>
                <a:cs typeface="Cambria"/>
              </a:rPr>
              <a:t> </a:t>
            </a:r>
            <a:r>
              <a:rPr sz="3000" b="0" cap="small" spc="270" dirty="0">
                <a:latin typeface="Cambria"/>
                <a:cs typeface="Cambria"/>
              </a:rPr>
              <a:t>until</a:t>
            </a:r>
            <a:r>
              <a:rPr sz="3000" b="0" cap="small" spc="275" dirty="0">
                <a:latin typeface="Cambria"/>
                <a:cs typeface="Cambria"/>
              </a:rPr>
              <a:t> 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46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603375"/>
            <a:ext cx="6896734" cy="337947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b="1" spc="-10" dirty="0">
                <a:latin typeface="Courier New"/>
                <a:cs typeface="Courier New"/>
              </a:rPr>
              <a:t>#!/bin/bash</a:t>
            </a:r>
            <a:endParaRPr sz="20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30"/>
              </a:spcBef>
            </a:pP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000" b="1" spc="-10" dirty="0">
                <a:latin typeface="Courier New"/>
                <a:cs typeface="Courier New"/>
              </a:rPr>
              <a:t>Stop="N"</a:t>
            </a: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000" b="1" dirty="0">
                <a:latin typeface="Courier New"/>
                <a:cs typeface="Courier New"/>
              </a:rPr>
              <a:t>until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[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$Stop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=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"Y"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];</a:t>
            </a:r>
            <a:r>
              <a:rPr sz="2000" b="1" spc="-10" dirty="0">
                <a:latin typeface="Courier New"/>
                <a:cs typeface="Courier New"/>
              </a:rPr>
              <a:t> </a:t>
            </a:r>
            <a:r>
              <a:rPr sz="2000" b="1" spc="-25" dirty="0">
                <a:latin typeface="Courier New"/>
                <a:cs typeface="Courier New"/>
              </a:rPr>
              <a:t>do</a:t>
            </a:r>
            <a:endParaRPr sz="2000">
              <a:latin typeface="Courier New"/>
              <a:cs typeface="Courier New"/>
            </a:endParaRPr>
          </a:p>
          <a:p>
            <a:pPr marL="317500">
              <a:lnSpc>
                <a:spcPct val="100000"/>
              </a:lnSpc>
              <a:spcBef>
                <a:spcPts val="605"/>
              </a:spcBef>
            </a:pPr>
            <a:r>
              <a:rPr sz="2000" b="1" dirty="0">
                <a:latin typeface="Courier New"/>
                <a:cs typeface="Courier New"/>
              </a:rPr>
              <a:t>ps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-</a:t>
            </a:r>
            <a:r>
              <a:rPr sz="2000" b="1" spc="-50" dirty="0">
                <a:latin typeface="Courier New"/>
                <a:cs typeface="Courier New"/>
              </a:rPr>
              <a:t>A</a:t>
            </a:r>
            <a:endParaRPr sz="2000">
              <a:latin typeface="Courier New"/>
              <a:cs typeface="Courier New"/>
            </a:endParaRPr>
          </a:p>
          <a:p>
            <a:pPr marL="317500">
              <a:lnSpc>
                <a:spcPct val="100000"/>
              </a:lnSpc>
              <a:spcBef>
                <a:spcPts val="600"/>
              </a:spcBef>
            </a:pPr>
            <a:r>
              <a:rPr sz="2000" b="1" dirty="0">
                <a:latin typeface="Courier New"/>
                <a:cs typeface="Courier New"/>
              </a:rPr>
              <a:t>read</a:t>
            </a:r>
            <a:r>
              <a:rPr sz="2000" b="1" spc="-35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-</a:t>
            </a:r>
            <a:r>
              <a:rPr sz="2000" b="1" dirty="0">
                <a:latin typeface="Courier New"/>
                <a:cs typeface="Courier New"/>
              </a:rPr>
              <a:t>p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"want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to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stop?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(Y/N)"</a:t>
            </a:r>
            <a:r>
              <a:rPr sz="2000" b="1" spc="-15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reply</a:t>
            </a:r>
            <a:endParaRPr sz="2000">
              <a:latin typeface="Courier New"/>
              <a:cs typeface="Courier New"/>
            </a:endParaRPr>
          </a:p>
          <a:p>
            <a:pPr marL="317500">
              <a:lnSpc>
                <a:spcPct val="100000"/>
              </a:lnSpc>
              <a:spcBef>
                <a:spcPts val="600"/>
              </a:spcBef>
            </a:pPr>
            <a:r>
              <a:rPr sz="2000" b="1" dirty="0">
                <a:latin typeface="Courier New"/>
                <a:cs typeface="Courier New"/>
              </a:rPr>
              <a:t>Stop=`echo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$reply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|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tr</a:t>
            </a:r>
            <a:r>
              <a:rPr sz="2000" b="1" spc="-25" dirty="0">
                <a:latin typeface="Courier New"/>
                <a:cs typeface="Courier New"/>
              </a:rPr>
              <a:t> </a:t>
            </a:r>
            <a:r>
              <a:rPr sz="2000" b="1" dirty="0">
                <a:latin typeface="Courier New"/>
                <a:cs typeface="Courier New"/>
              </a:rPr>
              <a:t>[:lower:]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[:upper:]`</a:t>
            </a: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000" b="1" spc="-20" dirty="0">
                <a:latin typeface="Courier New"/>
                <a:cs typeface="Courier New"/>
              </a:rPr>
              <a:t>done</a:t>
            </a:r>
            <a:endParaRPr sz="20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000" b="1" dirty="0">
                <a:latin typeface="Courier New"/>
                <a:cs typeface="Courier New"/>
              </a:rPr>
              <a:t>echo</a:t>
            </a:r>
            <a:r>
              <a:rPr sz="2000" b="1" spc="-20" dirty="0">
                <a:latin typeface="Courier New"/>
                <a:cs typeface="Courier New"/>
              </a:rPr>
              <a:t> </a:t>
            </a:r>
            <a:r>
              <a:rPr sz="2000" b="1" spc="-10" dirty="0">
                <a:latin typeface="Courier New"/>
                <a:cs typeface="Courier New"/>
              </a:rPr>
              <a:t>"done"</a:t>
            </a:r>
            <a:endParaRPr sz="20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05" dirty="0">
                <a:latin typeface="Cambria"/>
                <a:cs typeface="Cambria"/>
              </a:rPr>
              <a:t> </a:t>
            </a:r>
            <a:r>
              <a:rPr sz="3000" b="0" cap="small" spc="270" dirty="0">
                <a:latin typeface="Cambria"/>
                <a:cs typeface="Cambria"/>
              </a:rPr>
              <a:t>for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20" dirty="0">
                <a:latin typeface="Cambria"/>
                <a:cs typeface="Cambria"/>
              </a:rPr>
              <a:t>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47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53083"/>
            <a:ext cx="6435725" cy="389572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45" dirty="0">
                <a:latin typeface="Cambria"/>
                <a:cs typeface="Cambria"/>
              </a:rPr>
              <a:t>Purpose: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600"/>
              </a:spcBef>
            </a:pPr>
            <a:r>
              <a:rPr sz="2400" dirty="0">
                <a:latin typeface="Cambria"/>
                <a:cs typeface="Cambria"/>
              </a:rPr>
              <a:t>To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execute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commands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as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many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times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as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the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</a:pPr>
            <a:r>
              <a:rPr sz="2400" spc="80" dirty="0">
                <a:latin typeface="Cambria"/>
                <a:cs typeface="Cambria"/>
              </a:rPr>
              <a:t>number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words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in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“argument-</a:t>
            </a:r>
            <a:r>
              <a:rPr sz="2400" spc="65" dirty="0">
                <a:latin typeface="Cambria"/>
                <a:cs typeface="Cambria"/>
              </a:rPr>
              <a:t>list”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265"/>
              </a:spcBef>
            </a:pP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2400" u="sng" spc="12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Syntax: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350"/>
              </a:spcBef>
            </a:pPr>
            <a:r>
              <a:rPr sz="2400" b="1" dirty="0">
                <a:latin typeface="Courier New"/>
                <a:cs typeface="Courier New"/>
              </a:rPr>
              <a:t>for variable in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spc="-20" dirty="0">
                <a:latin typeface="Courier New"/>
                <a:cs typeface="Courier New"/>
              </a:rPr>
              <a:t>argument-list</a:t>
            </a:r>
            <a:endParaRPr sz="2400">
              <a:latin typeface="Courier New"/>
              <a:cs typeface="Courier New"/>
            </a:endParaRPr>
          </a:p>
          <a:p>
            <a:pPr marL="285115">
              <a:lnSpc>
                <a:spcPct val="100000"/>
              </a:lnSpc>
              <a:spcBef>
                <a:spcPts val="605"/>
              </a:spcBef>
            </a:pP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285115" marR="4039235" indent="641350">
              <a:lnSpc>
                <a:spcPct val="120800"/>
              </a:lnSpc>
            </a:pPr>
            <a:r>
              <a:rPr sz="2400" b="1" spc="-10" dirty="0">
                <a:latin typeface="Courier New"/>
                <a:cs typeface="Courier New"/>
              </a:rPr>
              <a:t>commands </a:t>
            </a: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5" dirty="0">
                <a:latin typeface="Cambria"/>
                <a:cs typeface="Cambria"/>
              </a:rPr>
              <a:t>Example</a:t>
            </a:r>
            <a:r>
              <a:rPr sz="3000" b="0" cap="small" spc="300" dirty="0">
                <a:latin typeface="Cambria"/>
                <a:cs typeface="Cambria"/>
              </a:rPr>
              <a:t> </a:t>
            </a:r>
            <a:r>
              <a:rPr sz="3000" b="0" cap="small" dirty="0">
                <a:latin typeface="Cambria"/>
                <a:cs typeface="Cambria"/>
              </a:rPr>
              <a:t>1:</a:t>
            </a:r>
            <a:r>
              <a:rPr sz="3000" b="0" cap="small" spc="195" dirty="0">
                <a:latin typeface="Cambria"/>
                <a:cs typeface="Cambria"/>
              </a:rPr>
              <a:t> </a:t>
            </a: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70" dirty="0">
                <a:latin typeface="Cambria"/>
                <a:cs typeface="Cambria"/>
              </a:rPr>
              <a:t>for</a:t>
            </a:r>
            <a:r>
              <a:rPr sz="3000" b="0" cap="small" spc="335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fld id="{81D60167-4931-47E6-BA6A-407CBD079E47}" type="slidenum">
              <a:rPr spc="-25" dirty="0"/>
              <a:t>48</a:t>
            </a:fld>
            <a:endParaRPr spc="-25" dirty="0"/>
          </a:p>
        </p:txBody>
      </p:sp>
      <p:sp>
        <p:nvSpPr>
          <p:cNvPr id="3" name="object 3"/>
          <p:cNvSpPr txBox="1"/>
          <p:nvPr/>
        </p:nvSpPr>
        <p:spPr>
          <a:xfrm>
            <a:off x="535940" y="1597278"/>
            <a:ext cx="3677285" cy="2601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Courier New"/>
                <a:cs typeface="Courier New"/>
              </a:rPr>
              <a:t>#!/bin/bash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60"/>
              </a:spcBef>
            </a:pP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ourier New"/>
                <a:cs typeface="Courier New"/>
              </a:rPr>
              <a:t>for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in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7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9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2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3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4 </a:t>
            </a:r>
            <a:r>
              <a:rPr sz="2400" b="1" spc="-50" dirty="0">
                <a:latin typeface="Courier New"/>
                <a:cs typeface="Courier New"/>
              </a:rPr>
              <a:t>5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12700" marR="1830070" indent="548640">
              <a:lnSpc>
                <a:spcPct val="120800"/>
              </a:lnSpc>
              <a:spcBef>
                <a:spcPts val="5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spc="-25" dirty="0">
                <a:latin typeface="Courier New"/>
                <a:cs typeface="Courier New"/>
              </a:rPr>
              <a:t>$i </a:t>
            </a: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301878"/>
            <a:ext cx="588264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305" dirty="0">
                <a:latin typeface="Cambria"/>
                <a:cs typeface="Cambria"/>
              </a:rPr>
              <a:t>Example</a:t>
            </a:r>
            <a:r>
              <a:rPr sz="3000" b="0" cap="small" spc="300" dirty="0">
                <a:latin typeface="Cambria"/>
                <a:cs typeface="Cambria"/>
              </a:rPr>
              <a:t> </a:t>
            </a:r>
            <a:r>
              <a:rPr sz="3000" b="0" cap="small" dirty="0">
                <a:latin typeface="Cambria"/>
                <a:cs typeface="Cambria"/>
              </a:rPr>
              <a:t>2:</a:t>
            </a:r>
            <a:r>
              <a:rPr sz="3000" b="0" cap="small" spc="190" dirty="0">
                <a:latin typeface="Cambria"/>
                <a:cs typeface="Cambria"/>
              </a:rPr>
              <a:t> </a:t>
            </a:r>
            <a:r>
              <a:rPr sz="3000" b="0" cap="small" spc="340" dirty="0">
                <a:latin typeface="Cambria"/>
                <a:cs typeface="Cambria"/>
              </a:rPr>
              <a:t>Using</a:t>
            </a:r>
            <a:r>
              <a:rPr sz="3000" b="0" cap="small" spc="310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the</a:t>
            </a:r>
            <a:r>
              <a:rPr sz="3000" b="0" cap="small" spc="315" dirty="0">
                <a:latin typeface="Cambria"/>
                <a:cs typeface="Cambria"/>
              </a:rPr>
              <a:t> </a:t>
            </a:r>
            <a:r>
              <a:rPr sz="3000" b="0" cap="small" spc="270" dirty="0">
                <a:latin typeface="Cambria"/>
                <a:cs typeface="Cambria"/>
              </a:rPr>
              <a:t>for</a:t>
            </a:r>
            <a:r>
              <a:rPr sz="3000" b="0" cap="small" spc="325" dirty="0">
                <a:latin typeface="Cambria"/>
                <a:cs typeface="Cambria"/>
              </a:rPr>
              <a:t> </a:t>
            </a:r>
            <a:r>
              <a:rPr sz="3000" b="0" cap="small" spc="275" dirty="0">
                <a:latin typeface="Cambria"/>
                <a:cs typeface="Cambria"/>
              </a:rPr>
              <a:t>Loop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920585"/>
            <a:ext cx="6963409" cy="3928110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sz="2400" b="1" spc="-10" dirty="0">
                <a:latin typeface="Courier New"/>
                <a:cs typeface="Courier New"/>
              </a:rPr>
              <a:t>#!/bin/bash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ts val="2740"/>
              </a:lnSpc>
              <a:spcBef>
                <a:spcPts val="310"/>
              </a:spcBef>
            </a:pPr>
            <a:r>
              <a:rPr sz="2400" b="1" dirty="0">
                <a:latin typeface="Courier New"/>
                <a:cs typeface="Courier New"/>
              </a:rPr>
              <a:t>#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compute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the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average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weekly</a:t>
            </a:r>
            <a:endParaRPr sz="2400">
              <a:latin typeface="Courier New"/>
              <a:cs typeface="Courier New"/>
            </a:endParaRPr>
          </a:p>
          <a:p>
            <a:pPr marL="286385">
              <a:lnSpc>
                <a:spcPts val="2740"/>
              </a:lnSpc>
            </a:pPr>
            <a:r>
              <a:rPr sz="2400" b="1" spc="-10" dirty="0">
                <a:latin typeface="Courier New"/>
                <a:cs typeface="Courier New"/>
              </a:rPr>
              <a:t>temperature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85"/>
              </a:spcBef>
            </a:pP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ourier New"/>
                <a:cs typeface="Courier New"/>
              </a:rPr>
              <a:t>for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num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in 1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2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3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4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5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6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7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5"/>
              </a:spcBef>
            </a:pP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561340">
              <a:lnSpc>
                <a:spcPts val="2735"/>
              </a:lnSpc>
              <a:spcBef>
                <a:spcPts val="310"/>
              </a:spcBef>
            </a:pPr>
            <a:r>
              <a:rPr sz="2400" b="1" dirty="0">
                <a:latin typeface="Courier New"/>
                <a:cs typeface="Courier New"/>
              </a:rPr>
              <a:t>read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-</a:t>
            </a:r>
            <a:r>
              <a:rPr sz="2400" b="1" dirty="0">
                <a:latin typeface="Courier New"/>
                <a:cs typeface="Courier New"/>
              </a:rPr>
              <a:t>p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"Enter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temp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for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day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$num: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60" dirty="0">
                <a:latin typeface="Courier New"/>
                <a:cs typeface="Courier New"/>
              </a:rPr>
              <a:t>"</a:t>
            </a:r>
            <a:endParaRPr sz="2400">
              <a:latin typeface="Courier New"/>
              <a:cs typeface="Courier New"/>
            </a:endParaRPr>
          </a:p>
          <a:p>
            <a:pPr marL="286385">
              <a:lnSpc>
                <a:spcPts val="2735"/>
              </a:lnSpc>
            </a:pPr>
            <a:r>
              <a:rPr sz="2400" b="1" spc="-20" dirty="0">
                <a:latin typeface="Courier New"/>
                <a:cs typeface="Courier New"/>
              </a:rPr>
              <a:t>Temp</a:t>
            </a:r>
            <a:endParaRPr sz="2400">
              <a:latin typeface="Courier New"/>
              <a:cs typeface="Courier New"/>
            </a:endParaRPr>
          </a:p>
          <a:p>
            <a:pPr marL="12700" marR="918844" indent="548640">
              <a:lnSpc>
                <a:spcPct val="110800"/>
              </a:lnSpc>
              <a:spcBef>
                <a:spcPts val="5"/>
              </a:spcBef>
            </a:pPr>
            <a:r>
              <a:rPr sz="2400" b="1" dirty="0">
                <a:latin typeface="Courier New"/>
                <a:cs typeface="Courier New"/>
              </a:rPr>
              <a:t>let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TempTotal=$TempTotal+$Temp </a:t>
            </a: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5228335"/>
            <a:ext cx="6781165" cy="836294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09"/>
              </a:spcBef>
            </a:pPr>
            <a:r>
              <a:rPr sz="2400" b="1" dirty="0">
                <a:latin typeface="Courier New"/>
                <a:cs typeface="Courier New"/>
              </a:rPr>
              <a:t>let</a:t>
            </a:r>
            <a:r>
              <a:rPr sz="2400" b="1" spc="-10" dirty="0">
                <a:latin typeface="Courier New"/>
                <a:cs typeface="Courier New"/>
              </a:rPr>
              <a:t> AvgTemp=$TempTotal/7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6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"Average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temperature: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$AvgTemp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51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9060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780"/>
              </a:spcBef>
            </a:pPr>
            <a:r>
              <a:rPr sz="2700" cap="small" spc="335" dirty="0"/>
              <a:t>Using</a:t>
            </a:r>
            <a:r>
              <a:rPr sz="2700" cap="small" spc="310" dirty="0"/>
              <a:t> comma</a:t>
            </a:r>
            <a:r>
              <a:rPr sz="2700" cap="small" spc="305" dirty="0"/>
              <a:t> </a:t>
            </a:r>
            <a:r>
              <a:rPr sz="2700" cap="small" spc="260" dirty="0"/>
              <a:t>in</a:t>
            </a:r>
            <a:r>
              <a:rPr sz="2700" cap="small" spc="310" dirty="0"/>
              <a:t> </a:t>
            </a:r>
            <a:r>
              <a:rPr sz="2700" cap="small" spc="305" dirty="0"/>
              <a:t>the</a:t>
            </a:r>
            <a:r>
              <a:rPr sz="2700" cap="small" spc="290" dirty="0"/>
              <a:t> </a:t>
            </a:r>
            <a:r>
              <a:rPr sz="2700" cap="small" spc="280" dirty="0"/>
              <a:t>bash</a:t>
            </a:r>
            <a:r>
              <a:rPr sz="2700" cap="small" spc="295" dirty="0"/>
              <a:t> </a:t>
            </a:r>
            <a:r>
              <a:rPr sz="2700" cap="small" spc="254" dirty="0"/>
              <a:t>C-</a:t>
            </a:r>
            <a:r>
              <a:rPr sz="2700" cap="small" spc="310" dirty="0"/>
              <a:t>style</a:t>
            </a:r>
            <a:r>
              <a:rPr sz="2700" cap="small" spc="295" dirty="0"/>
              <a:t> </a:t>
            </a:r>
            <a:r>
              <a:rPr sz="2700" cap="small" spc="245" dirty="0"/>
              <a:t>for</a:t>
            </a:r>
            <a:endParaRPr sz="2700"/>
          </a:p>
          <a:p>
            <a:pPr marL="64769">
              <a:lnSpc>
                <a:spcPct val="100000"/>
              </a:lnSpc>
              <a:spcBef>
                <a:spcPts val="555"/>
              </a:spcBef>
            </a:pPr>
            <a:r>
              <a:rPr sz="2150" spc="295" dirty="0"/>
              <a:t>LOOP</a:t>
            </a:r>
            <a:endParaRPr sz="2150"/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53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97278"/>
            <a:ext cx="3128010" cy="2159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Courier New"/>
                <a:cs typeface="Courier New"/>
              </a:rPr>
              <a:t>#!/bin/bash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60"/>
              </a:spcBef>
            </a:pP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tabLst>
                <a:tab pos="927735" algn="l"/>
              </a:tabLst>
            </a:pPr>
            <a:r>
              <a:rPr sz="2400" b="1" spc="-25" dirty="0">
                <a:latin typeface="Courier New"/>
                <a:cs typeface="Courier New"/>
              </a:rPr>
              <a:t>for</a:t>
            </a:r>
            <a:r>
              <a:rPr sz="2400" b="1" dirty="0">
                <a:latin typeface="Courier New"/>
                <a:cs typeface="Courier New"/>
              </a:rPr>
              <a:t>	((i=1,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spc="-20" dirty="0">
                <a:latin typeface="Courier New"/>
                <a:cs typeface="Courier New"/>
              </a:rPr>
              <a:t>j=10;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60"/>
              </a:spcBef>
            </a:pP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004371" y="2480894"/>
            <a:ext cx="3856990" cy="3917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Courier New"/>
                <a:cs typeface="Courier New"/>
              </a:rPr>
              <a:t>i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&lt;=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5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;</a:t>
            </a:r>
            <a:r>
              <a:rPr sz="2400" b="1" spc="-1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i++,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j=j+5))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4249673"/>
            <a:ext cx="3677285" cy="1275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“Number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$i: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spc="-25" dirty="0">
                <a:latin typeface="Courier New"/>
                <a:cs typeface="Courier New"/>
              </a:rPr>
              <a:t>$j”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360"/>
              </a:spcBef>
            </a:pP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87579"/>
            <a:ext cx="3178810" cy="4832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320" dirty="0">
                <a:latin typeface="Cambria"/>
                <a:cs typeface="Cambria"/>
              </a:rPr>
              <a:t>Select</a:t>
            </a:r>
            <a:r>
              <a:rPr sz="3000" b="0" cap="small" spc="340" dirty="0">
                <a:latin typeface="Cambria"/>
                <a:cs typeface="Cambria"/>
              </a:rPr>
              <a:t> </a:t>
            </a:r>
            <a:r>
              <a:rPr sz="3000" b="0" cap="small" spc="240" dirty="0">
                <a:latin typeface="Cambria"/>
                <a:cs typeface="Cambria"/>
              </a:rPr>
              <a:t>command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54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714882"/>
            <a:ext cx="7071995" cy="5253990"/>
          </a:xfrm>
          <a:prstGeom prst="rect">
            <a:avLst/>
          </a:prstGeom>
        </p:spPr>
        <p:txBody>
          <a:bodyPr vert="horz" wrap="square" lIns="0" tIns="88265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69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0" dirty="0">
                <a:latin typeface="Cambria"/>
                <a:cs typeface="Cambria"/>
              </a:rPr>
              <a:t>Constructs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simple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menu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from</a:t>
            </a:r>
            <a:r>
              <a:rPr sz="2400" spc="20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word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list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65" dirty="0">
                <a:latin typeface="Cambria"/>
                <a:cs typeface="Cambria"/>
              </a:rPr>
              <a:t>Allows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user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to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enter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 </a:t>
            </a:r>
            <a:r>
              <a:rPr sz="2400" spc="80" dirty="0">
                <a:latin typeface="Cambria"/>
                <a:cs typeface="Cambria"/>
              </a:rPr>
              <a:t>number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instead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 </a:t>
            </a:r>
            <a:r>
              <a:rPr sz="2400" spc="-20" dirty="0">
                <a:latin typeface="Cambria"/>
                <a:cs typeface="Cambria"/>
              </a:rPr>
              <a:t>word</a:t>
            </a:r>
            <a:endParaRPr sz="2400">
              <a:latin typeface="Cambria"/>
              <a:cs typeface="Cambria"/>
            </a:endParaRPr>
          </a:p>
          <a:p>
            <a:pPr marL="285115" marR="157480" indent="-273050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35" dirty="0">
                <a:latin typeface="Cambria"/>
                <a:cs typeface="Cambria"/>
              </a:rPr>
              <a:t>User</a:t>
            </a:r>
            <a:r>
              <a:rPr sz="2400" spc="32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enters</a:t>
            </a:r>
            <a:r>
              <a:rPr sz="2400" spc="33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sequence</a:t>
            </a:r>
            <a:r>
              <a:rPr sz="2400" spc="35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number</a:t>
            </a:r>
            <a:r>
              <a:rPr sz="2400" spc="3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corresponding</a:t>
            </a:r>
            <a:r>
              <a:rPr sz="2400" spc="285" dirty="0">
                <a:latin typeface="Cambria"/>
                <a:cs typeface="Cambria"/>
              </a:rPr>
              <a:t> </a:t>
            </a:r>
            <a:r>
              <a:rPr sz="2400" spc="-25" dirty="0">
                <a:latin typeface="Cambria"/>
                <a:cs typeface="Cambria"/>
              </a:rPr>
              <a:t>to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-20" dirty="0">
                <a:latin typeface="Cambria"/>
                <a:cs typeface="Cambria"/>
              </a:rPr>
              <a:t>word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265"/>
              </a:spcBef>
              <a:buClr>
                <a:srgbClr val="FD8537"/>
              </a:buClr>
              <a:buFont typeface="Wingdings"/>
              <a:buChar char=""/>
            </a:pP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2400" u="sng" spc="12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Syntax:</a:t>
            </a:r>
            <a:endParaRPr sz="2400">
              <a:latin typeface="Cambria"/>
              <a:cs typeface="Cambria"/>
            </a:endParaRPr>
          </a:p>
          <a:p>
            <a:pPr marL="285115">
              <a:lnSpc>
                <a:spcPct val="100000"/>
              </a:lnSpc>
              <a:spcBef>
                <a:spcPts val="350"/>
              </a:spcBef>
            </a:pPr>
            <a:r>
              <a:rPr sz="2400" b="1" dirty="0">
                <a:latin typeface="Courier New"/>
                <a:cs typeface="Courier New"/>
              </a:rPr>
              <a:t>select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WORD</a:t>
            </a:r>
            <a:r>
              <a:rPr sz="2400" b="1" spc="-1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in</a:t>
            </a:r>
            <a:r>
              <a:rPr sz="2400" b="1" spc="-20" dirty="0">
                <a:latin typeface="Courier New"/>
                <a:cs typeface="Courier New"/>
              </a:rPr>
              <a:t> LIST</a:t>
            </a:r>
            <a:endParaRPr sz="2400">
              <a:latin typeface="Courier New"/>
              <a:cs typeface="Courier New"/>
            </a:endParaRPr>
          </a:p>
          <a:p>
            <a:pPr marL="285115">
              <a:lnSpc>
                <a:spcPct val="100000"/>
              </a:lnSpc>
              <a:spcBef>
                <a:spcPts val="600"/>
              </a:spcBef>
            </a:pP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605"/>
              </a:spcBef>
            </a:pPr>
            <a:r>
              <a:rPr sz="2400" b="1" spc="-10" dirty="0">
                <a:latin typeface="Courier New"/>
                <a:cs typeface="Courier New"/>
              </a:rPr>
              <a:t>RESPECTIVE-COMMANDS</a:t>
            </a:r>
            <a:endParaRPr sz="2400">
              <a:latin typeface="Courier New"/>
              <a:cs typeface="Courier New"/>
            </a:endParaRPr>
          </a:p>
          <a:p>
            <a:pPr marL="285115">
              <a:lnSpc>
                <a:spcPct val="100000"/>
              </a:lnSpc>
              <a:spcBef>
                <a:spcPts val="600"/>
              </a:spcBef>
            </a:pP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610"/>
              </a:spcBef>
            </a:pPr>
            <a:endParaRPr sz="2400">
              <a:latin typeface="Courier New"/>
              <a:cs typeface="Courier New"/>
            </a:endParaRPr>
          </a:p>
          <a:p>
            <a:pPr marL="285115" indent="-272415">
              <a:lnSpc>
                <a:spcPct val="100000"/>
              </a:lnSpc>
              <a:spcBef>
                <a:spcPts val="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  <a:tab pos="4859655" algn="l"/>
              </a:tabLst>
            </a:pPr>
            <a:r>
              <a:rPr sz="2400" dirty="0">
                <a:latin typeface="Cambria"/>
                <a:cs typeface="Cambria"/>
              </a:rPr>
              <a:t>Loops</a:t>
            </a:r>
            <a:r>
              <a:rPr sz="2400" spc="19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until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end</a:t>
            </a:r>
            <a:r>
              <a:rPr sz="2400" spc="18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input,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114" dirty="0">
                <a:latin typeface="Cambria"/>
                <a:cs typeface="Cambria"/>
              </a:rPr>
              <a:t>i.e.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^d</a:t>
            </a:r>
            <a:r>
              <a:rPr sz="2400" dirty="0">
                <a:latin typeface="Cambria"/>
                <a:cs typeface="Cambria"/>
              </a:rPr>
              <a:t>	(or</a:t>
            </a:r>
            <a:r>
              <a:rPr sz="2400" spc="-10" dirty="0">
                <a:latin typeface="Cambria"/>
                <a:cs typeface="Cambria"/>
              </a:rPr>
              <a:t> </a:t>
            </a:r>
            <a:r>
              <a:rPr sz="2400" spc="-25" dirty="0">
                <a:latin typeface="Cambria"/>
                <a:cs typeface="Cambria"/>
              </a:rPr>
              <a:t>^c)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20" dirty="0">
                <a:latin typeface="Cambria"/>
                <a:cs typeface="Cambria"/>
              </a:rPr>
              <a:t>Select</a:t>
            </a:r>
            <a:r>
              <a:rPr sz="3000" b="0" cap="small" spc="345" dirty="0">
                <a:latin typeface="Cambria"/>
                <a:cs typeface="Cambria"/>
              </a:rPr>
              <a:t> </a:t>
            </a:r>
            <a:r>
              <a:rPr sz="3000" b="0" cap="small" spc="235" dirty="0">
                <a:latin typeface="Cambria"/>
                <a:cs typeface="Cambria"/>
              </a:rPr>
              <a:t>example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55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1078"/>
            <a:ext cx="5502910" cy="135191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2400" b="1" dirty="0">
                <a:latin typeface="Courier New"/>
                <a:cs typeface="Courier New"/>
              </a:rPr>
              <a:t>#!</a:t>
            </a:r>
            <a:r>
              <a:rPr sz="2400" b="1" spc="-10" dirty="0">
                <a:latin typeface="Courier New"/>
                <a:cs typeface="Courier New"/>
              </a:rPr>
              <a:t> /bin/bash</a:t>
            </a:r>
            <a:endParaRPr sz="2400">
              <a:latin typeface="Courier New"/>
              <a:cs typeface="Courier New"/>
            </a:endParaRPr>
          </a:p>
          <a:p>
            <a:pPr marL="12700" marR="5080">
              <a:lnSpc>
                <a:spcPct val="120800"/>
              </a:lnSpc>
            </a:pPr>
            <a:r>
              <a:rPr sz="2400" b="1" dirty="0">
                <a:latin typeface="Courier New"/>
                <a:cs typeface="Courier New"/>
              </a:rPr>
              <a:t>select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var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in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alpha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beta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gamma </a:t>
            </a: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450594" y="2923413"/>
            <a:ext cx="16687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spc="-20" dirty="0">
                <a:latin typeface="Courier New"/>
                <a:cs typeface="Courier New"/>
              </a:rPr>
              <a:t>$var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3365372"/>
            <a:ext cx="75692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35940" y="4281678"/>
            <a:ext cx="126428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90" dirty="0">
                <a:latin typeface="Cambria"/>
                <a:cs typeface="Cambria"/>
              </a:rPr>
              <a:t>Prints: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724400" y="2971800"/>
            <a:ext cx="1647825" cy="3016250"/>
          </a:xfrm>
          <a:prstGeom prst="rect">
            <a:avLst/>
          </a:prstGeom>
          <a:ln w="3175">
            <a:solidFill>
              <a:srgbClr val="000000"/>
            </a:solidFill>
          </a:ln>
        </p:spPr>
        <p:txBody>
          <a:bodyPr vert="horz" wrap="square" lIns="0" tIns="10160" rIns="0" bIns="0" rtlCol="0">
            <a:spAutoFit/>
          </a:bodyPr>
          <a:lstStyle/>
          <a:p>
            <a:pPr marL="638810" indent="-546735">
              <a:lnSpc>
                <a:spcPct val="100000"/>
              </a:lnSpc>
              <a:spcBef>
                <a:spcPts val="80"/>
              </a:spcBef>
              <a:buAutoNum type="arabicParenR"/>
              <a:tabLst>
                <a:tab pos="638810" algn="l"/>
              </a:tabLst>
            </a:pPr>
            <a:r>
              <a:rPr sz="2400" b="1" spc="-10" dirty="0">
                <a:latin typeface="Courier New"/>
                <a:cs typeface="Courier New"/>
              </a:rPr>
              <a:t>alpha</a:t>
            </a:r>
            <a:endParaRPr sz="2400">
              <a:latin typeface="Courier New"/>
              <a:cs typeface="Courier New"/>
            </a:endParaRPr>
          </a:p>
          <a:p>
            <a:pPr marL="640080" indent="-548005">
              <a:lnSpc>
                <a:spcPct val="100000"/>
              </a:lnSpc>
              <a:buAutoNum type="arabicParenR"/>
              <a:tabLst>
                <a:tab pos="640080" algn="l"/>
              </a:tabLst>
            </a:pPr>
            <a:r>
              <a:rPr sz="2400" b="1" spc="-20" dirty="0">
                <a:latin typeface="Courier New"/>
                <a:cs typeface="Courier New"/>
              </a:rPr>
              <a:t>beta</a:t>
            </a:r>
            <a:endParaRPr sz="2400">
              <a:latin typeface="Courier New"/>
              <a:cs typeface="Courier New"/>
            </a:endParaRPr>
          </a:p>
          <a:p>
            <a:pPr marL="640080" indent="-548005">
              <a:lnSpc>
                <a:spcPct val="100000"/>
              </a:lnSpc>
              <a:buAutoNum type="arabicParenR"/>
              <a:tabLst>
                <a:tab pos="640080" algn="l"/>
              </a:tabLst>
            </a:pPr>
            <a:r>
              <a:rPr sz="2400" b="1" spc="-10" dirty="0">
                <a:latin typeface="Courier New"/>
                <a:cs typeface="Courier New"/>
              </a:rPr>
              <a:t>gamma</a:t>
            </a:r>
            <a:endParaRPr sz="2400">
              <a:latin typeface="Courier New"/>
              <a:cs typeface="Courier New"/>
            </a:endParaRPr>
          </a:p>
          <a:p>
            <a:pPr marL="92075">
              <a:lnSpc>
                <a:spcPct val="100000"/>
              </a:lnSpc>
            </a:pPr>
            <a:r>
              <a:rPr sz="2400" b="1" dirty="0">
                <a:latin typeface="Courier New"/>
                <a:cs typeface="Courier New"/>
              </a:rPr>
              <a:t>#? </a:t>
            </a:r>
            <a:r>
              <a:rPr sz="2400" b="1" spc="-50" dirty="0">
                <a:latin typeface="Courier New"/>
                <a:cs typeface="Courier New"/>
              </a:rPr>
              <a:t>2</a:t>
            </a:r>
            <a:endParaRPr sz="2400">
              <a:latin typeface="Courier New"/>
              <a:cs typeface="Courier New"/>
            </a:endParaRPr>
          </a:p>
          <a:p>
            <a:pPr marL="92075" marR="814705">
              <a:lnSpc>
                <a:spcPct val="100000"/>
              </a:lnSpc>
            </a:pPr>
            <a:r>
              <a:rPr sz="2400" b="1" spc="-20" dirty="0">
                <a:latin typeface="Courier New"/>
                <a:cs typeface="Courier New"/>
              </a:rPr>
              <a:t>beta </a:t>
            </a:r>
            <a:r>
              <a:rPr sz="2400" b="1" dirty="0">
                <a:latin typeface="Courier New"/>
                <a:cs typeface="Courier New"/>
              </a:rPr>
              <a:t>#? </a:t>
            </a:r>
            <a:r>
              <a:rPr sz="2400" b="1" spc="-50" dirty="0">
                <a:latin typeface="Courier New"/>
                <a:cs typeface="Courier New"/>
              </a:rPr>
              <a:t>4</a:t>
            </a:r>
            <a:endParaRPr sz="2400">
              <a:latin typeface="Courier New"/>
              <a:cs typeface="Courier New"/>
            </a:endParaRPr>
          </a:p>
          <a:p>
            <a:pPr marL="92075">
              <a:lnSpc>
                <a:spcPct val="100000"/>
              </a:lnSpc>
            </a:pPr>
            <a:r>
              <a:rPr sz="2400" b="1" dirty="0">
                <a:latin typeface="Courier New"/>
                <a:cs typeface="Courier New"/>
              </a:rPr>
              <a:t>#? </a:t>
            </a:r>
            <a:r>
              <a:rPr sz="2400" b="1" spc="-50" dirty="0">
                <a:latin typeface="Courier New"/>
                <a:cs typeface="Courier New"/>
              </a:rPr>
              <a:t>1</a:t>
            </a:r>
            <a:endParaRPr sz="2400">
              <a:latin typeface="Courier New"/>
              <a:cs typeface="Courier New"/>
            </a:endParaRPr>
          </a:p>
          <a:p>
            <a:pPr marL="92075">
              <a:lnSpc>
                <a:spcPct val="100000"/>
              </a:lnSpc>
              <a:spcBef>
                <a:spcPts val="65"/>
              </a:spcBef>
            </a:pPr>
            <a:r>
              <a:rPr sz="2400" b="1" spc="-10" dirty="0">
                <a:latin typeface="Courier New"/>
                <a:cs typeface="Courier New"/>
              </a:rPr>
              <a:t>alpha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20" dirty="0">
                <a:latin typeface="Cambria"/>
                <a:cs typeface="Cambria"/>
              </a:rPr>
              <a:t>Select</a:t>
            </a:r>
            <a:r>
              <a:rPr sz="3000" b="0" cap="small" spc="345" dirty="0">
                <a:latin typeface="Cambria"/>
                <a:cs typeface="Cambria"/>
              </a:rPr>
              <a:t> </a:t>
            </a:r>
            <a:r>
              <a:rPr sz="3000" b="0" cap="small" spc="160" dirty="0">
                <a:latin typeface="Cambria"/>
                <a:cs typeface="Cambria"/>
              </a:rPr>
              <a:t>detail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629283"/>
            <a:ext cx="377634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75" dirty="0">
                <a:latin typeface="Cambria"/>
                <a:cs typeface="Cambria"/>
              </a:rPr>
              <a:t>PS3</a:t>
            </a:r>
            <a:r>
              <a:rPr sz="2400" spc="21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is</a:t>
            </a:r>
            <a:r>
              <a:rPr sz="2400" spc="20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select</a:t>
            </a:r>
            <a:r>
              <a:rPr sz="2400" spc="21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sub-</a:t>
            </a:r>
            <a:r>
              <a:rPr sz="2400" spc="40" dirty="0">
                <a:latin typeface="Cambria"/>
                <a:cs typeface="Cambria"/>
              </a:rPr>
              <a:t>prompt</a:t>
            </a:r>
            <a:endParaRPr sz="2400">
              <a:latin typeface="Cambria"/>
              <a:cs typeface="Cambri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2847213"/>
            <a:ext cx="4771390" cy="267779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2400" b="1" dirty="0">
                <a:latin typeface="Courier New"/>
                <a:cs typeface="Courier New"/>
              </a:rPr>
              <a:t>#!</a:t>
            </a:r>
            <a:r>
              <a:rPr sz="2400" b="1" spc="-10" dirty="0">
                <a:latin typeface="Courier New"/>
                <a:cs typeface="Courier New"/>
              </a:rPr>
              <a:t> /bin/bash</a:t>
            </a:r>
            <a:endParaRPr sz="2400">
              <a:latin typeface="Courier New"/>
              <a:cs typeface="Courier New"/>
            </a:endParaRPr>
          </a:p>
          <a:p>
            <a:pPr marL="12700" marR="5080">
              <a:lnSpc>
                <a:spcPct val="120800"/>
              </a:lnSpc>
            </a:pPr>
            <a:r>
              <a:rPr sz="2400" b="1" dirty="0">
                <a:latin typeface="Courier New"/>
                <a:cs typeface="Courier New"/>
              </a:rPr>
              <a:t>PS3="select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entry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or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^D: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" </a:t>
            </a:r>
            <a:r>
              <a:rPr sz="2400" b="1" dirty="0">
                <a:latin typeface="Courier New"/>
                <a:cs typeface="Courier New"/>
              </a:rPr>
              <a:t>select</a:t>
            </a:r>
            <a:r>
              <a:rPr sz="2400" b="1" spc="-6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var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in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alpha</a:t>
            </a:r>
            <a:r>
              <a:rPr sz="2400" b="1" spc="-20" dirty="0">
                <a:latin typeface="Courier New"/>
                <a:cs typeface="Courier New"/>
              </a:rPr>
              <a:t> beta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"$REPLY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=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20" dirty="0">
                <a:latin typeface="Courier New"/>
                <a:cs typeface="Courier New"/>
              </a:rPr>
              <a:t>$var"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5791200" y="1752600"/>
            <a:ext cx="2257425" cy="3016250"/>
          </a:xfrm>
          <a:custGeom>
            <a:avLst/>
            <a:gdLst/>
            <a:ahLst/>
            <a:cxnLst/>
            <a:rect l="l" t="t" r="r" b="b"/>
            <a:pathLst>
              <a:path w="2257425" h="3016250">
                <a:moveTo>
                  <a:pt x="0" y="3015996"/>
                </a:moveTo>
                <a:lnTo>
                  <a:pt x="2257044" y="3015996"/>
                </a:lnTo>
                <a:lnTo>
                  <a:pt x="2257044" y="0"/>
                </a:lnTo>
                <a:lnTo>
                  <a:pt x="0" y="0"/>
                </a:lnTo>
                <a:lnTo>
                  <a:pt x="0" y="3015996"/>
                </a:lnTo>
                <a:close/>
              </a:path>
            </a:pathLst>
          </a:custGeom>
          <a:ln w="31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5870828" y="1749678"/>
            <a:ext cx="13061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u="sng" spc="-10" dirty="0">
                <a:uFill>
                  <a:solidFill>
                    <a:srgbClr val="000000"/>
                  </a:solidFill>
                </a:uFill>
                <a:latin typeface="Courier New"/>
                <a:cs typeface="Courier New"/>
              </a:rPr>
              <a:t>Output</a:t>
            </a:r>
            <a:r>
              <a:rPr sz="2400" b="1" spc="-10" dirty="0">
                <a:latin typeface="Courier New"/>
                <a:cs typeface="Courier New"/>
              </a:rPr>
              <a:t>: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56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510540" y="2071242"/>
            <a:ext cx="723709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10515" indent="-272415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310515" algn="l"/>
              </a:tabLst>
            </a:pPr>
            <a:r>
              <a:rPr sz="2400" spc="215" dirty="0">
                <a:latin typeface="Cambria"/>
                <a:cs typeface="Cambria"/>
              </a:rPr>
              <a:t>$REPLY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user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input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(the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number)</a:t>
            </a:r>
            <a:r>
              <a:rPr sz="2400" spc="-65" dirty="0">
                <a:latin typeface="Cambria"/>
                <a:cs typeface="Cambria"/>
              </a:rPr>
              <a:t> </a:t>
            </a:r>
            <a:r>
              <a:rPr sz="3600" b="1" baseline="-8101" dirty="0">
                <a:latin typeface="Courier New"/>
                <a:cs typeface="Courier New"/>
              </a:rPr>
              <a:t>select</a:t>
            </a:r>
            <a:r>
              <a:rPr sz="3600" b="1" spc="60" baseline="-8101" dirty="0">
                <a:latin typeface="Courier New"/>
                <a:cs typeface="Courier New"/>
              </a:rPr>
              <a:t> </a:t>
            </a:r>
            <a:r>
              <a:rPr sz="3600" b="1" spc="-37" baseline="-8101" dirty="0">
                <a:latin typeface="Courier New"/>
                <a:cs typeface="Courier New"/>
              </a:rPr>
              <a:t>...</a:t>
            </a:r>
            <a:endParaRPr sz="3600" baseline="-810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870828" y="2480894"/>
            <a:ext cx="1668780" cy="22212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60705" indent="-548005">
              <a:lnSpc>
                <a:spcPct val="100000"/>
              </a:lnSpc>
              <a:spcBef>
                <a:spcPts val="100"/>
              </a:spcBef>
              <a:buAutoNum type="arabicParenR"/>
              <a:tabLst>
                <a:tab pos="560705" algn="l"/>
              </a:tabLst>
            </a:pPr>
            <a:r>
              <a:rPr sz="2400" b="1" spc="-10" dirty="0">
                <a:latin typeface="Courier New"/>
                <a:cs typeface="Courier New"/>
              </a:rPr>
              <a:t>alpha</a:t>
            </a:r>
            <a:endParaRPr sz="2400">
              <a:latin typeface="Courier New"/>
              <a:cs typeface="Courier New"/>
            </a:endParaRPr>
          </a:p>
          <a:p>
            <a:pPr marL="559435" indent="-546735">
              <a:lnSpc>
                <a:spcPct val="100000"/>
              </a:lnSpc>
              <a:spcBef>
                <a:spcPts val="5"/>
              </a:spcBef>
              <a:buAutoNum type="arabicParenR"/>
              <a:tabLst>
                <a:tab pos="559435" algn="l"/>
              </a:tabLst>
            </a:pPr>
            <a:r>
              <a:rPr sz="2400" b="1" spc="-20" dirty="0">
                <a:latin typeface="Courier New"/>
                <a:cs typeface="Courier New"/>
              </a:rPr>
              <a:t>beta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ourier New"/>
                <a:cs typeface="Courier New"/>
              </a:rPr>
              <a:t>?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2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ourier New"/>
                <a:cs typeface="Courier New"/>
              </a:rPr>
              <a:t>2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=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spc="-20" dirty="0">
                <a:latin typeface="Courier New"/>
                <a:cs typeface="Courier New"/>
              </a:rPr>
              <a:t>beta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ourier New"/>
                <a:cs typeface="Courier New"/>
              </a:rPr>
              <a:t>?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1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ourier New"/>
                <a:cs typeface="Courier New"/>
              </a:rPr>
              <a:t>1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=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alpha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20" dirty="0">
                <a:latin typeface="Cambria"/>
                <a:cs typeface="Cambria"/>
              </a:rPr>
              <a:t>Select</a:t>
            </a:r>
            <a:r>
              <a:rPr sz="3000" b="0" cap="small" spc="345" dirty="0">
                <a:latin typeface="Cambria"/>
                <a:cs typeface="Cambria"/>
              </a:rPr>
              <a:t> </a:t>
            </a:r>
            <a:r>
              <a:rPr sz="3000" b="0" cap="small" spc="235" dirty="0">
                <a:latin typeface="Cambria"/>
                <a:cs typeface="Cambria"/>
              </a:rPr>
              <a:t>example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57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21078"/>
            <a:ext cx="6971665" cy="444627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0"/>
              </a:spcBef>
            </a:pPr>
            <a:r>
              <a:rPr sz="2400" b="1" spc="-10" dirty="0">
                <a:latin typeface="Courier New"/>
                <a:cs typeface="Courier New"/>
              </a:rPr>
              <a:t>#!/bin/bash</a:t>
            </a:r>
            <a:endParaRPr sz="2400">
              <a:latin typeface="Courier New"/>
              <a:cs typeface="Courier New"/>
            </a:endParaRPr>
          </a:p>
          <a:p>
            <a:pPr marL="12700" marR="561975">
              <a:lnSpc>
                <a:spcPct val="120800"/>
              </a:lnSpc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"script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to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make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files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private" </a:t>
            </a: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"Select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file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to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protect:"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65"/>
              </a:spcBef>
            </a:pPr>
            <a:endParaRPr sz="2400">
              <a:latin typeface="Courier New"/>
              <a:cs typeface="Courier New"/>
            </a:endParaRPr>
          </a:p>
          <a:p>
            <a:pPr marL="12700" marR="3299460">
              <a:lnSpc>
                <a:spcPct val="120800"/>
              </a:lnSpc>
            </a:pPr>
            <a:r>
              <a:rPr sz="2400" b="1" dirty="0">
                <a:latin typeface="Courier New"/>
                <a:cs typeface="Courier New"/>
              </a:rPr>
              <a:t>select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FILENAME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in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* </a:t>
            </a: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377825" marR="5080">
              <a:lnSpc>
                <a:spcPct val="120800"/>
              </a:lnSpc>
              <a:spcBef>
                <a:spcPts val="5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"You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picked</a:t>
            </a:r>
            <a:r>
              <a:rPr sz="2400" b="1" spc="-3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$FILENAME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($REPLY)" </a:t>
            </a:r>
            <a:r>
              <a:rPr sz="2400" b="1" dirty="0">
                <a:latin typeface="Courier New"/>
                <a:cs typeface="Courier New"/>
              </a:rPr>
              <a:t>chmod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go-</a:t>
            </a:r>
            <a:r>
              <a:rPr sz="2400" b="1" dirty="0">
                <a:latin typeface="Courier New"/>
                <a:cs typeface="Courier New"/>
              </a:rPr>
              <a:t>rwx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"$FILENAME"</a:t>
            </a:r>
            <a:endParaRPr sz="2400">
              <a:latin typeface="Courier New"/>
              <a:cs typeface="Courier New"/>
            </a:endParaRPr>
          </a:p>
          <a:p>
            <a:pPr marL="377825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"it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is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now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private"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53027" rIns="0" bIns="0" rtlCol="0">
            <a:spAutoFit/>
          </a:bodyPr>
          <a:lstStyle/>
          <a:p>
            <a:pPr marL="171450">
              <a:lnSpc>
                <a:spcPct val="100000"/>
              </a:lnSpc>
              <a:spcBef>
                <a:spcPts val="100"/>
              </a:spcBef>
            </a:pPr>
            <a:r>
              <a:rPr b="0" spc="270" dirty="0">
                <a:latin typeface="Cambria"/>
                <a:cs typeface="Cambria"/>
              </a:rPr>
              <a:t>BREAK</a:t>
            </a:r>
            <a:r>
              <a:rPr b="0" spc="180" dirty="0">
                <a:latin typeface="Cambria"/>
                <a:cs typeface="Cambria"/>
              </a:rPr>
              <a:t> </a:t>
            </a:r>
            <a:r>
              <a:rPr b="0" spc="265" dirty="0">
                <a:latin typeface="Cambria"/>
                <a:cs typeface="Cambria"/>
              </a:rPr>
              <a:t>AND</a:t>
            </a:r>
            <a:r>
              <a:rPr b="0" spc="315" dirty="0">
                <a:latin typeface="Cambria"/>
                <a:cs typeface="Cambria"/>
              </a:rPr>
              <a:t> </a:t>
            </a:r>
            <a:r>
              <a:rPr b="0" spc="285" dirty="0">
                <a:latin typeface="Cambria"/>
                <a:cs typeface="Cambria"/>
              </a:rPr>
              <a:t>CONTINUE</a:t>
            </a: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58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553083"/>
            <a:ext cx="6825615" cy="3912870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95" dirty="0">
                <a:latin typeface="Cambria"/>
                <a:cs typeface="Cambria"/>
              </a:rPr>
              <a:t>Interrupt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for,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while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or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110" dirty="0">
                <a:latin typeface="Cambria"/>
                <a:cs typeface="Cambria"/>
              </a:rPr>
              <a:t>until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-20" dirty="0">
                <a:latin typeface="Cambria"/>
                <a:cs typeface="Cambria"/>
              </a:rPr>
              <a:t>loop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0" dirty="0">
                <a:latin typeface="Cambria"/>
                <a:cs typeface="Cambria"/>
              </a:rPr>
              <a:t>The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break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statement</a:t>
            </a:r>
            <a:endParaRPr sz="24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80" dirty="0">
                <a:latin typeface="Cambria"/>
                <a:cs typeface="Cambria"/>
              </a:rPr>
              <a:t>transfer</a:t>
            </a:r>
            <a:r>
              <a:rPr sz="2100" spc="17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control</a:t>
            </a:r>
            <a:r>
              <a:rPr sz="2100" spc="16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to</a:t>
            </a:r>
            <a:r>
              <a:rPr sz="2100" spc="16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65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statement</a:t>
            </a:r>
            <a:r>
              <a:rPr sz="2100" spc="15" dirty="0">
                <a:latin typeface="Cambria"/>
                <a:cs typeface="Cambria"/>
              </a:rPr>
              <a:t> </a:t>
            </a:r>
            <a:r>
              <a:rPr sz="2100" spc="215" dirty="0">
                <a:latin typeface="Cambria"/>
                <a:cs typeface="Cambria"/>
              </a:rPr>
              <a:t>AFTER</a:t>
            </a:r>
            <a:r>
              <a:rPr sz="2100" spc="16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70" dirty="0">
                <a:latin typeface="Cambria"/>
                <a:cs typeface="Cambria"/>
              </a:rPr>
              <a:t> </a:t>
            </a:r>
            <a:r>
              <a:rPr sz="2100" spc="-20" dirty="0">
                <a:latin typeface="Cambria"/>
                <a:cs typeface="Cambria"/>
              </a:rPr>
              <a:t>done </a:t>
            </a:r>
            <a:r>
              <a:rPr sz="2100" spc="75" dirty="0">
                <a:latin typeface="Cambria"/>
                <a:cs typeface="Cambria"/>
              </a:rPr>
              <a:t>statement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80" dirty="0">
                <a:latin typeface="Cambria"/>
                <a:cs typeface="Cambria"/>
              </a:rPr>
              <a:t>terminate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execution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-20" dirty="0">
                <a:latin typeface="Cambria"/>
                <a:cs typeface="Cambria"/>
              </a:rPr>
              <a:t>loop</a:t>
            </a:r>
            <a:endParaRPr sz="21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0" dirty="0">
                <a:latin typeface="Cambria"/>
                <a:cs typeface="Cambria"/>
              </a:rPr>
              <a:t>The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continue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statement</a:t>
            </a:r>
            <a:endParaRPr sz="2400">
              <a:latin typeface="Cambria"/>
              <a:cs typeface="Cambria"/>
            </a:endParaRPr>
          </a:p>
          <a:p>
            <a:pPr marL="652780" marR="536575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80" dirty="0">
                <a:latin typeface="Cambria"/>
                <a:cs typeface="Cambria"/>
              </a:rPr>
              <a:t>transfer</a:t>
            </a:r>
            <a:r>
              <a:rPr sz="2100" spc="17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control</a:t>
            </a:r>
            <a:r>
              <a:rPr sz="2100" spc="16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to</a:t>
            </a:r>
            <a:r>
              <a:rPr sz="2100" spc="16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6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statement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195" dirty="0">
                <a:latin typeface="Cambria"/>
                <a:cs typeface="Cambria"/>
              </a:rPr>
              <a:t>TO</a:t>
            </a:r>
            <a:r>
              <a:rPr sz="2100" spc="16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60" dirty="0">
                <a:latin typeface="Cambria"/>
                <a:cs typeface="Cambria"/>
              </a:rPr>
              <a:t> </a:t>
            </a:r>
            <a:r>
              <a:rPr sz="2100" spc="-20" dirty="0">
                <a:latin typeface="Cambria"/>
                <a:cs typeface="Cambria"/>
              </a:rPr>
              <a:t>done </a:t>
            </a:r>
            <a:r>
              <a:rPr sz="2100" spc="75" dirty="0">
                <a:latin typeface="Cambria"/>
                <a:cs typeface="Cambria"/>
              </a:rPr>
              <a:t>statement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70" dirty="0">
                <a:latin typeface="Cambria"/>
                <a:cs typeface="Cambria"/>
              </a:rPr>
              <a:t>skip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test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statements</a:t>
            </a:r>
            <a:r>
              <a:rPr sz="2100" spc="114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for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45" dirty="0">
                <a:latin typeface="Cambria"/>
                <a:cs typeface="Cambria"/>
              </a:rPr>
              <a:t> </a:t>
            </a:r>
            <a:r>
              <a:rPr sz="2100" spc="65" dirty="0">
                <a:latin typeface="Cambria"/>
                <a:cs typeface="Cambria"/>
              </a:rPr>
              <a:t>current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iteration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60" dirty="0">
                <a:latin typeface="Cambria"/>
                <a:cs typeface="Cambria"/>
              </a:rPr>
              <a:t>continues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execution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-20" dirty="0">
                <a:latin typeface="Cambria"/>
                <a:cs typeface="Cambria"/>
              </a:rPr>
              <a:t>loop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15" dirty="0">
                <a:latin typeface="Cambria"/>
                <a:cs typeface="Cambria"/>
              </a:rPr>
              <a:t> </a:t>
            </a:r>
            <a:r>
              <a:rPr sz="3000" b="0" cap="small" spc="270" dirty="0">
                <a:latin typeface="Cambria"/>
                <a:cs typeface="Cambria"/>
              </a:rPr>
              <a:t>break</a:t>
            </a:r>
            <a:r>
              <a:rPr sz="3000" b="0" cap="small" spc="350" dirty="0">
                <a:latin typeface="Cambria"/>
                <a:cs typeface="Cambria"/>
              </a:rPr>
              <a:t> </a:t>
            </a:r>
            <a:r>
              <a:rPr sz="3000" b="0" cap="small" spc="250" dirty="0">
                <a:latin typeface="Cambria"/>
                <a:cs typeface="Cambria"/>
              </a:rPr>
              <a:t>command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521078"/>
            <a:ext cx="3494404" cy="1351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800"/>
              </a:lnSpc>
              <a:spcBef>
                <a:spcPts val="100"/>
              </a:spcBef>
            </a:pPr>
            <a:r>
              <a:rPr sz="2400" b="1" dirty="0">
                <a:latin typeface="Courier New"/>
                <a:cs typeface="Courier New"/>
              </a:rPr>
              <a:t>while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condition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] </a:t>
            </a: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744220">
              <a:lnSpc>
                <a:spcPct val="100000"/>
              </a:lnSpc>
              <a:spcBef>
                <a:spcPts val="600"/>
              </a:spcBef>
            </a:pPr>
            <a:r>
              <a:rPr sz="2400" b="1" spc="-10" dirty="0">
                <a:latin typeface="Courier New"/>
                <a:cs typeface="Courier New"/>
              </a:rPr>
              <a:t>cmd-</a:t>
            </a:r>
            <a:r>
              <a:rPr sz="2400" b="1" spc="-50" dirty="0">
                <a:latin typeface="Courier New"/>
                <a:cs typeface="Courier New"/>
              </a:rPr>
              <a:t>1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67713" y="2847213"/>
            <a:ext cx="937260" cy="9093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800"/>
              </a:lnSpc>
              <a:spcBef>
                <a:spcPts val="100"/>
              </a:spcBef>
            </a:pPr>
            <a:r>
              <a:rPr sz="2400" b="1" spc="-10" dirty="0">
                <a:latin typeface="Courier New"/>
                <a:cs typeface="Courier New"/>
              </a:rPr>
              <a:t>break cmd-</a:t>
            </a:r>
            <a:r>
              <a:rPr sz="2400" b="1" spc="-50" dirty="0">
                <a:latin typeface="Courier New"/>
                <a:cs typeface="Courier New"/>
              </a:rPr>
              <a:t>n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3730431"/>
            <a:ext cx="2034539" cy="91059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5"/>
              </a:spcBef>
            </a:pP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"done"</a:t>
            </a:r>
            <a:endParaRPr sz="2400">
              <a:latin typeface="Courier New"/>
              <a:cs typeface="Courier New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048761" y="3112261"/>
            <a:ext cx="1079500" cy="1386205"/>
            <a:chOff x="3048761" y="3112261"/>
            <a:chExt cx="1079500" cy="1386205"/>
          </a:xfrm>
        </p:grpSpPr>
        <p:sp>
          <p:nvSpPr>
            <p:cNvPr id="7" name="object 7"/>
            <p:cNvSpPr/>
            <p:nvPr/>
          </p:nvSpPr>
          <p:spPr>
            <a:xfrm>
              <a:off x="3124961" y="3124961"/>
              <a:ext cx="990600" cy="1295400"/>
            </a:xfrm>
            <a:custGeom>
              <a:avLst/>
              <a:gdLst/>
              <a:ahLst/>
              <a:cxnLst/>
              <a:rect l="l" t="t" r="r" b="b"/>
              <a:pathLst>
                <a:path w="990600" h="1295400">
                  <a:moveTo>
                    <a:pt x="0" y="0"/>
                  </a:moveTo>
                  <a:lnTo>
                    <a:pt x="990600" y="0"/>
                  </a:lnTo>
                </a:path>
                <a:path w="990600" h="1295400">
                  <a:moveTo>
                    <a:pt x="990600" y="0"/>
                  </a:moveTo>
                  <a:lnTo>
                    <a:pt x="990600" y="129540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048761" y="4342383"/>
              <a:ext cx="1066800" cy="156210"/>
            </a:xfrm>
            <a:custGeom>
              <a:avLst/>
              <a:gdLst/>
              <a:ahLst/>
              <a:cxnLst/>
              <a:rect l="l" t="t" r="r" b="b"/>
              <a:pathLst>
                <a:path w="1066800" h="156210">
                  <a:moveTo>
                    <a:pt x="140462" y="0"/>
                  </a:moveTo>
                  <a:lnTo>
                    <a:pt x="0" y="77978"/>
                  </a:lnTo>
                  <a:lnTo>
                    <a:pt x="140462" y="155956"/>
                  </a:lnTo>
                  <a:lnTo>
                    <a:pt x="148208" y="153797"/>
                  </a:lnTo>
                  <a:lnTo>
                    <a:pt x="151511" y="147701"/>
                  </a:lnTo>
                  <a:lnTo>
                    <a:pt x="154939" y="141478"/>
                  </a:lnTo>
                  <a:lnTo>
                    <a:pt x="152781" y="133731"/>
                  </a:lnTo>
                  <a:lnTo>
                    <a:pt x="146685" y="130429"/>
                  </a:lnTo>
                  <a:lnTo>
                    <a:pt x="75133" y="90678"/>
                  </a:lnTo>
                  <a:lnTo>
                    <a:pt x="26162" y="90678"/>
                  </a:lnTo>
                  <a:lnTo>
                    <a:pt x="26162" y="65278"/>
                  </a:lnTo>
                  <a:lnTo>
                    <a:pt x="75133" y="65278"/>
                  </a:lnTo>
                  <a:lnTo>
                    <a:pt x="146685" y="25527"/>
                  </a:lnTo>
                  <a:lnTo>
                    <a:pt x="152781" y="22225"/>
                  </a:lnTo>
                  <a:lnTo>
                    <a:pt x="154939" y="14478"/>
                  </a:lnTo>
                  <a:lnTo>
                    <a:pt x="151511" y="8255"/>
                  </a:lnTo>
                  <a:lnTo>
                    <a:pt x="148208" y="2159"/>
                  </a:lnTo>
                  <a:lnTo>
                    <a:pt x="140462" y="0"/>
                  </a:lnTo>
                  <a:close/>
                </a:path>
                <a:path w="1066800" h="156210">
                  <a:moveTo>
                    <a:pt x="75133" y="65278"/>
                  </a:moveTo>
                  <a:lnTo>
                    <a:pt x="26162" y="65278"/>
                  </a:lnTo>
                  <a:lnTo>
                    <a:pt x="26162" y="90678"/>
                  </a:lnTo>
                  <a:lnTo>
                    <a:pt x="75133" y="90678"/>
                  </a:lnTo>
                  <a:lnTo>
                    <a:pt x="72161" y="89027"/>
                  </a:lnTo>
                  <a:lnTo>
                    <a:pt x="32385" y="89027"/>
                  </a:lnTo>
                  <a:lnTo>
                    <a:pt x="32385" y="66929"/>
                  </a:lnTo>
                  <a:lnTo>
                    <a:pt x="72161" y="66929"/>
                  </a:lnTo>
                  <a:lnTo>
                    <a:pt x="75133" y="65278"/>
                  </a:lnTo>
                  <a:close/>
                </a:path>
                <a:path w="1066800" h="156210">
                  <a:moveTo>
                    <a:pt x="1066800" y="65278"/>
                  </a:moveTo>
                  <a:lnTo>
                    <a:pt x="75133" y="65278"/>
                  </a:lnTo>
                  <a:lnTo>
                    <a:pt x="52273" y="77978"/>
                  </a:lnTo>
                  <a:lnTo>
                    <a:pt x="75133" y="90678"/>
                  </a:lnTo>
                  <a:lnTo>
                    <a:pt x="1066800" y="90678"/>
                  </a:lnTo>
                  <a:lnTo>
                    <a:pt x="1066800" y="65278"/>
                  </a:lnTo>
                  <a:close/>
                </a:path>
                <a:path w="1066800" h="156210">
                  <a:moveTo>
                    <a:pt x="32385" y="66929"/>
                  </a:moveTo>
                  <a:lnTo>
                    <a:pt x="32385" y="89027"/>
                  </a:lnTo>
                  <a:lnTo>
                    <a:pt x="52273" y="77978"/>
                  </a:lnTo>
                  <a:lnTo>
                    <a:pt x="32385" y="66929"/>
                  </a:lnTo>
                  <a:close/>
                </a:path>
                <a:path w="1066800" h="156210">
                  <a:moveTo>
                    <a:pt x="52273" y="77978"/>
                  </a:moveTo>
                  <a:lnTo>
                    <a:pt x="32385" y="89027"/>
                  </a:lnTo>
                  <a:lnTo>
                    <a:pt x="72161" y="89027"/>
                  </a:lnTo>
                  <a:lnTo>
                    <a:pt x="52273" y="77978"/>
                  </a:lnTo>
                  <a:close/>
                </a:path>
                <a:path w="1066800" h="156210">
                  <a:moveTo>
                    <a:pt x="72161" y="66929"/>
                  </a:moveTo>
                  <a:lnTo>
                    <a:pt x="32385" y="66929"/>
                  </a:lnTo>
                  <a:lnTo>
                    <a:pt x="52273" y="77978"/>
                  </a:lnTo>
                  <a:lnTo>
                    <a:pt x="72161" y="6692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/>
          <p:nvPr/>
        </p:nvSpPr>
        <p:spPr>
          <a:xfrm>
            <a:off x="4194047" y="2819400"/>
            <a:ext cx="3655060" cy="1295400"/>
          </a:xfrm>
          <a:custGeom>
            <a:avLst/>
            <a:gdLst/>
            <a:ahLst/>
            <a:cxnLst/>
            <a:rect l="l" t="t" r="r" b="b"/>
            <a:pathLst>
              <a:path w="3655059" h="1295400">
                <a:moveTo>
                  <a:pt x="606551" y="215900"/>
                </a:moveTo>
                <a:lnTo>
                  <a:pt x="612253" y="166391"/>
                </a:lnTo>
                <a:lnTo>
                  <a:pt x="628493" y="120946"/>
                </a:lnTo>
                <a:lnTo>
                  <a:pt x="653978" y="80859"/>
                </a:lnTo>
                <a:lnTo>
                  <a:pt x="687411" y="47426"/>
                </a:lnTo>
                <a:lnTo>
                  <a:pt x="727498" y="21941"/>
                </a:lnTo>
                <a:lnTo>
                  <a:pt x="772943" y="5701"/>
                </a:lnTo>
                <a:lnTo>
                  <a:pt x="822451" y="0"/>
                </a:lnTo>
                <a:lnTo>
                  <a:pt x="1114552" y="0"/>
                </a:lnTo>
                <a:lnTo>
                  <a:pt x="1876552" y="0"/>
                </a:lnTo>
                <a:lnTo>
                  <a:pt x="3438652" y="0"/>
                </a:lnTo>
                <a:lnTo>
                  <a:pt x="3488160" y="5701"/>
                </a:lnTo>
                <a:lnTo>
                  <a:pt x="3533605" y="21941"/>
                </a:lnTo>
                <a:lnTo>
                  <a:pt x="3573692" y="47426"/>
                </a:lnTo>
                <a:lnTo>
                  <a:pt x="3607125" y="80859"/>
                </a:lnTo>
                <a:lnTo>
                  <a:pt x="3632610" y="120946"/>
                </a:lnTo>
                <a:lnTo>
                  <a:pt x="3648850" y="166391"/>
                </a:lnTo>
                <a:lnTo>
                  <a:pt x="3654552" y="215900"/>
                </a:lnTo>
                <a:lnTo>
                  <a:pt x="3654552" y="755650"/>
                </a:lnTo>
                <a:lnTo>
                  <a:pt x="3654552" y="1079500"/>
                </a:lnTo>
                <a:lnTo>
                  <a:pt x="3648850" y="1129008"/>
                </a:lnTo>
                <a:lnTo>
                  <a:pt x="3632610" y="1174453"/>
                </a:lnTo>
                <a:lnTo>
                  <a:pt x="3607125" y="1214540"/>
                </a:lnTo>
                <a:lnTo>
                  <a:pt x="3573692" y="1247973"/>
                </a:lnTo>
                <a:lnTo>
                  <a:pt x="3533605" y="1273458"/>
                </a:lnTo>
                <a:lnTo>
                  <a:pt x="3488160" y="1289698"/>
                </a:lnTo>
                <a:lnTo>
                  <a:pt x="3438652" y="1295400"/>
                </a:lnTo>
                <a:lnTo>
                  <a:pt x="1876552" y="1295400"/>
                </a:lnTo>
                <a:lnTo>
                  <a:pt x="1114552" y="1295400"/>
                </a:lnTo>
                <a:lnTo>
                  <a:pt x="822451" y="1295400"/>
                </a:lnTo>
                <a:lnTo>
                  <a:pt x="772943" y="1289698"/>
                </a:lnTo>
                <a:lnTo>
                  <a:pt x="727498" y="1273458"/>
                </a:lnTo>
                <a:lnTo>
                  <a:pt x="687411" y="1247973"/>
                </a:lnTo>
                <a:lnTo>
                  <a:pt x="653978" y="1214540"/>
                </a:lnTo>
                <a:lnTo>
                  <a:pt x="628493" y="1174453"/>
                </a:lnTo>
                <a:lnTo>
                  <a:pt x="612253" y="1129008"/>
                </a:lnTo>
                <a:lnTo>
                  <a:pt x="606551" y="1079500"/>
                </a:lnTo>
                <a:lnTo>
                  <a:pt x="0" y="1052449"/>
                </a:lnTo>
                <a:lnTo>
                  <a:pt x="606551" y="755650"/>
                </a:lnTo>
                <a:lnTo>
                  <a:pt x="606551" y="21590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986020" y="2905759"/>
            <a:ext cx="2682240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4445" algn="ctr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This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iteration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is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over </a:t>
            </a:r>
            <a:r>
              <a:rPr sz="2400" dirty="0">
                <a:latin typeface="Times New Roman"/>
                <a:cs typeface="Times New Roman"/>
              </a:rPr>
              <a:t>and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there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are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no</a:t>
            </a:r>
            <a:r>
              <a:rPr sz="2400" spc="5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more </a:t>
            </a:r>
            <a:r>
              <a:rPr sz="2400" spc="-10" dirty="0">
                <a:latin typeface="Times New Roman"/>
                <a:cs typeface="Times New Roman"/>
              </a:rPr>
              <a:t>iterations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59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300" dirty="0">
                <a:latin typeface="Cambria"/>
                <a:cs typeface="Cambria"/>
              </a:rPr>
              <a:t>The</a:t>
            </a:r>
            <a:r>
              <a:rPr sz="3000" b="0" cap="small" spc="320" dirty="0">
                <a:latin typeface="Cambria"/>
                <a:cs typeface="Cambria"/>
              </a:rPr>
              <a:t> </a:t>
            </a:r>
            <a:r>
              <a:rPr sz="3000" b="0" cap="small" spc="290" dirty="0">
                <a:latin typeface="Cambria"/>
                <a:cs typeface="Cambria"/>
              </a:rPr>
              <a:t>continue</a:t>
            </a:r>
            <a:r>
              <a:rPr sz="3000" b="0" cap="small" spc="330" dirty="0">
                <a:latin typeface="Cambria"/>
                <a:cs typeface="Cambria"/>
              </a:rPr>
              <a:t> </a:t>
            </a:r>
            <a:r>
              <a:rPr sz="3000" b="0" cap="small" spc="254" dirty="0">
                <a:latin typeface="Cambria"/>
                <a:cs typeface="Cambria"/>
              </a:rPr>
              <a:t>command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521078"/>
            <a:ext cx="3494404" cy="1351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800"/>
              </a:lnSpc>
              <a:spcBef>
                <a:spcPts val="100"/>
              </a:spcBef>
            </a:pPr>
            <a:r>
              <a:rPr sz="2400" b="1" dirty="0">
                <a:latin typeface="Courier New"/>
                <a:cs typeface="Courier New"/>
              </a:rPr>
              <a:t>while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[</a:t>
            </a:r>
            <a:r>
              <a:rPr sz="2400" b="1" spc="-5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condition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] </a:t>
            </a:r>
            <a:r>
              <a:rPr sz="2400" b="1" spc="-25" dirty="0">
                <a:latin typeface="Courier New"/>
                <a:cs typeface="Courier New"/>
              </a:rPr>
              <a:t>do</a:t>
            </a:r>
            <a:endParaRPr sz="2400">
              <a:latin typeface="Courier New"/>
              <a:cs typeface="Courier New"/>
            </a:endParaRPr>
          </a:p>
          <a:p>
            <a:pPr marL="744220">
              <a:lnSpc>
                <a:spcPct val="100000"/>
              </a:lnSpc>
              <a:spcBef>
                <a:spcPts val="600"/>
              </a:spcBef>
            </a:pPr>
            <a:r>
              <a:rPr sz="2400" b="1" spc="-10" dirty="0">
                <a:latin typeface="Courier New"/>
                <a:cs typeface="Courier New"/>
              </a:rPr>
              <a:t>cmd-</a:t>
            </a:r>
            <a:r>
              <a:rPr sz="2400" b="1" spc="-50" dirty="0">
                <a:latin typeface="Courier New"/>
                <a:cs typeface="Courier New"/>
              </a:rPr>
              <a:t>1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267713" y="2847213"/>
            <a:ext cx="1485900" cy="9093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0800"/>
              </a:lnSpc>
              <a:spcBef>
                <a:spcPts val="100"/>
              </a:spcBef>
            </a:pPr>
            <a:r>
              <a:rPr sz="2400" b="1" spc="-10" dirty="0">
                <a:latin typeface="Courier New"/>
                <a:cs typeface="Courier New"/>
              </a:rPr>
              <a:t>continue cmd-</a:t>
            </a:r>
            <a:r>
              <a:rPr sz="2400" b="1" spc="-50" dirty="0">
                <a:latin typeface="Courier New"/>
                <a:cs typeface="Courier New"/>
              </a:rPr>
              <a:t>n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35940" y="3730431"/>
            <a:ext cx="2034539" cy="910590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05"/>
              </a:spcBef>
            </a:pPr>
            <a:r>
              <a:rPr sz="2400" b="1" spc="-20" dirty="0">
                <a:latin typeface="Courier New"/>
                <a:cs typeface="Courier New"/>
              </a:rPr>
              <a:t>done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"done"</a:t>
            </a:r>
            <a:endParaRPr sz="2400">
              <a:latin typeface="Courier New"/>
              <a:cs typeface="Courier New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844288" y="2514600"/>
            <a:ext cx="3157220" cy="1295400"/>
          </a:xfrm>
          <a:custGeom>
            <a:avLst/>
            <a:gdLst/>
            <a:ahLst/>
            <a:cxnLst/>
            <a:rect l="l" t="t" r="r" b="b"/>
            <a:pathLst>
              <a:path w="3157220" h="1295400">
                <a:moveTo>
                  <a:pt x="489712" y="215900"/>
                </a:moveTo>
                <a:lnTo>
                  <a:pt x="495413" y="166391"/>
                </a:lnTo>
                <a:lnTo>
                  <a:pt x="511653" y="120946"/>
                </a:lnTo>
                <a:lnTo>
                  <a:pt x="537138" y="80859"/>
                </a:lnTo>
                <a:lnTo>
                  <a:pt x="570571" y="47426"/>
                </a:lnTo>
                <a:lnTo>
                  <a:pt x="610658" y="21941"/>
                </a:lnTo>
                <a:lnTo>
                  <a:pt x="656103" y="5701"/>
                </a:lnTo>
                <a:lnTo>
                  <a:pt x="705612" y="0"/>
                </a:lnTo>
                <a:lnTo>
                  <a:pt x="934212" y="0"/>
                </a:lnTo>
                <a:lnTo>
                  <a:pt x="1600962" y="0"/>
                </a:lnTo>
                <a:lnTo>
                  <a:pt x="2940812" y="0"/>
                </a:lnTo>
                <a:lnTo>
                  <a:pt x="2990320" y="5701"/>
                </a:lnTo>
                <a:lnTo>
                  <a:pt x="3035765" y="21941"/>
                </a:lnTo>
                <a:lnTo>
                  <a:pt x="3075852" y="47426"/>
                </a:lnTo>
                <a:lnTo>
                  <a:pt x="3109285" y="80859"/>
                </a:lnTo>
                <a:lnTo>
                  <a:pt x="3134770" y="120946"/>
                </a:lnTo>
                <a:lnTo>
                  <a:pt x="3151010" y="166391"/>
                </a:lnTo>
                <a:lnTo>
                  <a:pt x="3156712" y="215900"/>
                </a:lnTo>
                <a:lnTo>
                  <a:pt x="3156712" y="539750"/>
                </a:lnTo>
                <a:lnTo>
                  <a:pt x="3156712" y="1079500"/>
                </a:lnTo>
                <a:lnTo>
                  <a:pt x="3151010" y="1129008"/>
                </a:lnTo>
                <a:lnTo>
                  <a:pt x="3134770" y="1174453"/>
                </a:lnTo>
                <a:lnTo>
                  <a:pt x="3109285" y="1214540"/>
                </a:lnTo>
                <a:lnTo>
                  <a:pt x="3075852" y="1247973"/>
                </a:lnTo>
                <a:lnTo>
                  <a:pt x="3035765" y="1273458"/>
                </a:lnTo>
                <a:lnTo>
                  <a:pt x="2990320" y="1289698"/>
                </a:lnTo>
                <a:lnTo>
                  <a:pt x="2940812" y="1295400"/>
                </a:lnTo>
                <a:lnTo>
                  <a:pt x="1600962" y="1295400"/>
                </a:lnTo>
                <a:lnTo>
                  <a:pt x="934212" y="1295400"/>
                </a:lnTo>
                <a:lnTo>
                  <a:pt x="705612" y="1295400"/>
                </a:lnTo>
                <a:lnTo>
                  <a:pt x="656103" y="1289698"/>
                </a:lnTo>
                <a:lnTo>
                  <a:pt x="610658" y="1273458"/>
                </a:lnTo>
                <a:lnTo>
                  <a:pt x="570571" y="1247973"/>
                </a:lnTo>
                <a:lnTo>
                  <a:pt x="537138" y="1214540"/>
                </a:lnTo>
                <a:lnTo>
                  <a:pt x="511653" y="1174453"/>
                </a:lnTo>
                <a:lnTo>
                  <a:pt x="495413" y="1129008"/>
                </a:lnTo>
                <a:lnTo>
                  <a:pt x="489712" y="1079500"/>
                </a:lnTo>
                <a:lnTo>
                  <a:pt x="489712" y="539750"/>
                </a:lnTo>
                <a:lnTo>
                  <a:pt x="0" y="0"/>
                </a:lnTo>
                <a:lnTo>
                  <a:pt x="489712" y="21590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5627878" y="2600959"/>
            <a:ext cx="2079625" cy="11233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-1905" algn="ctr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latin typeface="Times New Roman"/>
                <a:cs typeface="Times New Roman"/>
              </a:rPr>
              <a:t>This</a:t>
            </a:r>
            <a:r>
              <a:rPr sz="2400" spc="-5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iteration</a:t>
            </a:r>
            <a:r>
              <a:rPr sz="2400" spc="-35" dirty="0">
                <a:latin typeface="Times New Roman"/>
                <a:cs typeface="Times New Roman"/>
              </a:rPr>
              <a:t> </a:t>
            </a:r>
            <a:r>
              <a:rPr sz="2400" spc="-25" dirty="0">
                <a:latin typeface="Times New Roman"/>
                <a:cs typeface="Times New Roman"/>
              </a:rPr>
              <a:t>is </a:t>
            </a:r>
            <a:r>
              <a:rPr sz="2400" dirty="0">
                <a:latin typeface="Times New Roman"/>
                <a:cs typeface="Times New Roman"/>
              </a:rPr>
              <a:t>over;</a:t>
            </a:r>
            <a:r>
              <a:rPr sz="2400" spc="-30" dirty="0">
                <a:latin typeface="Times New Roman"/>
                <a:cs typeface="Times New Roman"/>
              </a:rPr>
              <a:t> </a:t>
            </a:r>
            <a:r>
              <a:rPr sz="2400" dirty="0">
                <a:latin typeface="Times New Roman"/>
                <a:cs typeface="Times New Roman"/>
              </a:rPr>
              <a:t>do the</a:t>
            </a:r>
            <a:r>
              <a:rPr sz="2400" spc="-10" dirty="0">
                <a:latin typeface="Times New Roman"/>
                <a:cs typeface="Times New Roman"/>
              </a:rPr>
              <a:t> </a:t>
            </a:r>
            <a:r>
              <a:rPr sz="2400" spc="-20" dirty="0">
                <a:latin typeface="Times New Roman"/>
                <a:cs typeface="Times New Roman"/>
              </a:rPr>
              <a:t>next </a:t>
            </a:r>
            <a:r>
              <a:rPr sz="2400" spc="-10" dirty="0">
                <a:latin typeface="Times New Roman"/>
                <a:cs typeface="Times New Roman"/>
              </a:rPr>
              <a:t>iteration</a:t>
            </a:r>
            <a:endParaRPr sz="2400">
              <a:latin typeface="Times New Roman"/>
              <a:cs typeface="Times New Roman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810761" y="1903983"/>
            <a:ext cx="1003300" cy="1233805"/>
            <a:chOff x="3810761" y="1903983"/>
            <a:chExt cx="1003300" cy="1233805"/>
          </a:xfrm>
        </p:grpSpPr>
        <p:sp>
          <p:nvSpPr>
            <p:cNvPr id="9" name="object 9"/>
            <p:cNvSpPr/>
            <p:nvPr/>
          </p:nvSpPr>
          <p:spPr>
            <a:xfrm>
              <a:off x="3810761" y="1981961"/>
              <a:ext cx="990600" cy="1143000"/>
            </a:xfrm>
            <a:custGeom>
              <a:avLst/>
              <a:gdLst/>
              <a:ahLst/>
              <a:cxnLst/>
              <a:rect l="l" t="t" r="r" b="b"/>
              <a:pathLst>
                <a:path w="990600" h="1143000">
                  <a:moveTo>
                    <a:pt x="0" y="1143000"/>
                  </a:moveTo>
                  <a:lnTo>
                    <a:pt x="990600" y="1143000"/>
                  </a:lnTo>
                </a:path>
                <a:path w="990600" h="1143000">
                  <a:moveTo>
                    <a:pt x="990600" y="1143000"/>
                  </a:moveTo>
                  <a:lnTo>
                    <a:pt x="990600" y="0"/>
                  </a:lnTo>
                </a:path>
              </a:pathLst>
            </a:custGeom>
            <a:ln w="254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267961" y="1903983"/>
              <a:ext cx="533400" cy="156210"/>
            </a:xfrm>
            <a:custGeom>
              <a:avLst/>
              <a:gdLst/>
              <a:ahLst/>
              <a:cxnLst/>
              <a:rect l="l" t="t" r="r" b="b"/>
              <a:pathLst>
                <a:path w="533400" h="156210">
                  <a:moveTo>
                    <a:pt x="140462" y="0"/>
                  </a:moveTo>
                  <a:lnTo>
                    <a:pt x="0" y="77977"/>
                  </a:lnTo>
                  <a:lnTo>
                    <a:pt x="140462" y="155955"/>
                  </a:lnTo>
                  <a:lnTo>
                    <a:pt x="148209" y="153796"/>
                  </a:lnTo>
                  <a:lnTo>
                    <a:pt x="151511" y="147700"/>
                  </a:lnTo>
                  <a:lnTo>
                    <a:pt x="154939" y="141477"/>
                  </a:lnTo>
                  <a:lnTo>
                    <a:pt x="152780" y="133730"/>
                  </a:lnTo>
                  <a:lnTo>
                    <a:pt x="146685" y="130428"/>
                  </a:lnTo>
                  <a:lnTo>
                    <a:pt x="75133" y="90677"/>
                  </a:lnTo>
                  <a:lnTo>
                    <a:pt x="26162" y="90677"/>
                  </a:lnTo>
                  <a:lnTo>
                    <a:pt x="26162" y="65277"/>
                  </a:lnTo>
                  <a:lnTo>
                    <a:pt x="75133" y="65277"/>
                  </a:lnTo>
                  <a:lnTo>
                    <a:pt x="146685" y="25526"/>
                  </a:lnTo>
                  <a:lnTo>
                    <a:pt x="152780" y="22225"/>
                  </a:lnTo>
                  <a:lnTo>
                    <a:pt x="154939" y="14477"/>
                  </a:lnTo>
                  <a:lnTo>
                    <a:pt x="151511" y="8254"/>
                  </a:lnTo>
                  <a:lnTo>
                    <a:pt x="148209" y="2158"/>
                  </a:lnTo>
                  <a:lnTo>
                    <a:pt x="140462" y="0"/>
                  </a:lnTo>
                  <a:close/>
                </a:path>
                <a:path w="533400" h="156210">
                  <a:moveTo>
                    <a:pt x="75133" y="65277"/>
                  </a:moveTo>
                  <a:lnTo>
                    <a:pt x="26162" y="65277"/>
                  </a:lnTo>
                  <a:lnTo>
                    <a:pt x="26162" y="90677"/>
                  </a:lnTo>
                  <a:lnTo>
                    <a:pt x="75133" y="90677"/>
                  </a:lnTo>
                  <a:lnTo>
                    <a:pt x="72161" y="89026"/>
                  </a:lnTo>
                  <a:lnTo>
                    <a:pt x="32385" y="89026"/>
                  </a:lnTo>
                  <a:lnTo>
                    <a:pt x="32385" y="66928"/>
                  </a:lnTo>
                  <a:lnTo>
                    <a:pt x="72161" y="66928"/>
                  </a:lnTo>
                  <a:lnTo>
                    <a:pt x="75133" y="65277"/>
                  </a:lnTo>
                  <a:close/>
                </a:path>
                <a:path w="533400" h="156210">
                  <a:moveTo>
                    <a:pt x="533400" y="65277"/>
                  </a:moveTo>
                  <a:lnTo>
                    <a:pt x="75133" y="65277"/>
                  </a:lnTo>
                  <a:lnTo>
                    <a:pt x="52273" y="77977"/>
                  </a:lnTo>
                  <a:lnTo>
                    <a:pt x="75133" y="90677"/>
                  </a:lnTo>
                  <a:lnTo>
                    <a:pt x="533400" y="90677"/>
                  </a:lnTo>
                  <a:lnTo>
                    <a:pt x="533400" y="65277"/>
                  </a:lnTo>
                  <a:close/>
                </a:path>
                <a:path w="533400" h="156210">
                  <a:moveTo>
                    <a:pt x="32385" y="66928"/>
                  </a:moveTo>
                  <a:lnTo>
                    <a:pt x="32385" y="89026"/>
                  </a:lnTo>
                  <a:lnTo>
                    <a:pt x="52273" y="77977"/>
                  </a:lnTo>
                  <a:lnTo>
                    <a:pt x="32385" y="66928"/>
                  </a:lnTo>
                  <a:close/>
                </a:path>
                <a:path w="533400" h="156210">
                  <a:moveTo>
                    <a:pt x="52273" y="77977"/>
                  </a:moveTo>
                  <a:lnTo>
                    <a:pt x="32385" y="89026"/>
                  </a:lnTo>
                  <a:lnTo>
                    <a:pt x="72161" y="89026"/>
                  </a:lnTo>
                  <a:lnTo>
                    <a:pt x="52273" y="77977"/>
                  </a:lnTo>
                  <a:close/>
                </a:path>
                <a:path w="533400" h="156210">
                  <a:moveTo>
                    <a:pt x="72161" y="66928"/>
                  </a:moveTo>
                  <a:lnTo>
                    <a:pt x="32385" y="66928"/>
                  </a:lnTo>
                  <a:lnTo>
                    <a:pt x="52273" y="77977"/>
                  </a:lnTo>
                  <a:lnTo>
                    <a:pt x="72161" y="6692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60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29" dirty="0">
                <a:latin typeface="Cambria"/>
                <a:cs typeface="Cambria"/>
              </a:rPr>
              <a:t>Example: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76530">
              <a:lnSpc>
                <a:spcPct val="112700"/>
              </a:lnSpc>
              <a:spcBef>
                <a:spcPts val="100"/>
              </a:spcBef>
            </a:pPr>
            <a:r>
              <a:rPr dirty="0"/>
              <a:t>for</a:t>
            </a:r>
            <a:r>
              <a:rPr spc="-15" dirty="0"/>
              <a:t> </a:t>
            </a:r>
            <a:r>
              <a:rPr dirty="0"/>
              <a:t>index</a:t>
            </a:r>
            <a:r>
              <a:rPr spc="-10" dirty="0"/>
              <a:t> </a:t>
            </a:r>
            <a:r>
              <a:rPr dirty="0"/>
              <a:t>in</a:t>
            </a:r>
            <a:r>
              <a:rPr spc="-10" dirty="0"/>
              <a:t> </a:t>
            </a:r>
            <a:r>
              <a:rPr dirty="0"/>
              <a:t>1</a:t>
            </a:r>
            <a:r>
              <a:rPr spc="-10" dirty="0"/>
              <a:t> </a:t>
            </a:r>
            <a:r>
              <a:rPr dirty="0"/>
              <a:t>2</a:t>
            </a:r>
            <a:r>
              <a:rPr spc="-10" dirty="0"/>
              <a:t> </a:t>
            </a:r>
            <a:r>
              <a:rPr dirty="0"/>
              <a:t>3</a:t>
            </a:r>
            <a:r>
              <a:rPr spc="-10" dirty="0"/>
              <a:t> </a:t>
            </a:r>
            <a:r>
              <a:rPr dirty="0"/>
              <a:t>4</a:t>
            </a:r>
            <a:r>
              <a:rPr spc="-10" dirty="0"/>
              <a:t> </a:t>
            </a:r>
            <a:r>
              <a:rPr dirty="0"/>
              <a:t>5</a:t>
            </a:r>
            <a:r>
              <a:rPr spc="-25" dirty="0"/>
              <a:t> </a:t>
            </a:r>
            <a:r>
              <a:rPr dirty="0"/>
              <a:t>6</a:t>
            </a:r>
            <a:r>
              <a:rPr spc="-10" dirty="0"/>
              <a:t> </a:t>
            </a:r>
            <a:r>
              <a:rPr dirty="0"/>
              <a:t>7 8</a:t>
            </a:r>
            <a:r>
              <a:rPr spc="-25" dirty="0"/>
              <a:t> </a:t>
            </a:r>
            <a:r>
              <a:rPr dirty="0"/>
              <a:t>9</a:t>
            </a:r>
            <a:r>
              <a:rPr spc="-10" dirty="0"/>
              <a:t> </a:t>
            </a:r>
            <a:r>
              <a:rPr spc="-25" dirty="0"/>
              <a:t>10 do</a:t>
            </a:r>
          </a:p>
          <a:p>
            <a:pPr marL="1176020" algn="ctr">
              <a:lnSpc>
                <a:spcPct val="100000"/>
              </a:lnSpc>
              <a:spcBef>
                <a:spcPts val="335"/>
              </a:spcBef>
            </a:pPr>
            <a:r>
              <a:rPr dirty="0"/>
              <a:t>if</a:t>
            </a:r>
            <a:r>
              <a:rPr spc="-30" dirty="0"/>
              <a:t> </a:t>
            </a:r>
            <a:r>
              <a:rPr dirty="0"/>
              <a:t>[</a:t>
            </a:r>
            <a:r>
              <a:rPr spc="-15" dirty="0"/>
              <a:t> </a:t>
            </a:r>
            <a:r>
              <a:rPr dirty="0"/>
              <a:t>$index</a:t>
            </a:r>
            <a:r>
              <a:rPr spc="-15" dirty="0"/>
              <a:t> </a:t>
            </a:r>
            <a:r>
              <a:rPr dirty="0"/>
              <a:t>–le</a:t>
            </a:r>
            <a:r>
              <a:rPr spc="-15" dirty="0"/>
              <a:t> </a:t>
            </a:r>
            <a:r>
              <a:rPr dirty="0"/>
              <a:t>3</a:t>
            </a:r>
            <a:r>
              <a:rPr spc="-10" dirty="0"/>
              <a:t> </a:t>
            </a:r>
            <a:r>
              <a:rPr dirty="0"/>
              <a:t>];</a:t>
            </a:r>
            <a:r>
              <a:rPr spc="-30" dirty="0"/>
              <a:t> </a:t>
            </a:r>
            <a:r>
              <a:rPr spc="-20" dirty="0"/>
              <a:t>then</a:t>
            </a:r>
          </a:p>
          <a:p>
            <a:pPr marL="1176655" algn="ctr">
              <a:lnSpc>
                <a:spcPct val="100000"/>
              </a:lnSpc>
              <a:spcBef>
                <a:spcPts val="335"/>
              </a:spcBef>
            </a:pPr>
            <a:r>
              <a:rPr dirty="0"/>
              <a:t>echo</a:t>
            </a:r>
            <a:r>
              <a:rPr spc="-35" dirty="0"/>
              <a:t> </a:t>
            </a:r>
            <a:r>
              <a:rPr spc="-10" dirty="0"/>
              <a:t>"continue"</a:t>
            </a:r>
          </a:p>
          <a:p>
            <a:pPr algn="ctr">
              <a:lnSpc>
                <a:spcPct val="100000"/>
              </a:lnSpc>
              <a:spcBef>
                <a:spcPts val="340"/>
              </a:spcBef>
            </a:pPr>
            <a:r>
              <a:rPr spc="-10" dirty="0"/>
              <a:t>continue</a:t>
            </a:r>
          </a:p>
          <a:p>
            <a:pPr marL="1358265">
              <a:lnSpc>
                <a:spcPct val="100000"/>
              </a:lnSpc>
              <a:spcBef>
                <a:spcPts val="335"/>
              </a:spcBef>
            </a:pPr>
            <a:r>
              <a:rPr spc="-25" dirty="0"/>
              <a:t>fi</a:t>
            </a:r>
          </a:p>
          <a:p>
            <a:pPr marL="1358265">
              <a:lnSpc>
                <a:spcPct val="100000"/>
              </a:lnSpc>
              <a:spcBef>
                <a:spcPts val="335"/>
              </a:spcBef>
            </a:pPr>
            <a:r>
              <a:rPr dirty="0"/>
              <a:t>echo</a:t>
            </a:r>
            <a:r>
              <a:rPr spc="-45" dirty="0"/>
              <a:t> </a:t>
            </a:r>
            <a:r>
              <a:rPr spc="-10" dirty="0"/>
              <a:t>$index</a:t>
            </a:r>
          </a:p>
          <a:p>
            <a:pPr marL="2199640" marR="5080" indent="-841375">
              <a:lnSpc>
                <a:spcPct val="112700"/>
              </a:lnSpc>
              <a:spcBef>
                <a:spcPts val="5"/>
              </a:spcBef>
              <a:tabLst>
                <a:tab pos="2031364" algn="l"/>
              </a:tabLst>
            </a:pPr>
            <a:r>
              <a:rPr spc="-25" dirty="0"/>
              <a:t>if</a:t>
            </a:r>
            <a:r>
              <a:rPr dirty="0"/>
              <a:t>	[</a:t>
            </a:r>
            <a:r>
              <a:rPr spc="-35" dirty="0"/>
              <a:t> </a:t>
            </a:r>
            <a:r>
              <a:rPr dirty="0"/>
              <a:t>$index</a:t>
            </a:r>
            <a:r>
              <a:rPr spc="-10" dirty="0"/>
              <a:t> </a:t>
            </a:r>
            <a:r>
              <a:rPr dirty="0"/>
              <a:t>–ge</a:t>
            </a:r>
            <a:r>
              <a:rPr spc="-20" dirty="0"/>
              <a:t> </a:t>
            </a:r>
            <a:r>
              <a:rPr dirty="0"/>
              <a:t>8</a:t>
            </a:r>
            <a:r>
              <a:rPr spc="-5" dirty="0"/>
              <a:t> </a:t>
            </a:r>
            <a:r>
              <a:rPr dirty="0"/>
              <a:t>];</a:t>
            </a:r>
            <a:r>
              <a:rPr spc="-20" dirty="0"/>
              <a:t> then </a:t>
            </a:r>
            <a:r>
              <a:rPr dirty="0"/>
              <a:t>echo</a:t>
            </a:r>
            <a:r>
              <a:rPr spc="-25" dirty="0"/>
              <a:t> </a:t>
            </a:r>
            <a:r>
              <a:rPr spc="-10" dirty="0"/>
              <a:t>"break"</a:t>
            </a:r>
          </a:p>
          <a:p>
            <a:pPr marL="2199640">
              <a:lnSpc>
                <a:spcPct val="100000"/>
              </a:lnSpc>
              <a:spcBef>
                <a:spcPts val="335"/>
              </a:spcBef>
            </a:pPr>
            <a:r>
              <a:rPr spc="-10" dirty="0"/>
              <a:t>break</a:t>
            </a:r>
          </a:p>
          <a:p>
            <a:pPr marL="1358265">
              <a:lnSpc>
                <a:spcPct val="100000"/>
              </a:lnSpc>
              <a:spcBef>
                <a:spcPts val="340"/>
              </a:spcBef>
            </a:pPr>
            <a:r>
              <a:rPr spc="-25" dirty="0"/>
              <a:t>fi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35940" y="5734303"/>
            <a:ext cx="697230" cy="3606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200" b="1" spc="-20" dirty="0">
                <a:latin typeface="Courier New"/>
                <a:cs typeface="Courier New"/>
              </a:rPr>
              <a:t>done</a:t>
            </a:r>
            <a:endParaRPr sz="2200">
              <a:latin typeface="Courier New"/>
              <a:cs typeface="Courier New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61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52437" y="1519237"/>
            <a:ext cx="6562725" cy="3362325"/>
            <a:chOff x="452437" y="1519237"/>
            <a:chExt cx="6562725" cy="3362325"/>
          </a:xfrm>
        </p:grpSpPr>
        <p:sp>
          <p:nvSpPr>
            <p:cNvPr id="3" name="object 3"/>
            <p:cNvSpPr/>
            <p:nvPr/>
          </p:nvSpPr>
          <p:spPr>
            <a:xfrm>
              <a:off x="457200" y="1524000"/>
              <a:ext cx="6553200" cy="3352800"/>
            </a:xfrm>
            <a:custGeom>
              <a:avLst/>
              <a:gdLst/>
              <a:ahLst/>
              <a:cxnLst/>
              <a:rect l="l" t="t" r="r" b="b"/>
              <a:pathLst>
                <a:path w="6553200" h="3352800">
                  <a:moveTo>
                    <a:pt x="5994400" y="0"/>
                  </a:moveTo>
                  <a:lnTo>
                    <a:pt x="558812" y="0"/>
                  </a:lnTo>
                  <a:lnTo>
                    <a:pt x="510596" y="2051"/>
                  </a:lnTo>
                  <a:lnTo>
                    <a:pt x="463518" y="8092"/>
                  </a:lnTo>
                  <a:lnTo>
                    <a:pt x="417748" y="17957"/>
                  </a:lnTo>
                  <a:lnTo>
                    <a:pt x="373451" y="31476"/>
                  </a:lnTo>
                  <a:lnTo>
                    <a:pt x="330797" y="48483"/>
                  </a:lnTo>
                  <a:lnTo>
                    <a:pt x="289953" y="68809"/>
                  </a:lnTo>
                  <a:lnTo>
                    <a:pt x="251086" y="92288"/>
                  </a:lnTo>
                  <a:lnTo>
                    <a:pt x="214365" y="118750"/>
                  </a:lnTo>
                  <a:lnTo>
                    <a:pt x="179957" y="148028"/>
                  </a:lnTo>
                  <a:lnTo>
                    <a:pt x="148029" y="179955"/>
                  </a:lnTo>
                  <a:lnTo>
                    <a:pt x="118751" y="214362"/>
                  </a:lnTo>
                  <a:lnTo>
                    <a:pt x="92288" y="251083"/>
                  </a:lnTo>
                  <a:lnTo>
                    <a:pt x="68810" y="289949"/>
                  </a:lnTo>
                  <a:lnTo>
                    <a:pt x="48483" y="330792"/>
                  </a:lnTo>
                  <a:lnTo>
                    <a:pt x="31477" y="373445"/>
                  </a:lnTo>
                  <a:lnTo>
                    <a:pt x="17957" y="417740"/>
                  </a:lnTo>
                  <a:lnTo>
                    <a:pt x="8092" y="463509"/>
                  </a:lnTo>
                  <a:lnTo>
                    <a:pt x="2051" y="510585"/>
                  </a:lnTo>
                  <a:lnTo>
                    <a:pt x="0" y="558800"/>
                  </a:lnTo>
                  <a:lnTo>
                    <a:pt x="0" y="2794000"/>
                  </a:lnTo>
                  <a:lnTo>
                    <a:pt x="2051" y="2842214"/>
                  </a:lnTo>
                  <a:lnTo>
                    <a:pt x="8092" y="2889290"/>
                  </a:lnTo>
                  <a:lnTo>
                    <a:pt x="17957" y="2935059"/>
                  </a:lnTo>
                  <a:lnTo>
                    <a:pt x="31477" y="2979354"/>
                  </a:lnTo>
                  <a:lnTo>
                    <a:pt x="48483" y="3022007"/>
                  </a:lnTo>
                  <a:lnTo>
                    <a:pt x="68810" y="3062850"/>
                  </a:lnTo>
                  <a:lnTo>
                    <a:pt x="92288" y="3101716"/>
                  </a:lnTo>
                  <a:lnTo>
                    <a:pt x="118751" y="3138437"/>
                  </a:lnTo>
                  <a:lnTo>
                    <a:pt x="148029" y="3172844"/>
                  </a:lnTo>
                  <a:lnTo>
                    <a:pt x="179957" y="3204771"/>
                  </a:lnTo>
                  <a:lnTo>
                    <a:pt x="214365" y="3234049"/>
                  </a:lnTo>
                  <a:lnTo>
                    <a:pt x="251086" y="3260511"/>
                  </a:lnTo>
                  <a:lnTo>
                    <a:pt x="289953" y="3283990"/>
                  </a:lnTo>
                  <a:lnTo>
                    <a:pt x="330797" y="3304316"/>
                  </a:lnTo>
                  <a:lnTo>
                    <a:pt x="373451" y="3321323"/>
                  </a:lnTo>
                  <a:lnTo>
                    <a:pt x="417748" y="3334842"/>
                  </a:lnTo>
                  <a:lnTo>
                    <a:pt x="463518" y="3344707"/>
                  </a:lnTo>
                  <a:lnTo>
                    <a:pt x="510596" y="3350748"/>
                  </a:lnTo>
                  <a:lnTo>
                    <a:pt x="558812" y="3352800"/>
                  </a:lnTo>
                  <a:lnTo>
                    <a:pt x="5994400" y="3352800"/>
                  </a:lnTo>
                  <a:lnTo>
                    <a:pt x="6042614" y="3350748"/>
                  </a:lnTo>
                  <a:lnTo>
                    <a:pt x="6089690" y="3344707"/>
                  </a:lnTo>
                  <a:lnTo>
                    <a:pt x="6135459" y="3334842"/>
                  </a:lnTo>
                  <a:lnTo>
                    <a:pt x="6179754" y="3321323"/>
                  </a:lnTo>
                  <a:lnTo>
                    <a:pt x="6222407" y="3304316"/>
                  </a:lnTo>
                  <a:lnTo>
                    <a:pt x="6263250" y="3283990"/>
                  </a:lnTo>
                  <a:lnTo>
                    <a:pt x="6302116" y="3260511"/>
                  </a:lnTo>
                  <a:lnTo>
                    <a:pt x="6338837" y="3234049"/>
                  </a:lnTo>
                  <a:lnTo>
                    <a:pt x="6373244" y="3204771"/>
                  </a:lnTo>
                  <a:lnTo>
                    <a:pt x="6405171" y="3172844"/>
                  </a:lnTo>
                  <a:lnTo>
                    <a:pt x="6434449" y="3138437"/>
                  </a:lnTo>
                  <a:lnTo>
                    <a:pt x="6460911" y="3101716"/>
                  </a:lnTo>
                  <a:lnTo>
                    <a:pt x="6484390" y="3062850"/>
                  </a:lnTo>
                  <a:lnTo>
                    <a:pt x="6504716" y="3022007"/>
                  </a:lnTo>
                  <a:lnTo>
                    <a:pt x="6521723" y="2979354"/>
                  </a:lnTo>
                  <a:lnTo>
                    <a:pt x="6535242" y="2935059"/>
                  </a:lnTo>
                  <a:lnTo>
                    <a:pt x="6545107" y="2889290"/>
                  </a:lnTo>
                  <a:lnTo>
                    <a:pt x="6551148" y="2842214"/>
                  </a:lnTo>
                  <a:lnTo>
                    <a:pt x="6553200" y="2794000"/>
                  </a:lnTo>
                  <a:lnTo>
                    <a:pt x="6553200" y="558800"/>
                  </a:lnTo>
                  <a:lnTo>
                    <a:pt x="6551148" y="510585"/>
                  </a:lnTo>
                  <a:lnTo>
                    <a:pt x="6545107" y="463509"/>
                  </a:lnTo>
                  <a:lnTo>
                    <a:pt x="6535242" y="417740"/>
                  </a:lnTo>
                  <a:lnTo>
                    <a:pt x="6521723" y="373445"/>
                  </a:lnTo>
                  <a:lnTo>
                    <a:pt x="6504716" y="330792"/>
                  </a:lnTo>
                  <a:lnTo>
                    <a:pt x="6484390" y="289949"/>
                  </a:lnTo>
                  <a:lnTo>
                    <a:pt x="6460911" y="251083"/>
                  </a:lnTo>
                  <a:lnTo>
                    <a:pt x="6434449" y="214362"/>
                  </a:lnTo>
                  <a:lnTo>
                    <a:pt x="6405171" y="179955"/>
                  </a:lnTo>
                  <a:lnTo>
                    <a:pt x="6373244" y="148028"/>
                  </a:lnTo>
                  <a:lnTo>
                    <a:pt x="6338837" y="118750"/>
                  </a:lnTo>
                  <a:lnTo>
                    <a:pt x="6302116" y="92288"/>
                  </a:lnTo>
                  <a:lnTo>
                    <a:pt x="6263250" y="68809"/>
                  </a:lnTo>
                  <a:lnTo>
                    <a:pt x="6222407" y="48483"/>
                  </a:lnTo>
                  <a:lnTo>
                    <a:pt x="6179754" y="31476"/>
                  </a:lnTo>
                  <a:lnTo>
                    <a:pt x="6135459" y="17957"/>
                  </a:lnTo>
                  <a:lnTo>
                    <a:pt x="6089690" y="8092"/>
                  </a:lnTo>
                  <a:lnTo>
                    <a:pt x="6042614" y="2051"/>
                  </a:lnTo>
                  <a:lnTo>
                    <a:pt x="5994400" y="0"/>
                  </a:lnTo>
                  <a:close/>
                </a:path>
              </a:pathLst>
            </a:custGeom>
            <a:solidFill>
              <a:srgbClr val="FD8537">
                <a:alpha val="10195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457200" y="1524000"/>
              <a:ext cx="6553200" cy="3352800"/>
            </a:xfrm>
            <a:custGeom>
              <a:avLst/>
              <a:gdLst/>
              <a:ahLst/>
              <a:cxnLst/>
              <a:rect l="l" t="t" r="r" b="b"/>
              <a:pathLst>
                <a:path w="6553200" h="3352800">
                  <a:moveTo>
                    <a:pt x="0" y="558800"/>
                  </a:moveTo>
                  <a:lnTo>
                    <a:pt x="2051" y="510585"/>
                  </a:lnTo>
                  <a:lnTo>
                    <a:pt x="8092" y="463509"/>
                  </a:lnTo>
                  <a:lnTo>
                    <a:pt x="17957" y="417740"/>
                  </a:lnTo>
                  <a:lnTo>
                    <a:pt x="31477" y="373445"/>
                  </a:lnTo>
                  <a:lnTo>
                    <a:pt x="48483" y="330792"/>
                  </a:lnTo>
                  <a:lnTo>
                    <a:pt x="68810" y="289949"/>
                  </a:lnTo>
                  <a:lnTo>
                    <a:pt x="92288" y="251083"/>
                  </a:lnTo>
                  <a:lnTo>
                    <a:pt x="118751" y="214362"/>
                  </a:lnTo>
                  <a:lnTo>
                    <a:pt x="148029" y="179955"/>
                  </a:lnTo>
                  <a:lnTo>
                    <a:pt x="179957" y="148028"/>
                  </a:lnTo>
                  <a:lnTo>
                    <a:pt x="214365" y="118750"/>
                  </a:lnTo>
                  <a:lnTo>
                    <a:pt x="251086" y="92288"/>
                  </a:lnTo>
                  <a:lnTo>
                    <a:pt x="289953" y="68809"/>
                  </a:lnTo>
                  <a:lnTo>
                    <a:pt x="330797" y="48483"/>
                  </a:lnTo>
                  <a:lnTo>
                    <a:pt x="373451" y="31476"/>
                  </a:lnTo>
                  <a:lnTo>
                    <a:pt x="417748" y="17957"/>
                  </a:lnTo>
                  <a:lnTo>
                    <a:pt x="463518" y="8092"/>
                  </a:lnTo>
                  <a:lnTo>
                    <a:pt x="510596" y="2051"/>
                  </a:lnTo>
                  <a:lnTo>
                    <a:pt x="558812" y="0"/>
                  </a:lnTo>
                  <a:lnTo>
                    <a:pt x="5994400" y="0"/>
                  </a:lnTo>
                  <a:lnTo>
                    <a:pt x="6042614" y="2051"/>
                  </a:lnTo>
                  <a:lnTo>
                    <a:pt x="6089690" y="8092"/>
                  </a:lnTo>
                  <a:lnTo>
                    <a:pt x="6135459" y="17957"/>
                  </a:lnTo>
                  <a:lnTo>
                    <a:pt x="6179754" y="31476"/>
                  </a:lnTo>
                  <a:lnTo>
                    <a:pt x="6222407" y="48483"/>
                  </a:lnTo>
                  <a:lnTo>
                    <a:pt x="6263250" y="68809"/>
                  </a:lnTo>
                  <a:lnTo>
                    <a:pt x="6302116" y="92288"/>
                  </a:lnTo>
                  <a:lnTo>
                    <a:pt x="6338837" y="118750"/>
                  </a:lnTo>
                  <a:lnTo>
                    <a:pt x="6373244" y="148028"/>
                  </a:lnTo>
                  <a:lnTo>
                    <a:pt x="6405171" y="179955"/>
                  </a:lnTo>
                  <a:lnTo>
                    <a:pt x="6434449" y="214362"/>
                  </a:lnTo>
                  <a:lnTo>
                    <a:pt x="6460911" y="251083"/>
                  </a:lnTo>
                  <a:lnTo>
                    <a:pt x="6484390" y="289949"/>
                  </a:lnTo>
                  <a:lnTo>
                    <a:pt x="6504716" y="330792"/>
                  </a:lnTo>
                  <a:lnTo>
                    <a:pt x="6521723" y="373445"/>
                  </a:lnTo>
                  <a:lnTo>
                    <a:pt x="6535242" y="417740"/>
                  </a:lnTo>
                  <a:lnTo>
                    <a:pt x="6545107" y="463509"/>
                  </a:lnTo>
                  <a:lnTo>
                    <a:pt x="6551148" y="510585"/>
                  </a:lnTo>
                  <a:lnTo>
                    <a:pt x="6553200" y="558800"/>
                  </a:lnTo>
                  <a:lnTo>
                    <a:pt x="6553200" y="2794000"/>
                  </a:lnTo>
                  <a:lnTo>
                    <a:pt x="6551148" y="2842214"/>
                  </a:lnTo>
                  <a:lnTo>
                    <a:pt x="6545107" y="2889290"/>
                  </a:lnTo>
                  <a:lnTo>
                    <a:pt x="6535242" y="2935059"/>
                  </a:lnTo>
                  <a:lnTo>
                    <a:pt x="6521723" y="2979354"/>
                  </a:lnTo>
                  <a:lnTo>
                    <a:pt x="6504716" y="3022007"/>
                  </a:lnTo>
                  <a:lnTo>
                    <a:pt x="6484390" y="3062850"/>
                  </a:lnTo>
                  <a:lnTo>
                    <a:pt x="6460911" y="3101716"/>
                  </a:lnTo>
                  <a:lnTo>
                    <a:pt x="6434449" y="3138437"/>
                  </a:lnTo>
                  <a:lnTo>
                    <a:pt x="6405171" y="3172844"/>
                  </a:lnTo>
                  <a:lnTo>
                    <a:pt x="6373244" y="3204771"/>
                  </a:lnTo>
                  <a:lnTo>
                    <a:pt x="6338837" y="3234049"/>
                  </a:lnTo>
                  <a:lnTo>
                    <a:pt x="6302116" y="3260511"/>
                  </a:lnTo>
                  <a:lnTo>
                    <a:pt x="6263250" y="3283990"/>
                  </a:lnTo>
                  <a:lnTo>
                    <a:pt x="6222407" y="3304316"/>
                  </a:lnTo>
                  <a:lnTo>
                    <a:pt x="6179754" y="3321323"/>
                  </a:lnTo>
                  <a:lnTo>
                    <a:pt x="6135459" y="3334842"/>
                  </a:lnTo>
                  <a:lnTo>
                    <a:pt x="6089690" y="3344707"/>
                  </a:lnTo>
                  <a:lnTo>
                    <a:pt x="6042614" y="3350748"/>
                  </a:lnTo>
                  <a:lnTo>
                    <a:pt x="5994400" y="3352800"/>
                  </a:lnTo>
                  <a:lnTo>
                    <a:pt x="558812" y="3352800"/>
                  </a:lnTo>
                  <a:lnTo>
                    <a:pt x="510596" y="3350748"/>
                  </a:lnTo>
                  <a:lnTo>
                    <a:pt x="463518" y="3344707"/>
                  </a:lnTo>
                  <a:lnTo>
                    <a:pt x="417748" y="3334842"/>
                  </a:lnTo>
                  <a:lnTo>
                    <a:pt x="373451" y="3321323"/>
                  </a:lnTo>
                  <a:lnTo>
                    <a:pt x="330797" y="3304316"/>
                  </a:lnTo>
                  <a:lnTo>
                    <a:pt x="289953" y="3283990"/>
                  </a:lnTo>
                  <a:lnTo>
                    <a:pt x="251086" y="3260511"/>
                  </a:lnTo>
                  <a:lnTo>
                    <a:pt x="214365" y="3234049"/>
                  </a:lnTo>
                  <a:lnTo>
                    <a:pt x="179957" y="3204771"/>
                  </a:lnTo>
                  <a:lnTo>
                    <a:pt x="148029" y="3172844"/>
                  </a:lnTo>
                  <a:lnTo>
                    <a:pt x="118751" y="3138437"/>
                  </a:lnTo>
                  <a:lnTo>
                    <a:pt x="92288" y="3101716"/>
                  </a:lnTo>
                  <a:lnTo>
                    <a:pt x="68810" y="3062850"/>
                  </a:lnTo>
                  <a:lnTo>
                    <a:pt x="48483" y="3022007"/>
                  </a:lnTo>
                  <a:lnTo>
                    <a:pt x="31477" y="2979354"/>
                  </a:lnTo>
                  <a:lnTo>
                    <a:pt x="17957" y="2935059"/>
                  </a:lnTo>
                  <a:lnTo>
                    <a:pt x="8092" y="2889290"/>
                  </a:lnTo>
                  <a:lnTo>
                    <a:pt x="2051" y="2842214"/>
                  </a:lnTo>
                  <a:lnTo>
                    <a:pt x="0" y="2794000"/>
                  </a:lnTo>
                  <a:lnTo>
                    <a:pt x="0" y="5588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/>
          <p:cNvSpPr txBox="1"/>
          <p:nvPr/>
        </p:nvSpPr>
        <p:spPr>
          <a:xfrm>
            <a:off x="5717540" y="3173984"/>
            <a:ext cx="105029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FF0000"/>
                </a:solidFill>
                <a:latin typeface="Times New Roman"/>
                <a:cs typeface="Times New Roman"/>
              </a:rPr>
              <a:t>DONE</a:t>
            </a:r>
            <a:r>
              <a:rPr sz="2400" spc="-70" dirty="0">
                <a:solidFill>
                  <a:srgbClr val="FF0000"/>
                </a:solidFill>
                <a:latin typeface="Times New Roman"/>
                <a:cs typeface="Times New Roman"/>
              </a:rPr>
              <a:t> </a:t>
            </a:r>
            <a:r>
              <a:rPr sz="2400" spc="-50" dirty="0">
                <a:solidFill>
                  <a:srgbClr val="FF0000"/>
                </a:solidFill>
                <a:latin typeface="Times New Roman"/>
                <a:cs typeface="Times New Roman"/>
              </a:rPr>
              <a:t>!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76827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z="3000" b="0" cap="small" spc="295" dirty="0">
                <a:latin typeface="Cambria"/>
                <a:cs typeface="Cambria"/>
              </a:rPr>
              <a:t>Bash </a:t>
            </a:r>
            <a:r>
              <a:rPr sz="3000" b="0" cap="small" spc="325" dirty="0">
                <a:latin typeface="Cambria"/>
                <a:cs typeface="Cambria"/>
              </a:rPr>
              <a:t>shell</a:t>
            </a:r>
            <a:r>
              <a:rPr sz="3000" b="0" cap="small" spc="275" dirty="0">
                <a:latin typeface="Cambria"/>
                <a:cs typeface="Cambria"/>
              </a:rPr>
              <a:t> </a:t>
            </a:r>
            <a:r>
              <a:rPr sz="3000" b="0" cap="small" spc="254" dirty="0">
                <a:latin typeface="Cambria"/>
                <a:cs typeface="Cambria"/>
              </a:rPr>
              <a:t>programming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pc="65" dirty="0"/>
              <a:t>Sequence</a:t>
            </a: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pc="60" dirty="0"/>
              <a:t>Decision:</a:t>
            </a:r>
          </a:p>
          <a:p>
            <a:pPr marL="652780" lvl="1" indent="-273050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dirty="0">
                <a:latin typeface="Cambria"/>
                <a:cs typeface="Cambria"/>
              </a:rPr>
              <a:t>if-</a:t>
            </a:r>
            <a:r>
              <a:rPr sz="2100" spc="60" dirty="0">
                <a:latin typeface="Cambria"/>
                <a:cs typeface="Cambria"/>
              </a:rPr>
              <a:t>then-</a:t>
            </a:r>
            <a:r>
              <a:rPr sz="2100" spc="-20" dirty="0">
                <a:latin typeface="Cambria"/>
                <a:cs typeface="Cambria"/>
              </a:rPr>
              <a:t>else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35" dirty="0">
                <a:latin typeface="Cambria"/>
                <a:cs typeface="Cambria"/>
              </a:rPr>
              <a:t>case</a:t>
            </a:r>
            <a:endParaRPr sz="21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pc="65" dirty="0"/>
              <a:t>Repetition</a:t>
            </a:r>
          </a:p>
          <a:p>
            <a:pPr marL="652780" lvl="1" indent="-273050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-20" dirty="0">
                <a:latin typeface="Cambria"/>
                <a:cs typeface="Cambria"/>
              </a:rPr>
              <a:t>do-</a:t>
            </a:r>
            <a:r>
              <a:rPr sz="2100" spc="70" dirty="0">
                <a:latin typeface="Cambria"/>
                <a:cs typeface="Cambria"/>
              </a:rPr>
              <a:t>while,</a:t>
            </a:r>
            <a:r>
              <a:rPr sz="2100" spc="170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repeat-</a:t>
            </a:r>
            <a:r>
              <a:rPr sz="2100" spc="80" dirty="0">
                <a:latin typeface="Cambria"/>
                <a:cs typeface="Cambria"/>
              </a:rPr>
              <a:t>until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-25" dirty="0">
                <a:latin typeface="Cambria"/>
                <a:cs typeface="Cambria"/>
              </a:rPr>
              <a:t>for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-10" dirty="0">
                <a:latin typeface="Cambria"/>
                <a:cs typeface="Cambria"/>
              </a:rPr>
              <a:t>select</a:t>
            </a:r>
            <a:endParaRPr sz="21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pc="85" dirty="0"/>
              <a:t>Functions</a:t>
            </a: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pc="55" dirty="0"/>
              <a:t>Traps</a:t>
            </a:r>
          </a:p>
        </p:txBody>
      </p:sp>
      <p:grpSp>
        <p:nvGrpSpPr>
          <p:cNvPr id="8" name="object 8"/>
          <p:cNvGrpSpPr/>
          <p:nvPr/>
        </p:nvGrpSpPr>
        <p:grpSpPr>
          <a:xfrm>
            <a:off x="452437" y="4872037"/>
            <a:ext cx="6562725" cy="1152525"/>
            <a:chOff x="452437" y="4872037"/>
            <a:chExt cx="6562725" cy="1152525"/>
          </a:xfrm>
        </p:grpSpPr>
        <p:sp>
          <p:nvSpPr>
            <p:cNvPr id="9" name="object 9"/>
            <p:cNvSpPr/>
            <p:nvPr/>
          </p:nvSpPr>
          <p:spPr>
            <a:xfrm>
              <a:off x="457200" y="4876800"/>
              <a:ext cx="6553200" cy="1143000"/>
            </a:xfrm>
            <a:custGeom>
              <a:avLst/>
              <a:gdLst/>
              <a:ahLst/>
              <a:cxnLst/>
              <a:rect l="l" t="t" r="r" b="b"/>
              <a:pathLst>
                <a:path w="6553200" h="1143000">
                  <a:moveTo>
                    <a:pt x="6362700" y="0"/>
                  </a:moveTo>
                  <a:lnTo>
                    <a:pt x="190500" y="0"/>
                  </a:lnTo>
                  <a:lnTo>
                    <a:pt x="146821" y="5034"/>
                  </a:lnTo>
                  <a:lnTo>
                    <a:pt x="106724" y="19372"/>
                  </a:lnTo>
                  <a:lnTo>
                    <a:pt x="71353" y="41867"/>
                  </a:lnTo>
                  <a:lnTo>
                    <a:pt x="41851" y="71374"/>
                  </a:lnTo>
                  <a:lnTo>
                    <a:pt x="19363" y="106746"/>
                  </a:lnTo>
                  <a:lnTo>
                    <a:pt x="5031" y="146837"/>
                  </a:lnTo>
                  <a:lnTo>
                    <a:pt x="0" y="190500"/>
                  </a:lnTo>
                  <a:lnTo>
                    <a:pt x="0" y="952500"/>
                  </a:lnTo>
                  <a:lnTo>
                    <a:pt x="5031" y="996178"/>
                  </a:lnTo>
                  <a:lnTo>
                    <a:pt x="19363" y="1036275"/>
                  </a:lnTo>
                  <a:lnTo>
                    <a:pt x="41851" y="1071646"/>
                  </a:lnTo>
                  <a:lnTo>
                    <a:pt x="71353" y="1101148"/>
                  </a:lnTo>
                  <a:lnTo>
                    <a:pt x="106724" y="1123636"/>
                  </a:lnTo>
                  <a:lnTo>
                    <a:pt x="146821" y="1137968"/>
                  </a:lnTo>
                  <a:lnTo>
                    <a:pt x="190500" y="1143000"/>
                  </a:lnTo>
                  <a:lnTo>
                    <a:pt x="6362700" y="1143000"/>
                  </a:lnTo>
                  <a:lnTo>
                    <a:pt x="6406362" y="1137968"/>
                  </a:lnTo>
                  <a:lnTo>
                    <a:pt x="6446453" y="1123636"/>
                  </a:lnTo>
                  <a:lnTo>
                    <a:pt x="6481825" y="1101148"/>
                  </a:lnTo>
                  <a:lnTo>
                    <a:pt x="6511332" y="1071646"/>
                  </a:lnTo>
                  <a:lnTo>
                    <a:pt x="6533827" y="1036275"/>
                  </a:lnTo>
                  <a:lnTo>
                    <a:pt x="6548165" y="996178"/>
                  </a:lnTo>
                  <a:lnTo>
                    <a:pt x="6553200" y="952500"/>
                  </a:lnTo>
                  <a:lnTo>
                    <a:pt x="6553200" y="190500"/>
                  </a:lnTo>
                  <a:lnTo>
                    <a:pt x="6548165" y="146837"/>
                  </a:lnTo>
                  <a:lnTo>
                    <a:pt x="6533827" y="106746"/>
                  </a:lnTo>
                  <a:lnTo>
                    <a:pt x="6511332" y="71374"/>
                  </a:lnTo>
                  <a:lnTo>
                    <a:pt x="6481825" y="41867"/>
                  </a:lnTo>
                  <a:lnTo>
                    <a:pt x="6446453" y="19372"/>
                  </a:lnTo>
                  <a:lnTo>
                    <a:pt x="6406362" y="5034"/>
                  </a:lnTo>
                  <a:lnTo>
                    <a:pt x="6362700" y="0"/>
                  </a:lnTo>
                  <a:close/>
                </a:path>
              </a:pathLst>
            </a:custGeom>
            <a:solidFill>
              <a:srgbClr val="FF0000">
                <a:alpha val="705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57200" y="4876800"/>
              <a:ext cx="6553200" cy="1143000"/>
            </a:xfrm>
            <a:custGeom>
              <a:avLst/>
              <a:gdLst/>
              <a:ahLst/>
              <a:cxnLst/>
              <a:rect l="l" t="t" r="r" b="b"/>
              <a:pathLst>
                <a:path w="6553200" h="1143000">
                  <a:moveTo>
                    <a:pt x="0" y="190500"/>
                  </a:moveTo>
                  <a:lnTo>
                    <a:pt x="5031" y="146837"/>
                  </a:lnTo>
                  <a:lnTo>
                    <a:pt x="19363" y="106746"/>
                  </a:lnTo>
                  <a:lnTo>
                    <a:pt x="41851" y="71374"/>
                  </a:lnTo>
                  <a:lnTo>
                    <a:pt x="71353" y="41867"/>
                  </a:lnTo>
                  <a:lnTo>
                    <a:pt x="106724" y="19372"/>
                  </a:lnTo>
                  <a:lnTo>
                    <a:pt x="146821" y="5034"/>
                  </a:lnTo>
                  <a:lnTo>
                    <a:pt x="190500" y="0"/>
                  </a:lnTo>
                  <a:lnTo>
                    <a:pt x="6362700" y="0"/>
                  </a:lnTo>
                  <a:lnTo>
                    <a:pt x="6406362" y="5034"/>
                  </a:lnTo>
                  <a:lnTo>
                    <a:pt x="6446453" y="19372"/>
                  </a:lnTo>
                  <a:lnTo>
                    <a:pt x="6481825" y="41867"/>
                  </a:lnTo>
                  <a:lnTo>
                    <a:pt x="6511332" y="71374"/>
                  </a:lnTo>
                  <a:lnTo>
                    <a:pt x="6533827" y="106746"/>
                  </a:lnTo>
                  <a:lnTo>
                    <a:pt x="6548165" y="146837"/>
                  </a:lnTo>
                  <a:lnTo>
                    <a:pt x="6553200" y="190500"/>
                  </a:lnTo>
                  <a:lnTo>
                    <a:pt x="6553200" y="952500"/>
                  </a:lnTo>
                  <a:lnTo>
                    <a:pt x="6548165" y="996178"/>
                  </a:lnTo>
                  <a:lnTo>
                    <a:pt x="6533827" y="1036275"/>
                  </a:lnTo>
                  <a:lnTo>
                    <a:pt x="6511332" y="1071646"/>
                  </a:lnTo>
                  <a:lnTo>
                    <a:pt x="6481825" y="1101148"/>
                  </a:lnTo>
                  <a:lnTo>
                    <a:pt x="6446453" y="1123636"/>
                  </a:lnTo>
                  <a:lnTo>
                    <a:pt x="6406362" y="1137968"/>
                  </a:lnTo>
                  <a:lnTo>
                    <a:pt x="6362700" y="1143000"/>
                  </a:lnTo>
                  <a:lnTo>
                    <a:pt x="190500" y="1143000"/>
                  </a:lnTo>
                  <a:lnTo>
                    <a:pt x="146821" y="1137968"/>
                  </a:lnTo>
                  <a:lnTo>
                    <a:pt x="106724" y="1123636"/>
                  </a:lnTo>
                  <a:lnTo>
                    <a:pt x="71353" y="1101148"/>
                  </a:lnTo>
                  <a:lnTo>
                    <a:pt x="41851" y="1071646"/>
                  </a:lnTo>
                  <a:lnTo>
                    <a:pt x="19363" y="1036275"/>
                  </a:lnTo>
                  <a:lnTo>
                    <a:pt x="5031" y="996178"/>
                  </a:lnTo>
                  <a:lnTo>
                    <a:pt x="0" y="952500"/>
                  </a:lnTo>
                  <a:lnTo>
                    <a:pt x="0" y="190500"/>
                  </a:lnTo>
                  <a:close/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5347461" y="5322214"/>
            <a:ext cx="15271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00CC00"/>
                </a:solidFill>
                <a:latin typeface="Times New Roman"/>
                <a:cs typeface="Times New Roman"/>
              </a:rPr>
              <a:t>still</a:t>
            </a:r>
            <a:r>
              <a:rPr sz="2400" spc="-40" dirty="0">
                <a:solidFill>
                  <a:srgbClr val="00CC00"/>
                </a:solidFill>
                <a:latin typeface="Times New Roman"/>
                <a:cs typeface="Times New Roman"/>
              </a:rPr>
              <a:t> </a:t>
            </a:r>
            <a:r>
              <a:rPr sz="2400" dirty="0">
                <a:solidFill>
                  <a:srgbClr val="00CC00"/>
                </a:solidFill>
                <a:latin typeface="Times New Roman"/>
                <a:cs typeface="Times New Roman"/>
              </a:rPr>
              <a:t>to</a:t>
            </a:r>
            <a:r>
              <a:rPr sz="2400" spc="-5" dirty="0">
                <a:solidFill>
                  <a:srgbClr val="00CC00"/>
                </a:solidFill>
                <a:latin typeface="Times New Roman"/>
                <a:cs typeface="Times New Roman"/>
              </a:rPr>
              <a:t> </a:t>
            </a:r>
            <a:r>
              <a:rPr sz="2400" spc="-20" dirty="0">
                <a:solidFill>
                  <a:srgbClr val="00CC00"/>
                </a:solidFill>
                <a:latin typeface="Times New Roman"/>
                <a:cs typeface="Times New Roman"/>
              </a:rPr>
              <a:t>come</a:t>
            </a:r>
            <a:endParaRPr sz="240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62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545338"/>
            <a:ext cx="32232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335" dirty="0">
                <a:latin typeface="Cambria"/>
                <a:cs typeface="Cambria"/>
              </a:rPr>
              <a:t>Shell</a:t>
            </a:r>
            <a:r>
              <a:rPr sz="3000" b="0" cap="small" spc="280" dirty="0">
                <a:latin typeface="Cambria"/>
                <a:cs typeface="Cambria"/>
              </a:rPr>
              <a:t> </a:t>
            </a:r>
            <a:r>
              <a:rPr sz="3000" b="0" cap="small" spc="260" dirty="0">
                <a:latin typeface="Cambria"/>
                <a:cs typeface="Cambria"/>
              </a:rPr>
              <a:t>Functions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63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250206"/>
            <a:ext cx="7127875" cy="4358640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284480" indent="-271780">
              <a:lnSpc>
                <a:spcPct val="100000"/>
              </a:lnSpc>
              <a:spcBef>
                <a:spcPts val="68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225" dirty="0">
                <a:latin typeface="Cambria"/>
                <a:cs typeface="Cambria"/>
              </a:rPr>
              <a:t>A</a:t>
            </a:r>
            <a:r>
              <a:rPr sz="2400" spc="10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shell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function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75" dirty="0">
                <a:latin typeface="Cambria"/>
                <a:cs typeface="Cambria"/>
              </a:rPr>
              <a:t>is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105" dirty="0">
                <a:latin typeface="Cambria"/>
                <a:cs typeface="Cambria"/>
              </a:rPr>
              <a:t>similar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to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 </a:t>
            </a:r>
            <a:r>
              <a:rPr sz="2400" spc="85" dirty="0">
                <a:latin typeface="Cambria"/>
                <a:cs typeface="Cambria"/>
              </a:rPr>
              <a:t>shell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script</a:t>
            </a:r>
            <a:endParaRPr sz="24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dirty="0">
                <a:latin typeface="Cambria"/>
                <a:cs typeface="Cambria"/>
              </a:rPr>
              <a:t>stores</a:t>
            </a:r>
            <a:r>
              <a:rPr sz="2100" spc="215" dirty="0">
                <a:latin typeface="Cambria"/>
                <a:cs typeface="Cambria"/>
              </a:rPr>
              <a:t> </a:t>
            </a:r>
            <a:r>
              <a:rPr sz="2100" spc="130" dirty="0">
                <a:latin typeface="Cambria"/>
                <a:cs typeface="Cambria"/>
              </a:rPr>
              <a:t>a</a:t>
            </a:r>
            <a:r>
              <a:rPr sz="2100" spc="22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series</a:t>
            </a:r>
            <a:r>
              <a:rPr sz="2100" spc="22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of</a:t>
            </a:r>
            <a:r>
              <a:rPr sz="2100" spc="2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commands</a:t>
            </a:r>
            <a:r>
              <a:rPr sz="2100" spc="19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for</a:t>
            </a:r>
            <a:r>
              <a:rPr sz="2100" spc="22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execution</a:t>
            </a:r>
            <a:r>
              <a:rPr sz="2100" spc="210" dirty="0">
                <a:latin typeface="Cambria"/>
                <a:cs typeface="Cambria"/>
              </a:rPr>
              <a:t> </a:t>
            </a:r>
            <a:r>
              <a:rPr sz="2100" spc="70" dirty="0">
                <a:latin typeface="Cambria"/>
                <a:cs typeface="Cambria"/>
              </a:rPr>
              <a:t>later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75" dirty="0">
                <a:latin typeface="Cambria"/>
                <a:cs typeface="Cambria"/>
              </a:rPr>
              <a:t>shell</a:t>
            </a:r>
            <a:r>
              <a:rPr sz="2100" spc="20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stores</a:t>
            </a:r>
            <a:r>
              <a:rPr sz="2100" spc="21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functions</a:t>
            </a:r>
            <a:r>
              <a:rPr sz="2100" spc="22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in</a:t>
            </a:r>
            <a:r>
              <a:rPr sz="2100" spc="20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memory</a:t>
            </a:r>
            <a:endParaRPr sz="2100">
              <a:latin typeface="Cambria"/>
              <a:cs typeface="Cambria"/>
            </a:endParaRPr>
          </a:p>
          <a:p>
            <a:pPr marL="652780" marR="5080" lvl="1" indent="-273685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75" dirty="0">
                <a:latin typeface="Cambria"/>
                <a:cs typeface="Cambria"/>
              </a:rPr>
              <a:t>shell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executes</a:t>
            </a:r>
            <a:r>
              <a:rPr sz="2100" spc="120" dirty="0">
                <a:latin typeface="Cambria"/>
                <a:cs typeface="Cambria"/>
              </a:rPr>
              <a:t> </a:t>
            </a:r>
            <a:r>
              <a:rPr sz="2100" spc="130" dirty="0">
                <a:latin typeface="Cambria"/>
                <a:cs typeface="Cambria"/>
              </a:rPr>
              <a:t>a </a:t>
            </a:r>
            <a:r>
              <a:rPr sz="2100" spc="75" dirty="0">
                <a:latin typeface="Cambria"/>
                <a:cs typeface="Cambria"/>
              </a:rPr>
              <a:t>shell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60" dirty="0">
                <a:latin typeface="Cambria"/>
                <a:cs typeface="Cambria"/>
              </a:rPr>
              <a:t>function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85" dirty="0">
                <a:latin typeface="Cambria"/>
                <a:cs typeface="Cambria"/>
              </a:rPr>
              <a:t>in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same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shell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90" dirty="0">
                <a:latin typeface="Cambria"/>
                <a:cs typeface="Cambria"/>
              </a:rPr>
              <a:t>that </a:t>
            </a:r>
            <a:r>
              <a:rPr sz="2100" spc="55" dirty="0">
                <a:latin typeface="Cambria"/>
                <a:cs typeface="Cambria"/>
              </a:rPr>
              <a:t>called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0" dirty="0">
                <a:latin typeface="Cambria"/>
                <a:cs typeface="Cambria"/>
              </a:rPr>
              <a:t>it</a:t>
            </a:r>
            <a:endParaRPr sz="21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70" dirty="0">
                <a:latin typeface="Cambria"/>
                <a:cs typeface="Cambria"/>
              </a:rPr>
              <a:t>Where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to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define</a:t>
            </a:r>
            <a:endParaRPr sz="24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5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135" dirty="0">
                <a:latin typeface="Cambria"/>
                <a:cs typeface="Cambria"/>
              </a:rPr>
              <a:t>In</a:t>
            </a:r>
            <a:r>
              <a:rPr sz="2100" spc="125" dirty="0">
                <a:latin typeface="Cambria"/>
                <a:cs typeface="Cambria"/>
              </a:rPr>
              <a:t> </a:t>
            </a:r>
            <a:r>
              <a:rPr sz="2100" spc="-10" dirty="0">
                <a:latin typeface="Cambria"/>
                <a:cs typeface="Cambria"/>
              </a:rPr>
              <a:t>.profile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135" dirty="0">
                <a:latin typeface="Cambria"/>
                <a:cs typeface="Cambria"/>
              </a:rPr>
              <a:t>In</a:t>
            </a:r>
            <a:r>
              <a:rPr sz="2100" spc="215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your</a:t>
            </a:r>
            <a:r>
              <a:rPr sz="2100" spc="220" dirty="0">
                <a:latin typeface="Cambria"/>
                <a:cs typeface="Cambria"/>
              </a:rPr>
              <a:t> </a:t>
            </a:r>
            <a:r>
              <a:rPr sz="2100" spc="40" dirty="0">
                <a:latin typeface="Cambria"/>
                <a:cs typeface="Cambria"/>
              </a:rPr>
              <a:t>script</a:t>
            </a:r>
            <a:endParaRPr sz="2100">
              <a:latin typeface="Cambria"/>
              <a:cs typeface="Cambria"/>
            </a:endParaRPr>
          </a:p>
          <a:p>
            <a:pPr marL="652780" lvl="1" indent="-273050">
              <a:lnSpc>
                <a:spcPct val="100000"/>
              </a:lnSpc>
              <a:spcBef>
                <a:spcPts val="500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652780" algn="l"/>
              </a:tabLst>
            </a:pPr>
            <a:r>
              <a:rPr sz="2100" spc="155" dirty="0">
                <a:latin typeface="Cambria"/>
                <a:cs typeface="Cambria"/>
              </a:rPr>
              <a:t>Or</a:t>
            </a:r>
            <a:r>
              <a:rPr sz="2100" spc="150" dirty="0">
                <a:latin typeface="Cambria"/>
                <a:cs typeface="Cambria"/>
              </a:rPr>
              <a:t> </a:t>
            </a:r>
            <a:r>
              <a:rPr sz="2100" dirty="0">
                <a:latin typeface="Cambria"/>
                <a:cs typeface="Cambria"/>
              </a:rPr>
              <a:t>on</a:t>
            </a:r>
            <a:r>
              <a:rPr sz="2100" spc="130" dirty="0">
                <a:latin typeface="Cambria"/>
                <a:cs typeface="Cambria"/>
              </a:rPr>
              <a:t> </a:t>
            </a:r>
            <a:r>
              <a:rPr sz="2100" spc="75" dirty="0">
                <a:latin typeface="Cambria"/>
                <a:cs typeface="Cambria"/>
              </a:rPr>
              <a:t>the</a:t>
            </a:r>
            <a:r>
              <a:rPr sz="2100" spc="140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command</a:t>
            </a:r>
            <a:r>
              <a:rPr sz="2100" spc="105" dirty="0">
                <a:latin typeface="Cambria"/>
                <a:cs typeface="Cambria"/>
              </a:rPr>
              <a:t> </a:t>
            </a:r>
            <a:r>
              <a:rPr sz="2100" spc="45" dirty="0">
                <a:latin typeface="Cambria"/>
                <a:cs typeface="Cambria"/>
              </a:rPr>
              <a:t>line</a:t>
            </a:r>
            <a:endParaRPr sz="2100">
              <a:latin typeface="Cambria"/>
              <a:cs typeface="Cambria"/>
            </a:endParaRPr>
          </a:p>
          <a:p>
            <a:pPr marL="272415" marR="4217035" indent="-272415" algn="r">
              <a:lnSpc>
                <a:spcPct val="100000"/>
              </a:lnSpc>
              <a:spcBef>
                <a:spcPts val="6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72415" algn="l"/>
              </a:tabLst>
            </a:pPr>
            <a:r>
              <a:rPr sz="2400" spc="65" dirty="0">
                <a:latin typeface="Cambria"/>
                <a:cs typeface="Cambria"/>
              </a:rPr>
              <a:t>Remove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function</a:t>
            </a:r>
            <a:endParaRPr sz="2400">
              <a:latin typeface="Cambria"/>
              <a:cs typeface="Cambria"/>
            </a:endParaRPr>
          </a:p>
          <a:p>
            <a:pPr marL="272415" marR="4238625" lvl="1" indent="-272415" algn="r">
              <a:lnSpc>
                <a:spcPct val="100000"/>
              </a:lnSpc>
              <a:spcBef>
                <a:spcPts val="509"/>
              </a:spcBef>
              <a:buClr>
                <a:srgbClr val="FD8537"/>
              </a:buClr>
              <a:buSzPct val="78571"/>
              <a:buFont typeface="Segoe UI Symbol"/>
              <a:buChar char="⚫"/>
              <a:tabLst>
                <a:tab pos="272415" algn="l"/>
              </a:tabLst>
            </a:pPr>
            <a:r>
              <a:rPr sz="2100" spc="140" dirty="0">
                <a:latin typeface="Cambria"/>
                <a:cs typeface="Cambria"/>
              </a:rPr>
              <a:t>Use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80" dirty="0">
                <a:latin typeface="Cambria"/>
                <a:cs typeface="Cambria"/>
              </a:rPr>
              <a:t>unset</a:t>
            </a:r>
            <a:r>
              <a:rPr sz="2100" spc="135" dirty="0">
                <a:latin typeface="Cambria"/>
                <a:cs typeface="Cambria"/>
              </a:rPr>
              <a:t> </a:t>
            </a:r>
            <a:r>
              <a:rPr sz="2100" spc="55" dirty="0">
                <a:latin typeface="Cambria"/>
                <a:cs typeface="Cambria"/>
              </a:rPr>
              <a:t>built-in</a:t>
            </a:r>
            <a:endParaRPr sz="21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316738"/>
            <a:ext cx="3223260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335" dirty="0">
                <a:latin typeface="Cambria"/>
                <a:cs typeface="Cambria"/>
              </a:rPr>
              <a:t>Shell</a:t>
            </a:r>
            <a:r>
              <a:rPr sz="3000" b="0" cap="small" spc="280" dirty="0">
                <a:latin typeface="Cambria"/>
                <a:cs typeface="Cambria"/>
              </a:rPr>
              <a:t> </a:t>
            </a:r>
            <a:r>
              <a:rPr sz="3000" b="0" cap="small" spc="260" dirty="0">
                <a:latin typeface="Cambria"/>
                <a:cs typeface="Cambria"/>
              </a:rPr>
              <a:t>Functions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64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018921"/>
            <a:ext cx="6749415" cy="3463925"/>
          </a:xfrm>
          <a:prstGeom prst="rect">
            <a:avLst/>
          </a:prstGeom>
        </p:spPr>
        <p:txBody>
          <a:bodyPr vert="horz" wrap="square" lIns="0" tIns="8890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7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5" dirty="0">
                <a:latin typeface="Cambria"/>
                <a:cs typeface="Cambria"/>
              </a:rPr>
              <a:t>must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defined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before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they</a:t>
            </a:r>
            <a:r>
              <a:rPr sz="2400" spc="17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be</a:t>
            </a:r>
            <a:r>
              <a:rPr sz="2400" spc="160" dirty="0">
                <a:latin typeface="Cambria"/>
                <a:cs typeface="Cambria"/>
              </a:rPr>
              <a:t> </a:t>
            </a:r>
            <a:r>
              <a:rPr sz="2400" spc="-10" dirty="0">
                <a:latin typeface="Cambria"/>
                <a:cs typeface="Cambria"/>
              </a:rPr>
              <a:t>referenced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60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05" dirty="0">
                <a:latin typeface="Cambria"/>
                <a:cs typeface="Cambria"/>
              </a:rPr>
              <a:t>usually</a:t>
            </a:r>
            <a:r>
              <a:rPr sz="2400" spc="125" dirty="0">
                <a:latin typeface="Cambria"/>
                <a:cs typeface="Cambria"/>
              </a:rPr>
              <a:t> </a:t>
            </a:r>
            <a:r>
              <a:rPr sz="2400" spc="55" dirty="0">
                <a:latin typeface="Cambria"/>
                <a:cs typeface="Cambria"/>
              </a:rPr>
              <a:t>placed</a:t>
            </a:r>
            <a:r>
              <a:rPr sz="2400" spc="130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beginning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50" dirty="0">
                <a:latin typeface="Cambria"/>
                <a:cs typeface="Cambria"/>
              </a:rPr>
              <a:t>script</a:t>
            </a:r>
            <a:endParaRPr sz="2400">
              <a:latin typeface="Cambria"/>
              <a:cs typeface="Cambria"/>
            </a:endParaRPr>
          </a:p>
          <a:p>
            <a:pPr>
              <a:lnSpc>
                <a:spcPct val="100000"/>
              </a:lnSpc>
              <a:spcBef>
                <a:spcPts val="1265"/>
              </a:spcBef>
            </a:pPr>
            <a:endParaRPr sz="2400">
              <a:latin typeface="Cambria"/>
              <a:cs typeface="Cambria"/>
            </a:endParaRPr>
          </a:p>
          <a:p>
            <a:pPr marL="12700">
              <a:lnSpc>
                <a:spcPct val="100000"/>
              </a:lnSpc>
            </a:pPr>
            <a:r>
              <a:rPr sz="2400" u="sng" spc="120" dirty="0">
                <a:uFill>
                  <a:solidFill>
                    <a:srgbClr val="000000"/>
                  </a:solidFill>
                </a:uFill>
                <a:latin typeface="Cambria"/>
                <a:cs typeface="Cambria"/>
              </a:rPr>
              <a:t>Syntax:</a:t>
            </a:r>
            <a:endParaRPr sz="2400">
              <a:latin typeface="Cambria"/>
              <a:cs typeface="Cambria"/>
            </a:endParaRPr>
          </a:p>
          <a:p>
            <a:pPr marL="928369" marR="3075305" indent="-549275">
              <a:lnSpc>
                <a:spcPct val="120000"/>
              </a:lnSpc>
              <a:spcBef>
                <a:spcPts val="2775"/>
              </a:spcBef>
            </a:pPr>
            <a:r>
              <a:rPr sz="2400" b="1" spc="-10" dirty="0">
                <a:latin typeface="Courier New"/>
                <a:cs typeface="Courier New"/>
              </a:rPr>
              <a:t>function-</a:t>
            </a:r>
            <a:r>
              <a:rPr sz="2400" b="1" dirty="0">
                <a:latin typeface="Courier New"/>
                <a:cs typeface="Courier New"/>
              </a:rPr>
              <a:t>name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()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{ </a:t>
            </a:r>
            <a:r>
              <a:rPr sz="2400" b="1" spc="-10" dirty="0">
                <a:latin typeface="Courier New"/>
                <a:cs typeface="Courier New"/>
              </a:rPr>
              <a:t>statements</a:t>
            </a:r>
            <a:endParaRPr sz="2400">
              <a:latin typeface="Courier New"/>
              <a:cs typeface="Courier New"/>
            </a:endParaRPr>
          </a:p>
          <a:p>
            <a:pPr marL="379730">
              <a:lnSpc>
                <a:spcPct val="100000"/>
              </a:lnSpc>
              <a:spcBef>
                <a:spcPts val="580"/>
              </a:spcBef>
            </a:pPr>
            <a:r>
              <a:rPr sz="2400" b="1" spc="-50" dirty="0">
                <a:latin typeface="Courier New"/>
                <a:cs typeface="Courier New"/>
              </a:rPr>
              <a:t>}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545338"/>
            <a:ext cx="359282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220" dirty="0">
                <a:latin typeface="Cambria"/>
                <a:cs typeface="Cambria"/>
              </a:rPr>
              <a:t> </a:t>
            </a:r>
            <a:r>
              <a:rPr sz="3000" b="0" cap="small" spc="265" dirty="0">
                <a:latin typeface="Cambria"/>
                <a:cs typeface="Cambria"/>
              </a:rPr>
              <a:t>function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630"/>
              </a:lnSpc>
            </a:pPr>
            <a:r>
              <a:rPr spc="-25" dirty="0"/>
              <a:t>65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340561"/>
            <a:ext cx="6331585" cy="4446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b="1" spc="-10" dirty="0">
                <a:latin typeface="Courier New"/>
                <a:cs typeface="Courier New"/>
              </a:rPr>
              <a:t>#!/bin/bash</a:t>
            </a:r>
            <a:endParaRPr sz="240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790"/>
              </a:spcBef>
            </a:pP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sz="2400" b="1" dirty="0">
                <a:latin typeface="Courier New"/>
                <a:cs typeface="Courier New"/>
              </a:rPr>
              <a:t>test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()</a:t>
            </a:r>
            <a:r>
              <a:rPr sz="2400" b="1" spc="-30" dirty="0">
                <a:latin typeface="Courier New"/>
                <a:cs typeface="Courier New"/>
              </a:rPr>
              <a:t> </a:t>
            </a:r>
            <a:r>
              <a:rPr sz="2400" b="1" spc="-50" dirty="0">
                <a:latin typeface="Courier New"/>
                <a:cs typeface="Courier New"/>
              </a:rPr>
              <a:t>{</a:t>
            </a:r>
            <a:endParaRPr sz="2400">
              <a:latin typeface="Courier New"/>
              <a:cs typeface="Courier New"/>
            </a:endParaRPr>
          </a:p>
          <a:p>
            <a:pPr marL="286385">
              <a:lnSpc>
                <a:spcPct val="100000"/>
              </a:lnSpc>
              <a:spcBef>
                <a:spcPts val="310"/>
              </a:spcBef>
            </a:pPr>
            <a:r>
              <a:rPr sz="2400" b="1" dirty="0">
                <a:latin typeface="Courier New"/>
                <a:cs typeface="Courier New"/>
              </a:rPr>
              <a:t>#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This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is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a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simple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function</a:t>
            </a:r>
            <a:endParaRPr sz="2400">
              <a:latin typeface="Courier New"/>
              <a:cs typeface="Courier New"/>
            </a:endParaRPr>
          </a:p>
          <a:p>
            <a:pPr marL="286385" marR="5080">
              <a:lnSpc>
                <a:spcPct val="110800"/>
              </a:lnSpc>
              <a:spcBef>
                <a:spcPts val="5"/>
              </a:spcBef>
            </a:pP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"This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is</a:t>
            </a:r>
            <a:r>
              <a:rPr sz="2400" b="1" spc="-1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a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test</a:t>
            </a:r>
            <a:r>
              <a:rPr sz="2400" b="1" spc="-5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function." </a:t>
            </a:r>
            <a:r>
              <a:rPr sz="2400" b="1" dirty="0">
                <a:latin typeface="Courier New"/>
                <a:cs typeface="Courier New"/>
              </a:rPr>
              <a:t>echo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"Now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exiting</a:t>
            </a:r>
            <a:r>
              <a:rPr sz="2400" b="1" spc="-2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test</a:t>
            </a:r>
            <a:r>
              <a:rPr sz="2400" b="1" spc="-2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function."</a:t>
            </a:r>
            <a:endParaRPr sz="24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10"/>
              </a:spcBef>
            </a:pPr>
            <a:r>
              <a:rPr sz="2400" b="1" spc="-50" dirty="0">
                <a:latin typeface="Courier New"/>
                <a:cs typeface="Courier New"/>
              </a:rPr>
              <a:t>}</a:t>
            </a:r>
            <a:endParaRPr sz="2400">
              <a:latin typeface="Courier New"/>
              <a:cs typeface="Courier New"/>
            </a:endParaRPr>
          </a:p>
          <a:p>
            <a:pPr marL="12700" marR="469265">
              <a:lnSpc>
                <a:spcPct val="221700"/>
              </a:lnSpc>
              <a:spcBef>
                <a:spcPts val="5"/>
              </a:spcBef>
            </a:pPr>
            <a:r>
              <a:rPr sz="2400" b="1" dirty="0">
                <a:latin typeface="Courier New"/>
                <a:cs typeface="Courier New"/>
              </a:rPr>
              <a:t>#</a:t>
            </a:r>
            <a:r>
              <a:rPr sz="2400" b="1" spc="-5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declaration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must</a:t>
            </a:r>
            <a:r>
              <a:rPr sz="2400" b="1" spc="-45" dirty="0">
                <a:latin typeface="Courier New"/>
                <a:cs typeface="Courier New"/>
              </a:rPr>
              <a:t> </a:t>
            </a:r>
            <a:r>
              <a:rPr sz="2400" b="1" dirty="0">
                <a:latin typeface="Courier New"/>
                <a:cs typeface="Courier New"/>
              </a:rPr>
              <a:t>precede</a:t>
            </a:r>
            <a:r>
              <a:rPr sz="2400" b="1" spc="-40" dirty="0">
                <a:latin typeface="Courier New"/>
                <a:cs typeface="Courier New"/>
              </a:rPr>
              <a:t> </a:t>
            </a:r>
            <a:r>
              <a:rPr sz="2400" b="1" spc="-10" dirty="0">
                <a:latin typeface="Courier New"/>
                <a:cs typeface="Courier New"/>
              </a:rPr>
              <a:t>call: </a:t>
            </a:r>
            <a:r>
              <a:rPr sz="2400" b="1" spc="-20" dirty="0">
                <a:latin typeface="Courier New"/>
                <a:cs typeface="Courier New"/>
              </a:rPr>
              <a:t>test</a:t>
            </a:r>
            <a:endParaRPr sz="2400">
              <a:latin typeface="Courier New"/>
              <a:cs typeface="Courier New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535940" y="469138"/>
            <a:ext cx="3592829" cy="482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000" b="0" cap="small" spc="265" dirty="0">
                <a:latin typeface="Cambria"/>
                <a:cs typeface="Cambria"/>
              </a:rPr>
              <a:t>Example:</a:t>
            </a:r>
            <a:r>
              <a:rPr sz="3000" b="0" cap="small" spc="220" dirty="0">
                <a:latin typeface="Cambria"/>
                <a:cs typeface="Cambria"/>
              </a:rPr>
              <a:t> </a:t>
            </a:r>
            <a:r>
              <a:rPr sz="3000" b="0" cap="small" spc="265" dirty="0">
                <a:latin typeface="Cambria"/>
                <a:cs typeface="Cambria"/>
              </a:rPr>
              <a:t>function</a:t>
            </a:r>
            <a:endParaRPr sz="3000">
              <a:latin typeface="Cambria"/>
              <a:cs typeface="Cambri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35940" y="1150899"/>
            <a:ext cx="7674609" cy="5318760"/>
          </a:xfrm>
          <a:prstGeom prst="rect">
            <a:avLst/>
          </a:prstGeom>
        </p:spPr>
        <p:txBody>
          <a:bodyPr vert="horz" wrap="square" lIns="0" tIns="5587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9"/>
              </a:spcBef>
            </a:pPr>
            <a:r>
              <a:rPr sz="2200" b="1" spc="-10" dirty="0">
                <a:latin typeface="Courier New"/>
                <a:cs typeface="Courier New"/>
              </a:rPr>
              <a:t>#!/bin/bash</a:t>
            </a:r>
            <a:endParaRPr sz="2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2200" b="1" dirty="0">
                <a:latin typeface="Courier New"/>
                <a:cs typeface="Courier New"/>
              </a:rPr>
              <a:t>fun</a:t>
            </a:r>
            <a:r>
              <a:rPr sz="2200" b="1" spc="-3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()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{</a:t>
            </a:r>
            <a:r>
              <a:rPr sz="2200" b="1" spc="-2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#</a:t>
            </a:r>
            <a:r>
              <a:rPr sz="2200" b="1" spc="-4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A</a:t>
            </a:r>
            <a:r>
              <a:rPr sz="2200" b="1" spc="-3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somewhat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more</a:t>
            </a:r>
            <a:r>
              <a:rPr sz="2200" b="1" spc="-2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complex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function.</a:t>
            </a:r>
            <a:endParaRPr sz="2200">
              <a:latin typeface="Courier New"/>
              <a:cs typeface="Courier New"/>
            </a:endParaRPr>
          </a:p>
          <a:p>
            <a:pPr marL="286385">
              <a:lnSpc>
                <a:spcPct val="100000"/>
              </a:lnSpc>
              <a:spcBef>
                <a:spcPts val="340"/>
              </a:spcBef>
            </a:pPr>
            <a:r>
              <a:rPr sz="2200" b="1" spc="-10" dirty="0">
                <a:latin typeface="Courier New"/>
                <a:cs typeface="Courier New"/>
              </a:rPr>
              <a:t>JUST_A_SECOND=1</a:t>
            </a:r>
            <a:endParaRPr sz="2200">
              <a:latin typeface="Courier New"/>
              <a:cs typeface="Courier New"/>
            </a:endParaRPr>
          </a:p>
          <a:p>
            <a:pPr marL="286385">
              <a:lnSpc>
                <a:spcPct val="100000"/>
              </a:lnSpc>
              <a:spcBef>
                <a:spcPts val="335"/>
              </a:spcBef>
            </a:pPr>
            <a:r>
              <a:rPr sz="2200" b="1" dirty="0">
                <a:latin typeface="Courier New"/>
                <a:cs typeface="Courier New"/>
              </a:rPr>
              <a:t>let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spc="-25" dirty="0">
                <a:latin typeface="Courier New"/>
                <a:cs typeface="Courier New"/>
              </a:rPr>
              <a:t>i=0</a:t>
            </a:r>
            <a:endParaRPr sz="2200">
              <a:latin typeface="Courier New"/>
              <a:cs typeface="Courier New"/>
            </a:endParaRPr>
          </a:p>
          <a:p>
            <a:pPr marL="286385">
              <a:lnSpc>
                <a:spcPct val="100000"/>
              </a:lnSpc>
              <a:spcBef>
                <a:spcPts val="335"/>
              </a:spcBef>
            </a:pPr>
            <a:r>
              <a:rPr sz="2200" b="1" spc="-10" dirty="0">
                <a:latin typeface="Courier New"/>
                <a:cs typeface="Courier New"/>
              </a:rPr>
              <a:t>REPEATS=10</a:t>
            </a:r>
            <a:endParaRPr sz="2200">
              <a:latin typeface="Courier New"/>
              <a:cs typeface="Courier New"/>
            </a:endParaRPr>
          </a:p>
          <a:p>
            <a:pPr marL="286385" marR="1147445">
              <a:lnSpc>
                <a:spcPct val="112700"/>
              </a:lnSpc>
              <a:spcBef>
                <a:spcPts val="5"/>
              </a:spcBef>
            </a:pPr>
            <a:r>
              <a:rPr sz="2200" b="1" dirty="0">
                <a:latin typeface="Courier New"/>
                <a:cs typeface="Courier New"/>
              </a:rPr>
              <a:t>echo</a:t>
            </a:r>
            <a:r>
              <a:rPr sz="2200" b="1" spc="-3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"And</a:t>
            </a:r>
            <a:r>
              <a:rPr sz="2200" b="1" spc="-2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now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the</a:t>
            </a:r>
            <a:r>
              <a:rPr sz="2200" b="1" spc="-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fun</a:t>
            </a:r>
            <a:r>
              <a:rPr sz="2200" b="1" spc="-2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really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begins." </a:t>
            </a:r>
            <a:r>
              <a:rPr sz="2200" b="1" dirty="0">
                <a:latin typeface="Courier New"/>
                <a:cs typeface="Courier New"/>
              </a:rPr>
              <a:t>while</a:t>
            </a:r>
            <a:r>
              <a:rPr sz="2200" b="1" spc="-2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[</a:t>
            </a:r>
            <a:r>
              <a:rPr sz="2200" b="1" spc="-2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$i</a:t>
            </a:r>
            <a:r>
              <a:rPr sz="2200" b="1" spc="-40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-</a:t>
            </a:r>
            <a:r>
              <a:rPr sz="2200" b="1" dirty="0">
                <a:latin typeface="Courier New"/>
                <a:cs typeface="Courier New"/>
              </a:rPr>
              <a:t>lt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$REPEATS</a:t>
            </a:r>
            <a:r>
              <a:rPr sz="2200" b="1" spc="-30" dirty="0">
                <a:latin typeface="Courier New"/>
                <a:cs typeface="Courier New"/>
              </a:rPr>
              <a:t> </a:t>
            </a:r>
            <a:r>
              <a:rPr sz="2200" b="1" spc="-50" dirty="0">
                <a:latin typeface="Courier New"/>
                <a:cs typeface="Courier New"/>
              </a:rPr>
              <a:t>]</a:t>
            </a:r>
            <a:endParaRPr sz="2200">
              <a:latin typeface="Courier New"/>
              <a:cs typeface="Courier New"/>
            </a:endParaRPr>
          </a:p>
          <a:p>
            <a:pPr marL="286385">
              <a:lnSpc>
                <a:spcPct val="100000"/>
              </a:lnSpc>
              <a:spcBef>
                <a:spcPts val="335"/>
              </a:spcBef>
            </a:pPr>
            <a:r>
              <a:rPr sz="2200" b="1" spc="-25" dirty="0">
                <a:latin typeface="Courier New"/>
                <a:cs typeface="Courier New"/>
              </a:rPr>
              <a:t>do</a:t>
            </a:r>
            <a:endParaRPr sz="22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340"/>
              </a:spcBef>
            </a:pPr>
            <a:r>
              <a:rPr sz="2200" b="1" dirty="0">
                <a:latin typeface="Courier New"/>
                <a:cs typeface="Courier New"/>
              </a:rPr>
              <a:t>echo</a:t>
            </a:r>
            <a:r>
              <a:rPr sz="2200" b="1" spc="-35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"-</a:t>
            </a:r>
            <a:r>
              <a:rPr sz="2200" b="1" dirty="0">
                <a:latin typeface="Courier New"/>
                <a:cs typeface="Courier New"/>
              </a:rPr>
              <a:t>-</a:t>
            </a:r>
            <a:r>
              <a:rPr sz="2200" b="1" spc="-10" dirty="0">
                <a:latin typeface="Courier New"/>
                <a:cs typeface="Courier New"/>
              </a:rPr>
              <a:t>-</a:t>
            </a:r>
            <a:r>
              <a:rPr sz="2200" b="1" spc="-25" dirty="0">
                <a:latin typeface="Courier New"/>
                <a:cs typeface="Courier New"/>
              </a:rPr>
              <a:t>--</a:t>
            </a:r>
            <a:r>
              <a:rPr sz="2200" b="1" dirty="0">
                <a:latin typeface="Courier New"/>
                <a:cs typeface="Courier New"/>
              </a:rPr>
              <a:t>-</a:t>
            </a:r>
            <a:r>
              <a:rPr sz="2200" b="1" spc="-10" dirty="0">
                <a:latin typeface="Courier New"/>
                <a:cs typeface="Courier New"/>
              </a:rPr>
              <a:t>-</a:t>
            </a:r>
            <a:r>
              <a:rPr sz="2200" b="1" dirty="0">
                <a:latin typeface="Courier New"/>
                <a:cs typeface="Courier New"/>
              </a:rPr>
              <a:t>FUNCTIONS</a:t>
            </a:r>
            <a:r>
              <a:rPr sz="2200" b="1" spc="-35" dirty="0">
                <a:latin typeface="Courier New"/>
                <a:cs typeface="Courier New"/>
              </a:rPr>
              <a:t> </a:t>
            </a:r>
            <a:r>
              <a:rPr sz="2200" b="1" dirty="0">
                <a:latin typeface="Courier New"/>
                <a:cs typeface="Courier New"/>
              </a:rPr>
              <a:t>are</a:t>
            </a:r>
            <a:r>
              <a:rPr sz="2200" b="1" spc="-5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fun-</a:t>
            </a:r>
            <a:r>
              <a:rPr sz="2200" b="1" spc="-25" dirty="0">
                <a:latin typeface="Courier New"/>
                <a:cs typeface="Courier New"/>
              </a:rPr>
              <a:t>-</a:t>
            </a:r>
            <a:r>
              <a:rPr sz="2200" b="1" dirty="0">
                <a:latin typeface="Courier New"/>
                <a:cs typeface="Courier New"/>
              </a:rPr>
              <a:t>-</a:t>
            </a:r>
            <a:r>
              <a:rPr sz="2200" b="1" spc="-25" dirty="0">
                <a:latin typeface="Courier New"/>
                <a:cs typeface="Courier New"/>
              </a:rPr>
              <a:t>-</a:t>
            </a:r>
            <a:r>
              <a:rPr sz="2200" b="1" dirty="0">
                <a:latin typeface="Courier New"/>
                <a:cs typeface="Courier New"/>
              </a:rPr>
              <a:t>-</a:t>
            </a:r>
            <a:r>
              <a:rPr sz="2200" b="1" spc="-10" dirty="0">
                <a:latin typeface="Courier New"/>
                <a:cs typeface="Courier New"/>
              </a:rPr>
              <a:t>-</a:t>
            </a:r>
            <a:r>
              <a:rPr sz="2200" b="1" spc="-25" dirty="0">
                <a:latin typeface="Courier New"/>
                <a:cs typeface="Courier New"/>
              </a:rPr>
              <a:t>-</a:t>
            </a:r>
            <a:r>
              <a:rPr sz="2200" b="1" spc="-10" dirty="0">
                <a:latin typeface="Courier New"/>
                <a:cs typeface="Courier New"/>
              </a:rPr>
              <a:t>-</a:t>
            </a:r>
            <a:r>
              <a:rPr sz="2200" b="1" spc="-35" dirty="0">
                <a:latin typeface="Courier New"/>
                <a:cs typeface="Courier New"/>
              </a:rPr>
              <a:t>&gt;"</a:t>
            </a:r>
            <a:endParaRPr sz="22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335"/>
              </a:spcBef>
            </a:pPr>
            <a:r>
              <a:rPr sz="2200" b="1" dirty="0">
                <a:latin typeface="Courier New"/>
                <a:cs typeface="Courier New"/>
              </a:rPr>
              <a:t>sleep</a:t>
            </a:r>
            <a:r>
              <a:rPr sz="2200" b="1" spc="-60" dirty="0">
                <a:latin typeface="Courier New"/>
                <a:cs typeface="Courier New"/>
              </a:rPr>
              <a:t> </a:t>
            </a:r>
            <a:r>
              <a:rPr sz="2200" b="1" spc="-10" dirty="0">
                <a:latin typeface="Courier New"/>
                <a:cs typeface="Courier New"/>
              </a:rPr>
              <a:t>$JUST_A_SECOND</a:t>
            </a:r>
            <a:endParaRPr sz="2200">
              <a:latin typeface="Courier New"/>
              <a:cs typeface="Courier New"/>
            </a:endParaRPr>
          </a:p>
          <a:p>
            <a:pPr marL="927100">
              <a:lnSpc>
                <a:spcPct val="100000"/>
              </a:lnSpc>
              <a:spcBef>
                <a:spcPts val="335"/>
              </a:spcBef>
            </a:pPr>
            <a:r>
              <a:rPr sz="2200" b="1" dirty="0">
                <a:latin typeface="Courier New"/>
                <a:cs typeface="Courier New"/>
              </a:rPr>
              <a:t>let</a:t>
            </a:r>
            <a:r>
              <a:rPr sz="2200" b="1" spc="-40" dirty="0">
                <a:latin typeface="Courier New"/>
                <a:cs typeface="Courier New"/>
              </a:rPr>
              <a:t> </a:t>
            </a:r>
            <a:r>
              <a:rPr sz="2200" b="1" spc="-20" dirty="0">
                <a:latin typeface="Courier New"/>
                <a:cs typeface="Courier New"/>
              </a:rPr>
              <a:t>i+=1</a:t>
            </a:r>
            <a:endParaRPr sz="2200">
              <a:latin typeface="Courier New"/>
              <a:cs typeface="Courier New"/>
            </a:endParaRPr>
          </a:p>
          <a:p>
            <a:pPr marL="286385">
              <a:lnSpc>
                <a:spcPct val="100000"/>
              </a:lnSpc>
              <a:spcBef>
                <a:spcPts val="340"/>
              </a:spcBef>
            </a:pPr>
            <a:r>
              <a:rPr sz="2200" b="1" spc="-20" dirty="0">
                <a:latin typeface="Courier New"/>
                <a:cs typeface="Courier New"/>
              </a:rPr>
              <a:t>done</a:t>
            </a:r>
            <a:endParaRPr sz="2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2200" b="1" spc="-50" dirty="0">
                <a:latin typeface="Courier New"/>
                <a:cs typeface="Courier New"/>
              </a:rPr>
              <a:t>}</a:t>
            </a:r>
            <a:endParaRPr sz="220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335"/>
              </a:spcBef>
            </a:pPr>
            <a:r>
              <a:rPr sz="2200" b="1" spc="-25" dirty="0">
                <a:latin typeface="Courier New"/>
                <a:cs typeface="Courier New"/>
              </a:rPr>
              <a:t>fun</a:t>
            </a:r>
            <a:endParaRPr sz="2200">
              <a:latin typeface="Courier New"/>
              <a:cs typeface="Courier New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66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24402" rIns="0" bIns="0" rtlCol="0">
            <a:spAutoFit/>
          </a:bodyPr>
          <a:lstStyle/>
          <a:p>
            <a:pPr marL="64769">
              <a:lnSpc>
                <a:spcPct val="100000"/>
              </a:lnSpc>
              <a:spcBef>
                <a:spcPts val="100"/>
              </a:spcBef>
            </a:pPr>
            <a:r>
              <a:rPr spc="290" dirty="0"/>
              <a:t>ARRAY</a:t>
            </a:r>
            <a:r>
              <a:rPr spc="335" dirty="0"/>
              <a:t> </a:t>
            </a:r>
            <a:r>
              <a:rPr spc="300" dirty="0"/>
              <a:t>VARIABLE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8332089" y="5889964"/>
            <a:ext cx="205740" cy="2228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630"/>
              </a:lnSpc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67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09117" y="1400683"/>
            <a:ext cx="8016240" cy="28911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85115" indent="-272415">
              <a:lnSpc>
                <a:spcPct val="100000"/>
              </a:lnSpc>
              <a:spcBef>
                <a:spcPts val="10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</a:tabLst>
            </a:pPr>
            <a:r>
              <a:rPr sz="2400" spc="110" dirty="0">
                <a:latin typeface="Cambria"/>
                <a:cs typeface="Cambria"/>
              </a:rPr>
              <a:t>This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can</a:t>
            </a:r>
            <a:r>
              <a:rPr sz="2400" spc="15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hold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multiple</a:t>
            </a:r>
            <a:r>
              <a:rPr sz="2400" spc="140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values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135" dirty="0">
                <a:latin typeface="Cambria"/>
                <a:cs typeface="Cambria"/>
              </a:rPr>
              <a:t>at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85" dirty="0">
                <a:latin typeface="Cambria"/>
                <a:cs typeface="Cambria"/>
              </a:rPr>
              <a:t>the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90" dirty="0">
                <a:latin typeface="Cambria"/>
                <a:cs typeface="Cambria"/>
              </a:rPr>
              <a:t>same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time.</a:t>
            </a:r>
            <a:endParaRPr sz="2400">
              <a:latin typeface="Cambria"/>
              <a:cs typeface="Cambria"/>
            </a:endParaRPr>
          </a:p>
          <a:p>
            <a:pPr marL="284480" indent="-271780">
              <a:lnSpc>
                <a:spcPct val="100000"/>
              </a:lnSpc>
              <a:spcBef>
                <a:spcPts val="2040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100" dirty="0">
                <a:latin typeface="Cambria"/>
                <a:cs typeface="Cambria"/>
              </a:rPr>
              <a:t>Arrays</a:t>
            </a:r>
            <a:r>
              <a:rPr sz="2400" spc="20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provide</a:t>
            </a:r>
            <a:r>
              <a:rPr sz="2400" spc="165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20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method</a:t>
            </a:r>
            <a:r>
              <a:rPr sz="2400" spc="190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204" dirty="0">
                <a:latin typeface="Cambria"/>
                <a:cs typeface="Cambria"/>
              </a:rPr>
              <a:t> </a:t>
            </a:r>
            <a:r>
              <a:rPr sz="2400" spc="60" dirty="0">
                <a:latin typeface="Cambria"/>
                <a:cs typeface="Cambria"/>
              </a:rPr>
              <a:t>grouping</a:t>
            </a:r>
            <a:r>
              <a:rPr sz="2400" spc="175" dirty="0">
                <a:latin typeface="Cambria"/>
                <a:cs typeface="Cambria"/>
              </a:rPr>
              <a:t> </a:t>
            </a:r>
            <a:r>
              <a:rPr sz="2400" spc="150" dirty="0">
                <a:latin typeface="Cambria"/>
                <a:cs typeface="Cambria"/>
              </a:rPr>
              <a:t>a</a:t>
            </a:r>
            <a:r>
              <a:rPr sz="2400" spc="200" dirty="0">
                <a:latin typeface="Cambria"/>
                <a:cs typeface="Cambria"/>
              </a:rPr>
              <a:t> </a:t>
            </a:r>
            <a:r>
              <a:rPr sz="2400" spc="65" dirty="0">
                <a:latin typeface="Cambria"/>
                <a:cs typeface="Cambria"/>
              </a:rPr>
              <a:t>set</a:t>
            </a:r>
            <a:r>
              <a:rPr sz="2400" spc="204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80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variables.</a:t>
            </a:r>
            <a:endParaRPr sz="2400">
              <a:latin typeface="Cambria"/>
              <a:cs typeface="Cambria"/>
            </a:endParaRPr>
          </a:p>
          <a:p>
            <a:pPr marL="368935" indent="-356235">
              <a:lnSpc>
                <a:spcPct val="100000"/>
              </a:lnSpc>
              <a:spcBef>
                <a:spcPts val="2039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368935" algn="l"/>
              </a:tabLst>
            </a:pPr>
            <a:r>
              <a:rPr sz="2400" spc="105" dirty="0">
                <a:latin typeface="Cambria"/>
                <a:cs typeface="Cambria"/>
              </a:rPr>
              <a:t>syntax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dirty="0">
                <a:latin typeface="Cambria"/>
                <a:cs typeface="Cambria"/>
              </a:rPr>
              <a:t>of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95" dirty="0">
                <a:latin typeface="Cambria"/>
                <a:cs typeface="Cambria"/>
              </a:rPr>
              <a:t>array</a:t>
            </a:r>
            <a:r>
              <a:rPr sz="2400" spc="135" dirty="0">
                <a:latin typeface="Cambria"/>
                <a:cs typeface="Cambria"/>
              </a:rPr>
              <a:t> </a:t>
            </a:r>
            <a:r>
              <a:rPr sz="2400" spc="80" dirty="0">
                <a:latin typeface="Cambria"/>
                <a:cs typeface="Cambria"/>
              </a:rPr>
              <a:t>initialization</a:t>
            </a:r>
            <a:endParaRPr sz="2400">
              <a:latin typeface="Cambria"/>
              <a:cs typeface="Cambria"/>
            </a:endParaRPr>
          </a:p>
          <a:p>
            <a:pPr marL="284480" indent="-271780">
              <a:lnSpc>
                <a:spcPct val="100000"/>
              </a:lnSpc>
              <a:spcBef>
                <a:spcPts val="2039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4480" algn="l"/>
              </a:tabLst>
            </a:pPr>
            <a:r>
              <a:rPr sz="2400" spc="75" dirty="0">
                <a:latin typeface="Cambria"/>
                <a:cs typeface="Cambria"/>
              </a:rPr>
              <a:t>Array=(va1</a:t>
            </a:r>
            <a:r>
              <a:rPr sz="2400" spc="150" dirty="0">
                <a:latin typeface="Cambria"/>
                <a:cs typeface="Cambria"/>
              </a:rPr>
              <a:t> </a:t>
            </a:r>
            <a:r>
              <a:rPr sz="2400" spc="70" dirty="0">
                <a:latin typeface="Cambria"/>
                <a:cs typeface="Cambria"/>
              </a:rPr>
              <a:t>va2</a:t>
            </a:r>
            <a:r>
              <a:rPr sz="2400" spc="145" dirty="0">
                <a:latin typeface="Cambria"/>
                <a:cs typeface="Cambria"/>
              </a:rPr>
              <a:t> </a:t>
            </a:r>
            <a:r>
              <a:rPr sz="2400" spc="-20" dirty="0">
                <a:latin typeface="Cambria"/>
                <a:cs typeface="Cambria"/>
              </a:rPr>
              <a:t>va3)</a:t>
            </a:r>
            <a:endParaRPr sz="2400">
              <a:latin typeface="Cambria"/>
              <a:cs typeface="Cambria"/>
            </a:endParaRPr>
          </a:p>
          <a:p>
            <a:pPr marL="285115" indent="-272415">
              <a:lnSpc>
                <a:spcPct val="100000"/>
              </a:lnSpc>
              <a:spcBef>
                <a:spcPts val="2045"/>
              </a:spcBef>
              <a:buClr>
                <a:srgbClr val="FD8537"/>
              </a:buClr>
              <a:buSzPct val="68750"/>
              <a:buFont typeface="Wingdings"/>
              <a:buChar char=""/>
              <a:tabLst>
                <a:tab pos="285115" algn="l"/>
                <a:tab pos="1080135" algn="l"/>
              </a:tabLst>
            </a:pPr>
            <a:r>
              <a:rPr sz="2400" spc="-20" dirty="0">
                <a:latin typeface="Cambria"/>
                <a:cs typeface="Cambria"/>
              </a:rPr>
              <a:t>echo</a:t>
            </a:r>
            <a:r>
              <a:rPr sz="2400" dirty="0">
                <a:latin typeface="Cambria"/>
                <a:cs typeface="Cambria"/>
              </a:rPr>
              <a:t>	</a:t>
            </a:r>
            <a:r>
              <a:rPr sz="2400" spc="75" dirty="0">
                <a:latin typeface="Cambria"/>
                <a:cs typeface="Cambria"/>
              </a:rPr>
              <a:t>“first</a:t>
            </a:r>
            <a:r>
              <a:rPr sz="2400" spc="114" dirty="0">
                <a:latin typeface="Cambria"/>
                <a:cs typeface="Cambria"/>
              </a:rPr>
              <a:t> </a:t>
            </a:r>
            <a:r>
              <a:rPr sz="2400" spc="40" dirty="0">
                <a:latin typeface="Cambria"/>
                <a:cs typeface="Cambria"/>
              </a:rPr>
              <a:t>value=${Array[0]}”</a:t>
            </a:r>
            <a:endParaRPr sz="2400">
              <a:latin typeface="Cambria"/>
              <a:cs typeface="Cambria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516890" y="562545"/>
          <a:ext cx="7645400" cy="59156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03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22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9095">
                <a:tc>
                  <a:txBody>
                    <a:bodyPr/>
                    <a:lstStyle/>
                    <a:p>
                      <a:pPr marL="31750">
                        <a:lnSpc>
                          <a:spcPts val="2135"/>
                        </a:lnSpc>
                      </a:pPr>
                      <a:r>
                        <a:rPr sz="1800" spc="95" dirty="0">
                          <a:latin typeface="Cambria"/>
                          <a:cs typeface="Cambria"/>
                        </a:rPr>
                        <a:t>Syntax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ts val="2135"/>
                        </a:lnSpc>
                      </a:pPr>
                      <a:r>
                        <a:rPr sz="1800" spc="65" dirty="0">
                          <a:latin typeface="Cambria"/>
                          <a:cs typeface="Cambria"/>
                        </a:rPr>
                        <a:t>Result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7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-10" dirty="0">
                          <a:latin typeface="Cambria"/>
                          <a:cs typeface="Cambria"/>
                        </a:rPr>
                        <a:t>arr=()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95" dirty="0">
                          <a:latin typeface="Cambria"/>
                          <a:cs typeface="Cambria"/>
                        </a:rPr>
                        <a:t>Create</a:t>
                      </a:r>
                      <a:r>
                        <a:rPr sz="1800" spc="17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an</a:t>
                      </a:r>
                      <a:r>
                        <a:rPr sz="1800" spc="19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empty</a:t>
                      </a:r>
                      <a:r>
                        <a:rPr sz="18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array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7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dirty="0">
                          <a:latin typeface="Cambria"/>
                          <a:cs typeface="Cambria"/>
                        </a:rPr>
                        <a:t>arr=(1</a:t>
                      </a:r>
                      <a:r>
                        <a:rPr sz="1800" spc="18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2</a:t>
                      </a:r>
                      <a:r>
                        <a:rPr sz="1800" spc="2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25" dirty="0">
                          <a:latin typeface="Cambria"/>
                          <a:cs typeface="Cambria"/>
                        </a:rPr>
                        <a:t>3)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75" dirty="0">
                          <a:latin typeface="Cambria"/>
                          <a:cs typeface="Cambria"/>
                        </a:rPr>
                        <a:t>Initialize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array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387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-10" dirty="0">
                          <a:latin typeface="Cambria"/>
                          <a:cs typeface="Cambria"/>
                        </a:rPr>
                        <a:t>${arr[2]}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55" dirty="0">
                          <a:latin typeface="Cambria"/>
                          <a:cs typeface="Cambria"/>
                        </a:rPr>
                        <a:t>Retrieve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5" dirty="0">
                          <a:latin typeface="Cambria"/>
                          <a:cs typeface="Cambria"/>
                        </a:rPr>
                        <a:t>third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45" dirty="0">
                          <a:latin typeface="Cambria"/>
                          <a:cs typeface="Cambria"/>
                        </a:rPr>
                        <a:t>element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387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-10" dirty="0">
                          <a:latin typeface="Cambria"/>
                          <a:cs typeface="Cambria"/>
                        </a:rPr>
                        <a:t>${arr[@]}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55" dirty="0">
                          <a:latin typeface="Cambria"/>
                          <a:cs typeface="Cambria"/>
                        </a:rPr>
                        <a:t>Retrieve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all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45" dirty="0">
                          <a:latin typeface="Cambria"/>
                          <a:cs typeface="Cambria"/>
                        </a:rPr>
                        <a:t>elements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387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-10" dirty="0">
                          <a:latin typeface="Cambria"/>
                          <a:cs typeface="Cambria"/>
                        </a:rPr>
                        <a:t>${!arr[@]}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55" dirty="0">
                          <a:latin typeface="Cambria"/>
                          <a:cs typeface="Cambria"/>
                        </a:rPr>
                        <a:t>Retrieve</a:t>
                      </a:r>
                      <a:r>
                        <a:rPr sz="18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0" dirty="0">
                          <a:latin typeface="Cambria"/>
                          <a:cs typeface="Cambria"/>
                        </a:rPr>
                        <a:t>array</a:t>
                      </a:r>
                      <a:r>
                        <a:rPr sz="1800" spc="10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indices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8387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-10" dirty="0">
                          <a:latin typeface="Cambria"/>
                          <a:cs typeface="Cambria"/>
                        </a:rPr>
                        <a:t>${#arr[@]}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95" dirty="0">
                          <a:latin typeface="Cambria"/>
                          <a:cs typeface="Cambria"/>
                        </a:rPr>
                        <a:t>Calculate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5" dirty="0">
                          <a:latin typeface="Cambria"/>
                          <a:cs typeface="Cambria"/>
                        </a:rPr>
                        <a:t>array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20" dirty="0">
                          <a:latin typeface="Cambria"/>
                          <a:cs typeface="Cambria"/>
                        </a:rPr>
                        <a:t>size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8387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795"/>
                        </a:spcBef>
                      </a:pPr>
                      <a:r>
                        <a:rPr sz="1800" spc="-10" dirty="0">
                          <a:latin typeface="Cambria"/>
                          <a:cs typeface="Cambria"/>
                        </a:rPr>
                        <a:t>arr[0]=3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0965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795"/>
                        </a:spcBef>
                      </a:pPr>
                      <a:r>
                        <a:rPr sz="1800" spc="60" dirty="0">
                          <a:latin typeface="Cambria"/>
                          <a:cs typeface="Cambria"/>
                        </a:rPr>
                        <a:t>Overwrite</a:t>
                      </a:r>
                      <a:r>
                        <a:rPr sz="18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1st</a:t>
                      </a:r>
                      <a:r>
                        <a:rPr sz="1800" spc="18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40" dirty="0">
                          <a:latin typeface="Cambria"/>
                          <a:cs typeface="Cambria"/>
                        </a:rPr>
                        <a:t>element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0965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8387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-10" dirty="0">
                          <a:latin typeface="Cambria"/>
                          <a:cs typeface="Cambria"/>
                        </a:rPr>
                        <a:t>arr+=(4)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55" dirty="0">
                          <a:latin typeface="Cambria"/>
                          <a:cs typeface="Cambria"/>
                        </a:rPr>
                        <a:t>Append</a:t>
                      </a:r>
                      <a:r>
                        <a:rPr sz="18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10" dirty="0">
                          <a:latin typeface="Cambria"/>
                          <a:cs typeface="Cambria"/>
                        </a:rPr>
                        <a:t>value(s)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8387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-10" dirty="0">
                          <a:latin typeface="Cambria"/>
                          <a:cs typeface="Cambria"/>
                        </a:rPr>
                        <a:t>str=$(ls)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100" dirty="0">
                          <a:latin typeface="Cambria"/>
                          <a:cs typeface="Cambria"/>
                        </a:rPr>
                        <a:t>Save</a:t>
                      </a:r>
                      <a:r>
                        <a:rPr sz="18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5" dirty="0">
                          <a:latin typeface="Cambria"/>
                          <a:cs typeface="Cambria"/>
                        </a:rPr>
                        <a:t>ls</a:t>
                      </a:r>
                      <a:r>
                        <a:rPr sz="18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output</a:t>
                      </a:r>
                      <a:r>
                        <a:rPr sz="1800" spc="16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80" dirty="0">
                          <a:latin typeface="Cambria"/>
                          <a:cs typeface="Cambria"/>
                        </a:rPr>
                        <a:t>as</a:t>
                      </a:r>
                      <a:r>
                        <a:rPr sz="1800" spc="17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120" dirty="0">
                          <a:latin typeface="Cambria"/>
                          <a:cs typeface="Cambria"/>
                        </a:rPr>
                        <a:t>a</a:t>
                      </a:r>
                      <a:r>
                        <a:rPr sz="1800" spc="16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50" dirty="0">
                          <a:latin typeface="Cambria"/>
                          <a:cs typeface="Cambria"/>
                        </a:rPr>
                        <a:t>string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0609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dirty="0">
                          <a:latin typeface="Cambria"/>
                          <a:cs typeface="Cambria"/>
                        </a:rPr>
                        <a:t>arr=(</a:t>
                      </a:r>
                      <a:r>
                        <a:rPr sz="1800" spc="2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$(ls)</a:t>
                      </a:r>
                      <a:r>
                        <a:rPr sz="1800" spc="229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-50" dirty="0">
                          <a:latin typeface="Cambria"/>
                          <a:cs typeface="Cambria"/>
                        </a:rPr>
                        <a:t>)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tc>
                  <a:txBody>
                    <a:bodyPr/>
                    <a:lstStyle/>
                    <a:p>
                      <a:pPr marL="1367155">
                        <a:lnSpc>
                          <a:spcPct val="100000"/>
                        </a:lnSpc>
                        <a:spcBef>
                          <a:spcPts val="800"/>
                        </a:spcBef>
                      </a:pPr>
                      <a:r>
                        <a:rPr sz="1800" spc="100" dirty="0">
                          <a:latin typeface="Cambria"/>
                          <a:cs typeface="Cambria"/>
                        </a:rPr>
                        <a:t>Save</a:t>
                      </a:r>
                      <a:r>
                        <a:rPr sz="18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ls</a:t>
                      </a:r>
                      <a:r>
                        <a:rPr sz="18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output</a:t>
                      </a:r>
                      <a:r>
                        <a:rPr sz="18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as</a:t>
                      </a:r>
                      <a:r>
                        <a:rPr sz="1800" spc="15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an</a:t>
                      </a:r>
                      <a:r>
                        <a:rPr sz="1800" spc="14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5" dirty="0">
                          <a:latin typeface="Cambria"/>
                          <a:cs typeface="Cambria"/>
                        </a:rPr>
                        <a:t>array</a:t>
                      </a:r>
                      <a:r>
                        <a:rPr sz="18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of</a:t>
                      </a:r>
                      <a:r>
                        <a:rPr sz="1800" spc="14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40" dirty="0">
                          <a:latin typeface="Cambria"/>
                          <a:cs typeface="Cambria"/>
                        </a:rPr>
                        <a:t>files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0160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7564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2050"/>
                        </a:spcBef>
                      </a:pPr>
                      <a:r>
                        <a:rPr sz="1800" spc="-10" dirty="0">
                          <a:latin typeface="Cambria"/>
                          <a:cs typeface="Cambria"/>
                        </a:rPr>
                        <a:t>${arr[@]:s:n}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260350" marB="0"/>
                </a:tc>
                <a:tc>
                  <a:txBody>
                    <a:bodyPr/>
                    <a:lstStyle/>
                    <a:p>
                      <a:pPr marL="1367155" marR="263525">
                        <a:lnSpc>
                          <a:spcPct val="100000"/>
                        </a:lnSpc>
                        <a:spcBef>
                          <a:spcPts val="905"/>
                        </a:spcBef>
                      </a:pPr>
                      <a:r>
                        <a:rPr sz="1800" spc="55" dirty="0">
                          <a:latin typeface="Cambria"/>
                          <a:cs typeface="Cambria"/>
                        </a:rPr>
                        <a:t>Retrieve</a:t>
                      </a:r>
                      <a:r>
                        <a:rPr sz="1800" spc="10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90" dirty="0">
                          <a:latin typeface="Cambria"/>
                          <a:cs typeface="Cambria"/>
                        </a:rPr>
                        <a:t>n</a:t>
                      </a:r>
                      <a:r>
                        <a:rPr sz="1800" spc="110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60" dirty="0">
                          <a:latin typeface="Cambria"/>
                          <a:cs typeface="Cambria"/>
                        </a:rPr>
                        <a:t>elements</a:t>
                      </a:r>
                      <a:r>
                        <a:rPr sz="1800" spc="114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5" dirty="0">
                          <a:latin typeface="Cambria"/>
                          <a:cs typeface="Cambria"/>
                        </a:rPr>
                        <a:t>starting</a:t>
                      </a:r>
                      <a:r>
                        <a:rPr sz="1800" spc="12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spc="70" dirty="0">
                          <a:latin typeface="Cambria"/>
                          <a:cs typeface="Cambria"/>
                        </a:rPr>
                        <a:t>at </a:t>
                      </a:r>
                      <a:r>
                        <a:rPr sz="1800" spc="55" dirty="0">
                          <a:latin typeface="Cambria"/>
                          <a:cs typeface="Cambria"/>
                        </a:rPr>
                        <a:t>index</a:t>
                      </a:r>
                      <a:r>
                        <a:rPr sz="1800" spc="95" dirty="0">
                          <a:latin typeface="Cambria"/>
                          <a:cs typeface="Cambria"/>
                        </a:rPr>
                        <a:t> </a:t>
                      </a:r>
                      <a:r>
                        <a:rPr sz="1800" dirty="0">
                          <a:latin typeface="Cambria"/>
                          <a:cs typeface="Cambria"/>
                        </a:rPr>
                        <a:t>s</a:t>
                      </a:r>
                      <a:endParaRPr sz="1800">
                        <a:latin typeface="Cambria"/>
                        <a:cs typeface="Cambria"/>
                      </a:endParaRPr>
                    </a:p>
                  </a:txBody>
                  <a:tcPr marL="0" marR="0" marT="114935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/>
          <p:nvPr/>
        </p:nvSpPr>
        <p:spPr>
          <a:xfrm>
            <a:off x="8332089" y="5889964"/>
            <a:ext cx="205740" cy="22288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630"/>
              </a:lnSpc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68</a:t>
            </a:r>
            <a:endParaRPr sz="14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69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83514" y="322833"/>
            <a:ext cx="2402205" cy="635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0" spc="-10" dirty="0">
                <a:solidFill>
                  <a:srgbClr val="405F40"/>
                </a:solidFill>
                <a:latin typeface="Calibri"/>
                <a:cs typeface="Calibri"/>
              </a:rPr>
              <a:t>#!/bin/bash</a:t>
            </a:r>
            <a:endParaRPr sz="2000">
              <a:latin typeface="Calibri"/>
              <a:cs typeface="Calibri"/>
            </a:endParaRPr>
          </a:p>
          <a:p>
            <a:pPr marL="68580">
              <a:lnSpc>
                <a:spcPct val="100000"/>
              </a:lnSpc>
            </a:pPr>
            <a:r>
              <a:rPr sz="2000" b="0" dirty="0">
                <a:solidFill>
                  <a:srgbClr val="405F40"/>
                </a:solidFill>
                <a:latin typeface="Calibri"/>
                <a:cs typeface="Calibri"/>
              </a:rPr>
              <a:t>#Declare</a:t>
            </a:r>
            <a:r>
              <a:rPr sz="2000" b="0" spc="-30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b="0" dirty="0">
                <a:solidFill>
                  <a:srgbClr val="405F40"/>
                </a:solidFill>
                <a:latin typeface="Calibri"/>
                <a:cs typeface="Calibri"/>
              </a:rPr>
              <a:t>a</a:t>
            </a:r>
            <a:r>
              <a:rPr sz="2000" b="0" spc="-50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b="0" dirty="0">
                <a:solidFill>
                  <a:srgbClr val="405F40"/>
                </a:solidFill>
                <a:latin typeface="Calibri"/>
                <a:cs typeface="Calibri"/>
              </a:rPr>
              <a:t>string</a:t>
            </a:r>
            <a:r>
              <a:rPr sz="2000" b="0" spc="-25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b="0" spc="-20" dirty="0">
                <a:solidFill>
                  <a:srgbClr val="405F40"/>
                </a:solidFill>
                <a:latin typeface="Calibri"/>
                <a:cs typeface="Calibri"/>
              </a:rPr>
              <a:t>array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3514" y="1237233"/>
            <a:ext cx="6332855" cy="3075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2000" dirty="0">
                <a:solidFill>
                  <a:srgbClr val="008080"/>
                </a:solidFill>
                <a:latin typeface="Calibri"/>
                <a:cs typeface="Calibri"/>
              </a:rPr>
              <a:t>Array</a:t>
            </a:r>
            <a:r>
              <a:rPr sz="2000" dirty="0">
                <a:latin typeface="Calibri"/>
                <a:cs typeface="Calibri"/>
              </a:rPr>
              <a:t>=(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"PHP"</a:t>
            </a:r>
            <a:r>
              <a:rPr sz="2000" spc="39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"Java"</a:t>
            </a:r>
            <a:r>
              <a:rPr sz="2000" spc="39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"C#"</a:t>
            </a:r>
            <a:r>
              <a:rPr sz="2000" spc="38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"C++"</a:t>
            </a:r>
            <a:r>
              <a:rPr sz="2000" spc="39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"VB.Net"</a:t>
            </a:r>
            <a:r>
              <a:rPr sz="2000" spc="380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"Python"</a:t>
            </a:r>
            <a:r>
              <a:rPr sz="2000" spc="370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C02F2F"/>
                </a:solidFill>
                <a:latin typeface="Calibri"/>
                <a:cs typeface="Calibri"/>
              </a:rPr>
              <a:t>"Perl"</a:t>
            </a:r>
            <a:r>
              <a:rPr sz="2000" spc="-10" dirty="0">
                <a:latin typeface="Calibri"/>
                <a:cs typeface="Calibri"/>
              </a:rPr>
              <a:t>)</a:t>
            </a: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400"/>
              </a:spcBef>
            </a:pPr>
            <a:r>
              <a:rPr sz="2000" dirty="0">
                <a:solidFill>
                  <a:srgbClr val="405F40"/>
                </a:solidFill>
                <a:latin typeface="Calibri"/>
                <a:cs typeface="Calibri"/>
              </a:rPr>
              <a:t>#</a:t>
            </a:r>
            <a:r>
              <a:rPr sz="2000" spc="-45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5F40"/>
                </a:solidFill>
                <a:latin typeface="Calibri"/>
                <a:cs typeface="Calibri"/>
              </a:rPr>
              <a:t>Print</a:t>
            </a:r>
            <a:r>
              <a:rPr sz="2000" spc="-30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5F40"/>
                </a:solidFill>
                <a:latin typeface="Calibri"/>
                <a:cs typeface="Calibri"/>
              </a:rPr>
              <a:t>array</a:t>
            </a:r>
            <a:r>
              <a:rPr sz="2000" spc="-40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5F40"/>
                </a:solidFill>
                <a:latin typeface="Calibri"/>
                <a:cs typeface="Calibri"/>
              </a:rPr>
              <a:t>values</a:t>
            </a:r>
            <a:r>
              <a:rPr sz="2000" spc="-50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5F40"/>
                </a:solidFill>
                <a:latin typeface="Calibri"/>
                <a:cs typeface="Calibri"/>
              </a:rPr>
              <a:t>in</a:t>
            </a:r>
            <a:r>
              <a:rPr sz="2000" spc="375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5F40"/>
                </a:solidFill>
                <a:latin typeface="Calibri"/>
                <a:cs typeface="Calibri"/>
              </a:rPr>
              <a:t>lines</a:t>
            </a: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solidFill>
                  <a:srgbClr val="008080"/>
                </a:solidFill>
                <a:latin typeface="Calibri"/>
                <a:cs typeface="Calibri"/>
              </a:rPr>
              <a:t>echo</a:t>
            </a:r>
            <a:r>
              <a:rPr sz="2000" spc="-50" dirty="0">
                <a:solidFill>
                  <a:srgbClr val="00808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"Print</a:t>
            </a:r>
            <a:r>
              <a:rPr sz="2000" spc="-4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every</a:t>
            </a:r>
            <a:r>
              <a:rPr sz="2000" spc="-3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element</a:t>
            </a:r>
            <a:r>
              <a:rPr sz="2000" spc="-20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in</a:t>
            </a:r>
            <a:r>
              <a:rPr sz="2000" spc="-5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new</a:t>
            </a:r>
            <a:r>
              <a:rPr sz="2000" spc="-4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C02F2F"/>
                </a:solidFill>
                <a:latin typeface="Calibri"/>
                <a:cs typeface="Calibri"/>
              </a:rPr>
              <a:t>line"</a:t>
            </a: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400"/>
              </a:spcBef>
            </a:pPr>
            <a:r>
              <a:rPr sz="2000" dirty="0">
                <a:solidFill>
                  <a:srgbClr val="1F5F9F"/>
                </a:solidFill>
                <a:latin typeface="Calibri"/>
                <a:cs typeface="Calibri"/>
              </a:rPr>
              <a:t>for</a:t>
            </a:r>
            <a:r>
              <a:rPr sz="2000" spc="-45" dirty="0">
                <a:solidFill>
                  <a:srgbClr val="1F5F9F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val1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1F5F9F"/>
                </a:solidFill>
                <a:latin typeface="Calibri"/>
                <a:cs typeface="Calibri"/>
              </a:rPr>
              <a:t>in</a:t>
            </a:r>
            <a:r>
              <a:rPr sz="2000" spc="-25" dirty="0">
                <a:solidFill>
                  <a:srgbClr val="1F5F9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5F40"/>
                </a:solidFill>
                <a:latin typeface="Calibri"/>
                <a:cs typeface="Calibri"/>
              </a:rPr>
              <a:t>${Array[*]}</a:t>
            </a:r>
            <a:r>
              <a:rPr sz="2000" spc="-10" dirty="0">
                <a:latin typeface="Calibri"/>
                <a:cs typeface="Calibri"/>
              </a:rPr>
              <a:t>;</a:t>
            </a:r>
            <a:r>
              <a:rPr sz="2000" spc="-75" dirty="0"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1F5F9F"/>
                </a:solidFill>
                <a:latin typeface="Calibri"/>
                <a:cs typeface="Calibri"/>
              </a:rPr>
              <a:t>do</a:t>
            </a:r>
            <a:endParaRPr sz="2000">
              <a:latin typeface="Calibri"/>
              <a:cs typeface="Calibri"/>
            </a:endParaRPr>
          </a:p>
          <a:p>
            <a:pPr marL="12700" marR="4916805" indent="285115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solidFill>
                  <a:srgbClr val="008080"/>
                </a:solidFill>
                <a:latin typeface="Calibri"/>
                <a:cs typeface="Calibri"/>
              </a:rPr>
              <a:t>echo</a:t>
            </a:r>
            <a:r>
              <a:rPr sz="2000" spc="-45" dirty="0">
                <a:solidFill>
                  <a:srgbClr val="00808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9F8000"/>
                </a:solidFill>
                <a:latin typeface="Calibri"/>
                <a:cs typeface="Calibri"/>
              </a:rPr>
              <a:t>$val1 </a:t>
            </a:r>
            <a:r>
              <a:rPr sz="2000" spc="-20" dirty="0">
                <a:solidFill>
                  <a:srgbClr val="1F5F9F"/>
                </a:solidFill>
                <a:latin typeface="Calibri"/>
                <a:cs typeface="Calibri"/>
              </a:rPr>
              <a:t>done</a:t>
            </a: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2400"/>
              </a:spcBef>
            </a:pPr>
            <a:r>
              <a:rPr sz="2000" dirty="0">
                <a:solidFill>
                  <a:srgbClr val="008080"/>
                </a:solidFill>
                <a:latin typeface="Calibri"/>
                <a:cs typeface="Calibri"/>
              </a:rPr>
              <a:t>echo</a:t>
            </a:r>
            <a:r>
              <a:rPr sz="2000" spc="-20" dirty="0">
                <a:solidFill>
                  <a:srgbClr val="00808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C02F2F"/>
                </a:solidFill>
                <a:latin typeface="Calibri"/>
                <a:cs typeface="Calibri"/>
              </a:rPr>
              <a:t>""</a:t>
            </a:r>
            <a:endParaRPr sz="200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83514" y="4591050"/>
            <a:ext cx="4114165" cy="1855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solidFill>
                  <a:srgbClr val="405F40"/>
                </a:solidFill>
                <a:latin typeface="Calibri"/>
                <a:cs typeface="Calibri"/>
              </a:rPr>
              <a:t>#</a:t>
            </a:r>
            <a:r>
              <a:rPr sz="2000" spc="-45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5F40"/>
                </a:solidFill>
                <a:latin typeface="Calibri"/>
                <a:cs typeface="Calibri"/>
              </a:rPr>
              <a:t>Print</a:t>
            </a:r>
            <a:r>
              <a:rPr sz="2000" spc="-35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405F40"/>
                </a:solidFill>
                <a:latin typeface="Calibri"/>
                <a:cs typeface="Calibri"/>
              </a:rPr>
              <a:t>array</a:t>
            </a:r>
            <a:r>
              <a:rPr sz="2000" spc="-40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5F40"/>
                </a:solidFill>
                <a:latin typeface="Calibri"/>
                <a:cs typeface="Calibri"/>
              </a:rPr>
              <a:t>values</a:t>
            </a:r>
            <a:r>
              <a:rPr sz="2000" spc="-55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5F40"/>
                </a:solidFill>
                <a:latin typeface="Calibri"/>
                <a:cs typeface="Calibri"/>
              </a:rPr>
              <a:t>in</a:t>
            </a:r>
            <a:r>
              <a:rPr sz="2000" spc="-40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405F40"/>
                </a:solidFill>
                <a:latin typeface="Calibri"/>
                <a:cs typeface="Calibri"/>
              </a:rPr>
              <a:t>one</a:t>
            </a:r>
            <a:r>
              <a:rPr sz="2000" spc="-50" dirty="0">
                <a:solidFill>
                  <a:srgbClr val="405F4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405F40"/>
                </a:solidFill>
                <a:latin typeface="Calibri"/>
                <a:cs typeface="Calibri"/>
              </a:rPr>
              <a:t>line</a:t>
            </a: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solidFill>
                  <a:srgbClr val="008080"/>
                </a:solidFill>
                <a:latin typeface="Calibri"/>
                <a:cs typeface="Calibri"/>
              </a:rPr>
              <a:t>echo</a:t>
            </a:r>
            <a:r>
              <a:rPr sz="2000" spc="-45" dirty="0">
                <a:solidFill>
                  <a:srgbClr val="008080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"Print</a:t>
            </a:r>
            <a:r>
              <a:rPr sz="2000" spc="-40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all</a:t>
            </a:r>
            <a:r>
              <a:rPr sz="2000" spc="-3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elements</a:t>
            </a:r>
            <a:r>
              <a:rPr sz="2000" spc="-20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in</a:t>
            </a:r>
            <a:r>
              <a:rPr sz="2000" spc="-35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a</a:t>
            </a:r>
            <a:r>
              <a:rPr sz="2000" spc="-40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C02F2F"/>
                </a:solidFill>
                <a:latin typeface="Calibri"/>
                <a:cs typeface="Calibri"/>
              </a:rPr>
              <a:t>single</a:t>
            </a:r>
            <a:r>
              <a:rPr sz="2000" spc="-40" dirty="0">
                <a:solidFill>
                  <a:srgbClr val="C02F2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C02F2F"/>
                </a:solidFill>
                <a:latin typeface="Calibri"/>
                <a:cs typeface="Calibri"/>
              </a:rPr>
              <a:t>line"</a:t>
            </a: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solidFill>
                  <a:srgbClr val="1F5F9F"/>
                </a:solidFill>
                <a:latin typeface="Calibri"/>
                <a:cs typeface="Calibri"/>
              </a:rPr>
              <a:t>for</a:t>
            </a:r>
            <a:r>
              <a:rPr sz="2000" spc="-45" dirty="0">
                <a:solidFill>
                  <a:srgbClr val="1F5F9F"/>
                </a:solidFill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val2</a:t>
            </a:r>
            <a:r>
              <a:rPr sz="2000" spc="-40" dirty="0">
                <a:latin typeface="Calibri"/>
                <a:cs typeface="Calibri"/>
              </a:rPr>
              <a:t> </a:t>
            </a:r>
            <a:r>
              <a:rPr sz="2000" dirty="0">
                <a:solidFill>
                  <a:srgbClr val="1F5F9F"/>
                </a:solidFill>
                <a:latin typeface="Calibri"/>
                <a:cs typeface="Calibri"/>
              </a:rPr>
              <a:t>in</a:t>
            </a:r>
            <a:r>
              <a:rPr sz="2000" spc="-25" dirty="0">
                <a:solidFill>
                  <a:srgbClr val="1F5F9F"/>
                </a:solidFill>
                <a:latin typeface="Calibri"/>
                <a:cs typeface="Calibri"/>
              </a:rPr>
              <a:t> </a:t>
            </a:r>
            <a:r>
              <a:rPr sz="2000" spc="-10" dirty="0">
                <a:solidFill>
                  <a:srgbClr val="C02F2F"/>
                </a:solidFill>
                <a:latin typeface="Calibri"/>
                <a:cs typeface="Calibri"/>
              </a:rPr>
              <a:t>"${Array[*]}"</a:t>
            </a:r>
            <a:r>
              <a:rPr sz="2000" spc="-10" dirty="0">
                <a:latin typeface="Calibri"/>
                <a:cs typeface="Calibri"/>
              </a:rPr>
              <a:t>;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1F5F9F"/>
                </a:solidFill>
                <a:latin typeface="Calibri"/>
                <a:cs typeface="Calibri"/>
              </a:rPr>
              <a:t>do</a:t>
            </a:r>
            <a:endParaRPr sz="2000">
              <a:latin typeface="Calibri"/>
              <a:cs typeface="Calibri"/>
            </a:endParaRPr>
          </a:p>
          <a:p>
            <a:pPr marL="12700" marR="2754630" indent="228600">
              <a:lnSpc>
                <a:spcPct val="100000"/>
              </a:lnSpc>
            </a:pPr>
            <a:r>
              <a:rPr sz="2000" dirty="0">
                <a:solidFill>
                  <a:srgbClr val="008080"/>
                </a:solidFill>
                <a:latin typeface="Calibri"/>
                <a:cs typeface="Calibri"/>
              </a:rPr>
              <a:t>echo</a:t>
            </a:r>
            <a:r>
              <a:rPr sz="2000" spc="-45" dirty="0">
                <a:solidFill>
                  <a:srgbClr val="008080"/>
                </a:solidFill>
                <a:latin typeface="Calibri"/>
                <a:cs typeface="Calibri"/>
              </a:rPr>
              <a:t> </a:t>
            </a:r>
            <a:r>
              <a:rPr sz="2000" spc="-20" dirty="0">
                <a:solidFill>
                  <a:srgbClr val="9F8000"/>
                </a:solidFill>
                <a:latin typeface="Calibri"/>
                <a:cs typeface="Calibri"/>
              </a:rPr>
              <a:t>$val2 </a:t>
            </a:r>
            <a:r>
              <a:rPr sz="2000" spc="-20" dirty="0">
                <a:solidFill>
                  <a:srgbClr val="1F5F9F"/>
                </a:solidFill>
                <a:latin typeface="Calibri"/>
                <a:cs typeface="Calibri"/>
              </a:rPr>
              <a:t>done</a:t>
            </a:r>
            <a:endParaRPr sz="20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</a:pPr>
            <a:r>
              <a:rPr sz="2000" dirty="0">
                <a:solidFill>
                  <a:srgbClr val="008080"/>
                </a:solidFill>
                <a:latin typeface="Calibri"/>
                <a:cs typeface="Calibri"/>
              </a:rPr>
              <a:t>echo</a:t>
            </a:r>
            <a:r>
              <a:rPr sz="2000" spc="-45" dirty="0">
                <a:solidFill>
                  <a:srgbClr val="008080"/>
                </a:solidFill>
                <a:latin typeface="Calibri"/>
                <a:cs typeface="Calibri"/>
              </a:rPr>
              <a:t> </a:t>
            </a:r>
            <a:r>
              <a:rPr sz="2000" spc="-25" dirty="0">
                <a:solidFill>
                  <a:srgbClr val="C02F2F"/>
                </a:solidFill>
                <a:latin typeface="Calibri"/>
                <a:cs typeface="Calibri"/>
              </a:rPr>
              <a:t>""</a:t>
            </a:r>
            <a:endParaRPr sz="20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70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435965" y="331419"/>
            <a:ext cx="2654935" cy="19767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Times New Roman"/>
                <a:cs typeface="Times New Roman"/>
              </a:rPr>
              <a:t>#!/bin/bash</a:t>
            </a:r>
            <a:endParaRPr sz="1600">
              <a:latin typeface="Times New Roman"/>
              <a:cs typeface="Times New Roman"/>
            </a:endParaRPr>
          </a:p>
          <a:p>
            <a:pPr marL="12700" marR="2316480" algn="just">
              <a:lnSpc>
                <a:spcPct val="100000"/>
              </a:lnSpc>
              <a:spcBef>
                <a:spcPts val="5"/>
              </a:spcBef>
            </a:pPr>
            <a:r>
              <a:rPr sz="1600" spc="-25" dirty="0">
                <a:latin typeface="Times New Roman"/>
                <a:cs typeface="Times New Roman"/>
              </a:rPr>
              <a:t>i=0 p=0 n=0 z=0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while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[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$i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-</a:t>
            </a:r>
            <a:r>
              <a:rPr sz="1600" dirty="0">
                <a:latin typeface="Times New Roman"/>
                <a:cs typeface="Times New Roman"/>
              </a:rPr>
              <a:t>le 9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spc="-50" dirty="0">
                <a:latin typeface="Times New Roman"/>
                <a:cs typeface="Times New Roman"/>
              </a:rPr>
              <a:t>]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600" spc="-25" dirty="0">
                <a:latin typeface="Times New Roman"/>
                <a:cs typeface="Times New Roman"/>
              </a:rPr>
              <a:t>do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read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-</a:t>
            </a:r>
            <a:r>
              <a:rPr sz="1600" dirty="0">
                <a:latin typeface="Times New Roman"/>
                <a:cs typeface="Times New Roman"/>
              </a:rPr>
              <a:t>p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"Enter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a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Number: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"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a[$i]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35965" y="2526918"/>
            <a:ext cx="1973580" cy="3927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latin typeface="Times New Roman"/>
                <a:cs typeface="Times New Roman"/>
              </a:rPr>
              <a:t>if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[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${a[$i]}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-</a:t>
            </a:r>
            <a:r>
              <a:rPr sz="1600" dirty="0">
                <a:latin typeface="Times New Roman"/>
                <a:cs typeface="Times New Roman"/>
              </a:rPr>
              <a:t>gt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0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50" dirty="0">
                <a:latin typeface="Times New Roman"/>
                <a:cs typeface="Times New Roman"/>
              </a:rPr>
              <a:t>]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600" spc="-20" dirty="0">
                <a:latin typeface="Times New Roman"/>
                <a:cs typeface="Times New Roman"/>
              </a:rPr>
              <a:t>then</a:t>
            </a:r>
            <a:endParaRPr sz="1600">
              <a:latin typeface="Times New Roman"/>
              <a:cs typeface="Times New Roman"/>
            </a:endParaRPr>
          </a:p>
          <a:p>
            <a:pPr marL="12700" marR="742315" indent="202565">
              <a:lnSpc>
                <a:spcPct val="100000"/>
              </a:lnSpc>
            </a:pPr>
            <a:r>
              <a:rPr sz="1600" spc="-10" dirty="0">
                <a:latin typeface="Times New Roman"/>
                <a:cs typeface="Times New Roman"/>
              </a:rPr>
              <a:t>p=$(($p+1)) </a:t>
            </a:r>
            <a:r>
              <a:rPr sz="1600" spc="-20" dirty="0">
                <a:latin typeface="Times New Roman"/>
                <a:cs typeface="Times New Roman"/>
              </a:rPr>
              <a:t>else</a:t>
            </a:r>
            <a:endParaRPr sz="1600">
              <a:latin typeface="Times New Roman"/>
              <a:cs typeface="Times New Roman"/>
            </a:endParaRPr>
          </a:p>
          <a:p>
            <a:pPr marL="215265" marR="19177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if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[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${a[$i]}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-</a:t>
            </a:r>
            <a:r>
              <a:rPr sz="1600" dirty="0">
                <a:latin typeface="Times New Roman"/>
                <a:cs typeface="Times New Roman"/>
              </a:rPr>
              <a:t>eq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0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50" dirty="0">
                <a:latin typeface="Times New Roman"/>
                <a:cs typeface="Times New Roman"/>
              </a:rPr>
              <a:t>] </a:t>
            </a:r>
            <a:r>
              <a:rPr sz="1600" spc="-20" dirty="0">
                <a:latin typeface="Times New Roman"/>
                <a:cs typeface="Times New Roman"/>
              </a:rPr>
              <a:t>then</a:t>
            </a:r>
            <a:endParaRPr sz="1600">
              <a:latin typeface="Times New Roman"/>
              <a:cs typeface="Times New Roman"/>
            </a:endParaRPr>
          </a:p>
          <a:p>
            <a:pPr marL="317500">
              <a:lnSpc>
                <a:spcPct val="100000"/>
              </a:lnSpc>
            </a:pPr>
            <a:r>
              <a:rPr sz="1600" spc="-10" dirty="0">
                <a:latin typeface="Times New Roman"/>
                <a:cs typeface="Times New Roman"/>
              </a:rPr>
              <a:t>z=$(($z+1))</a:t>
            </a:r>
            <a:endParaRPr sz="1600">
              <a:latin typeface="Times New Roman"/>
              <a:cs typeface="Times New Roman"/>
            </a:endParaRPr>
          </a:p>
          <a:p>
            <a:pPr marL="215265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Times New Roman"/>
                <a:cs typeface="Times New Roman"/>
              </a:rPr>
              <a:t>else</a:t>
            </a:r>
            <a:endParaRPr sz="1600">
              <a:latin typeface="Times New Roman"/>
              <a:cs typeface="Times New Roman"/>
            </a:endParaRPr>
          </a:p>
          <a:p>
            <a:pPr marL="419100">
              <a:lnSpc>
                <a:spcPct val="100000"/>
              </a:lnSpc>
            </a:pPr>
            <a:r>
              <a:rPr sz="1600" spc="-10" dirty="0">
                <a:latin typeface="Times New Roman"/>
                <a:cs typeface="Times New Roman"/>
              </a:rPr>
              <a:t>n=$(($n+1))</a:t>
            </a:r>
            <a:endParaRPr sz="1600">
              <a:latin typeface="Times New Roman"/>
              <a:cs typeface="Times New Roman"/>
            </a:endParaRPr>
          </a:p>
          <a:p>
            <a:pPr marL="215265">
              <a:lnSpc>
                <a:spcPct val="100000"/>
              </a:lnSpc>
            </a:pPr>
            <a:r>
              <a:rPr sz="1600" spc="-25" dirty="0">
                <a:latin typeface="Times New Roman"/>
                <a:cs typeface="Times New Roman"/>
              </a:rPr>
              <a:t>fi</a:t>
            </a:r>
            <a:endParaRPr sz="1600">
              <a:latin typeface="Times New Roman"/>
              <a:cs typeface="Times New Roman"/>
            </a:endParaRPr>
          </a:p>
          <a:p>
            <a:pPr marL="12700" marR="1036319">
              <a:lnSpc>
                <a:spcPct val="100000"/>
              </a:lnSpc>
            </a:pPr>
            <a:r>
              <a:rPr sz="1600" spc="-25" dirty="0">
                <a:latin typeface="Times New Roman"/>
                <a:cs typeface="Times New Roman"/>
              </a:rPr>
              <a:t>fi </a:t>
            </a:r>
            <a:r>
              <a:rPr sz="1600" spc="-10" dirty="0">
                <a:latin typeface="Times New Roman"/>
                <a:cs typeface="Times New Roman"/>
              </a:rPr>
              <a:t>i=$(($i+1)) </a:t>
            </a:r>
            <a:r>
              <a:rPr sz="1600" spc="-20" dirty="0">
                <a:latin typeface="Times New Roman"/>
                <a:cs typeface="Times New Roman"/>
              </a:rPr>
              <a:t>done</a:t>
            </a:r>
            <a:endParaRPr sz="160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echo</a:t>
            </a:r>
            <a:r>
              <a:rPr sz="1600" spc="-5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"+ve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number=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$p" </a:t>
            </a:r>
            <a:r>
              <a:rPr sz="1600" dirty="0">
                <a:latin typeface="Times New Roman"/>
                <a:cs typeface="Times New Roman"/>
              </a:rPr>
              <a:t>echo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"-</a:t>
            </a:r>
            <a:r>
              <a:rPr sz="1600" dirty="0">
                <a:latin typeface="Times New Roman"/>
                <a:cs typeface="Times New Roman"/>
              </a:rPr>
              <a:t>ve no=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$n"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echo</a:t>
            </a:r>
            <a:r>
              <a:rPr sz="1600" spc="-3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"zero=</a:t>
            </a:r>
            <a:r>
              <a:rPr sz="1600" spc="-25" dirty="0">
                <a:latin typeface="Times New Roman"/>
                <a:cs typeface="Times New Roman"/>
              </a:rPr>
              <a:t> $z"</a:t>
            </a:r>
            <a:endParaRPr sz="1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8332089" y="5870549"/>
            <a:ext cx="205740" cy="239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spc="-25" dirty="0">
                <a:solidFill>
                  <a:srgbClr val="FFFFFF"/>
                </a:solidFill>
                <a:latin typeface="Times New Roman"/>
                <a:cs typeface="Times New Roman"/>
              </a:rPr>
              <a:t>71</a:t>
            </a:r>
            <a:endParaRPr sz="14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9539" y="255219"/>
            <a:ext cx="99250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dirty="0">
                <a:latin typeface="Times New Roman"/>
                <a:cs typeface="Times New Roman"/>
              </a:rPr>
              <a:t>#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!/bin/bash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29539" y="743458"/>
            <a:ext cx="2598420" cy="56349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spc="-10" dirty="0">
                <a:latin typeface="Times New Roman"/>
                <a:cs typeface="Times New Roman"/>
              </a:rPr>
              <a:t>clear</a:t>
            </a:r>
            <a:endParaRPr sz="1600">
              <a:latin typeface="Times New Roman"/>
              <a:cs typeface="Times New Roman"/>
            </a:endParaRPr>
          </a:p>
          <a:p>
            <a:pPr marL="12700" marR="906144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read </a:t>
            </a:r>
            <a:r>
              <a:rPr sz="1600" spc="-25" dirty="0">
                <a:latin typeface="Times New Roman"/>
                <a:cs typeface="Times New Roman"/>
              </a:rPr>
              <a:t>-</a:t>
            </a:r>
            <a:r>
              <a:rPr sz="1600" dirty="0">
                <a:latin typeface="Times New Roman"/>
                <a:cs typeface="Times New Roman"/>
              </a:rPr>
              <a:t>p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"string=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"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str </a:t>
            </a:r>
            <a:r>
              <a:rPr sz="1600" spc="-20" dirty="0">
                <a:latin typeface="Times New Roman"/>
                <a:cs typeface="Times New Roman"/>
              </a:rPr>
              <a:t>echo</a:t>
            </a:r>
            <a:endParaRPr sz="1600">
              <a:latin typeface="Times New Roman"/>
              <a:cs typeface="Times New Roman"/>
            </a:endParaRPr>
          </a:p>
          <a:p>
            <a:pPr marL="12700" marR="749935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len=`echo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$str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|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wc</a:t>
            </a:r>
            <a:r>
              <a:rPr sz="1600" spc="-45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-</a:t>
            </a:r>
            <a:r>
              <a:rPr sz="1600" spc="-25" dirty="0">
                <a:latin typeface="Times New Roman"/>
                <a:cs typeface="Times New Roman"/>
              </a:rPr>
              <a:t>c` </a:t>
            </a:r>
            <a:r>
              <a:rPr sz="1600" dirty="0">
                <a:latin typeface="Times New Roman"/>
                <a:cs typeface="Times New Roman"/>
              </a:rPr>
              <a:t>echo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"len=$len" len=$((len-</a:t>
            </a:r>
            <a:r>
              <a:rPr sz="1600" spc="-25" dirty="0">
                <a:latin typeface="Times New Roman"/>
                <a:cs typeface="Times New Roman"/>
              </a:rPr>
              <a:t>1))</a:t>
            </a:r>
            <a:endParaRPr sz="1600">
              <a:latin typeface="Times New Roman"/>
              <a:cs typeface="Times New Roman"/>
            </a:endParaRPr>
          </a:p>
          <a:p>
            <a:pPr marL="12700" marR="1263015">
              <a:lnSpc>
                <a:spcPct val="100000"/>
              </a:lnSpc>
              <a:spcBef>
                <a:spcPts val="5"/>
              </a:spcBef>
            </a:pPr>
            <a:r>
              <a:rPr sz="1600" dirty="0">
                <a:latin typeface="Times New Roman"/>
                <a:cs typeface="Times New Roman"/>
              </a:rPr>
              <a:t>echo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"len=$len" </a:t>
            </a:r>
            <a:r>
              <a:rPr sz="1600" spc="-25" dirty="0">
                <a:latin typeface="Times New Roman"/>
                <a:cs typeface="Times New Roman"/>
              </a:rPr>
              <a:t>i=1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j=`expr</a:t>
            </a:r>
            <a:r>
              <a:rPr sz="1600" spc="37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$len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/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2`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echo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"j=$j"</a:t>
            </a:r>
            <a:endParaRPr sz="1600">
              <a:latin typeface="Times New Roman"/>
              <a:cs typeface="Times New Roman"/>
            </a:endParaRPr>
          </a:p>
          <a:p>
            <a:pPr marL="12700" marR="1105535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while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test $i</a:t>
            </a:r>
            <a:r>
              <a:rPr sz="1600" spc="-25" dirty="0">
                <a:latin typeface="Times New Roman"/>
                <a:cs typeface="Times New Roman"/>
              </a:rPr>
              <a:t> -</a:t>
            </a:r>
            <a:r>
              <a:rPr sz="1600" dirty="0">
                <a:latin typeface="Times New Roman"/>
                <a:cs typeface="Times New Roman"/>
              </a:rPr>
              <a:t>le </a:t>
            </a:r>
            <a:r>
              <a:rPr sz="1600" spc="-25" dirty="0">
                <a:latin typeface="Times New Roman"/>
                <a:cs typeface="Times New Roman"/>
              </a:rPr>
              <a:t>$j do</a:t>
            </a:r>
            <a:endParaRPr sz="1600">
              <a:latin typeface="Times New Roman"/>
              <a:cs typeface="Times New Roman"/>
            </a:endParaRPr>
          </a:p>
          <a:p>
            <a:pPr marL="12700" marR="526415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k=`echo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$str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|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cut</a:t>
            </a:r>
            <a:r>
              <a:rPr sz="1600" spc="-25" dirty="0">
                <a:latin typeface="Times New Roman"/>
                <a:cs typeface="Times New Roman"/>
              </a:rPr>
              <a:t> -</a:t>
            </a:r>
            <a:r>
              <a:rPr sz="1600" dirty="0">
                <a:latin typeface="Times New Roman"/>
                <a:cs typeface="Times New Roman"/>
              </a:rPr>
              <a:t>c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$i` </a:t>
            </a:r>
            <a:r>
              <a:rPr sz="1600" dirty="0">
                <a:latin typeface="Times New Roman"/>
                <a:cs typeface="Times New Roman"/>
              </a:rPr>
              <a:t>l=`echo</a:t>
            </a:r>
            <a:r>
              <a:rPr sz="1600" spc="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$str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|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cut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spc="-20" dirty="0">
                <a:latin typeface="Times New Roman"/>
                <a:cs typeface="Times New Roman"/>
              </a:rPr>
              <a:t>-</a:t>
            </a:r>
            <a:r>
              <a:rPr sz="1600" dirty="0">
                <a:latin typeface="Times New Roman"/>
                <a:cs typeface="Times New Roman"/>
              </a:rPr>
              <a:t>c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$len` </a:t>
            </a:r>
            <a:r>
              <a:rPr sz="1600" dirty="0">
                <a:latin typeface="Times New Roman"/>
                <a:cs typeface="Times New Roman"/>
              </a:rPr>
              <a:t>if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test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$k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!=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$l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spc="-20" dirty="0">
                <a:latin typeface="Times New Roman"/>
                <a:cs typeface="Times New Roman"/>
              </a:rPr>
              <a:t>then</a:t>
            </a:r>
            <a:endParaRPr sz="1600">
              <a:latin typeface="Times New Roman"/>
              <a:cs typeface="Times New Roman"/>
            </a:endParaRPr>
          </a:p>
          <a:p>
            <a:pPr marL="12700" marR="508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echo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"String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is</a:t>
            </a:r>
            <a:r>
              <a:rPr sz="1600" spc="-1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not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palindrome" </a:t>
            </a:r>
            <a:r>
              <a:rPr sz="1600" spc="-20" dirty="0">
                <a:latin typeface="Times New Roman"/>
                <a:cs typeface="Times New Roman"/>
              </a:rPr>
              <a:t>exit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600" spc="-25" dirty="0">
                <a:latin typeface="Times New Roman"/>
                <a:cs typeface="Times New Roman"/>
              </a:rPr>
              <a:t>fi</a:t>
            </a:r>
            <a:endParaRPr sz="1600">
              <a:latin typeface="Times New Roman"/>
              <a:cs typeface="Times New Roman"/>
            </a:endParaRPr>
          </a:p>
          <a:p>
            <a:pPr marL="12700" marR="10414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i=`expr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$i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+</a:t>
            </a:r>
            <a:r>
              <a:rPr sz="1600" spc="-2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1` </a:t>
            </a:r>
            <a:r>
              <a:rPr sz="1600" dirty="0">
                <a:latin typeface="Times New Roman"/>
                <a:cs typeface="Times New Roman"/>
              </a:rPr>
              <a:t>len=`expr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$len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-</a:t>
            </a:r>
            <a:r>
              <a:rPr sz="1600" spc="-30" dirty="0">
                <a:latin typeface="Times New Roman"/>
                <a:cs typeface="Times New Roman"/>
              </a:rPr>
              <a:t> </a:t>
            </a:r>
            <a:r>
              <a:rPr sz="1600" spc="-25" dirty="0">
                <a:latin typeface="Times New Roman"/>
                <a:cs typeface="Times New Roman"/>
              </a:rPr>
              <a:t>1` </a:t>
            </a:r>
            <a:r>
              <a:rPr sz="1600" spc="-20" dirty="0">
                <a:latin typeface="Times New Roman"/>
                <a:cs typeface="Times New Roman"/>
              </a:rPr>
              <a:t>done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600" dirty="0">
                <a:latin typeface="Times New Roman"/>
                <a:cs typeface="Times New Roman"/>
              </a:rPr>
              <a:t>echo</a:t>
            </a:r>
            <a:r>
              <a:rPr sz="1600" spc="-2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"String</a:t>
            </a:r>
            <a:r>
              <a:rPr sz="1600" spc="-5" dirty="0">
                <a:latin typeface="Times New Roman"/>
                <a:cs typeface="Times New Roman"/>
              </a:rPr>
              <a:t> </a:t>
            </a:r>
            <a:r>
              <a:rPr sz="1600" dirty="0">
                <a:latin typeface="Times New Roman"/>
                <a:cs typeface="Times New Roman"/>
              </a:rPr>
              <a:t>is</a:t>
            </a:r>
            <a:r>
              <a:rPr sz="1600" spc="-15" dirty="0">
                <a:latin typeface="Times New Roman"/>
                <a:cs typeface="Times New Roman"/>
              </a:rPr>
              <a:t> </a:t>
            </a:r>
            <a:r>
              <a:rPr sz="1600" spc="-10" dirty="0">
                <a:latin typeface="Times New Roman"/>
                <a:cs typeface="Times New Roman"/>
              </a:rPr>
              <a:t>palindrome"</a:t>
            </a:r>
            <a:endParaRPr sz="16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</TotalTime>
  <Words>3789</Words>
  <Application>Microsoft Office PowerPoint</Application>
  <PresentationFormat>On-screen Show (4:3)</PresentationFormat>
  <Paragraphs>803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6" baseType="lpstr">
      <vt:lpstr>Arial MT</vt:lpstr>
      <vt:lpstr>Calibri</vt:lpstr>
      <vt:lpstr>Cambria</vt:lpstr>
      <vt:lpstr>Courier New</vt:lpstr>
      <vt:lpstr>Segoe UI Symbol</vt:lpstr>
      <vt:lpstr>Times New Roman</vt:lpstr>
      <vt:lpstr>Wingdings</vt:lpstr>
      <vt:lpstr>Office Theme</vt:lpstr>
      <vt:lpstr>Shell Scripting</vt:lpstr>
      <vt:lpstr>What is Shell</vt:lpstr>
      <vt:lpstr>PowerPoint Presentation</vt:lpstr>
      <vt:lpstr>Types of shells</vt:lpstr>
      <vt:lpstr>Basic Shell Programming</vt:lpstr>
      <vt:lpstr>Bash shell programming</vt:lpstr>
      <vt:lpstr>Variable</vt:lpstr>
      <vt:lpstr>Special shell variables</vt:lpstr>
      <vt:lpstr>PowerPoint Presentation</vt:lpstr>
      <vt:lpstr>PowerPoint Presentation</vt:lpstr>
      <vt:lpstr>Arithmetic Operators</vt:lpstr>
      <vt:lpstr>Arithmetic Operators</vt:lpstr>
      <vt:lpstr>PowerPoint Presentation</vt:lpstr>
      <vt:lpstr>Relational Operators</vt:lpstr>
      <vt:lpstr>Boolean Operators</vt:lpstr>
      <vt:lpstr>String Operators</vt:lpstr>
      <vt:lpstr>User input</vt:lpstr>
      <vt:lpstr>User input example</vt:lpstr>
      <vt:lpstr>BASH CONTROL STRUCTURES</vt:lpstr>
      <vt:lpstr>PowerPoint Presentation</vt:lpstr>
      <vt:lpstr>TEST COMMAND</vt:lpstr>
      <vt:lpstr>The simple if statement</vt:lpstr>
      <vt:lpstr>The if-then-else statement</vt:lpstr>
      <vt:lpstr>The if…statement</vt:lpstr>
      <vt:lpstr>Relational Operators</vt:lpstr>
      <vt:lpstr>Compound logical expressions</vt:lpstr>
      <vt:lpstr>Example: Using the ! Operator</vt:lpstr>
      <vt:lpstr>Example: Using the &amp;&amp; Operator</vt:lpstr>
      <vt:lpstr>Example: Using the || Operator</vt:lpstr>
      <vt:lpstr>File Testing</vt:lpstr>
      <vt:lpstr>Example: File Testing</vt:lpstr>
      <vt:lpstr>Example: File Testing</vt:lpstr>
      <vt:lpstr>Example: if… Statement</vt:lpstr>
      <vt:lpstr>The case Statement</vt:lpstr>
      <vt:lpstr>PowerPoint Presentation</vt:lpstr>
      <vt:lpstr>Example 1: The case Statement</vt:lpstr>
      <vt:lpstr>Bash programming: so far</vt:lpstr>
      <vt:lpstr>Bash programming: still to come</vt:lpstr>
      <vt:lpstr>Repetition Constructs</vt:lpstr>
      <vt:lpstr>The while Loop</vt:lpstr>
      <vt:lpstr>Example: Using the while Loop</vt:lpstr>
      <vt:lpstr>Example: Using the while Loop</vt:lpstr>
      <vt:lpstr>Example: Using the while Loop</vt:lpstr>
      <vt:lpstr>The until Loop</vt:lpstr>
      <vt:lpstr>Example: Using the until Loop</vt:lpstr>
      <vt:lpstr>Example: Using the until Loop</vt:lpstr>
      <vt:lpstr>The for Loop</vt:lpstr>
      <vt:lpstr>Example 1: The for Loop</vt:lpstr>
      <vt:lpstr>Example 2: Using the for Loop</vt:lpstr>
      <vt:lpstr>Using comma in the bash C-style for LOOP</vt:lpstr>
      <vt:lpstr>Select command</vt:lpstr>
      <vt:lpstr>Select example</vt:lpstr>
      <vt:lpstr>Select detail</vt:lpstr>
      <vt:lpstr>Select example</vt:lpstr>
      <vt:lpstr>BREAK AND CONTINUE</vt:lpstr>
      <vt:lpstr>The break command</vt:lpstr>
      <vt:lpstr>The continue command</vt:lpstr>
      <vt:lpstr>Example:</vt:lpstr>
      <vt:lpstr>Bash shell programming</vt:lpstr>
      <vt:lpstr>Shell Functions</vt:lpstr>
      <vt:lpstr>Shell Functions</vt:lpstr>
      <vt:lpstr>Example: function</vt:lpstr>
      <vt:lpstr>Example: function</vt:lpstr>
      <vt:lpstr>ARRAY VARIABLE</vt:lpstr>
      <vt:lpstr>PowerPoint Presentation</vt:lpstr>
      <vt:lpstr>#!/bin/bash #Declare a string array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Bash Programming</dc:title>
  <dc:subject>CSCI 330: The UNIX System</dc:subject>
  <dc:creator>Raimund Ege</dc:creator>
  <cp:lastModifiedBy>patel rakesh</cp:lastModifiedBy>
  <cp:revision>1</cp:revision>
  <dcterms:created xsi:type="dcterms:W3CDTF">2026-02-27T06:28:13Z</dcterms:created>
  <dcterms:modified xsi:type="dcterms:W3CDTF">2026-03-02T06:50:17Z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2021-10-20T00:00:00Z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2026-02-27T00:00:00Z</vt:filetime>
  </property>
  <property fmtid="{D5CDD505-2E9C-101B-9397-08002B2CF9AE}" pid="5" name="Producer">
    <vt:lpwstr>Microsoft® PowerPoint® 2016</vt:lpwstr>
  </property>
</Properties>
</file>