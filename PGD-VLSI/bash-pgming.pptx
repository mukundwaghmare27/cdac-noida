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58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 rakesh" userId="74ee47eba30fd748" providerId="LiveId" clId="{6D32CA86-25F8-411B-B6F7-5DE79421E0F4}"/>
    <pc:docChg chg="delSld modSld">
      <pc:chgData name="patel rakesh" userId="74ee47eba30fd748" providerId="LiveId" clId="{6D32CA86-25F8-411B-B6F7-5DE79421E0F4}" dt="2026-02-27T08:13:06.507" v="3" actId="20577"/>
      <pc:docMkLst>
        <pc:docMk/>
      </pc:docMkLst>
      <pc:sldChg chg="del">
        <pc:chgData name="patel rakesh" userId="74ee47eba30fd748" providerId="LiveId" clId="{6D32CA86-25F8-411B-B6F7-5DE79421E0F4}" dt="2026-02-27T06:30:00.755" v="0" actId="47"/>
        <pc:sldMkLst>
          <pc:docMk/>
          <pc:sldMk cId="0" sldId="258"/>
        </pc:sldMkLst>
      </pc:sldChg>
      <pc:sldChg chg="del">
        <pc:chgData name="patel rakesh" userId="74ee47eba30fd748" providerId="LiveId" clId="{6D32CA86-25F8-411B-B6F7-5DE79421E0F4}" dt="2026-02-27T06:34:54.821" v="1" actId="47"/>
        <pc:sldMkLst>
          <pc:docMk/>
          <pc:sldMk cId="0" sldId="265"/>
        </pc:sldMkLst>
      </pc:sldChg>
      <pc:sldChg chg="modSp mod">
        <pc:chgData name="patel rakesh" userId="74ee47eba30fd748" providerId="LiveId" clId="{6D32CA86-25F8-411B-B6F7-5DE79421E0F4}" dt="2026-02-27T08:13:06.507" v="3" actId="20577"/>
        <pc:sldMkLst>
          <pc:docMk/>
          <pc:sldMk cId="0" sldId="268"/>
        </pc:sldMkLst>
        <pc:spChg chg="mod">
          <ac:chgData name="patel rakesh" userId="74ee47eba30fd748" providerId="LiveId" clId="{6D32CA86-25F8-411B-B6F7-5DE79421E0F4}" dt="2026-02-27T08:13:06.507" v="3" actId="20577"/>
          <ac:spMkLst>
            <pc:docMk/>
            <pc:sldMk cId="0" sldId="26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40" y="1553083"/>
            <a:ext cx="3340100" cy="4156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50545" cy="548640"/>
          </a:xfrm>
          <a:custGeom>
            <a:avLst/>
            <a:gdLst/>
            <a:ahLst/>
            <a:cxnLst/>
            <a:rect l="l" t="t" r="r" b="b"/>
            <a:pathLst>
              <a:path w="550545" h="548639">
                <a:moveTo>
                  <a:pt x="275081" y="0"/>
                </a:moveTo>
                <a:lnTo>
                  <a:pt x="225643" y="4419"/>
                </a:lnTo>
                <a:lnTo>
                  <a:pt x="179109" y="17162"/>
                </a:lnTo>
                <a:lnTo>
                  <a:pt x="136256" y="37453"/>
                </a:lnTo>
                <a:lnTo>
                  <a:pt x="97863" y="64518"/>
                </a:lnTo>
                <a:lnTo>
                  <a:pt x="64706" y="97580"/>
                </a:lnTo>
                <a:lnTo>
                  <a:pt x="37563" y="135867"/>
                </a:lnTo>
                <a:lnTo>
                  <a:pt x="17213" y="178602"/>
                </a:lnTo>
                <a:lnTo>
                  <a:pt x="4432" y="225011"/>
                </a:lnTo>
                <a:lnTo>
                  <a:pt x="0" y="274319"/>
                </a:lnTo>
                <a:lnTo>
                  <a:pt x="4432" y="323628"/>
                </a:lnTo>
                <a:lnTo>
                  <a:pt x="17213" y="370037"/>
                </a:lnTo>
                <a:lnTo>
                  <a:pt x="37563" y="412772"/>
                </a:lnTo>
                <a:lnTo>
                  <a:pt x="64706" y="451059"/>
                </a:lnTo>
                <a:lnTo>
                  <a:pt x="97863" y="484121"/>
                </a:lnTo>
                <a:lnTo>
                  <a:pt x="136256" y="511186"/>
                </a:lnTo>
                <a:lnTo>
                  <a:pt x="179109" y="531477"/>
                </a:lnTo>
                <a:lnTo>
                  <a:pt x="225643" y="544220"/>
                </a:lnTo>
                <a:lnTo>
                  <a:pt x="275081" y="548640"/>
                </a:lnTo>
                <a:lnTo>
                  <a:pt x="324520" y="544220"/>
                </a:lnTo>
                <a:lnTo>
                  <a:pt x="371054" y="531477"/>
                </a:lnTo>
                <a:lnTo>
                  <a:pt x="413907" y="511186"/>
                </a:lnTo>
                <a:lnTo>
                  <a:pt x="452300" y="484121"/>
                </a:lnTo>
                <a:lnTo>
                  <a:pt x="485457" y="451059"/>
                </a:lnTo>
                <a:lnTo>
                  <a:pt x="512600" y="412772"/>
                </a:lnTo>
                <a:lnTo>
                  <a:pt x="532950" y="370037"/>
                </a:lnTo>
                <a:lnTo>
                  <a:pt x="545731" y="323628"/>
                </a:lnTo>
                <a:lnTo>
                  <a:pt x="550163" y="274319"/>
                </a:lnTo>
                <a:lnTo>
                  <a:pt x="545731" y="225011"/>
                </a:lnTo>
                <a:lnTo>
                  <a:pt x="532950" y="178602"/>
                </a:lnTo>
                <a:lnTo>
                  <a:pt x="512600" y="135867"/>
                </a:lnTo>
                <a:lnTo>
                  <a:pt x="485457" y="97580"/>
                </a:lnTo>
                <a:lnTo>
                  <a:pt x="452300" y="64518"/>
                </a:lnTo>
                <a:lnTo>
                  <a:pt x="413907" y="37453"/>
                </a:lnTo>
                <a:lnTo>
                  <a:pt x="371054" y="17162"/>
                </a:lnTo>
                <a:lnTo>
                  <a:pt x="324520" y="4419"/>
                </a:lnTo>
                <a:lnTo>
                  <a:pt x="275081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514" y="32111"/>
            <a:ext cx="7069175" cy="13467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32661"/>
            <a:ext cx="5746115" cy="4184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06689" y="5889964"/>
            <a:ext cx="269240" cy="222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3865" cy="6858000"/>
          </a:xfrm>
          <a:custGeom>
            <a:avLst/>
            <a:gdLst/>
            <a:ahLst/>
            <a:cxnLst/>
            <a:rect l="l" t="t" r="r" b="b"/>
            <a:pathLst>
              <a:path w="443865" h="6858000">
                <a:moveTo>
                  <a:pt x="0" y="6858000"/>
                </a:moveTo>
                <a:lnTo>
                  <a:pt x="443865" y="6858000"/>
                </a:lnTo>
                <a:lnTo>
                  <a:pt x="44386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2014" y="0"/>
            <a:ext cx="3810" cy="6858000"/>
          </a:xfrm>
          <a:custGeom>
            <a:avLst/>
            <a:gdLst/>
            <a:ahLst/>
            <a:cxnLst/>
            <a:rect l="l" t="t" r="r" b="b"/>
            <a:pathLst>
              <a:path w="3809" h="6858000">
                <a:moveTo>
                  <a:pt x="0" y="6858000"/>
                </a:moveTo>
                <a:lnTo>
                  <a:pt x="3809" y="6858000"/>
                </a:lnTo>
                <a:lnTo>
                  <a:pt x="380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5843" y="0"/>
            <a:ext cx="105410" cy="6858000"/>
          </a:xfrm>
          <a:custGeom>
            <a:avLst/>
            <a:gdLst/>
            <a:ahLst/>
            <a:cxnLst/>
            <a:rect l="l" t="t" r="r" b="b"/>
            <a:pathLst>
              <a:path w="105410" h="6858000">
                <a:moveTo>
                  <a:pt x="105156" y="0"/>
                </a:moveTo>
                <a:lnTo>
                  <a:pt x="0" y="0"/>
                </a:lnTo>
                <a:lnTo>
                  <a:pt x="0" y="6858000"/>
                </a:lnTo>
                <a:lnTo>
                  <a:pt x="105156" y="6858000"/>
                </a:lnTo>
                <a:lnTo>
                  <a:pt x="105156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1476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1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124" y="6858000"/>
                  </a:lnTo>
                  <a:lnTo>
                    <a:pt x="230124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667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24864" y="0"/>
            <a:ext cx="118110" cy="6858000"/>
            <a:chOff x="824864" y="0"/>
            <a:chExt cx="118110" cy="6858000"/>
          </a:xfrm>
        </p:grpSpPr>
        <p:sp>
          <p:nvSpPr>
            <p:cNvPr id="11" name="object 11"/>
            <p:cNvSpPr/>
            <p:nvPr/>
          </p:nvSpPr>
          <p:spPr>
            <a:xfrm>
              <a:off x="885824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0" y="6857999"/>
                  </a:moveTo>
                  <a:lnTo>
                    <a:pt x="57150" y="6857999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FFE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4864" y="0"/>
              <a:ext cx="57150" cy="6858000"/>
            </a:xfrm>
            <a:custGeom>
              <a:avLst/>
              <a:gdLst/>
              <a:ahLst/>
              <a:cxnLst/>
              <a:rect l="l" t="t" r="r" b="b"/>
              <a:pathLst>
                <a:path w="57150" h="6858000">
                  <a:moveTo>
                    <a:pt x="0" y="6857999"/>
                  </a:moveTo>
                  <a:lnTo>
                    <a:pt x="57150" y="6857999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FDC3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7454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8494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0"/>
            <a:ext cx="1661160" cy="6858000"/>
            <a:chOff x="609600" y="0"/>
            <a:chExt cx="1661160" cy="6858000"/>
          </a:xfrm>
        </p:grpSpPr>
        <p:sp>
          <p:nvSpPr>
            <p:cNvPr id="17" name="object 17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" y="3429000"/>
              <a:ext cx="1341120" cy="2080260"/>
            </a:xfrm>
            <a:custGeom>
              <a:avLst/>
              <a:gdLst/>
              <a:ahLst/>
              <a:cxnLst/>
              <a:rect l="l" t="t" r="r" b="b"/>
              <a:pathLst>
                <a:path w="1341120" h="2080260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41120" h="2080260">
                  <a:moveTo>
                    <a:pt x="1341120" y="1759458"/>
                  </a:moveTo>
                  <a:lnTo>
                    <a:pt x="1337640" y="1712061"/>
                  </a:lnTo>
                  <a:lnTo>
                    <a:pt x="1327531" y="1666811"/>
                  </a:lnTo>
                  <a:lnTo>
                    <a:pt x="1311300" y="1624228"/>
                  </a:lnTo>
                  <a:lnTo>
                    <a:pt x="1289431" y="1584782"/>
                  </a:lnTo>
                  <a:lnTo>
                    <a:pt x="1262418" y="1548993"/>
                  </a:lnTo>
                  <a:lnTo>
                    <a:pt x="1230782" y="1517357"/>
                  </a:lnTo>
                  <a:lnTo>
                    <a:pt x="1194993" y="1490345"/>
                  </a:lnTo>
                  <a:lnTo>
                    <a:pt x="1155547" y="1468475"/>
                  </a:lnTo>
                  <a:lnTo>
                    <a:pt x="1112964" y="1452245"/>
                  </a:lnTo>
                  <a:lnTo>
                    <a:pt x="1067714" y="1442135"/>
                  </a:lnTo>
                  <a:lnTo>
                    <a:pt x="1020318" y="1438656"/>
                  </a:lnTo>
                  <a:lnTo>
                    <a:pt x="972908" y="1442135"/>
                  </a:lnTo>
                  <a:lnTo>
                    <a:pt x="927658" y="1452245"/>
                  </a:lnTo>
                  <a:lnTo>
                    <a:pt x="885075" y="1468475"/>
                  </a:lnTo>
                  <a:lnTo>
                    <a:pt x="845629" y="1490345"/>
                  </a:lnTo>
                  <a:lnTo>
                    <a:pt x="809840" y="1517357"/>
                  </a:lnTo>
                  <a:lnTo>
                    <a:pt x="778205" y="1548993"/>
                  </a:lnTo>
                  <a:lnTo>
                    <a:pt x="751192" y="1584782"/>
                  </a:lnTo>
                  <a:lnTo>
                    <a:pt x="729322" y="1624228"/>
                  </a:lnTo>
                  <a:lnTo>
                    <a:pt x="713092" y="1666811"/>
                  </a:lnTo>
                  <a:lnTo>
                    <a:pt x="702983" y="1712061"/>
                  </a:lnTo>
                  <a:lnTo>
                    <a:pt x="699516" y="1759458"/>
                  </a:lnTo>
                  <a:lnTo>
                    <a:pt x="702983" y="1806867"/>
                  </a:lnTo>
                  <a:lnTo>
                    <a:pt x="713092" y="1852117"/>
                  </a:lnTo>
                  <a:lnTo>
                    <a:pt x="729322" y="1894700"/>
                  </a:lnTo>
                  <a:lnTo>
                    <a:pt x="751192" y="1934146"/>
                  </a:lnTo>
                  <a:lnTo>
                    <a:pt x="778205" y="1969935"/>
                  </a:lnTo>
                  <a:lnTo>
                    <a:pt x="809840" y="2001570"/>
                  </a:lnTo>
                  <a:lnTo>
                    <a:pt x="845629" y="2028583"/>
                  </a:lnTo>
                  <a:lnTo>
                    <a:pt x="885075" y="2050453"/>
                  </a:lnTo>
                  <a:lnTo>
                    <a:pt x="927658" y="2066683"/>
                  </a:lnTo>
                  <a:lnTo>
                    <a:pt x="972908" y="2076792"/>
                  </a:lnTo>
                  <a:lnTo>
                    <a:pt x="1020318" y="2080260"/>
                  </a:lnTo>
                  <a:lnTo>
                    <a:pt x="1067714" y="2076792"/>
                  </a:lnTo>
                  <a:lnTo>
                    <a:pt x="1112964" y="2066683"/>
                  </a:lnTo>
                  <a:lnTo>
                    <a:pt x="1155547" y="2050453"/>
                  </a:lnTo>
                  <a:lnTo>
                    <a:pt x="1194993" y="2028583"/>
                  </a:lnTo>
                  <a:lnTo>
                    <a:pt x="1230782" y="2001570"/>
                  </a:lnTo>
                  <a:lnTo>
                    <a:pt x="1262418" y="1969935"/>
                  </a:lnTo>
                  <a:lnTo>
                    <a:pt x="1289431" y="1934146"/>
                  </a:lnTo>
                  <a:lnTo>
                    <a:pt x="1311300" y="1894700"/>
                  </a:lnTo>
                  <a:lnTo>
                    <a:pt x="1327531" y="1852117"/>
                  </a:lnTo>
                  <a:lnTo>
                    <a:pt x="1337640" y="1806867"/>
                  </a:lnTo>
                  <a:lnTo>
                    <a:pt x="1341120" y="1759458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183" y="5500115"/>
              <a:ext cx="137159" cy="1371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4195" y="4495800"/>
              <a:ext cx="607060" cy="1567180"/>
            </a:xfrm>
            <a:custGeom>
              <a:avLst/>
              <a:gdLst/>
              <a:ahLst/>
              <a:cxnLst/>
              <a:rect l="l" t="t" r="r" b="b"/>
              <a:pathLst>
                <a:path w="607060" h="1567179">
                  <a:moveTo>
                    <a:pt x="274332" y="1429512"/>
                  </a:moveTo>
                  <a:lnTo>
                    <a:pt x="267322" y="1386166"/>
                  </a:lnTo>
                  <a:lnTo>
                    <a:pt x="247840" y="1348511"/>
                  </a:lnTo>
                  <a:lnTo>
                    <a:pt x="218147" y="1318818"/>
                  </a:lnTo>
                  <a:lnTo>
                    <a:pt x="180492" y="1299349"/>
                  </a:lnTo>
                  <a:lnTo>
                    <a:pt x="137172" y="1292352"/>
                  </a:lnTo>
                  <a:lnTo>
                    <a:pt x="93840" y="1299349"/>
                  </a:lnTo>
                  <a:lnTo>
                    <a:pt x="56184" y="1318818"/>
                  </a:lnTo>
                  <a:lnTo>
                    <a:pt x="26492" y="1348511"/>
                  </a:lnTo>
                  <a:lnTo>
                    <a:pt x="7010" y="1386166"/>
                  </a:lnTo>
                  <a:lnTo>
                    <a:pt x="0" y="1429512"/>
                  </a:lnTo>
                  <a:lnTo>
                    <a:pt x="7010" y="1472869"/>
                  </a:lnTo>
                  <a:lnTo>
                    <a:pt x="26492" y="1510525"/>
                  </a:lnTo>
                  <a:lnTo>
                    <a:pt x="56184" y="1540217"/>
                  </a:lnTo>
                  <a:lnTo>
                    <a:pt x="93840" y="1559687"/>
                  </a:lnTo>
                  <a:lnTo>
                    <a:pt x="137172" y="1566672"/>
                  </a:lnTo>
                  <a:lnTo>
                    <a:pt x="180492" y="1559687"/>
                  </a:lnTo>
                  <a:lnTo>
                    <a:pt x="218147" y="1540217"/>
                  </a:lnTo>
                  <a:lnTo>
                    <a:pt x="247840" y="1510525"/>
                  </a:lnTo>
                  <a:lnTo>
                    <a:pt x="267322" y="1472869"/>
                  </a:lnTo>
                  <a:lnTo>
                    <a:pt x="274332" y="1429512"/>
                  </a:lnTo>
                  <a:close/>
                </a:path>
                <a:path w="607060" h="1567179">
                  <a:moveTo>
                    <a:pt x="606564" y="182880"/>
                  </a:moveTo>
                  <a:lnTo>
                    <a:pt x="600024" y="134277"/>
                  </a:lnTo>
                  <a:lnTo>
                    <a:pt x="581583" y="90601"/>
                  </a:lnTo>
                  <a:lnTo>
                    <a:pt x="552983" y="53581"/>
                  </a:lnTo>
                  <a:lnTo>
                    <a:pt x="515962" y="24980"/>
                  </a:lnTo>
                  <a:lnTo>
                    <a:pt x="472287" y="6540"/>
                  </a:lnTo>
                  <a:lnTo>
                    <a:pt x="423684" y="0"/>
                  </a:lnTo>
                  <a:lnTo>
                    <a:pt x="375069" y="6540"/>
                  </a:lnTo>
                  <a:lnTo>
                    <a:pt x="331393" y="24980"/>
                  </a:lnTo>
                  <a:lnTo>
                    <a:pt x="294373" y="53581"/>
                  </a:lnTo>
                  <a:lnTo>
                    <a:pt x="265772" y="90601"/>
                  </a:lnTo>
                  <a:lnTo>
                    <a:pt x="247332" y="134277"/>
                  </a:lnTo>
                  <a:lnTo>
                    <a:pt x="240804" y="182880"/>
                  </a:lnTo>
                  <a:lnTo>
                    <a:pt x="247332" y="231495"/>
                  </a:lnTo>
                  <a:lnTo>
                    <a:pt x="265772" y="275170"/>
                  </a:lnTo>
                  <a:lnTo>
                    <a:pt x="294373" y="312191"/>
                  </a:lnTo>
                  <a:lnTo>
                    <a:pt x="331393" y="340791"/>
                  </a:lnTo>
                  <a:lnTo>
                    <a:pt x="375069" y="359232"/>
                  </a:lnTo>
                  <a:lnTo>
                    <a:pt x="423684" y="365760"/>
                  </a:lnTo>
                  <a:lnTo>
                    <a:pt x="472287" y="359232"/>
                  </a:lnTo>
                  <a:lnTo>
                    <a:pt x="515962" y="340791"/>
                  </a:lnTo>
                  <a:lnTo>
                    <a:pt x="552983" y="312191"/>
                  </a:lnTo>
                  <a:lnTo>
                    <a:pt x="581583" y="275170"/>
                  </a:lnTo>
                  <a:lnTo>
                    <a:pt x="600024" y="231495"/>
                  </a:lnTo>
                  <a:lnTo>
                    <a:pt x="606564" y="18288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364994" y="4334078"/>
            <a:ext cx="3862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cap="small" dirty="0">
                <a:latin typeface="Times New Roman"/>
                <a:cs typeface="Times New Roman"/>
              </a:rPr>
              <a:t>Shell</a:t>
            </a:r>
            <a:r>
              <a:rPr sz="4000" cap="small" spc="-5" dirty="0">
                <a:latin typeface="Times New Roman"/>
                <a:cs typeface="Times New Roman"/>
              </a:rPr>
              <a:t> </a:t>
            </a:r>
            <a:r>
              <a:rPr sz="4000" cap="small" spc="-50" dirty="0">
                <a:latin typeface="Times New Roman"/>
                <a:cs typeface="Times New Roman"/>
              </a:rPr>
              <a:t>Scripting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3497" y="331978"/>
            <a:ext cx="2091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>
                <a:solidFill>
                  <a:srgbClr val="000000"/>
                </a:solidFill>
              </a:rPr>
              <a:t>What</a:t>
            </a:r>
            <a:r>
              <a:rPr spc="170" dirty="0">
                <a:solidFill>
                  <a:srgbClr val="000000"/>
                </a:solidFill>
              </a:rPr>
              <a:t> </a:t>
            </a:r>
            <a:r>
              <a:rPr spc="110" dirty="0">
                <a:solidFill>
                  <a:srgbClr val="000000"/>
                </a:solidFill>
              </a:rPr>
              <a:t>is</a:t>
            </a:r>
            <a:r>
              <a:rPr spc="165" dirty="0">
                <a:solidFill>
                  <a:srgbClr val="000000"/>
                </a:solidFill>
              </a:rPr>
              <a:t> </a:t>
            </a:r>
            <a:r>
              <a:rPr spc="155" dirty="0">
                <a:solidFill>
                  <a:srgbClr val="000000"/>
                </a:solidFill>
              </a:rPr>
              <a:t>Shell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954303"/>
            <a:ext cx="8002905" cy="3547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13485" indent="-3429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spc="204" dirty="0">
                <a:latin typeface="Cambria"/>
                <a:cs typeface="Cambria"/>
              </a:rPr>
              <a:t>A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shell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is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special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user</a:t>
            </a:r>
            <a:r>
              <a:rPr sz="2200" spc="16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program</a:t>
            </a:r>
            <a:r>
              <a:rPr sz="2200" spc="18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which</a:t>
            </a:r>
            <a:r>
              <a:rPr sz="2200" spc="18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provide</a:t>
            </a:r>
            <a:r>
              <a:rPr sz="2200" spc="18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an </a:t>
            </a:r>
            <a:r>
              <a:rPr sz="2200" spc="60" dirty="0">
                <a:latin typeface="Cambria"/>
                <a:cs typeface="Cambria"/>
              </a:rPr>
              <a:t>interface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user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to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use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operating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system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services.</a:t>
            </a:r>
            <a:endParaRPr sz="22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spc="120" dirty="0">
                <a:latin typeface="Cambria"/>
                <a:cs typeface="Cambria"/>
              </a:rPr>
              <a:t>Shell</a:t>
            </a:r>
            <a:r>
              <a:rPr sz="2200" spc="1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accept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human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readable</a:t>
            </a:r>
            <a:r>
              <a:rPr sz="2200" spc="19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commands</a:t>
            </a:r>
            <a:r>
              <a:rPr sz="2200" spc="19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from</a:t>
            </a:r>
            <a:r>
              <a:rPr sz="2200" spc="21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user</a:t>
            </a:r>
            <a:r>
              <a:rPr sz="2200" spc="19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and</a:t>
            </a:r>
            <a:endParaRPr sz="22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Cambria"/>
                <a:cs typeface="Cambria"/>
              </a:rPr>
              <a:t>convert</a:t>
            </a:r>
            <a:r>
              <a:rPr sz="2200" spc="18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them</a:t>
            </a:r>
            <a:r>
              <a:rPr sz="2200" spc="18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into</a:t>
            </a:r>
            <a:r>
              <a:rPr sz="2200" spc="17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something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which</a:t>
            </a:r>
            <a:r>
              <a:rPr sz="2200" spc="19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kernel</a:t>
            </a:r>
            <a:r>
              <a:rPr sz="2200" spc="17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can</a:t>
            </a:r>
            <a:r>
              <a:rPr sz="2200" spc="18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understand.</a:t>
            </a:r>
            <a:endParaRPr sz="2200">
              <a:latin typeface="Cambria"/>
              <a:cs typeface="Cambria"/>
            </a:endParaRPr>
          </a:p>
          <a:p>
            <a:pPr marL="355600" marR="368935" indent="-342900">
              <a:lnSpc>
                <a:spcPct val="150100"/>
              </a:lnSpc>
              <a:buFont typeface="Arial MT"/>
              <a:buChar char="•"/>
              <a:tabLst>
                <a:tab pos="355600" algn="l"/>
              </a:tabLst>
            </a:pPr>
            <a:r>
              <a:rPr sz="2200" spc="135" dirty="0">
                <a:latin typeface="Cambria"/>
                <a:cs typeface="Cambria"/>
              </a:rPr>
              <a:t>It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is</a:t>
            </a:r>
            <a:r>
              <a:rPr sz="2200" spc="135" dirty="0">
                <a:latin typeface="Cambria"/>
                <a:cs typeface="Cambria"/>
              </a:rPr>
              <a:t> a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command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language</a:t>
            </a:r>
            <a:r>
              <a:rPr sz="2200" spc="18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interpreter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that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execute </a:t>
            </a:r>
            <a:r>
              <a:rPr sz="2200" spc="60" dirty="0">
                <a:latin typeface="Cambria"/>
                <a:cs typeface="Cambria"/>
              </a:rPr>
              <a:t>commands</a:t>
            </a:r>
            <a:r>
              <a:rPr sz="2200" spc="18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read</a:t>
            </a:r>
            <a:r>
              <a:rPr sz="2200" spc="18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from</a:t>
            </a:r>
            <a:r>
              <a:rPr sz="2200" spc="19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input</a:t>
            </a:r>
            <a:r>
              <a:rPr sz="2200" spc="20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devices</a:t>
            </a:r>
            <a:r>
              <a:rPr sz="2200" spc="17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such</a:t>
            </a:r>
            <a:r>
              <a:rPr sz="2200" spc="204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as</a:t>
            </a:r>
            <a:r>
              <a:rPr sz="2200" spc="18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keyboards</a:t>
            </a:r>
            <a:r>
              <a:rPr sz="2200" spc="20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or </a:t>
            </a:r>
            <a:r>
              <a:rPr sz="2200" dirty="0">
                <a:latin typeface="Cambria"/>
                <a:cs typeface="Cambria"/>
              </a:rPr>
              <a:t>from</a:t>
            </a:r>
            <a:r>
              <a:rPr sz="2200" spc="29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files.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422" y="304798"/>
            <a:ext cx="6991593" cy="647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85" dirty="0">
                <a:latin typeface="Cambria"/>
                <a:cs typeface="Cambria"/>
              </a:rPr>
              <a:t>Types</a:t>
            </a:r>
            <a:r>
              <a:rPr sz="3000" b="0" cap="small" spc="305" dirty="0">
                <a:latin typeface="Cambria"/>
                <a:cs typeface="Cambria"/>
              </a:rPr>
              <a:t> </a:t>
            </a:r>
            <a:r>
              <a:rPr sz="3000" b="0" cap="small" spc="295" dirty="0">
                <a:latin typeface="Cambria"/>
                <a:cs typeface="Cambria"/>
              </a:rPr>
              <a:t>of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60" dirty="0">
                <a:latin typeface="Cambria"/>
                <a:cs typeface="Cambria"/>
              </a:rPr>
              <a:t>shells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3083"/>
            <a:ext cx="4050029" cy="22358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70" dirty="0">
                <a:latin typeface="Cambria"/>
                <a:cs typeface="Cambria"/>
              </a:rPr>
              <a:t>There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are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four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shells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75" dirty="0">
                <a:latin typeface="Cambria"/>
                <a:cs typeface="Cambria"/>
              </a:rPr>
              <a:t>Bourne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shell(sh),</a:t>
            </a:r>
            <a:endParaRPr sz="24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105" dirty="0">
                <a:latin typeface="Cambria"/>
                <a:cs typeface="Cambria"/>
              </a:rPr>
              <a:t>Korn</a:t>
            </a:r>
            <a:r>
              <a:rPr sz="2400" spc="50" dirty="0">
                <a:latin typeface="Cambria"/>
                <a:cs typeface="Cambria"/>
              </a:rPr>
              <a:t> shell(ksh),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375" dirty="0">
                <a:latin typeface="Cambria"/>
                <a:cs typeface="Cambria"/>
              </a:rPr>
              <a:t>C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shell(csh)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75" dirty="0">
                <a:latin typeface="Cambria"/>
                <a:cs typeface="Cambria"/>
              </a:rPr>
              <a:t>Bourne</a:t>
            </a:r>
            <a:r>
              <a:rPr sz="2400" spc="-4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Again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Shell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(bash).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80" dirty="0">
                <a:latin typeface="Cambria"/>
                <a:cs typeface="Cambria"/>
              </a:rPr>
              <a:t>Basic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335" dirty="0">
                <a:latin typeface="Cambria"/>
                <a:cs typeface="Cambria"/>
              </a:rPr>
              <a:t>Shell</a:t>
            </a:r>
            <a:r>
              <a:rPr sz="3000" b="0" cap="small" spc="265" dirty="0">
                <a:latin typeface="Cambria"/>
                <a:cs typeface="Cambria"/>
              </a:rPr>
              <a:t> </a:t>
            </a:r>
            <a:r>
              <a:rPr sz="3000" b="0" cap="small" spc="260" dirty="0">
                <a:latin typeface="Cambria"/>
                <a:cs typeface="Cambria"/>
              </a:rPr>
              <a:t>Programming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85">
              <a:lnSpc>
                <a:spcPts val="16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6131"/>
            <a:ext cx="6786245" cy="37496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225" dirty="0">
                <a:latin typeface="Cambria"/>
                <a:cs typeface="Cambria"/>
              </a:rPr>
              <a:t>A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script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file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contains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shell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commands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95" dirty="0">
                <a:latin typeface="Cambria"/>
                <a:cs typeface="Cambria"/>
              </a:rPr>
              <a:t>data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structure: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variables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dirty="0">
                <a:latin typeface="Cambria"/>
                <a:cs typeface="Cambria"/>
              </a:rPr>
              <a:t>control</a:t>
            </a:r>
            <a:r>
              <a:rPr sz="2100" spc="27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structure:</a:t>
            </a:r>
            <a:r>
              <a:rPr sz="2100" spc="30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sequence,</a:t>
            </a:r>
            <a:r>
              <a:rPr sz="2100" spc="29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decision,</a:t>
            </a:r>
            <a:r>
              <a:rPr sz="2100" spc="300" dirty="0">
                <a:latin typeface="Cambria"/>
                <a:cs typeface="Cambria"/>
              </a:rPr>
              <a:t> </a:t>
            </a:r>
            <a:r>
              <a:rPr sz="2100" spc="-20" dirty="0">
                <a:latin typeface="Cambria"/>
                <a:cs typeface="Cambria"/>
              </a:rPr>
              <a:t>loop</a:t>
            </a:r>
            <a:endParaRPr sz="21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20" dirty="0">
                <a:latin typeface="Cambria"/>
                <a:cs typeface="Cambria"/>
              </a:rPr>
              <a:t>Shebang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line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bash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shell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script:</a:t>
            </a:r>
            <a:endParaRPr sz="2400">
              <a:latin typeface="Cambria"/>
              <a:cs typeface="Cambria"/>
            </a:endParaRPr>
          </a:p>
          <a:p>
            <a:pPr marL="285115" marR="4298315">
              <a:lnSpc>
                <a:spcPts val="3420"/>
              </a:lnSpc>
              <a:spcBef>
                <a:spcPts val="70"/>
              </a:spcBef>
            </a:pPr>
            <a:r>
              <a:rPr sz="2400" b="1" dirty="0">
                <a:latin typeface="Courier New"/>
                <a:cs typeface="Courier New"/>
              </a:rPr>
              <a:t>#!</a:t>
            </a:r>
            <a:r>
              <a:rPr sz="2400" b="1" spc="-10" dirty="0">
                <a:latin typeface="Courier New"/>
                <a:cs typeface="Courier New"/>
              </a:rPr>
              <a:t> /bin/bash </a:t>
            </a:r>
            <a:r>
              <a:rPr sz="2400" b="1" dirty="0">
                <a:latin typeface="Courier New"/>
                <a:cs typeface="Courier New"/>
              </a:rPr>
              <a:t>#!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/bin/sh</a:t>
            </a:r>
            <a:endParaRPr sz="2400">
              <a:latin typeface="Courier New"/>
              <a:cs typeface="Courier New"/>
            </a:endParaRPr>
          </a:p>
          <a:p>
            <a:pPr marL="285115" indent="-272415">
              <a:lnSpc>
                <a:spcPct val="100000"/>
              </a:lnSpc>
              <a:spcBef>
                <a:spcPts val="65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dirty="0">
                <a:latin typeface="Cambria"/>
                <a:cs typeface="Cambria"/>
              </a:rPr>
              <a:t>to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run: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35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2936240" algn="l"/>
              </a:tabLst>
            </a:pPr>
            <a:r>
              <a:rPr sz="2100" spc="95" dirty="0">
                <a:latin typeface="Cambria"/>
                <a:cs typeface="Cambria"/>
              </a:rPr>
              <a:t>make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executable: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b="1" dirty="0">
                <a:latin typeface="Courier New"/>
                <a:cs typeface="Courier New"/>
              </a:rPr>
              <a:t>%</a:t>
            </a:r>
            <a:r>
              <a:rPr sz="2100" b="1" spc="-50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chmod</a:t>
            </a:r>
            <a:r>
              <a:rPr sz="2100" b="1" spc="-20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+x</a:t>
            </a:r>
            <a:r>
              <a:rPr sz="2100" b="1" spc="-50" dirty="0">
                <a:latin typeface="Courier New"/>
                <a:cs typeface="Courier New"/>
              </a:rPr>
              <a:t> </a:t>
            </a:r>
            <a:r>
              <a:rPr sz="2100" b="1" spc="-10" dirty="0">
                <a:latin typeface="Courier New"/>
                <a:cs typeface="Courier New"/>
              </a:rPr>
              <a:t>script</a:t>
            </a:r>
            <a:endParaRPr sz="2100">
              <a:latin typeface="Courier New"/>
              <a:cs typeface="Courier New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2905760" algn="l"/>
              </a:tabLst>
            </a:pPr>
            <a:r>
              <a:rPr sz="2100" spc="50" dirty="0">
                <a:latin typeface="Cambria"/>
                <a:cs typeface="Cambria"/>
              </a:rPr>
              <a:t>invoke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via:</a:t>
            </a:r>
            <a:r>
              <a:rPr sz="2100" dirty="0">
                <a:latin typeface="Cambria"/>
                <a:cs typeface="Cambria"/>
              </a:rPr>
              <a:t>	</a:t>
            </a:r>
            <a:r>
              <a:rPr sz="2100" b="1" dirty="0">
                <a:latin typeface="Courier New"/>
                <a:cs typeface="Courier New"/>
              </a:rPr>
              <a:t>%</a:t>
            </a:r>
            <a:r>
              <a:rPr sz="2100" b="1" spc="-20" dirty="0">
                <a:latin typeface="Courier New"/>
                <a:cs typeface="Courier New"/>
              </a:rPr>
              <a:t> </a:t>
            </a:r>
            <a:r>
              <a:rPr sz="2100" b="1" spc="-10" dirty="0">
                <a:latin typeface="Courier New"/>
                <a:cs typeface="Courier New"/>
              </a:rPr>
              <a:t>./script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95" dirty="0">
                <a:latin typeface="Cambria"/>
                <a:cs typeface="Cambria"/>
              </a:rPr>
              <a:t>Bash </a:t>
            </a:r>
            <a:r>
              <a:rPr sz="3000" b="0" cap="small" spc="325" dirty="0">
                <a:latin typeface="Cambria"/>
                <a:cs typeface="Cambria"/>
              </a:rPr>
              <a:t>shell</a:t>
            </a:r>
            <a:r>
              <a:rPr sz="3000" b="0" cap="small" spc="275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programming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3803015" cy="45148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3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spc="105" dirty="0">
                <a:latin typeface="Cambria"/>
                <a:cs typeface="Cambria"/>
              </a:rPr>
              <a:t>Input</a:t>
            </a:r>
            <a:endParaRPr sz="24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55" dirty="0">
                <a:latin typeface="Cambria"/>
                <a:cs typeface="Cambria"/>
              </a:rPr>
              <a:t>prompting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user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25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55" dirty="0">
                <a:latin typeface="Cambria"/>
                <a:cs typeface="Cambria"/>
              </a:rPr>
              <a:t>command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line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arguments</a:t>
            </a:r>
            <a:endParaRPr sz="21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spc="55" dirty="0">
                <a:latin typeface="Cambria"/>
                <a:cs typeface="Cambria"/>
              </a:rPr>
              <a:t>Decision:</a:t>
            </a:r>
            <a:endParaRPr sz="24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dirty="0">
                <a:latin typeface="Cambria"/>
                <a:cs typeface="Cambria"/>
              </a:rPr>
              <a:t>if-</a:t>
            </a:r>
            <a:r>
              <a:rPr sz="2100" spc="60" dirty="0">
                <a:latin typeface="Cambria"/>
                <a:cs typeface="Cambria"/>
              </a:rPr>
              <a:t>then-</a:t>
            </a:r>
            <a:r>
              <a:rPr sz="2100" spc="-20" dirty="0">
                <a:latin typeface="Cambria"/>
                <a:cs typeface="Cambria"/>
              </a:rPr>
              <a:t>else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35" dirty="0">
                <a:latin typeface="Cambria"/>
                <a:cs typeface="Cambria"/>
              </a:rPr>
              <a:t>case</a:t>
            </a:r>
            <a:endParaRPr sz="21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spc="65" dirty="0">
                <a:latin typeface="Cambria"/>
                <a:cs typeface="Cambria"/>
              </a:rPr>
              <a:t>Repetition</a:t>
            </a:r>
            <a:endParaRPr sz="24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20" dirty="0">
                <a:latin typeface="Cambria"/>
                <a:cs typeface="Cambria"/>
              </a:rPr>
              <a:t>do-</a:t>
            </a:r>
            <a:r>
              <a:rPr sz="2100" spc="70" dirty="0">
                <a:latin typeface="Cambria"/>
                <a:cs typeface="Cambria"/>
              </a:rPr>
              <a:t>while,</a:t>
            </a:r>
            <a:r>
              <a:rPr sz="2100" spc="17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repeat-</a:t>
            </a:r>
            <a:r>
              <a:rPr sz="2100" spc="80" dirty="0">
                <a:latin typeface="Cambria"/>
                <a:cs typeface="Cambria"/>
              </a:rPr>
              <a:t>until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25" dirty="0">
                <a:latin typeface="Cambria"/>
                <a:cs typeface="Cambria"/>
              </a:rPr>
              <a:t>for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25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10" dirty="0">
                <a:latin typeface="Cambria"/>
                <a:cs typeface="Cambria"/>
              </a:rPr>
              <a:t>select</a:t>
            </a:r>
            <a:endParaRPr sz="21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spc="85" dirty="0">
                <a:latin typeface="Cambria"/>
                <a:cs typeface="Cambria"/>
              </a:rPr>
              <a:t>Functions</a:t>
            </a:r>
            <a:endParaRPr sz="240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6385" algn="l"/>
              </a:tabLst>
            </a:pPr>
            <a:r>
              <a:rPr sz="2400" spc="55" dirty="0">
                <a:latin typeface="Cambria"/>
                <a:cs typeface="Cambria"/>
              </a:rPr>
              <a:t>Traps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7808" y="5870549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6639"/>
            <a:ext cx="16846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190" dirty="0">
                <a:latin typeface="Cambria"/>
                <a:cs typeface="Cambria"/>
              </a:rPr>
              <a:t>Variable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19302"/>
            <a:ext cx="6465570" cy="554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225" dirty="0">
                <a:latin typeface="Cambria"/>
                <a:cs typeface="Cambria"/>
              </a:rPr>
              <a:t>A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character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string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which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we </a:t>
            </a:r>
            <a:r>
              <a:rPr sz="2400" spc="100" dirty="0">
                <a:latin typeface="Cambria"/>
                <a:cs typeface="Cambria"/>
              </a:rPr>
              <a:t>assign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value.</a:t>
            </a:r>
            <a:endParaRPr sz="2400" dirty="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0" dirty="0">
                <a:latin typeface="Cambria"/>
                <a:cs typeface="Cambria"/>
              </a:rPr>
              <a:t>The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value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assigned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could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number,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text, </a:t>
            </a:r>
            <a:r>
              <a:rPr sz="2400" spc="95" dirty="0">
                <a:latin typeface="Cambria"/>
                <a:cs typeface="Cambria"/>
              </a:rPr>
              <a:t>filename,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device,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other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type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dat</a:t>
            </a:r>
            <a:endParaRPr sz="2400" dirty="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85" dirty="0">
                <a:latin typeface="Cambria"/>
                <a:cs typeface="Cambria"/>
              </a:rPr>
              <a:t>Valid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variables</a:t>
            </a:r>
            <a:endParaRPr sz="2400" dirty="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0" dirty="0">
                <a:latin typeface="Cambria"/>
                <a:cs typeface="Cambria"/>
              </a:rPr>
              <a:t>_abc</a:t>
            </a:r>
            <a:endParaRPr sz="2400" dirty="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10" dirty="0">
                <a:latin typeface="Cambria"/>
                <a:cs typeface="Cambria"/>
              </a:rPr>
              <a:t>Ab_c</a:t>
            </a:r>
            <a:endParaRPr sz="2400" dirty="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110" dirty="0">
                <a:latin typeface="Cambria"/>
                <a:cs typeface="Cambria"/>
              </a:rPr>
              <a:t>Ab_1</a:t>
            </a:r>
            <a:endParaRPr sz="2400" dirty="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5" dirty="0">
                <a:latin typeface="Cambria"/>
                <a:cs typeface="Cambria"/>
              </a:rPr>
              <a:t>Invalid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Variables</a:t>
            </a:r>
            <a:endParaRPr sz="2400" dirty="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0" dirty="0">
                <a:latin typeface="Cambria"/>
                <a:cs typeface="Cambria"/>
              </a:rPr>
              <a:t>1_ab</a:t>
            </a:r>
            <a:endParaRPr sz="2400" dirty="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-10" dirty="0">
                <a:latin typeface="Cambria"/>
                <a:cs typeface="Cambria"/>
              </a:rPr>
              <a:t>-</a:t>
            </a:r>
            <a:r>
              <a:rPr sz="2400" spc="55" dirty="0">
                <a:latin typeface="Cambria"/>
                <a:cs typeface="Cambria"/>
              </a:rPr>
              <a:t>ab</a:t>
            </a:r>
            <a:endParaRPr sz="2400" dirty="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75" dirty="0">
                <a:latin typeface="Cambria"/>
                <a:cs typeface="Cambria"/>
              </a:rPr>
              <a:t>Ab-</a:t>
            </a:r>
            <a:r>
              <a:rPr sz="2400" spc="-25" dirty="0">
                <a:latin typeface="Cambria"/>
                <a:cs typeface="Cambria"/>
              </a:rPr>
              <a:t>cd</a:t>
            </a:r>
            <a:endParaRPr sz="2400" dirty="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5" dirty="0">
                <a:latin typeface="Cambria"/>
                <a:cs typeface="Cambria"/>
              </a:rPr>
              <a:t>Ab_c!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7808" y="5870549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90" dirty="0">
                <a:latin typeface="Cambria"/>
                <a:cs typeface="Cambria"/>
              </a:rPr>
              <a:t>Special</a:t>
            </a:r>
            <a:r>
              <a:rPr sz="3000" b="0" cap="small" spc="300" dirty="0">
                <a:latin typeface="Cambria"/>
                <a:cs typeface="Cambria"/>
              </a:rPr>
              <a:t> </a:t>
            </a:r>
            <a:r>
              <a:rPr sz="3000" b="0" cap="small" spc="325" dirty="0">
                <a:latin typeface="Cambria"/>
                <a:cs typeface="Cambria"/>
              </a:rPr>
              <a:t>shell</a:t>
            </a:r>
            <a:r>
              <a:rPr sz="3000" b="0" cap="small" spc="280" dirty="0">
                <a:latin typeface="Cambria"/>
                <a:cs typeface="Cambria"/>
              </a:rPr>
              <a:t> </a:t>
            </a:r>
            <a:r>
              <a:rPr sz="3000" b="0" cap="small" spc="195" dirty="0">
                <a:latin typeface="Cambria"/>
                <a:cs typeface="Cambria"/>
              </a:rPr>
              <a:t>variables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42912" y="1662112"/>
          <a:ext cx="7620000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6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Parameter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Meaning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$0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shell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script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$1-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$9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Positional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parameters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 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$#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positional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parameters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$*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positional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parameters,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“$*”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$@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positional</a:t>
                      </a:r>
                      <a:r>
                        <a:rPr sz="2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parameters,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“$@”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strings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$?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recently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executed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command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$$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process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43814"/>
            <a:ext cx="8031480" cy="3726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90" dirty="0">
                <a:solidFill>
                  <a:srgbClr val="565F6C"/>
                </a:solidFill>
                <a:latin typeface="Cambria"/>
                <a:cs typeface="Cambria"/>
              </a:rPr>
              <a:t>ARRAY</a:t>
            </a:r>
            <a:r>
              <a:rPr sz="2400" b="1" spc="33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b="1" spc="300" dirty="0">
                <a:solidFill>
                  <a:srgbClr val="565F6C"/>
                </a:solidFill>
                <a:latin typeface="Cambria"/>
                <a:cs typeface="Cambria"/>
              </a:rPr>
              <a:t>VARIABLE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10" dirty="0">
                <a:latin typeface="Cambria"/>
                <a:cs typeface="Cambria"/>
              </a:rPr>
              <a:t>This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hold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multiple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same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time.</a:t>
            </a:r>
            <a:endParaRPr sz="24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203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114" dirty="0">
                <a:latin typeface="Cambria"/>
                <a:cs typeface="Cambria"/>
              </a:rPr>
              <a:t>Arrays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method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grouping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set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variables.</a:t>
            </a:r>
            <a:endParaRPr sz="2400">
              <a:latin typeface="Cambria"/>
              <a:cs typeface="Cambria"/>
            </a:endParaRPr>
          </a:p>
          <a:p>
            <a:pPr marL="368935" indent="-356235">
              <a:lnSpc>
                <a:spcPct val="100000"/>
              </a:lnSpc>
              <a:spcBef>
                <a:spcPts val="20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68935" algn="l"/>
              </a:tabLst>
            </a:pPr>
            <a:r>
              <a:rPr sz="2400" spc="110" dirty="0">
                <a:latin typeface="Cambria"/>
                <a:cs typeface="Cambria"/>
              </a:rPr>
              <a:t>syntax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array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initialization</a:t>
            </a:r>
            <a:endParaRPr sz="24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203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75" dirty="0">
                <a:latin typeface="Cambria"/>
                <a:cs typeface="Cambria"/>
              </a:rPr>
              <a:t>Array=(va1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va2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va3)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203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  <a:tab pos="1082040" algn="l"/>
              </a:tabLst>
            </a:pPr>
            <a:r>
              <a:rPr sz="2400" spc="-20" dirty="0">
                <a:latin typeface="Cambria"/>
                <a:cs typeface="Cambria"/>
              </a:rPr>
              <a:t>echo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75" dirty="0">
                <a:latin typeface="Cambria"/>
                <a:cs typeface="Cambria"/>
              </a:rPr>
              <a:t>“first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value=${Array[0]}”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39039"/>
            <a:ext cx="3333115" cy="475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29" dirty="0">
                <a:solidFill>
                  <a:srgbClr val="565F6C"/>
                </a:solidFill>
                <a:latin typeface="Cambria"/>
                <a:cs typeface="Cambria"/>
              </a:rPr>
              <a:t>OPERATORS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5" dirty="0">
                <a:latin typeface="Cambria"/>
                <a:cs typeface="Cambria"/>
              </a:rPr>
              <a:t>Arithmetic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Operators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0" dirty="0">
                <a:latin typeface="Cambria"/>
                <a:cs typeface="Cambria"/>
              </a:rPr>
              <a:t>Relational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Operators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70" dirty="0">
                <a:latin typeface="Cambria"/>
                <a:cs typeface="Cambria"/>
              </a:rPr>
              <a:t>Boolean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Operators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35" dirty="0">
                <a:latin typeface="Cambria"/>
                <a:cs typeface="Cambria"/>
              </a:rPr>
              <a:t>String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Operators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30" dirty="0">
                <a:latin typeface="Cambria"/>
                <a:cs typeface="Cambria"/>
              </a:rPr>
              <a:t>File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Test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Operators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6639"/>
            <a:ext cx="42576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54" dirty="0">
                <a:latin typeface="Cambria"/>
                <a:cs typeface="Cambria"/>
              </a:rPr>
              <a:t>Arithmetic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215" dirty="0">
                <a:latin typeface="Cambria"/>
                <a:cs typeface="Cambria"/>
              </a:rPr>
              <a:t>Operators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23065"/>
            <a:ext cx="8164195" cy="4645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255904" indent="-273050">
              <a:lnSpc>
                <a:spcPct val="1501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85" dirty="0">
                <a:latin typeface="Cambria"/>
                <a:cs typeface="Cambria"/>
              </a:rPr>
              <a:t>shell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didn't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originally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have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any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mechanism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perform </a:t>
            </a:r>
            <a:r>
              <a:rPr sz="2400" spc="70" dirty="0">
                <a:latin typeface="Cambria"/>
                <a:cs typeface="Cambria"/>
              </a:rPr>
              <a:t>simple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arithmetic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operations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but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it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uses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external programs,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either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b="1" spc="185" dirty="0">
                <a:latin typeface="Cambria"/>
                <a:cs typeface="Cambria"/>
              </a:rPr>
              <a:t>awk</a:t>
            </a:r>
            <a:r>
              <a:rPr sz="2400" b="1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expr</a:t>
            </a:r>
            <a:r>
              <a:rPr sz="2400" spc="13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20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20" dirty="0">
                <a:latin typeface="Cambria"/>
                <a:cs typeface="Cambria"/>
              </a:rPr>
              <a:t>C=`expr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1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+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1`</a:t>
            </a:r>
            <a:endParaRPr sz="2400">
              <a:latin typeface="Cambria"/>
              <a:cs typeface="Cambria"/>
            </a:endParaRPr>
          </a:p>
          <a:p>
            <a:pPr marL="285115" marR="307975" indent="-273050">
              <a:lnSpc>
                <a:spcPct val="150100"/>
              </a:lnSpc>
              <a:spcBef>
                <a:spcPts val="59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85" dirty="0">
                <a:latin typeface="Cambria"/>
                <a:cs typeface="Cambria"/>
              </a:rPr>
              <a:t>There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must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spaces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operators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 </a:t>
            </a:r>
            <a:r>
              <a:rPr sz="2400" spc="65" dirty="0">
                <a:latin typeface="Cambria"/>
                <a:cs typeface="Cambria"/>
              </a:rPr>
              <a:t>expressions.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For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example,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2+2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not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correct;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it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should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written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2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+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2.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20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0" dirty="0">
                <a:latin typeface="Cambria"/>
                <a:cs typeface="Cambria"/>
              </a:rPr>
              <a:t>The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complete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expression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should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enclosed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`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`,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136" y="5825744"/>
            <a:ext cx="274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5" dirty="0">
                <a:latin typeface="Cambria"/>
                <a:cs typeface="Cambria"/>
              </a:rPr>
              <a:t>called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backtick.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089" y="5870549"/>
            <a:ext cx="2057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lang="en-US"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8637" y="798512"/>
          <a:ext cx="8077835" cy="5952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5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0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 marL="472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40" dirty="0">
                          <a:latin typeface="Cambria"/>
                          <a:cs typeface="Cambria"/>
                        </a:rPr>
                        <a:t>Operator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40" dirty="0">
                          <a:latin typeface="Cambria"/>
                          <a:cs typeface="Cambria"/>
                        </a:rPr>
                        <a:t>Description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515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65" dirty="0">
                          <a:latin typeface="Cambria"/>
                          <a:cs typeface="Cambria"/>
                        </a:rPr>
                        <a:t>Example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(Addition)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55" dirty="0">
                          <a:latin typeface="Cambria"/>
                          <a:cs typeface="Cambria"/>
                        </a:rPr>
                        <a:t>Adds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values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either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side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operator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`expr</a:t>
                      </a:r>
                      <a:r>
                        <a:rPr sz="16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$b`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45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(Subtraction)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65" dirty="0">
                          <a:latin typeface="Cambria"/>
                          <a:cs typeface="Cambria"/>
                        </a:rPr>
                        <a:t>Subtracts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hand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from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left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1600" spc="65" dirty="0">
                          <a:latin typeface="Cambria"/>
                          <a:cs typeface="Cambria"/>
                        </a:rPr>
                        <a:t>hand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operand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`expr</a:t>
                      </a:r>
                      <a:r>
                        <a:rPr sz="16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$b`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110" dirty="0">
                          <a:latin typeface="Cambria"/>
                          <a:cs typeface="Cambria"/>
                        </a:rPr>
                        <a:t>*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(Multiplication)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spc="65" dirty="0">
                          <a:latin typeface="Cambria"/>
                          <a:cs typeface="Cambria"/>
                        </a:rPr>
                        <a:t>Multiplies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values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either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side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the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operator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`expr</a:t>
                      </a:r>
                      <a:r>
                        <a:rPr sz="16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\*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$b`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-350" dirty="0">
                          <a:latin typeface="Cambria"/>
                          <a:cs typeface="Cambria"/>
                        </a:rPr>
                        <a:t>/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(Division)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50" dirty="0">
                          <a:latin typeface="Cambria"/>
                          <a:cs typeface="Cambria"/>
                        </a:rPr>
                        <a:t>Divides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hand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hand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operand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`expr</a:t>
                      </a:r>
                      <a:r>
                        <a:rPr sz="160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350" dirty="0">
                          <a:latin typeface="Cambria"/>
                          <a:cs typeface="Cambria"/>
                        </a:rPr>
                        <a:t>/</a:t>
                      </a:r>
                      <a:r>
                        <a:rPr sz="16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$a`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82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%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(Modulus)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50" dirty="0">
                          <a:latin typeface="Cambria"/>
                          <a:cs typeface="Cambria"/>
                        </a:rPr>
                        <a:t>Divides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hand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hand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returns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remainder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`expr</a:t>
                      </a:r>
                      <a:r>
                        <a:rPr sz="16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%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$a`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945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(Assignment)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1600" spc="65" dirty="0">
                          <a:latin typeface="Cambria"/>
                          <a:cs typeface="Cambria"/>
                        </a:rPr>
                        <a:t>Assigns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operand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9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90" dirty="0">
                          <a:latin typeface="Cambria"/>
                          <a:cs typeface="Cambria"/>
                        </a:rPr>
                        <a:t>a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$b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945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==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(Equality)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marR="2444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55" dirty="0">
                          <a:latin typeface="Cambria"/>
                          <a:cs typeface="Cambria"/>
                        </a:rPr>
                        <a:t>Compares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numbers,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both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0" dirty="0">
                          <a:latin typeface="Cambria"/>
                          <a:cs typeface="Cambria"/>
                        </a:rPr>
                        <a:t>same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returns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==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78105" algn="r">
                        <a:lnSpc>
                          <a:spcPts val="112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945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!=</a:t>
                      </a:r>
                      <a:r>
                        <a:rPr sz="160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(Not</a:t>
                      </a:r>
                      <a:r>
                        <a:rPr sz="160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Equality)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marR="7899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55" dirty="0">
                          <a:latin typeface="Cambria"/>
                          <a:cs typeface="Cambria"/>
                        </a:rPr>
                        <a:t>Compares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numbers,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both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are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different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returns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!=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134239"/>
            <a:ext cx="42576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54" dirty="0">
                <a:latin typeface="Cambria"/>
                <a:cs typeface="Cambria"/>
              </a:rPr>
              <a:t>Arithmetic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215" dirty="0">
                <a:latin typeface="Cambria"/>
                <a:cs typeface="Cambria"/>
              </a:rPr>
              <a:t>Operators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3514" y="948390"/>
            <a:ext cx="6922770" cy="299910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5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20" dirty="0">
                <a:latin typeface="Cambria"/>
                <a:cs typeface="Cambria"/>
              </a:rPr>
              <a:t>all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conditional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expressions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should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inside</a:t>
            </a:r>
            <a:endParaRPr sz="240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1445"/>
              </a:spcBef>
            </a:pPr>
            <a:r>
              <a:rPr sz="2400" spc="80" dirty="0">
                <a:latin typeface="Cambria"/>
                <a:cs typeface="Cambria"/>
              </a:rPr>
              <a:t>square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braces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with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spaces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around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them,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204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dirty="0">
                <a:latin typeface="Cambria"/>
                <a:cs typeface="Cambria"/>
              </a:rPr>
              <a:t>for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example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203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b="1" dirty="0">
                <a:latin typeface="Cambria"/>
                <a:cs typeface="Cambria"/>
              </a:rPr>
              <a:t>[</a:t>
            </a:r>
            <a:r>
              <a:rPr sz="2400" b="1" spc="180" dirty="0">
                <a:latin typeface="Cambria"/>
                <a:cs typeface="Cambria"/>
              </a:rPr>
              <a:t> </a:t>
            </a:r>
            <a:r>
              <a:rPr sz="2400" b="1" spc="114" dirty="0">
                <a:latin typeface="Cambria"/>
                <a:cs typeface="Cambria"/>
              </a:rPr>
              <a:t>$a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==</a:t>
            </a:r>
            <a:r>
              <a:rPr sz="2400" b="1" spc="175" dirty="0">
                <a:latin typeface="Cambria"/>
                <a:cs typeface="Cambria"/>
              </a:rPr>
              <a:t> </a:t>
            </a:r>
            <a:r>
              <a:rPr sz="2400" b="1" spc="95" dirty="0">
                <a:latin typeface="Cambria"/>
                <a:cs typeface="Cambria"/>
              </a:rPr>
              <a:t>$b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]</a:t>
            </a:r>
            <a:r>
              <a:rPr sz="2400" b="1" spc="17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correct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203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b="1" spc="65" dirty="0">
                <a:latin typeface="Cambria"/>
                <a:cs typeface="Cambria"/>
              </a:rPr>
              <a:t>[$a==$b]</a:t>
            </a:r>
            <a:r>
              <a:rPr sz="2400" b="1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incorrect.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34823"/>
            <a:ext cx="383667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cap="small" spc="229" dirty="0">
                <a:latin typeface="Cambria"/>
                <a:cs typeface="Cambria"/>
              </a:rPr>
              <a:t>Relational</a:t>
            </a:r>
            <a:r>
              <a:rPr sz="2700" b="0" cap="small" spc="265" dirty="0">
                <a:latin typeface="Cambria"/>
                <a:cs typeface="Cambria"/>
              </a:rPr>
              <a:t> </a:t>
            </a:r>
            <a:r>
              <a:rPr sz="2700" b="0" cap="small" spc="195" dirty="0">
                <a:latin typeface="Cambria"/>
                <a:cs typeface="Cambria"/>
              </a:rPr>
              <a:t>Operators</a:t>
            </a:r>
            <a:endParaRPr sz="27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76250" y="808037"/>
          <a:ext cx="8129904" cy="566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8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40" dirty="0">
                          <a:latin typeface="Cambria"/>
                          <a:cs typeface="Cambria"/>
                        </a:rPr>
                        <a:t>Operator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40" dirty="0">
                          <a:latin typeface="Cambria"/>
                          <a:cs typeface="Cambria"/>
                        </a:rPr>
                        <a:t>Description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876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65" dirty="0">
                          <a:latin typeface="Cambria"/>
                          <a:cs typeface="Cambria"/>
                        </a:rPr>
                        <a:t>Example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40" dirty="0">
                          <a:latin typeface="Cambria"/>
                          <a:cs typeface="Cambria"/>
                        </a:rPr>
                        <a:t>eq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15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marR="476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operands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not;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if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yes,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condition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eq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60" dirty="0">
                          <a:latin typeface="Cambria"/>
                          <a:cs typeface="Cambria"/>
                        </a:rPr>
                        <a:t>ne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15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marR="476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operands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not;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if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values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equal,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condition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ne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9652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80" dirty="0">
                          <a:latin typeface="Cambria"/>
                          <a:cs typeface="Cambria"/>
                        </a:rPr>
                        <a:t>gt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15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marR="1428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greater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operand;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yes,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condition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gt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971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b="1" spc="-2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55" dirty="0">
                          <a:latin typeface="Cambria"/>
                          <a:cs typeface="Cambria"/>
                        </a:rPr>
                        <a:t>lt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22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marR="4756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80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less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operand;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yes,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condition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lt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971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70" dirty="0">
                          <a:latin typeface="Cambria"/>
                          <a:cs typeface="Cambria"/>
                        </a:rPr>
                        <a:t>ge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22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marR="2546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greater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operand;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yes,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condition</a:t>
                      </a:r>
                      <a:r>
                        <a:rPr sz="16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66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ge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5811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40" dirty="0">
                          <a:latin typeface="Cambria"/>
                          <a:cs typeface="Cambria"/>
                        </a:rPr>
                        <a:t>le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286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marR="40513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left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less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right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operand;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yes,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condition</a:t>
                      </a:r>
                      <a:r>
                        <a:rPr sz="16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2730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845">
                        <a:lnSpc>
                          <a:spcPct val="100000"/>
                        </a:lnSpc>
                        <a:tabLst>
                          <a:tab pos="1536065" algn="l"/>
                        </a:tabLst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$a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le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$b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5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00" b="1" spc="-37" baseline="1190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2100" baseline="11904">
                        <a:latin typeface="Times New Roman"/>
                        <a:cs typeface="Times New Roman"/>
                      </a:endParaRPr>
                    </a:p>
                  </a:txBody>
                  <a:tcPr marL="0" marR="0" marT="977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86639"/>
            <a:ext cx="3764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Boolean</a:t>
            </a:r>
            <a:r>
              <a:rPr sz="3000" b="0" cap="small" spc="295" dirty="0">
                <a:latin typeface="Cambria"/>
                <a:cs typeface="Cambria"/>
              </a:rPr>
              <a:t> </a:t>
            </a:r>
            <a:r>
              <a:rPr sz="3000" b="0" cap="small" spc="210" dirty="0">
                <a:latin typeface="Cambria"/>
                <a:cs typeface="Cambria"/>
              </a:rPr>
              <a:t>Operators</a:t>
            </a:r>
            <a:endParaRPr sz="3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0050" y="1671637"/>
          <a:ext cx="8128634" cy="4951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4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6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50" dirty="0">
                          <a:latin typeface="Cambria"/>
                          <a:cs typeface="Cambria"/>
                        </a:rPr>
                        <a:t>Operator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40" dirty="0">
                          <a:latin typeface="Cambria"/>
                          <a:cs typeface="Cambria"/>
                        </a:rPr>
                        <a:t>Description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13740" marR="673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80" dirty="0">
                          <a:latin typeface="Cambria"/>
                          <a:cs typeface="Cambria"/>
                        </a:rPr>
                        <a:t>Example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749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800" b="1" spc="-50" dirty="0">
                          <a:latin typeface="Cambria"/>
                          <a:cs typeface="Cambria"/>
                        </a:rPr>
                        <a:t>!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673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1549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9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logical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negation.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inverts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a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true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condition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18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false</a:t>
                      </a:r>
                      <a:r>
                        <a:rPr sz="180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vice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versa.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6731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4930" marR="673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!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false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true.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749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800" b="1" spc="-3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20" dirty="0">
                          <a:latin typeface="Cambria"/>
                          <a:cs typeface="Cambria"/>
                        </a:rPr>
                        <a:t>o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6731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416559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9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logical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700" b="1" spc="307" baseline="1543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.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operands</a:t>
                      </a:r>
                      <a:r>
                        <a:rPr sz="18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true,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8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condition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80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true.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673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$x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lt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10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-o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$y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gt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74930" marR="673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100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true.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749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8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80" dirty="0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6794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25019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spc="9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logical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700" b="1" spc="300" baseline="1543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200" dirty="0">
                          <a:latin typeface="Cambria"/>
                          <a:cs typeface="Cambria"/>
                        </a:rPr>
                        <a:t>.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both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operands</a:t>
                      </a:r>
                      <a:r>
                        <a:rPr sz="18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true,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condition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true</a:t>
                      </a:r>
                      <a:r>
                        <a:rPr sz="180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otherwise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false.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723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2248535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$x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lt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20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$y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gt</a:t>
                      </a:r>
                      <a:r>
                        <a:rPr sz="1800" spc="5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100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false.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00" b="1" spc="-37" baseline="1190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  <a:endParaRPr sz="2100" baseline="11904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4629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17394" y="1013205"/>
            <a:ext cx="5022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imes New Roman"/>
                <a:cs typeface="Times New Roman"/>
              </a:rPr>
              <a:t>x=5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7090" y="1013205"/>
            <a:ext cx="654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y=10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10439"/>
            <a:ext cx="33959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75" dirty="0">
                <a:latin typeface="Cambria"/>
                <a:cs typeface="Cambria"/>
              </a:rPr>
              <a:t>String</a:t>
            </a:r>
            <a:r>
              <a:rPr sz="3000" b="0" cap="small" spc="330" dirty="0">
                <a:latin typeface="Cambria"/>
                <a:cs typeface="Cambria"/>
              </a:rPr>
              <a:t> </a:t>
            </a:r>
            <a:r>
              <a:rPr sz="3000" b="0" cap="small" spc="210" dirty="0">
                <a:latin typeface="Cambria"/>
                <a:cs typeface="Cambria"/>
              </a:rPr>
              <a:t>Operators</a:t>
            </a:r>
            <a:endParaRPr sz="3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0037" y="1519237"/>
          <a:ext cx="8227060" cy="4951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0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7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35" dirty="0">
                          <a:latin typeface="Cambria"/>
                          <a:cs typeface="Cambria"/>
                        </a:rPr>
                        <a:t>Operator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Description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97230" marR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65" dirty="0">
                          <a:latin typeface="Cambria"/>
                          <a:cs typeface="Cambria"/>
                        </a:rPr>
                        <a:t>Example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b="1" spc="-50" dirty="0">
                          <a:latin typeface="Cambria"/>
                          <a:cs typeface="Cambria"/>
                        </a:rPr>
                        <a:t>=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1441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operands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not;</a:t>
                      </a:r>
                      <a:r>
                        <a:rPr sz="16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yes,</a:t>
                      </a:r>
                      <a:r>
                        <a:rPr sz="16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condition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$x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$y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411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!=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1441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operands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not;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values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equal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condition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becomes</a:t>
                      </a:r>
                      <a:r>
                        <a:rPr sz="16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673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$x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!=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$y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75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40" dirty="0">
                          <a:latin typeface="Cambria"/>
                          <a:cs typeface="Cambria"/>
                        </a:rPr>
                        <a:t>z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1079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given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string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size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zero;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if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zero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length,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returns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673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z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$x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b="1" spc="75" dirty="0">
                          <a:latin typeface="Cambria"/>
                          <a:cs typeface="Cambria"/>
                        </a:rPr>
                        <a:t>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1422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given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string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operand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size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non-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zero;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nonzero</a:t>
                      </a:r>
                      <a:r>
                        <a:rPr sz="16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length,</a:t>
                      </a:r>
                      <a:r>
                        <a:rPr sz="16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returns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true.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673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n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$x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false.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b="1" spc="45" dirty="0">
                          <a:latin typeface="Cambria"/>
                          <a:cs typeface="Cambria"/>
                        </a:rPr>
                        <a:t>str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80" dirty="0">
                          <a:latin typeface="Cambria"/>
                          <a:cs typeface="Cambria"/>
                        </a:rPr>
                        <a:t>Checks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spc="112" baseline="1736" dirty="0">
                          <a:latin typeface="Cambria"/>
                          <a:cs typeface="Cambria"/>
                        </a:rPr>
                        <a:t>str</a:t>
                      </a:r>
                      <a:r>
                        <a:rPr sz="2400" b="1" spc="232" baseline="1736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6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empty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string;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6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is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empty,</a:t>
                      </a:r>
                      <a:r>
                        <a:rPr sz="16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then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6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returns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false.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10"/>
                        </a:spcBef>
                        <a:tabLst>
                          <a:tab pos="2110105" algn="l"/>
                        </a:tabLst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[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$x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false.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00" b="1" spc="-37" baseline="-7936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100" baseline="-7936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43048" y="855675"/>
            <a:ext cx="90931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x=“ab”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4899" y="855675"/>
            <a:ext cx="8737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y=“fg”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40" dirty="0">
                <a:latin typeface="Cambria"/>
                <a:cs typeface="Cambria"/>
              </a:rPr>
              <a:t>User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185" dirty="0">
                <a:latin typeface="Cambria"/>
                <a:cs typeface="Cambria"/>
              </a:rPr>
              <a:t>input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3083"/>
            <a:ext cx="6163310" cy="303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2155" indent="272415">
              <a:lnSpc>
                <a:spcPct val="1108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85" dirty="0">
                <a:latin typeface="Cambria"/>
                <a:cs typeface="Cambria"/>
              </a:rPr>
              <a:t>shell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allows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prompt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user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input </a:t>
            </a:r>
            <a:r>
              <a:rPr sz="2400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84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5"/>
              </a:spcBef>
            </a:pPr>
            <a:r>
              <a:rPr sz="2100" b="1" dirty="0">
                <a:latin typeface="Courier New"/>
                <a:cs typeface="Courier New"/>
              </a:rPr>
              <a:t>read</a:t>
            </a:r>
            <a:r>
              <a:rPr sz="2100" b="1" spc="-75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varname</a:t>
            </a:r>
            <a:r>
              <a:rPr sz="2100" b="1" spc="-70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[more</a:t>
            </a:r>
            <a:r>
              <a:rPr sz="2100" b="1" spc="-60" dirty="0">
                <a:latin typeface="Courier New"/>
                <a:cs typeface="Courier New"/>
              </a:rPr>
              <a:t> </a:t>
            </a:r>
            <a:r>
              <a:rPr sz="2100" b="1" spc="-10" dirty="0">
                <a:latin typeface="Courier New"/>
                <a:cs typeface="Courier New"/>
              </a:rPr>
              <a:t>vars]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100">
              <a:latin typeface="Courier New"/>
              <a:cs typeface="Courier New"/>
            </a:endParaRPr>
          </a:p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-25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2100" b="1" dirty="0">
                <a:latin typeface="Courier New"/>
                <a:cs typeface="Courier New"/>
              </a:rPr>
              <a:t>read</a:t>
            </a:r>
            <a:r>
              <a:rPr sz="2100" b="1" spc="-85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–p</a:t>
            </a:r>
            <a:r>
              <a:rPr sz="2100" b="1" spc="-65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"prompt"</a:t>
            </a:r>
            <a:r>
              <a:rPr sz="2100" b="1" spc="-65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varname</a:t>
            </a:r>
            <a:r>
              <a:rPr sz="2100" b="1" spc="-65" dirty="0">
                <a:latin typeface="Courier New"/>
                <a:cs typeface="Courier New"/>
              </a:rPr>
              <a:t> </a:t>
            </a:r>
            <a:r>
              <a:rPr sz="2100" b="1" dirty="0">
                <a:latin typeface="Courier New"/>
                <a:cs typeface="Courier New"/>
              </a:rPr>
              <a:t>[more</a:t>
            </a:r>
            <a:r>
              <a:rPr sz="2100" b="1" spc="-80" dirty="0">
                <a:latin typeface="Courier New"/>
                <a:cs typeface="Courier New"/>
              </a:rPr>
              <a:t> </a:t>
            </a:r>
            <a:r>
              <a:rPr sz="2100" b="1" spc="-10" dirty="0">
                <a:latin typeface="Courier New"/>
                <a:cs typeface="Courier New"/>
              </a:rPr>
              <a:t>vars]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951717"/>
            <a:ext cx="5623560" cy="122618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284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dirty="0">
                <a:latin typeface="Cambria"/>
                <a:cs typeface="Cambria"/>
              </a:rPr>
              <a:t>words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entered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user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are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assigned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180"/>
              </a:spcBef>
            </a:pPr>
            <a:r>
              <a:rPr sz="2400" b="1" dirty="0">
                <a:latin typeface="Courier New"/>
                <a:cs typeface="Courier New"/>
              </a:rPr>
              <a:t>varname</a:t>
            </a:r>
            <a:r>
              <a:rPr sz="2400" b="1" spc="-810" dirty="0">
                <a:latin typeface="Courier New"/>
                <a:cs typeface="Courier New"/>
              </a:rPr>
              <a:t> </a:t>
            </a:r>
            <a:r>
              <a:rPr sz="2400" spc="9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“</a:t>
            </a:r>
            <a:r>
              <a:rPr sz="2400" b="1" dirty="0">
                <a:latin typeface="Courier New"/>
                <a:cs typeface="Courier New"/>
              </a:rPr>
              <a:t>more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vars</a:t>
            </a:r>
            <a:r>
              <a:rPr sz="2400" spc="-10" dirty="0">
                <a:latin typeface="Cambria"/>
                <a:cs typeface="Cambria"/>
              </a:rPr>
              <a:t>”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4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5" dirty="0">
                <a:latin typeface="Cambria"/>
                <a:cs typeface="Cambria"/>
              </a:rPr>
              <a:t>last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variable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gets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rest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input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line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40" dirty="0">
                <a:latin typeface="Cambria"/>
                <a:cs typeface="Cambria"/>
              </a:rPr>
              <a:t>User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260" dirty="0">
                <a:latin typeface="Cambria"/>
                <a:cs typeface="Cambria"/>
              </a:rPr>
              <a:t>input</a:t>
            </a:r>
            <a:r>
              <a:rPr sz="3000" b="0" cap="small" spc="300" dirty="0">
                <a:latin typeface="Cambria"/>
                <a:cs typeface="Cambria"/>
              </a:rPr>
              <a:t> </a:t>
            </a:r>
            <a:r>
              <a:rPr sz="3000" b="0" cap="small" spc="245" dirty="0">
                <a:latin typeface="Cambria"/>
                <a:cs typeface="Cambria"/>
              </a:rPr>
              <a:t>example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444878"/>
            <a:ext cx="6963409" cy="22358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Courier New"/>
                <a:cs typeface="Courier New"/>
              </a:rPr>
              <a:t>#!</a:t>
            </a:r>
            <a:r>
              <a:rPr sz="2400" b="1" spc="-10" dirty="0">
                <a:latin typeface="Courier New"/>
                <a:cs typeface="Courier New"/>
              </a:rPr>
              <a:t> /bin/bash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read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-</a:t>
            </a:r>
            <a:r>
              <a:rPr sz="2400" b="1" dirty="0">
                <a:latin typeface="Courier New"/>
                <a:cs typeface="Courier New"/>
              </a:rPr>
              <a:t>p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"enter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your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name: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first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last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400">
              <a:latin typeface="Courier New"/>
              <a:cs typeface="Courier New"/>
            </a:endParaRPr>
          </a:p>
          <a:p>
            <a:pPr marL="12700" marR="2379345">
              <a:lnSpc>
                <a:spcPct val="1208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"First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name: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$first" </a:t>
            </a: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"Last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name: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$last"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30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b="0" spc="285" dirty="0">
                <a:latin typeface="Cambria"/>
                <a:cs typeface="Cambria"/>
              </a:rPr>
              <a:t>BASH</a:t>
            </a:r>
            <a:r>
              <a:rPr b="0" spc="335" dirty="0">
                <a:latin typeface="Cambria"/>
                <a:cs typeface="Cambria"/>
              </a:rPr>
              <a:t> </a:t>
            </a:r>
            <a:r>
              <a:rPr b="0" spc="280" dirty="0">
                <a:latin typeface="Cambria"/>
                <a:cs typeface="Cambria"/>
              </a:rPr>
              <a:t>CONTROL STRUCTURES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3083"/>
            <a:ext cx="1885950" cy="28886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50" dirty="0">
                <a:latin typeface="Cambria"/>
                <a:cs typeface="Cambria"/>
              </a:rPr>
              <a:t>if-</a:t>
            </a:r>
            <a:r>
              <a:rPr sz="2400" spc="70" dirty="0">
                <a:latin typeface="Cambria"/>
                <a:cs typeface="Cambria"/>
              </a:rPr>
              <a:t>then-</a:t>
            </a:r>
            <a:r>
              <a:rPr sz="2400" spc="30" dirty="0">
                <a:latin typeface="Cambria"/>
                <a:cs typeface="Cambria"/>
              </a:rPr>
              <a:t>else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40" dirty="0">
                <a:latin typeface="Cambria"/>
                <a:cs typeface="Cambria"/>
              </a:rPr>
              <a:t>case</a:t>
            </a:r>
            <a:endParaRPr sz="24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-10" dirty="0">
                <a:latin typeface="Cambria"/>
                <a:cs typeface="Cambria"/>
              </a:rPr>
              <a:t>loops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25" dirty="0">
                <a:latin typeface="Cambria"/>
                <a:cs typeface="Cambria"/>
              </a:rPr>
              <a:t>for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45" dirty="0">
                <a:latin typeface="Cambria"/>
                <a:cs typeface="Cambria"/>
              </a:rPr>
              <a:t>while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80" dirty="0">
                <a:latin typeface="Cambria"/>
                <a:cs typeface="Cambria"/>
              </a:rPr>
              <a:t>until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10" dirty="0">
                <a:latin typeface="Cambria"/>
                <a:cs typeface="Cambria"/>
              </a:rPr>
              <a:t>select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72439"/>
            <a:ext cx="2491740" cy="233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4" dirty="0">
                <a:solidFill>
                  <a:srgbClr val="565F6C"/>
                </a:solidFill>
                <a:latin typeface="Cambria"/>
                <a:cs typeface="Cambria"/>
              </a:rPr>
              <a:t>IF</a:t>
            </a:r>
            <a:r>
              <a:rPr sz="2400" spc="30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220" dirty="0">
                <a:solidFill>
                  <a:srgbClr val="565F6C"/>
                </a:solidFill>
                <a:latin typeface="Cambria"/>
                <a:cs typeface="Cambria"/>
              </a:rPr>
              <a:t>STATEMENT</a:t>
            </a:r>
            <a:endParaRPr sz="2400">
              <a:latin typeface="Cambria"/>
              <a:cs typeface="Cambria"/>
            </a:endParaRPr>
          </a:p>
          <a:p>
            <a:pPr marL="379730" marR="275590">
              <a:lnSpc>
                <a:spcPct val="120000"/>
              </a:lnSpc>
              <a:spcBef>
                <a:spcPts val="1460"/>
              </a:spcBef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10" dirty="0">
                <a:latin typeface="Courier New"/>
                <a:cs typeface="Courier New"/>
              </a:rPr>
              <a:t> command </a:t>
            </a:r>
            <a:r>
              <a:rPr sz="2400" b="1" spc="-20" dirty="0">
                <a:latin typeface="Courier New"/>
                <a:cs typeface="Courier New"/>
              </a:rPr>
              <a:t>then</a:t>
            </a:r>
            <a:endParaRPr sz="2400">
              <a:latin typeface="Courier New"/>
              <a:cs typeface="Courier New"/>
            </a:endParaRPr>
          </a:p>
          <a:p>
            <a:pPr marL="652780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latin typeface="Courier New"/>
                <a:cs typeface="Courier New"/>
              </a:rPr>
              <a:t>statements</a:t>
            </a:r>
            <a:endParaRPr sz="24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575"/>
              </a:spcBef>
            </a:pPr>
            <a:r>
              <a:rPr sz="2400" b="1" spc="-25" dirty="0">
                <a:latin typeface="Courier New"/>
                <a:cs typeface="Courier New"/>
              </a:rPr>
              <a:t>fi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4223765"/>
            <a:ext cx="6058535" cy="80581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2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0" dirty="0">
                <a:latin typeface="Cambria"/>
                <a:cs typeface="Cambria"/>
              </a:rPr>
              <a:t>statements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are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executed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only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command</a:t>
            </a:r>
            <a:endParaRPr sz="24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195"/>
              </a:spcBef>
            </a:pPr>
            <a:r>
              <a:rPr sz="2400" spc="55" dirty="0">
                <a:latin typeface="Cambria"/>
                <a:cs typeface="Cambria"/>
              </a:rPr>
              <a:t>succeeds,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i.e.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has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return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status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“0”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9617"/>
            <a:ext cx="2689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250" dirty="0">
                <a:latin typeface="Cambria"/>
                <a:cs typeface="Cambria"/>
              </a:rPr>
              <a:t>TEST</a:t>
            </a:r>
            <a:r>
              <a:rPr b="0" spc="325" dirty="0">
                <a:latin typeface="Cambria"/>
                <a:cs typeface="Cambria"/>
              </a:rPr>
              <a:t> </a:t>
            </a:r>
            <a:r>
              <a:rPr b="0" spc="285" dirty="0">
                <a:latin typeface="Cambria"/>
                <a:cs typeface="Cambria"/>
              </a:rPr>
              <a:t>COMMAND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71609"/>
            <a:ext cx="6891655" cy="17703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400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285115" marR="3854450">
              <a:lnSpc>
                <a:spcPts val="3420"/>
              </a:lnSpc>
              <a:spcBef>
                <a:spcPts val="75"/>
              </a:spcBef>
            </a:pPr>
            <a:r>
              <a:rPr sz="2400" b="1" dirty="0">
                <a:latin typeface="Courier New"/>
                <a:cs typeface="Courier New"/>
              </a:rPr>
              <a:t>test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expression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expression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]</a:t>
            </a:r>
            <a:endParaRPr sz="2400">
              <a:latin typeface="Courier New"/>
              <a:cs typeface="Courier New"/>
            </a:endParaRPr>
          </a:p>
          <a:p>
            <a:pPr marL="284480" indent="-271780">
              <a:lnSpc>
                <a:spcPct val="100000"/>
              </a:lnSpc>
              <a:spcBef>
                <a:spcPts val="65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95" dirty="0">
                <a:latin typeface="Cambria"/>
                <a:cs typeface="Cambria"/>
              </a:rPr>
              <a:t>evaluates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‘expression’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and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returns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true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458717"/>
            <a:ext cx="5331460" cy="26454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Example: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65" dirty="0">
                <a:latin typeface="Cambria"/>
                <a:cs typeface="Cambria"/>
              </a:rPr>
              <a:t>read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–p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“Enter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your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password=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“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pass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test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“$pass“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“admin”</a:t>
            </a:r>
            <a:endParaRPr sz="2400">
              <a:latin typeface="Courier New"/>
              <a:cs typeface="Courier New"/>
            </a:endParaRPr>
          </a:p>
          <a:p>
            <a:pPr marL="651510">
              <a:lnSpc>
                <a:spcPct val="100000"/>
              </a:lnSpc>
              <a:spcBef>
                <a:spcPts val="600"/>
              </a:spcBef>
            </a:pPr>
            <a:r>
              <a:rPr sz="2400" b="1" spc="-20" dirty="0">
                <a:latin typeface="Courier New"/>
                <a:cs typeface="Courier New"/>
              </a:rPr>
              <a:t>then</a:t>
            </a:r>
            <a:endParaRPr sz="2400">
              <a:latin typeface="Courier New"/>
              <a:cs typeface="Courier New"/>
            </a:endParaRPr>
          </a:p>
          <a:p>
            <a:pPr marL="651510">
              <a:lnSpc>
                <a:spcPct val="100000"/>
              </a:lnSpc>
              <a:spcBef>
                <a:spcPts val="605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“Password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Verfied"</a:t>
            </a:r>
            <a:endParaRPr sz="24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fi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23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80" dirty="0">
                <a:latin typeface="Cambria"/>
                <a:cs typeface="Cambria"/>
              </a:rPr>
              <a:t>simple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if</a:t>
            </a:r>
            <a:r>
              <a:rPr sz="3000" b="0" cap="small" spc="320" dirty="0">
                <a:latin typeface="Cambria"/>
                <a:cs typeface="Cambria"/>
              </a:rPr>
              <a:t> </a:t>
            </a:r>
            <a:r>
              <a:rPr sz="3000" b="0" cap="small" spc="190" dirty="0">
                <a:latin typeface="Cambria"/>
                <a:cs typeface="Cambria"/>
              </a:rPr>
              <a:t>statement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4126"/>
            <a:ext cx="6709409" cy="2624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2780" marR="2298700" indent="-273685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condition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];</a:t>
            </a:r>
            <a:r>
              <a:rPr sz="2400" b="1" spc="-20" dirty="0">
                <a:latin typeface="Courier New"/>
                <a:cs typeface="Courier New"/>
              </a:rPr>
              <a:t> then </a:t>
            </a:r>
            <a:r>
              <a:rPr sz="2400" b="1" spc="-10" dirty="0">
                <a:latin typeface="Courier New"/>
                <a:cs typeface="Courier New"/>
              </a:rPr>
              <a:t>statements</a:t>
            </a:r>
            <a:endParaRPr sz="24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575"/>
              </a:spcBef>
            </a:pPr>
            <a:r>
              <a:rPr sz="2400" b="1" spc="-25" dirty="0">
                <a:latin typeface="Courier New"/>
                <a:cs typeface="Courier New"/>
              </a:rPr>
              <a:t>fi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>
              <a:latin typeface="Courier New"/>
              <a:cs typeface="Courier New"/>
            </a:endParaRPr>
          </a:p>
          <a:p>
            <a:pPr marL="285115" marR="5080" indent="-273050">
              <a:lnSpc>
                <a:spcPct val="1067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55" dirty="0">
                <a:latin typeface="Cambria"/>
                <a:cs typeface="Cambria"/>
              </a:rPr>
              <a:t>executes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statements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only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condition</a:t>
            </a:r>
            <a:r>
              <a:rPr sz="2400" b="1" spc="-780" dirty="0">
                <a:latin typeface="Courier New"/>
                <a:cs typeface="Courier New"/>
              </a:rPr>
              <a:t> </a:t>
            </a:r>
            <a:r>
              <a:rPr sz="2400" spc="50" dirty="0">
                <a:latin typeface="Cambria"/>
                <a:cs typeface="Cambria"/>
              </a:rPr>
              <a:t>is </a:t>
            </a:r>
            <a:r>
              <a:rPr sz="2400" spc="65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20" dirty="0">
                <a:latin typeface="Cambria"/>
                <a:cs typeface="Cambria"/>
              </a:rPr>
              <a:t> </a:t>
            </a:r>
            <a:r>
              <a:rPr sz="3000" b="0" cap="small" spc="160" dirty="0">
                <a:latin typeface="Cambria"/>
                <a:cs typeface="Cambria"/>
              </a:rPr>
              <a:t>if-</a:t>
            </a:r>
            <a:r>
              <a:rPr sz="3000" b="0" cap="small" spc="225" dirty="0">
                <a:latin typeface="Cambria"/>
                <a:cs typeface="Cambria"/>
              </a:rPr>
              <a:t>then-</a:t>
            </a:r>
            <a:r>
              <a:rPr sz="3000" b="0" cap="small" spc="325" dirty="0">
                <a:latin typeface="Cambria"/>
                <a:cs typeface="Cambria"/>
              </a:rPr>
              <a:t>else</a:t>
            </a:r>
            <a:r>
              <a:rPr sz="3000" b="0" cap="small" spc="360" dirty="0">
                <a:latin typeface="Cambria"/>
                <a:cs typeface="Cambria"/>
              </a:rPr>
              <a:t> </a:t>
            </a:r>
            <a:r>
              <a:rPr sz="3000" b="0" cap="small" spc="195" dirty="0">
                <a:latin typeface="Cambria"/>
                <a:cs typeface="Cambria"/>
              </a:rPr>
              <a:t>statement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4126"/>
            <a:ext cx="6153785" cy="352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1743075" indent="-54737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condition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];</a:t>
            </a:r>
            <a:r>
              <a:rPr sz="2400" b="1" spc="-20" dirty="0">
                <a:latin typeface="Courier New"/>
                <a:cs typeface="Courier New"/>
              </a:rPr>
              <a:t> then </a:t>
            </a:r>
            <a:r>
              <a:rPr sz="2400" b="1" spc="-10" dirty="0">
                <a:latin typeface="Courier New"/>
                <a:cs typeface="Courier New"/>
              </a:rPr>
              <a:t>statements-</a:t>
            </a:r>
            <a:r>
              <a:rPr sz="2400" b="1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575"/>
              </a:spcBef>
            </a:pPr>
            <a:r>
              <a:rPr sz="2400" b="1" spc="-2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379730" marR="3207385" indent="365760">
              <a:lnSpc>
                <a:spcPct val="120000"/>
              </a:lnSpc>
            </a:pPr>
            <a:r>
              <a:rPr sz="2400" b="1" spc="-10" dirty="0">
                <a:latin typeface="Courier New"/>
                <a:cs typeface="Courier New"/>
              </a:rPr>
              <a:t>statements-</a:t>
            </a:r>
            <a:r>
              <a:rPr sz="2400" b="1" spc="-50" dirty="0">
                <a:latin typeface="Courier New"/>
                <a:cs typeface="Courier New"/>
              </a:rPr>
              <a:t>2 </a:t>
            </a:r>
            <a:r>
              <a:rPr sz="2400" b="1" spc="-25" dirty="0">
                <a:latin typeface="Courier New"/>
                <a:cs typeface="Courier New"/>
              </a:rPr>
              <a:t>fi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400">
              <a:latin typeface="Courier New"/>
              <a:cs typeface="Courier New"/>
            </a:endParaRPr>
          </a:p>
          <a:p>
            <a:pPr marL="285115" indent="-272415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55" dirty="0">
                <a:latin typeface="Cambria"/>
                <a:cs typeface="Cambria"/>
              </a:rPr>
              <a:t>executes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statements-</a:t>
            </a:r>
            <a:r>
              <a:rPr sz="2400" dirty="0">
                <a:latin typeface="Cambria"/>
                <a:cs typeface="Cambria"/>
              </a:rPr>
              <a:t>1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55" dirty="0">
                <a:latin typeface="Cambria"/>
                <a:cs typeface="Cambria"/>
              </a:rPr>
              <a:t>executes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statements-</a:t>
            </a:r>
            <a:r>
              <a:rPr sz="2400" dirty="0">
                <a:latin typeface="Cambria"/>
                <a:cs typeface="Cambria"/>
              </a:rPr>
              <a:t>2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40" dirty="0">
                <a:latin typeface="Cambria"/>
                <a:cs typeface="Cambria"/>
              </a:rPr>
              <a:t>if…statement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4126"/>
            <a:ext cx="5072380" cy="399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8540" marR="661670" indent="-63881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condition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];</a:t>
            </a:r>
            <a:r>
              <a:rPr sz="2400" b="1" spc="-20" dirty="0">
                <a:latin typeface="Courier New"/>
                <a:cs typeface="Courier New"/>
              </a:rPr>
              <a:t> then </a:t>
            </a:r>
            <a:r>
              <a:rPr sz="2400" b="1" spc="-10" dirty="0">
                <a:latin typeface="Courier New"/>
                <a:cs typeface="Courier New"/>
              </a:rPr>
              <a:t>statements</a:t>
            </a:r>
            <a:endParaRPr sz="24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Courier New"/>
                <a:cs typeface="Courier New"/>
              </a:rPr>
              <a:t>elif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condition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];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then</a:t>
            </a:r>
            <a:endParaRPr sz="2400">
              <a:latin typeface="Courier New"/>
              <a:cs typeface="Courier New"/>
            </a:endParaRPr>
          </a:p>
          <a:p>
            <a:pPr marL="379730" marR="2309495" indent="731520">
              <a:lnSpc>
                <a:spcPct val="120000"/>
              </a:lnSpc>
            </a:pPr>
            <a:r>
              <a:rPr sz="2400" b="1" spc="-10" dirty="0">
                <a:latin typeface="Courier New"/>
                <a:cs typeface="Courier New"/>
              </a:rPr>
              <a:t>statement </a:t>
            </a:r>
            <a:r>
              <a:rPr sz="2400" b="1" spc="-2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1111250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latin typeface="Courier New"/>
                <a:cs typeface="Courier New"/>
              </a:rPr>
              <a:t>statements</a:t>
            </a:r>
            <a:endParaRPr sz="24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575"/>
              </a:spcBef>
            </a:pPr>
            <a:r>
              <a:rPr sz="2400" b="1" spc="-25" dirty="0">
                <a:latin typeface="Courier New"/>
                <a:cs typeface="Courier New"/>
              </a:rPr>
              <a:t>fi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2400">
              <a:latin typeface="Courier New"/>
              <a:cs typeface="Courier New"/>
            </a:endParaRPr>
          </a:p>
          <a:p>
            <a:pPr marL="284480" indent="-27178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100" dirty="0">
                <a:latin typeface="Cambria"/>
                <a:cs typeface="Cambria"/>
              </a:rPr>
              <a:t>The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elif</a:t>
            </a:r>
            <a:r>
              <a:rPr sz="2400" b="1" spc="-725" dirty="0">
                <a:latin typeface="Courier New"/>
                <a:cs typeface="Courier New"/>
              </a:rPr>
              <a:t> </a:t>
            </a:r>
            <a:r>
              <a:rPr sz="2400" spc="85" dirty="0">
                <a:latin typeface="Cambria"/>
                <a:cs typeface="Cambria"/>
              </a:rPr>
              <a:t>stands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“else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if”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589523"/>
            <a:ext cx="70218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55" dirty="0">
                <a:latin typeface="Cambria"/>
                <a:cs typeface="Cambria"/>
              </a:rPr>
              <a:t>It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part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statement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cannot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used </a:t>
            </a:r>
            <a:r>
              <a:rPr sz="2400" dirty="0">
                <a:latin typeface="Cambria"/>
                <a:cs typeface="Cambria"/>
              </a:rPr>
              <a:t>by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itself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26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21538"/>
            <a:ext cx="42576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50" dirty="0">
                <a:latin typeface="Cambria"/>
                <a:cs typeface="Cambria"/>
              </a:rPr>
              <a:t>Relational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10" dirty="0">
                <a:latin typeface="Cambria"/>
                <a:cs typeface="Cambria"/>
              </a:rPr>
              <a:t>Operators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2089" y="5889964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7712" y="1281112"/>
          <a:ext cx="6629400" cy="5026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Meaning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Numeric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than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gt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6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equal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than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lt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Less than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equal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Equal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eg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==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equal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ne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!=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str1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str2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str1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str2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str1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 greater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str2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R="23812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str1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str2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length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 greater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zero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-n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str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length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zero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-z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str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25" dirty="0">
                <a:latin typeface="Cambria"/>
                <a:cs typeface="Cambria"/>
              </a:rPr>
              <a:t>Compound</a:t>
            </a:r>
            <a:r>
              <a:rPr sz="3000" b="0" cap="small" spc="285" dirty="0">
                <a:latin typeface="Cambria"/>
                <a:cs typeface="Cambria"/>
              </a:rPr>
              <a:t> </a:t>
            </a:r>
            <a:r>
              <a:rPr sz="3000" b="0" cap="small" spc="295" dirty="0">
                <a:latin typeface="Cambria"/>
                <a:cs typeface="Cambria"/>
              </a:rPr>
              <a:t>logical</a:t>
            </a:r>
            <a:r>
              <a:rPr sz="3000" b="0" cap="small" spc="260" dirty="0">
                <a:latin typeface="Cambria"/>
                <a:cs typeface="Cambria"/>
              </a:rPr>
              <a:t> </a:t>
            </a:r>
            <a:r>
              <a:rPr sz="3000" b="0" cap="small" spc="265" dirty="0">
                <a:latin typeface="Cambria"/>
                <a:cs typeface="Cambria"/>
              </a:rPr>
              <a:t>expressions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04898"/>
            <a:ext cx="2312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1500" algn="l"/>
              </a:tabLst>
            </a:pPr>
            <a:r>
              <a:rPr sz="2400" b="1" spc="-50" dirty="0">
                <a:latin typeface="Courier New"/>
                <a:cs typeface="Courier New"/>
              </a:rPr>
              <a:t>!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spc="25" dirty="0">
                <a:latin typeface="Cambria"/>
                <a:cs typeface="Cambria"/>
              </a:rPr>
              <a:t>not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854833"/>
            <a:ext cx="391160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spc="-25" dirty="0">
                <a:latin typeface="Courier New"/>
                <a:cs typeface="Courier New"/>
              </a:rPr>
              <a:t>&amp;&amp;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||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2854833"/>
            <a:ext cx="55562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400" spc="70" dirty="0">
                <a:latin typeface="Cambria"/>
                <a:cs typeface="Cambria"/>
              </a:rPr>
              <a:t>and </a:t>
            </a:r>
            <a:r>
              <a:rPr sz="2400" spc="-25" dirty="0">
                <a:latin typeface="Cambria"/>
                <a:cs typeface="Cambria"/>
              </a:rPr>
              <a:t>or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5175" y="2613482"/>
            <a:ext cx="29781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and,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</a:t>
            </a:r>
            <a:r>
              <a:rPr sz="2400" u="sng" spc="6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enclosed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within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16100" algn="l"/>
              </a:tabLst>
            </a:pPr>
            <a:r>
              <a:rPr sz="2400" spc="-25" dirty="0">
                <a:latin typeface="Times New Roman"/>
                <a:cs typeface="Times New Roman"/>
              </a:rPr>
              <a:t>[[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]]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33800" y="2590800"/>
            <a:ext cx="384175" cy="1447800"/>
          </a:xfrm>
          <a:custGeom>
            <a:avLst/>
            <a:gdLst/>
            <a:ahLst/>
            <a:cxnLst/>
            <a:rect l="l" t="t" r="r" b="b"/>
            <a:pathLst>
              <a:path w="384175" h="1447800">
                <a:moveTo>
                  <a:pt x="0" y="0"/>
                </a:moveTo>
                <a:lnTo>
                  <a:pt x="74741" y="2518"/>
                </a:lnTo>
                <a:lnTo>
                  <a:pt x="135778" y="9382"/>
                </a:lnTo>
                <a:lnTo>
                  <a:pt x="176932" y="19556"/>
                </a:lnTo>
                <a:lnTo>
                  <a:pt x="192024" y="32003"/>
                </a:lnTo>
                <a:lnTo>
                  <a:pt x="192024" y="691896"/>
                </a:lnTo>
                <a:lnTo>
                  <a:pt x="207115" y="704343"/>
                </a:lnTo>
                <a:lnTo>
                  <a:pt x="248269" y="714517"/>
                </a:lnTo>
                <a:lnTo>
                  <a:pt x="309306" y="721381"/>
                </a:lnTo>
                <a:lnTo>
                  <a:pt x="384048" y="723900"/>
                </a:lnTo>
                <a:lnTo>
                  <a:pt x="309306" y="726418"/>
                </a:lnTo>
                <a:lnTo>
                  <a:pt x="248269" y="733282"/>
                </a:lnTo>
                <a:lnTo>
                  <a:pt x="207115" y="743456"/>
                </a:lnTo>
                <a:lnTo>
                  <a:pt x="192024" y="755903"/>
                </a:lnTo>
                <a:lnTo>
                  <a:pt x="192024" y="1415795"/>
                </a:lnTo>
                <a:lnTo>
                  <a:pt x="176932" y="1428243"/>
                </a:lnTo>
                <a:lnTo>
                  <a:pt x="135778" y="1438417"/>
                </a:lnTo>
                <a:lnTo>
                  <a:pt x="74741" y="1445281"/>
                </a:lnTo>
                <a:lnTo>
                  <a:pt x="0" y="1447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5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dirty="0">
                <a:latin typeface="Cambria"/>
                <a:cs typeface="Cambria"/>
              </a:rPr>
              <a:t>!</a:t>
            </a:r>
            <a:r>
              <a:rPr sz="3000" b="0" cap="small" spc="185" dirty="0">
                <a:latin typeface="Cambria"/>
                <a:cs typeface="Cambria"/>
              </a:rPr>
              <a:t> </a:t>
            </a:r>
            <a:r>
              <a:rPr sz="3000" b="0" cap="small" spc="229" dirty="0">
                <a:latin typeface="Cambria"/>
                <a:cs typeface="Cambria"/>
              </a:rPr>
              <a:t>Operator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97278"/>
            <a:ext cx="6963409" cy="34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927100" algn="l"/>
              </a:tabLst>
            </a:pPr>
            <a:r>
              <a:rPr sz="2400" b="1" spc="-20" dirty="0">
                <a:latin typeface="Courier New"/>
                <a:cs typeface="Courier New"/>
              </a:rPr>
              <a:t>read</a:t>
            </a:r>
            <a:r>
              <a:rPr sz="2400" b="1" dirty="0">
                <a:latin typeface="Courier New"/>
                <a:cs typeface="Courier New"/>
              </a:rPr>
              <a:t>	</a:t>
            </a:r>
            <a:r>
              <a:rPr sz="2400" b="1" spc="-10" dirty="0">
                <a:latin typeface="Courier New"/>
                <a:cs typeface="Courier New"/>
              </a:rPr>
              <a:t>-</a:t>
            </a:r>
            <a:r>
              <a:rPr sz="2400" b="1" dirty="0">
                <a:latin typeface="Courier New"/>
                <a:cs typeface="Courier New"/>
              </a:rPr>
              <a:t>p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"Enter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years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of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work: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Years</a:t>
            </a:r>
            <a:endParaRPr sz="2400">
              <a:latin typeface="Courier New"/>
              <a:cs typeface="Courier New"/>
            </a:endParaRPr>
          </a:p>
          <a:p>
            <a:pPr marL="561340" marR="1464310" indent="-549275">
              <a:lnSpc>
                <a:spcPct val="1208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!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"$Years"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-</a:t>
            </a:r>
            <a:r>
              <a:rPr sz="2400" b="1" dirty="0">
                <a:latin typeface="Courier New"/>
                <a:cs typeface="Courier New"/>
              </a:rPr>
              <a:t>lt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20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];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then </a:t>
            </a: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"You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can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retire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now."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"You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need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20+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years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retire"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fi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0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spc="370" dirty="0">
                <a:latin typeface="Cambria"/>
                <a:cs typeface="Cambria"/>
              </a:rPr>
              <a:t>&amp;&amp;</a:t>
            </a:r>
            <a:r>
              <a:rPr sz="3000" b="0" cap="small" spc="190" dirty="0">
                <a:latin typeface="Cambria"/>
                <a:cs typeface="Cambria"/>
              </a:rPr>
              <a:t> </a:t>
            </a:r>
            <a:r>
              <a:rPr sz="3000" b="0" cap="small" spc="229" dirty="0">
                <a:latin typeface="Cambria"/>
                <a:cs typeface="Cambria"/>
              </a:rPr>
              <a:t>Operator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890740"/>
            <a:ext cx="360680" cy="341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70"/>
              </a:lnSpc>
            </a:pPr>
            <a:r>
              <a:rPr sz="2200" b="1" spc="-25" dirty="0">
                <a:latin typeface="Courier New"/>
                <a:cs typeface="Courier New"/>
              </a:rPr>
              <a:t>fi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75942"/>
            <a:ext cx="7105015" cy="424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Courier New"/>
                <a:cs typeface="Courier New"/>
              </a:rPr>
              <a:t>#!/bin/bash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Courier New"/>
                <a:cs typeface="Courier New"/>
              </a:rPr>
              <a:t>Bonus=500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b="1" dirty="0">
                <a:latin typeface="Courier New"/>
                <a:cs typeface="Courier New"/>
              </a:rPr>
              <a:t>read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p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"Enter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Status: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Status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200" b="1" dirty="0">
                <a:latin typeface="Courier New"/>
                <a:cs typeface="Courier New"/>
              </a:rPr>
              <a:t>read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p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"Enter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Shift: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Shift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200" b="1" dirty="0">
                <a:latin typeface="Courier New"/>
                <a:cs typeface="Courier New"/>
              </a:rPr>
              <a:t>if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[[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200" b="1" dirty="0">
                <a:latin typeface="Courier New"/>
                <a:cs typeface="Courier New"/>
              </a:rPr>
              <a:t>$Status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400" b="1" spc="-1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=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"H"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&amp;&amp;</a:t>
            </a:r>
            <a:r>
              <a:rPr sz="22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200" b="1" dirty="0">
                <a:latin typeface="Courier New"/>
                <a:cs typeface="Courier New"/>
              </a:rPr>
              <a:t>$Shift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400" b="1" spc="-1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=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3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35" dirty="0">
                <a:latin typeface="Courier New"/>
                <a:cs typeface="Courier New"/>
              </a:rPr>
              <a:t>]]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2200" b="1" spc="-20" dirty="0">
                <a:latin typeface="Courier New"/>
                <a:cs typeface="Courier New"/>
              </a:rPr>
              <a:t>then</a:t>
            </a:r>
            <a:endParaRPr sz="2200">
              <a:latin typeface="Courier New"/>
              <a:cs typeface="Courier New"/>
            </a:endParaRPr>
          </a:p>
          <a:p>
            <a:pPr marL="12700" marR="5080" indent="504190">
              <a:lnSpc>
                <a:spcPts val="3040"/>
              </a:lnSpc>
              <a:spcBef>
                <a:spcPts val="265"/>
              </a:spcBef>
            </a:pPr>
            <a:r>
              <a:rPr sz="2200" b="1" dirty="0">
                <a:latin typeface="Courier New"/>
                <a:cs typeface="Courier New"/>
              </a:rPr>
              <a:t>echo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200" b="1" dirty="0">
                <a:latin typeface="Courier New"/>
                <a:cs typeface="Courier New"/>
              </a:rPr>
              <a:t>shift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$Shift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gets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\$$Bonus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bonus" </a:t>
            </a:r>
            <a:r>
              <a:rPr sz="2200" b="1" spc="-20" dirty="0">
                <a:latin typeface="Courier New"/>
                <a:cs typeface="Courier New"/>
              </a:rPr>
              <a:t>else</a:t>
            </a:r>
            <a:endParaRPr sz="2200">
              <a:latin typeface="Courier New"/>
              <a:cs typeface="Courier New"/>
            </a:endParaRPr>
          </a:p>
          <a:p>
            <a:pPr marL="516890">
              <a:lnSpc>
                <a:spcPct val="100000"/>
              </a:lnSpc>
              <a:spcBef>
                <a:spcPts val="120"/>
              </a:spcBef>
            </a:pPr>
            <a:r>
              <a:rPr sz="2200" b="1" dirty="0">
                <a:latin typeface="Courier New"/>
                <a:cs typeface="Courier New"/>
              </a:rPr>
              <a:t>echo</a:t>
            </a:r>
            <a:r>
              <a:rPr sz="22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200" b="1" dirty="0">
                <a:latin typeface="Courier New"/>
                <a:cs typeface="Courier New"/>
              </a:rPr>
              <a:t>only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hourly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workers</a:t>
            </a:r>
            <a:r>
              <a:rPr sz="2200" b="1" spc="-60" dirty="0">
                <a:latin typeface="Courier New"/>
                <a:cs typeface="Courier New"/>
              </a:rPr>
              <a:t> </a:t>
            </a:r>
            <a:r>
              <a:rPr sz="2200" b="1" spc="-25" dirty="0">
                <a:latin typeface="Courier New"/>
                <a:cs typeface="Courier New"/>
              </a:rPr>
              <a:t>in"</a:t>
            </a:r>
            <a:endParaRPr sz="2200">
              <a:latin typeface="Courier New"/>
              <a:cs typeface="Courier New"/>
            </a:endParaRPr>
          </a:p>
          <a:p>
            <a:pPr marL="516890">
              <a:lnSpc>
                <a:spcPct val="100000"/>
              </a:lnSpc>
              <a:spcBef>
                <a:spcPts val="315"/>
              </a:spcBef>
            </a:pPr>
            <a:r>
              <a:rPr sz="2200" b="1" dirty="0">
                <a:latin typeface="Courier New"/>
                <a:cs typeface="Courier New"/>
              </a:rPr>
              <a:t>echo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200" b="1" dirty="0">
                <a:latin typeface="Courier New"/>
                <a:cs typeface="Courier New"/>
              </a:rPr>
              <a:t>shift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3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get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bonus"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5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spc="860" dirty="0">
                <a:latin typeface="Cambria"/>
                <a:cs typeface="Cambria"/>
              </a:rPr>
              <a:t>||</a:t>
            </a:r>
            <a:r>
              <a:rPr sz="3000" b="0" cap="small" spc="175" dirty="0">
                <a:latin typeface="Cambria"/>
                <a:cs typeface="Cambria"/>
              </a:rPr>
              <a:t> </a:t>
            </a:r>
            <a:r>
              <a:rPr sz="3000" b="0" cap="small" spc="229" dirty="0">
                <a:latin typeface="Cambria"/>
                <a:cs typeface="Cambria"/>
              </a:rPr>
              <a:t>Operator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843985"/>
            <a:ext cx="330200" cy="314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70"/>
              </a:lnSpc>
            </a:pPr>
            <a:r>
              <a:rPr sz="2000" b="1" spc="-25" dirty="0">
                <a:latin typeface="Courier New"/>
                <a:cs typeface="Courier New"/>
              </a:rPr>
              <a:t>fi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3375"/>
            <a:ext cx="7189470" cy="2998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ourier New"/>
                <a:cs typeface="Courier New"/>
              </a:rPr>
              <a:t>#!/bin/bash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read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p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"Enter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calls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handled:"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CHandle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read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p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"Enter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calls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closed: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CClose</a:t>
            </a:r>
            <a:endParaRPr sz="2000">
              <a:latin typeface="Courier New"/>
              <a:cs typeface="Courier New"/>
            </a:endParaRPr>
          </a:p>
          <a:p>
            <a:pPr marL="469900" marR="5080" indent="-457834">
              <a:lnSpc>
                <a:spcPct val="125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[[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"$CHandle"</a:t>
            </a:r>
            <a:r>
              <a:rPr sz="2000" b="1" spc="-10" dirty="0">
                <a:latin typeface="Courier New"/>
                <a:cs typeface="Courier New"/>
              </a:rPr>
              <a:t> -</a:t>
            </a:r>
            <a:r>
              <a:rPr sz="2000" b="1" dirty="0">
                <a:latin typeface="Courier New"/>
                <a:cs typeface="Courier New"/>
              </a:rPr>
              <a:t>gt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150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||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"$CClose"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gt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50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]] </a:t>
            </a:r>
            <a:r>
              <a:rPr sz="2000" b="1" spc="-20" dirty="0">
                <a:latin typeface="Courier New"/>
                <a:cs typeface="Courier New"/>
              </a:rPr>
              <a:t>then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echo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"You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are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entitled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to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bonus"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20" dirty="0">
                <a:latin typeface="Courier New"/>
                <a:cs typeface="Courier New"/>
              </a:rPr>
              <a:t>else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4394" y="4707335"/>
          <a:ext cx="5397500" cy="66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R="36830" algn="ctr">
                        <a:lnSpc>
                          <a:spcPts val="2070"/>
                        </a:lnSpc>
                      </a:pPr>
                      <a:r>
                        <a:rPr sz="2000" b="1" spc="-20" dirty="0">
                          <a:latin typeface="Courier New"/>
                          <a:cs typeface="Courier New"/>
                        </a:rPr>
                        <a:t>echo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"You</a:t>
                      </a:r>
                      <a:r>
                        <a:rPr sz="2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25" dirty="0">
                          <a:latin typeface="Courier New"/>
                          <a:cs typeface="Courier New"/>
                        </a:rPr>
                        <a:t>get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bonus</a:t>
                      </a:r>
                      <a:r>
                        <a:rPr sz="2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2000" b="1" spc="-10" dirty="0">
                          <a:latin typeface="Courier New"/>
                          <a:cs typeface="Courier New"/>
                        </a:rPr>
                        <a:t> calls"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b="1" spc="-20" dirty="0">
                          <a:latin typeface="Courier New"/>
                          <a:cs typeface="Courier New"/>
                        </a:rPr>
                        <a:t>echo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b="1" spc="-10" dirty="0">
                          <a:latin typeface="Courier New"/>
                          <a:cs typeface="Courier New"/>
                        </a:rPr>
                        <a:t>"handled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exceeds</a:t>
                      </a:r>
                      <a:r>
                        <a:rPr sz="2000" b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150</a:t>
                      </a:r>
                      <a:r>
                        <a:rPr sz="2000" b="1" spc="-25" dirty="0">
                          <a:latin typeface="Courier New"/>
                          <a:cs typeface="Courier New"/>
                        </a:rPr>
                        <a:t> or"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93444" y="5414264"/>
            <a:ext cx="4597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echo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"calls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closed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exceeds</a:t>
            </a:r>
            <a:r>
              <a:rPr sz="2000" b="1" spc="-25" dirty="0">
                <a:latin typeface="Courier New"/>
                <a:cs typeface="Courier New"/>
              </a:rPr>
              <a:t> 50"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5" dirty="0">
                <a:latin typeface="Cambria"/>
                <a:cs typeface="Cambria"/>
              </a:rPr>
              <a:t>File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220" dirty="0">
                <a:latin typeface="Cambria"/>
                <a:cs typeface="Cambria"/>
              </a:rPr>
              <a:t>Testing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279775" y="1553083"/>
            <a:ext cx="4438650" cy="31197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u="sng" spc="1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Meaning</a:t>
            </a:r>
            <a:endParaRPr sz="2400">
              <a:latin typeface="Cambria"/>
              <a:cs typeface="Cambria"/>
            </a:endParaRPr>
          </a:p>
          <a:p>
            <a:pPr marL="12700" marR="920115">
              <a:lnSpc>
                <a:spcPct val="120800"/>
              </a:lnSpc>
            </a:pPr>
            <a:r>
              <a:rPr sz="2400" spc="60" dirty="0">
                <a:latin typeface="Cambria"/>
                <a:cs typeface="Cambria"/>
              </a:rPr>
              <a:t>True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‘file’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directory </a:t>
            </a:r>
            <a:r>
              <a:rPr sz="2400" spc="55" dirty="0">
                <a:latin typeface="Cambria"/>
                <a:cs typeface="Cambria"/>
              </a:rPr>
              <a:t>True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‘file’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an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ord.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  <a:p>
            <a:pPr marL="12700" marR="944880">
              <a:lnSpc>
                <a:spcPct val="120800"/>
              </a:lnSpc>
            </a:pPr>
            <a:r>
              <a:rPr sz="2400" spc="60" dirty="0">
                <a:latin typeface="Cambria"/>
                <a:cs typeface="Cambria"/>
              </a:rPr>
              <a:t>True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‘file’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readable </a:t>
            </a:r>
            <a:r>
              <a:rPr sz="2400" spc="60" dirty="0">
                <a:latin typeface="Cambria"/>
                <a:cs typeface="Cambria"/>
              </a:rPr>
              <a:t>True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‘file’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writable True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‘file’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executable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60" dirty="0">
                <a:latin typeface="Cambria"/>
                <a:cs typeface="Cambria"/>
              </a:rPr>
              <a:t>True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length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‘file’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nonzero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995423"/>
            <a:ext cx="893444" cy="2677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spc="-1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d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Cambria"/>
                <a:cs typeface="Cambria"/>
              </a:rPr>
              <a:t>-</a:t>
            </a:r>
            <a:r>
              <a:rPr sz="2400" spc="70" dirty="0">
                <a:latin typeface="Cambria"/>
                <a:cs typeface="Cambria"/>
              </a:rPr>
              <a:t>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-10" dirty="0">
                <a:latin typeface="Cambria"/>
                <a:cs typeface="Cambria"/>
              </a:rPr>
              <a:t>-</a:t>
            </a:r>
            <a:r>
              <a:rPr sz="2400" spc="65" dirty="0">
                <a:latin typeface="Cambria"/>
                <a:cs typeface="Cambria"/>
              </a:rPr>
              <a:t>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latin typeface="Cambria"/>
                <a:cs typeface="Cambria"/>
              </a:rPr>
              <a:t>-</a:t>
            </a:r>
            <a:r>
              <a:rPr sz="2400" dirty="0">
                <a:latin typeface="Cambria"/>
                <a:cs typeface="Cambria"/>
              </a:rPr>
              <a:t>w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Cambria"/>
                <a:cs typeface="Cambria"/>
              </a:rPr>
              <a:t>-</a:t>
            </a:r>
            <a:r>
              <a:rPr sz="2400" spc="114" dirty="0">
                <a:latin typeface="Cambria"/>
                <a:cs typeface="Cambria"/>
              </a:rPr>
              <a:t>x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latin typeface="Cambria"/>
                <a:cs typeface="Cambria"/>
              </a:rPr>
              <a:t>-</a:t>
            </a:r>
            <a:r>
              <a:rPr sz="2400" spc="70" dirty="0">
                <a:latin typeface="Cambria"/>
                <a:cs typeface="Cambria"/>
              </a:rPr>
              <a:t>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file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200" dirty="0">
                <a:latin typeface="Cambria"/>
                <a:cs typeface="Cambria"/>
              </a:rPr>
              <a:t> </a:t>
            </a:r>
            <a:r>
              <a:rPr sz="3000" b="0" cap="small" spc="310" dirty="0">
                <a:latin typeface="Cambria"/>
                <a:cs typeface="Cambria"/>
              </a:rPr>
              <a:t>File</a:t>
            </a:r>
            <a:r>
              <a:rPr sz="3000" b="0" cap="small" spc="340" dirty="0">
                <a:latin typeface="Cambria"/>
                <a:cs typeface="Cambria"/>
              </a:rPr>
              <a:t> </a:t>
            </a:r>
            <a:r>
              <a:rPr sz="3000" b="0" cap="small" spc="250" dirty="0">
                <a:latin typeface="Cambria"/>
                <a:cs typeface="Cambria"/>
              </a:rPr>
              <a:t>Testing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6890" y="2102987"/>
          <a:ext cx="4627243" cy="78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R="52069" algn="ctr">
                        <a:lnSpc>
                          <a:spcPts val="2480"/>
                        </a:lnSpc>
                      </a:pPr>
                      <a:r>
                        <a:rPr sz="2400" b="1" spc="-20" dirty="0">
                          <a:latin typeface="Courier New"/>
                          <a:cs typeface="Courier New"/>
                        </a:rPr>
                        <a:t>echo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"Enter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b="1" spc="-50" dirty="0"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filename: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480"/>
                        </a:lnSpc>
                      </a:pPr>
                      <a:r>
                        <a:rPr sz="2400" b="1" spc="-50" dirty="0">
                          <a:latin typeface="Courier New"/>
                          <a:cs typeface="Courier New"/>
                        </a:rPr>
                        <a:t>"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R="51435" algn="ctr">
                        <a:lnSpc>
                          <a:spcPts val="2860"/>
                        </a:lnSpc>
                      </a:pPr>
                      <a:r>
                        <a:rPr sz="2400" b="1" spc="-20" dirty="0">
                          <a:latin typeface="Courier New"/>
                          <a:cs typeface="Courier New"/>
                        </a:rPr>
                        <a:t>read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860"/>
                        </a:lnSpc>
                      </a:pPr>
                      <a:r>
                        <a:rPr sz="2400" b="1" spc="-20" dirty="0">
                          <a:latin typeface="Courier New"/>
                          <a:cs typeface="Courier New"/>
                        </a:rPr>
                        <a:t>file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5940" y="1597278"/>
            <a:ext cx="5686425" cy="34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2400">
              <a:latin typeface="Courier New"/>
              <a:cs typeface="Courier New"/>
            </a:endParaRPr>
          </a:p>
          <a:p>
            <a:pPr marL="194945" marR="2562860" indent="-182880">
              <a:lnSpc>
                <a:spcPct val="120800"/>
              </a:lnSpc>
            </a:pPr>
            <a:r>
              <a:rPr sz="2400" b="1" dirty="0">
                <a:latin typeface="Courier New"/>
                <a:cs typeface="Courier New"/>
              </a:rPr>
              <a:t>if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!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–r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$file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] </a:t>
            </a:r>
            <a:r>
              <a:rPr sz="2400" b="1" spc="-20" dirty="0">
                <a:latin typeface="Courier New"/>
                <a:cs typeface="Courier New"/>
              </a:rPr>
              <a:t>then</a:t>
            </a:r>
            <a:endParaRPr sz="24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"File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is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not</a:t>
            </a:r>
            <a:r>
              <a:rPr sz="2400" b="1" spc="-10" dirty="0">
                <a:latin typeface="Courier New"/>
                <a:cs typeface="Courier New"/>
              </a:rPr>
              <a:t> read-able"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25" dirty="0">
                <a:latin typeface="Courier New"/>
                <a:cs typeface="Courier New"/>
              </a:rPr>
              <a:t>fi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200" dirty="0">
                <a:latin typeface="Cambria"/>
                <a:cs typeface="Cambria"/>
              </a:rPr>
              <a:t> </a:t>
            </a:r>
            <a:r>
              <a:rPr sz="3000" b="0" cap="small" spc="310" dirty="0">
                <a:latin typeface="Cambria"/>
                <a:cs typeface="Cambria"/>
              </a:rPr>
              <a:t>File</a:t>
            </a:r>
            <a:r>
              <a:rPr sz="3000" b="0" cap="small" spc="340" dirty="0">
                <a:latin typeface="Cambria"/>
                <a:cs typeface="Cambria"/>
              </a:rPr>
              <a:t> </a:t>
            </a:r>
            <a:r>
              <a:rPr sz="3000" b="0" cap="small" spc="250" dirty="0">
                <a:latin typeface="Cambria"/>
                <a:cs typeface="Cambria"/>
              </a:rPr>
              <a:t>Testing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3375"/>
            <a:ext cx="718947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#!</a:t>
            </a:r>
            <a:r>
              <a:rPr sz="2000" b="1" spc="-10" dirty="0">
                <a:latin typeface="Courier New"/>
                <a:cs typeface="Courier New"/>
              </a:rPr>
              <a:t> /bin/bash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echo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"Enter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filename: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"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read</a:t>
            </a:r>
            <a:r>
              <a:rPr sz="2000" b="1" spc="-20" dirty="0">
                <a:latin typeface="Courier New"/>
                <a:cs typeface="Courier New"/>
              </a:rPr>
              <a:t> file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125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[[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!</a:t>
            </a:r>
            <a:r>
              <a:rPr sz="2000" b="1" spc="-10" dirty="0">
                <a:latin typeface="Courier New"/>
                <a:cs typeface="Courier New"/>
              </a:rPr>
              <a:t> -</a:t>
            </a:r>
            <a:r>
              <a:rPr sz="2000" b="1" dirty="0">
                <a:latin typeface="Courier New"/>
                <a:cs typeface="Courier New"/>
              </a:rPr>
              <a:t>f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$file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||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!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r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$file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||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!</a:t>
            </a:r>
            <a:r>
              <a:rPr sz="2000" b="1" spc="-10" dirty="0">
                <a:latin typeface="Courier New"/>
                <a:cs typeface="Courier New"/>
              </a:rPr>
              <a:t> -</a:t>
            </a:r>
            <a:r>
              <a:rPr sz="2000" b="1" dirty="0">
                <a:latin typeface="Courier New"/>
                <a:cs typeface="Courier New"/>
              </a:rPr>
              <a:t>w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$file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]] </a:t>
            </a:r>
            <a:r>
              <a:rPr sz="2000" b="1" spc="-20" dirty="0">
                <a:latin typeface="Courier New"/>
                <a:cs typeface="Courier New"/>
              </a:rPr>
              <a:t>then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echo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"File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$file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not</a:t>
            </a:r>
            <a:r>
              <a:rPr sz="2000" b="1" spc="-10" dirty="0">
                <a:latin typeface="Courier New"/>
                <a:cs typeface="Courier New"/>
              </a:rPr>
              <a:t> accessible"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Courier New"/>
                <a:cs typeface="Courier New"/>
              </a:rPr>
              <a:t>fi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210" dirty="0">
                <a:latin typeface="Cambria"/>
                <a:cs typeface="Cambria"/>
              </a:rPr>
              <a:t> </a:t>
            </a:r>
            <a:r>
              <a:rPr sz="3000" b="0" cap="small" spc="409" dirty="0">
                <a:latin typeface="Cambria"/>
                <a:cs typeface="Cambria"/>
              </a:rPr>
              <a:t>if…</a:t>
            </a:r>
            <a:r>
              <a:rPr sz="3000" b="0" cap="small" spc="215" dirty="0">
                <a:latin typeface="Cambria"/>
                <a:cs typeface="Cambria"/>
              </a:rPr>
              <a:t> </a:t>
            </a:r>
            <a:r>
              <a:rPr sz="3000" b="0" cap="small" spc="229" dirty="0">
                <a:latin typeface="Cambria"/>
                <a:cs typeface="Cambria"/>
              </a:rPr>
              <a:t>Statement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0016"/>
            <a:ext cx="6769734" cy="3090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ourier New"/>
                <a:cs typeface="Courier New"/>
              </a:rPr>
              <a:t>#</a:t>
            </a:r>
            <a:r>
              <a:rPr sz="1500" b="1" spc="-3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The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following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THREE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i="1" spc="-10" dirty="0">
                <a:latin typeface="Courier New"/>
                <a:cs typeface="Courier New"/>
              </a:rPr>
              <a:t>if</a:t>
            </a:r>
            <a:r>
              <a:rPr sz="1500" b="1" spc="-10" dirty="0">
                <a:latin typeface="Courier New"/>
                <a:cs typeface="Courier New"/>
              </a:rPr>
              <a:t>-</a:t>
            </a:r>
            <a:r>
              <a:rPr sz="1500" b="1" dirty="0">
                <a:latin typeface="Courier New"/>
                <a:cs typeface="Courier New"/>
              </a:rPr>
              <a:t>conditions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produce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the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same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result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5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buChar char="*"/>
              <a:tabLst>
                <a:tab pos="240665" algn="l"/>
              </a:tabLst>
            </a:pPr>
            <a:r>
              <a:rPr sz="1500" b="1" dirty="0">
                <a:latin typeface="Courier New"/>
                <a:cs typeface="Courier New"/>
              </a:rPr>
              <a:t>DOUBLE</a:t>
            </a:r>
            <a:r>
              <a:rPr sz="1500" b="1" spc="-3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SQUARE</a:t>
            </a:r>
            <a:r>
              <a:rPr sz="1500" b="1" spc="-30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BRACKETS</a:t>
            </a:r>
            <a:endParaRPr sz="1500">
              <a:latin typeface="Courier New"/>
              <a:cs typeface="Courier New"/>
            </a:endParaRPr>
          </a:p>
          <a:p>
            <a:pPr marL="12700" marR="2176780">
              <a:lnSpc>
                <a:spcPct val="103299"/>
              </a:lnSpc>
            </a:pPr>
            <a:r>
              <a:rPr sz="1500" b="1" dirty="0">
                <a:latin typeface="Courier New"/>
                <a:cs typeface="Courier New"/>
              </a:rPr>
              <a:t>read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-</a:t>
            </a:r>
            <a:r>
              <a:rPr sz="1500" b="1" dirty="0">
                <a:latin typeface="Courier New"/>
                <a:cs typeface="Courier New"/>
              </a:rPr>
              <a:t>p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"Do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you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want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to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continue?"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reply </a:t>
            </a:r>
            <a:r>
              <a:rPr sz="1500" b="1" dirty="0">
                <a:latin typeface="Courier New"/>
                <a:cs typeface="Courier New"/>
              </a:rPr>
              <a:t>if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[[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$reply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=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"y"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]];</a:t>
            </a:r>
            <a:r>
              <a:rPr sz="1500" b="1" spc="-10" dirty="0">
                <a:latin typeface="Courier New"/>
                <a:cs typeface="Courier New"/>
              </a:rPr>
              <a:t> </a:t>
            </a:r>
            <a:r>
              <a:rPr sz="1500" b="1" spc="-20" dirty="0">
                <a:latin typeface="Courier New"/>
                <a:cs typeface="Courier New"/>
              </a:rPr>
              <a:t>then</a:t>
            </a:r>
            <a:endParaRPr sz="15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60"/>
              </a:spcBef>
            </a:pPr>
            <a:r>
              <a:rPr sz="1500" b="1" dirty="0">
                <a:latin typeface="Courier New"/>
                <a:cs typeface="Courier New"/>
              </a:rPr>
              <a:t>echo "You entered " </a:t>
            </a:r>
            <a:r>
              <a:rPr sz="1500" b="1" spc="-10" dirty="0">
                <a:latin typeface="Courier New"/>
                <a:cs typeface="Courier New"/>
              </a:rPr>
              <a:t>$reply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500" b="1" spc="-25" dirty="0">
                <a:latin typeface="Courier New"/>
                <a:cs typeface="Courier New"/>
              </a:rPr>
              <a:t>fi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5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*"/>
              <a:tabLst>
                <a:tab pos="240665" algn="l"/>
              </a:tabLst>
            </a:pPr>
            <a:r>
              <a:rPr sz="1500" b="1" dirty="0">
                <a:latin typeface="Courier New"/>
                <a:cs typeface="Courier New"/>
              </a:rPr>
              <a:t>SINGLE</a:t>
            </a:r>
            <a:r>
              <a:rPr sz="1500" b="1" spc="-3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SQUARE</a:t>
            </a:r>
            <a:r>
              <a:rPr sz="1500" b="1" spc="-30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BRACKETS</a:t>
            </a:r>
            <a:endParaRPr sz="1500">
              <a:latin typeface="Courier New"/>
              <a:cs typeface="Courier New"/>
            </a:endParaRPr>
          </a:p>
          <a:p>
            <a:pPr marL="12700" marR="2176780">
              <a:lnSpc>
                <a:spcPct val="103299"/>
              </a:lnSpc>
            </a:pPr>
            <a:r>
              <a:rPr sz="1500" b="1" dirty="0">
                <a:latin typeface="Courier New"/>
                <a:cs typeface="Courier New"/>
              </a:rPr>
              <a:t>read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-</a:t>
            </a:r>
            <a:r>
              <a:rPr sz="1500" b="1" dirty="0">
                <a:latin typeface="Courier New"/>
                <a:cs typeface="Courier New"/>
              </a:rPr>
              <a:t>p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"Do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you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want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to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continue?"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reply </a:t>
            </a:r>
            <a:r>
              <a:rPr sz="1500" b="1" dirty="0">
                <a:latin typeface="Courier New"/>
                <a:cs typeface="Courier New"/>
              </a:rPr>
              <a:t>if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[</a:t>
            </a:r>
            <a:r>
              <a:rPr sz="1500" b="1" spc="-1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$reply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=</a:t>
            </a:r>
            <a:r>
              <a:rPr sz="1500" b="1" spc="-1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"y"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];</a:t>
            </a:r>
            <a:r>
              <a:rPr sz="1500" b="1" spc="-10" dirty="0">
                <a:latin typeface="Courier New"/>
                <a:cs typeface="Courier New"/>
              </a:rPr>
              <a:t> </a:t>
            </a:r>
            <a:r>
              <a:rPr sz="1500" b="1" spc="-20" dirty="0">
                <a:latin typeface="Courier New"/>
                <a:cs typeface="Courier New"/>
              </a:rPr>
              <a:t>then</a:t>
            </a:r>
            <a:endParaRPr sz="15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60"/>
              </a:spcBef>
            </a:pPr>
            <a:r>
              <a:rPr sz="1500" b="1" dirty="0">
                <a:latin typeface="Courier New"/>
                <a:cs typeface="Courier New"/>
              </a:rPr>
              <a:t>echo "You entered " </a:t>
            </a:r>
            <a:r>
              <a:rPr sz="1500" b="1" spc="-10" dirty="0">
                <a:latin typeface="Courier New"/>
                <a:cs typeface="Courier New"/>
              </a:rPr>
              <a:t>$reply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500" b="1" spc="-25" dirty="0">
                <a:latin typeface="Courier New"/>
                <a:cs typeface="Courier New"/>
              </a:rPr>
              <a:t>fi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868417"/>
            <a:ext cx="459803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Courier New"/>
                <a:cs typeface="Courier New"/>
              </a:rPr>
              <a:t>*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"TEST"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COMMAND</a:t>
            </a:r>
            <a:endParaRPr sz="1500">
              <a:latin typeface="Courier New"/>
              <a:cs typeface="Courier New"/>
            </a:endParaRPr>
          </a:p>
          <a:p>
            <a:pPr marL="12700" marR="5080">
              <a:lnSpc>
                <a:spcPts val="1860"/>
              </a:lnSpc>
              <a:spcBef>
                <a:spcPts val="70"/>
              </a:spcBef>
            </a:pPr>
            <a:r>
              <a:rPr sz="1500" b="1" dirty="0">
                <a:latin typeface="Courier New"/>
                <a:cs typeface="Courier New"/>
              </a:rPr>
              <a:t>read</a:t>
            </a:r>
            <a:r>
              <a:rPr sz="1500" b="1" spc="-2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-</a:t>
            </a:r>
            <a:r>
              <a:rPr sz="1500" b="1" dirty="0">
                <a:latin typeface="Courier New"/>
                <a:cs typeface="Courier New"/>
              </a:rPr>
              <a:t>p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"Do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you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want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to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continue?"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10" dirty="0">
                <a:latin typeface="Courier New"/>
                <a:cs typeface="Courier New"/>
              </a:rPr>
              <a:t>reply </a:t>
            </a:r>
            <a:r>
              <a:rPr sz="1500" b="1" dirty="0">
                <a:latin typeface="Courier New"/>
                <a:cs typeface="Courier New"/>
              </a:rPr>
              <a:t>if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test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$reply</a:t>
            </a:r>
            <a:r>
              <a:rPr sz="1500" b="1" spc="-2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=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"y";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20" dirty="0">
                <a:latin typeface="Courier New"/>
                <a:cs typeface="Courier New"/>
              </a:rPr>
              <a:t>then</a:t>
            </a:r>
            <a:endParaRPr sz="1500">
              <a:latin typeface="Courier New"/>
              <a:cs typeface="Courier New"/>
            </a:endParaRPr>
          </a:p>
          <a:p>
            <a:pPr marL="355600">
              <a:lnSpc>
                <a:spcPts val="1789"/>
              </a:lnSpc>
            </a:pPr>
            <a:r>
              <a:rPr sz="1500" b="1" dirty="0">
                <a:latin typeface="Courier New"/>
                <a:cs typeface="Courier New"/>
              </a:rPr>
              <a:t>echo "You entered " </a:t>
            </a:r>
            <a:r>
              <a:rPr sz="1500" b="1" spc="-10" dirty="0">
                <a:latin typeface="Courier New"/>
                <a:cs typeface="Courier New"/>
              </a:rPr>
              <a:t>$reply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500" b="1" spc="-25" dirty="0">
                <a:latin typeface="Courier New"/>
                <a:cs typeface="Courier New"/>
              </a:rPr>
              <a:t>fi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35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05" dirty="0">
                <a:latin typeface="Cambria"/>
                <a:cs typeface="Cambria"/>
              </a:rPr>
              <a:t> </a:t>
            </a:r>
            <a:r>
              <a:rPr sz="3000" b="0" cap="small" spc="310" dirty="0">
                <a:latin typeface="Cambria"/>
                <a:cs typeface="Cambria"/>
              </a:rPr>
              <a:t>case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spc="200" dirty="0">
                <a:latin typeface="Cambria"/>
                <a:cs typeface="Cambria"/>
              </a:rPr>
              <a:t>Statement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2089" y="5889964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36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736" y="5992616"/>
            <a:ext cx="758190" cy="370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80"/>
              </a:lnSpc>
            </a:pPr>
            <a:r>
              <a:rPr sz="2400" b="1" spc="-20" dirty="0">
                <a:latin typeface="Courier New"/>
                <a:cs typeface="Courier New"/>
              </a:rPr>
              <a:t>esac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9283"/>
            <a:ext cx="6468110" cy="4261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case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statement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decision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is </a:t>
            </a:r>
            <a:r>
              <a:rPr sz="2400" spc="55" dirty="0">
                <a:latin typeface="Cambria"/>
                <a:cs typeface="Cambria"/>
              </a:rPr>
              <a:t>based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multiple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choices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409"/>
              </a:spcBef>
            </a:pPr>
            <a:r>
              <a:rPr sz="2400" b="1" dirty="0">
                <a:latin typeface="Courier New"/>
                <a:cs typeface="Courier New"/>
              </a:rPr>
              <a:t>case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word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in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540"/>
              </a:spcBef>
            </a:pPr>
            <a:r>
              <a:rPr sz="2400" b="1" dirty="0">
                <a:latin typeface="Courier New"/>
                <a:cs typeface="Courier New"/>
              </a:rPr>
              <a:t>pattern1)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command-list1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;;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pattern2)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command-list2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;;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patternN)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command-listN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400" b="1" spc="-25" dirty="0">
                <a:latin typeface="Courier New"/>
                <a:cs typeface="Courier New"/>
              </a:rPr>
              <a:t>;;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972439"/>
            <a:ext cx="5191125" cy="411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310" dirty="0">
                <a:solidFill>
                  <a:srgbClr val="565F6C"/>
                </a:solidFill>
                <a:latin typeface="Cambria"/>
                <a:cs typeface="Cambria"/>
              </a:rPr>
              <a:t>CASE</a:t>
            </a:r>
            <a:r>
              <a:rPr sz="2400" spc="32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180" dirty="0">
                <a:solidFill>
                  <a:srgbClr val="565F6C"/>
                </a:solidFill>
                <a:latin typeface="Cambria"/>
                <a:cs typeface="Cambria"/>
              </a:rPr>
              <a:t>PATTERN</a:t>
            </a:r>
            <a:endParaRPr sz="2400">
              <a:latin typeface="Cambria"/>
              <a:cs typeface="Cambria"/>
            </a:endParaRPr>
          </a:p>
          <a:p>
            <a:pPr marL="272415" indent="-272415">
              <a:lnSpc>
                <a:spcPct val="100000"/>
              </a:lnSpc>
              <a:spcBef>
                <a:spcPts val="22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72415" algn="l"/>
              </a:tabLst>
            </a:pPr>
            <a:r>
              <a:rPr sz="2400" spc="50" dirty="0">
                <a:latin typeface="Cambria"/>
                <a:cs typeface="Cambria"/>
              </a:rPr>
              <a:t>checked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against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match</a:t>
            </a:r>
            <a:endParaRPr sz="2400">
              <a:latin typeface="Cambria"/>
              <a:cs typeface="Cambria"/>
            </a:endParaRPr>
          </a:p>
          <a:p>
            <a:pPr marL="2724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72415" algn="l"/>
              </a:tabLst>
            </a:pPr>
            <a:r>
              <a:rPr sz="2400" spc="110" dirty="0">
                <a:latin typeface="Cambria"/>
                <a:cs typeface="Cambria"/>
              </a:rPr>
              <a:t>may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also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contain:</a:t>
            </a:r>
            <a:endParaRPr sz="2400">
              <a:latin typeface="Cambria"/>
              <a:cs typeface="Cambria"/>
            </a:endParaRPr>
          </a:p>
          <a:p>
            <a:pPr marL="272415">
              <a:lnSpc>
                <a:spcPct val="100000"/>
              </a:lnSpc>
              <a:spcBef>
                <a:spcPts val="350"/>
              </a:spcBef>
            </a:pPr>
            <a:r>
              <a:rPr sz="2400" b="1" spc="-50" dirty="0">
                <a:latin typeface="Courier New"/>
                <a:cs typeface="Courier New"/>
              </a:rPr>
              <a:t>*</a:t>
            </a:r>
            <a:endParaRPr sz="2400">
              <a:latin typeface="Courier New"/>
              <a:cs typeface="Courier New"/>
            </a:endParaRPr>
          </a:p>
          <a:p>
            <a:pPr marL="272415">
              <a:lnSpc>
                <a:spcPct val="100000"/>
              </a:lnSpc>
              <a:spcBef>
                <a:spcPts val="600"/>
              </a:spcBef>
            </a:pPr>
            <a:r>
              <a:rPr sz="2400" b="1" spc="-50" dirty="0">
                <a:latin typeface="Courier New"/>
                <a:cs typeface="Courier New"/>
              </a:rPr>
              <a:t>?</a:t>
            </a:r>
            <a:endParaRPr sz="2400">
              <a:latin typeface="Courier New"/>
              <a:cs typeface="Courier New"/>
            </a:endParaRPr>
          </a:p>
          <a:p>
            <a:pPr marL="272415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[ … </a:t>
            </a:r>
            <a:r>
              <a:rPr sz="2400" b="1" spc="-50" dirty="0">
                <a:latin typeface="Courier New"/>
                <a:cs typeface="Courier New"/>
              </a:rPr>
              <a:t>]</a:t>
            </a:r>
            <a:endParaRPr sz="2400">
              <a:latin typeface="Courier New"/>
              <a:cs typeface="Courier New"/>
            </a:endParaRPr>
          </a:p>
          <a:p>
            <a:pPr marL="272415">
              <a:lnSpc>
                <a:spcPct val="100000"/>
              </a:lnSpc>
              <a:spcBef>
                <a:spcPts val="600"/>
              </a:spcBef>
            </a:pPr>
            <a:r>
              <a:rPr sz="2400" b="1" spc="-10" dirty="0">
                <a:latin typeface="Courier New"/>
                <a:cs typeface="Courier New"/>
              </a:rPr>
              <a:t>[:class:]</a:t>
            </a:r>
            <a:endParaRPr sz="2400">
              <a:latin typeface="Courier New"/>
              <a:cs typeface="Courier New"/>
            </a:endParaRPr>
          </a:p>
          <a:p>
            <a:pPr marL="272415" indent="-272415">
              <a:lnSpc>
                <a:spcPct val="100000"/>
              </a:lnSpc>
              <a:spcBef>
                <a:spcPts val="85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72415" algn="l"/>
              </a:tabLst>
            </a:pPr>
            <a:r>
              <a:rPr sz="2400" spc="85" dirty="0">
                <a:latin typeface="Cambria"/>
                <a:cs typeface="Cambria"/>
              </a:rPr>
              <a:t>multiple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patterns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listed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via:</a:t>
            </a:r>
            <a:endParaRPr sz="2400">
              <a:latin typeface="Cambria"/>
              <a:cs typeface="Cambria"/>
            </a:endParaRPr>
          </a:p>
          <a:p>
            <a:pPr marL="272415">
              <a:lnSpc>
                <a:spcPct val="100000"/>
              </a:lnSpc>
              <a:spcBef>
                <a:spcPts val="409"/>
              </a:spcBef>
            </a:pPr>
            <a:r>
              <a:rPr sz="2400" b="1" spc="-50" dirty="0">
                <a:latin typeface="Courier New"/>
                <a:cs typeface="Courier New"/>
              </a:rPr>
              <a:t>|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32089" y="5889964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37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1878"/>
            <a:ext cx="59880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305" dirty="0">
                <a:latin typeface="Cambria"/>
                <a:cs typeface="Cambria"/>
              </a:rPr>
              <a:t>Example</a:t>
            </a:r>
            <a:r>
              <a:rPr sz="3000" b="0" cap="small" spc="300" dirty="0">
                <a:latin typeface="Cambria"/>
                <a:cs typeface="Cambria"/>
              </a:rPr>
              <a:t> </a:t>
            </a:r>
            <a:r>
              <a:rPr sz="3000" b="0" cap="small" dirty="0">
                <a:latin typeface="Cambria"/>
                <a:cs typeface="Cambria"/>
              </a:rPr>
              <a:t>1:</a:t>
            </a:r>
            <a:r>
              <a:rPr sz="3000" b="0" cap="small" spc="195" dirty="0">
                <a:latin typeface="Cambria"/>
                <a:cs typeface="Cambria"/>
              </a:rPr>
              <a:t> </a:t>
            </a: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10" dirty="0">
                <a:latin typeface="Cambria"/>
                <a:cs typeface="Cambria"/>
              </a:rPr>
              <a:t> case</a:t>
            </a:r>
            <a:r>
              <a:rPr sz="3000" b="0" cap="small" spc="355" dirty="0">
                <a:latin typeface="Cambria"/>
                <a:cs typeface="Cambria"/>
              </a:rPr>
              <a:t> </a:t>
            </a:r>
            <a:r>
              <a:rPr sz="3000" b="0" cap="small" spc="229" dirty="0">
                <a:latin typeface="Cambria"/>
                <a:cs typeface="Cambria"/>
              </a:rPr>
              <a:t>Statement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86690"/>
            <a:ext cx="6443345" cy="83629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b="1" spc="-10" dirty="0">
                <a:latin typeface="Courier New"/>
                <a:cs typeface="Courier New"/>
              </a:rPr>
              <a:t>#!/bin/bash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spcBef>
                <a:spcPts val="165"/>
              </a:spcBef>
            </a:pPr>
            <a:r>
              <a:rPr sz="1800" b="1" dirty="0">
                <a:latin typeface="Courier New"/>
                <a:cs typeface="Courier New"/>
              </a:rPr>
              <a:t>echo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"Enter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Y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to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see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all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files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including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hidden</a:t>
            </a:r>
            <a:endParaRPr sz="1800">
              <a:latin typeface="Courier New"/>
              <a:cs typeface="Courier New"/>
            </a:endParaRPr>
          </a:p>
          <a:p>
            <a:pPr marL="285115">
              <a:lnSpc>
                <a:spcPts val="1945"/>
              </a:lnSpc>
            </a:pPr>
            <a:r>
              <a:rPr sz="1800" b="1" spc="-10" dirty="0">
                <a:latin typeface="Courier New"/>
                <a:cs typeface="Courier New"/>
              </a:rPr>
              <a:t>files"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6890" y="1969828"/>
          <a:ext cx="5795643" cy="55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2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860">
                <a:tc>
                  <a:txBody>
                    <a:bodyPr/>
                    <a:lstStyle/>
                    <a:p>
                      <a:pPr marR="27940" algn="ctr">
                        <a:lnSpc>
                          <a:spcPts val="1860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echo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"Enter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to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see</a:t>
                      </a:r>
                      <a:r>
                        <a:rPr sz="18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all</a:t>
                      </a:r>
                      <a:r>
                        <a:rPr sz="18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hidden</a:t>
                      </a:r>
                      <a:r>
                        <a:rPr sz="1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files"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marR="27940" algn="ctr">
                        <a:lnSpc>
                          <a:spcPts val="2005"/>
                        </a:lnSpc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echo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"Enter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q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to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00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quit"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5940" y="2805506"/>
            <a:ext cx="6316980" cy="148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read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-</a:t>
            </a:r>
            <a:r>
              <a:rPr sz="1800" b="1" dirty="0">
                <a:latin typeface="Courier New"/>
                <a:cs typeface="Courier New"/>
              </a:rPr>
              <a:t>p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"Enter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your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choice: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reply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case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$reply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in</a:t>
            </a:r>
            <a:endParaRPr sz="18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70"/>
              </a:spcBef>
            </a:pPr>
            <a:r>
              <a:rPr sz="1800" b="1" dirty="0">
                <a:latin typeface="Courier New"/>
                <a:cs typeface="Courier New"/>
              </a:rPr>
              <a:t>Y|YES)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echo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"Displaying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all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(really…)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files"</a:t>
            </a:r>
            <a:endParaRPr sz="1800">
              <a:latin typeface="Courier New"/>
              <a:cs typeface="Courier New"/>
            </a:endParaRPr>
          </a:p>
          <a:p>
            <a:pPr marL="1242695">
              <a:lnSpc>
                <a:spcPct val="100000"/>
              </a:lnSpc>
              <a:spcBef>
                <a:spcPts val="165"/>
              </a:spcBef>
            </a:pPr>
            <a:r>
              <a:rPr sz="1800" b="1" dirty="0">
                <a:latin typeface="Courier New"/>
                <a:cs typeface="Courier New"/>
              </a:rPr>
              <a:t>ls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-</a:t>
            </a:r>
            <a:r>
              <a:rPr sz="1800" b="1" dirty="0">
                <a:latin typeface="Courier New"/>
                <a:cs typeface="Courier New"/>
              </a:rPr>
              <a:t>a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;;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4284726"/>
            <a:ext cx="70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N|NO)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6061" y="4263390"/>
            <a:ext cx="5216525" cy="912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>
              <a:lnSpc>
                <a:spcPct val="1078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echo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"Display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all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30" dirty="0">
                <a:latin typeface="Courier New"/>
                <a:cs typeface="Courier New"/>
              </a:rPr>
              <a:t>non-</a:t>
            </a:r>
            <a:r>
              <a:rPr sz="1800" b="1" dirty="0">
                <a:latin typeface="Courier New"/>
                <a:cs typeface="Courier New"/>
              </a:rPr>
              <a:t>hidden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files..." </a:t>
            </a:r>
            <a:r>
              <a:rPr sz="1800" b="1" dirty="0">
                <a:latin typeface="Courier New"/>
                <a:cs typeface="Courier New"/>
              </a:rPr>
              <a:t>ls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;;</a:t>
            </a:r>
            <a:endParaRPr sz="1800">
              <a:latin typeface="Courier New"/>
              <a:cs typeface="Courier New"/>
            </a:endParaRPr>
          </a:p>
          <a:p>
            <a:pPr marL="14604">
              <a:lnSpc>
                <a:spcPct val="100000"/>
              </a:lnSpc>
              <a:spcBef>
                <a:spcPts val="165"/>
              </a:spcBef>
            </a:pPr>
            <a:r>
              <a:rPr sz="1800" b="1" dirty="0">
                <a:latin typeface="Courier New"/>
                <a:cs typeface="Courier New"/>
              </a:rPr>
              <a:t>exit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0</a:t>
            </a:r>
            <a:r>
              <a:rPr sz="1800" b="1" spc="-25" dirty="0">
                <a:latin typeface="Courier New"/>
                <a:cs typeface="Courier New"/>
              </a:rPr>
              <a:t> ;;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4876038"/>
            <a:ext cx="299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ourier New"/>
                <a:cs typeface="Courier New"/>
              </a:rPr>
              <a:t>Q)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5446267"/>
            <a:ext cx="5224145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4320">
              <a:lnSpc>
                <a:spcPct val="1078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*)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echo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"Invalid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choice!";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exit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1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;; </a:t>
            </a:r>
            <a:r>
              <a:rPr sz="1800" b="1" spc="-20" dirty="0">
                <a:latin typeface="Courier New"/>
                <a:cs typeface="Courier New"/>
              </a:rPr>
              <a:t>esac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38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95" dirty="0">
                <a:latin typeface="Cambria"/>
                <a:cs typeface="Cambria"/>
              </a:rPr>
              <a:t>Bash</a:t>
            </a:r>
            <a:r>
              <a:rPr sz="3000" b="0" cap="small" spc="300" dirty="0">
                <a:latin typeface="Cambria"/>
                <a:cs typeface="Cambria"/>
              </a:rPr>
              <a:t> </a:t>
            </a:r>
            <a:r>
              <a:rPr sz="3000" b="0" cap="small" spc="260" dirty="0">
                <a:latin typeface="Cambria"/>
                <a:cs typeface="Cambria"/>
              </a:rPr>
              <a:t>programming:</a:t>
            </a:r>
            <a:r>
              <a:rPr sz="3000" b="0" cap="small" spc="175" dirty="0">
                <a:latin typeface="Cambria"/>
                <a:cs typeface="Cambria"/>
              </a:rPr>
              <a:t> </a:t>
            </a:r>
            <a:r>
              <a:rPr sz="3000" b="0" cap="small" spc="300" dirty="0">
                <a:latin typeface="Cambria"/>
                <a:cs typeface="Cambria"/>
              </a:rPr>
              <a:t>so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165" dirty="0">
                <a:latin typeface="Cambria"/>
                <a:cs typeface="Cambria"/>
              </a:rPr>
              <a:t>far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6131"/>
            <a:ext cx="2943225" cy="32696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70" dirty="0">
                <a:latin typeface="Cambria"/>
                <a:cs typeface="Cambria"/>
              </a:rPr>
              <a:t>Data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structure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55" dirty="0">
                <a:latin typeface="Cambria"/>
                <a:cs typeface="Cambria"/>
              </a:rPr>
              <a:t>Variables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95" dirty="0">
                <a:latin typeface="Cambria"/>
                <a:cs typeface="Cambria"/>
              </a:rPr>
              <a:t>Numeric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variables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90" dirty="0">
                <a:latin typeface="Cambria"/>
                <a:cs typeface="Cambria"/>
              </a:rPr>
              <a:t>Arrays</a:t>
            </a:r>
            <a:endParaRPr sz="21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35" dirty="0">
                <a:latin typeface="Cambria"/>
                <a:cs typeface="Cambria"/>
              </a:rPr>
              <a:t>User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input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0" dirty="0">
                <a:latin typeface="Cambria"/>
                <a:cs typeface="Cambria"/>
              </a:rPr>
              <a:t>Control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structures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dirty="0">
                <a:latin typeface="Cambria"/>
                <a:cs typeface="Cambria"/>
              </a:rPr>
              <a:t>if-</a:t>
            </a:r>
            <a:r>
              <a:rPr sz="2100" spc="60" dirty="0">
                <a:latin typeface="Cambria"/>
                <a:cs typeface="Cambria"/>
              </a:rPr>
              <a:t>then-</a:t>
            </a:r>
            <a:r>
              <a:rPr sz="2100" spc="-20" dirty="0">
                <a:latin typeface="Cambria"/>
                <a:cs typeface="Cambria"/>
              </a:rPr>
              <a:t>else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35" dirty="0">
                <a:latin typeface="Cambria"/>
                <a:cs typeface="Cambria"/>
              </a:rPr>
              <a:t>case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95" dirty="0">
                <a:latin typeface="Cambria"/>
                <a:cs typeface="Cambria"/>
              </a:rPr>
              <a:t>Bash</a:t>
            </a:r>
            <a:r>
              <a:rPr sz="3000" b="0" cap="small" spc="305" dirty="0">
                <a:latin typeface="Cambria"/>
                <a:cs typeface="Cambria"/>
              </a:rPr>
              <a:t> </a:t>
            </a:r>
            <a:r>
              <a:rPr sz="3000" b="0" cap="small" spc="260" dirty="0">
                <a:latin typeface="Cambria"/>
                <a:cs typeface="Cambria"/>
              </a:rPr>
              <a:t>programming:</a:t>
            </a:r>
            <a:r>
              <a:rPr sz="3000" b="0" cap="small" spc="175" dirty="0">
                <a:latin typeface="Cambria"/>
                <a:cs typeface="Cambria"/>
              </a:rPr>
              <a:t> </a:t>
            </a:r>
            <a:r>
              <a:rPr sz="3000" b="0" cap="small" spc="250" dirty="0">
                <a:latin typeface="Cambria"/>
                <a:cs typeface="Cambria"/>
              </a:rPr>
              <a:t>still</a:t>
            </a:r>
            <a:r>
              <a:rPr sz="3000" b="0" cap="small" spc="285" dirty="0">
                <a:latin typeface="Cambria"/>
                <a:cs typeface="Cambria"/>
              </a:rPr>
              <a:t> </a:t>
            </a:r>
            <a:r>
              <a:rPr sz="3000" b="0" cap="small" spc="235" dirty="0">
                <a:latin typeface="Cambria"/>
                <a:cs typeface="Cambria"/>
              </a:rPr>
              <a:t>to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300" dirty="0">
                <a:latin typeface="Cambria"/>
                <a:cs typeface="Cambria"/>
              </a:rPr>
              <a:t>come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98091"/>
            <a:ext cx="3230245" cy="27209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0" dirty="0">
                <a:latin typeface="Cambria"/>
                <a:cs typeface="Cambria"/>
              </a:rPr>
              <a:t>Control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structures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55" dirty="0">
                <a:latin typeface="Cambria"/>
                <a:cs typeface="Cambria"/>
              </a:rPr>
              <a:t>Repetition</a:t>
            </a:r>
            <a:endParaRPr sz="2100">
              <a:latin typeface="Cambria"/>
              <a:cs typeface="Cambria"/>
            </a:endParaRPr>
          </a:p>
          <a:p>
            <a:pPr marL="926465" lvl="2" indent="-18224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6465" algn="l"/>
              </a:tabLst>
            </a:pPr>
            <a:r>
              <a:rPr sz="1800" spc="-20" dirty="0">
                <a:latin typeface="Cambria"/>
                <a:cs typeface="Cambria"/>
              </a:rPr>
              <a:t>do-</a:t>
            </a:r>
            <a:r>
              <a:rPr sz="1800" spc="60" dirty="0">
                <a:latin typeface="Cambria"/>
                <a:cs typeface="Cambria"/>
              </a:rPr>
              <a:t>while,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repeat-</a:t>
            </a:r>
            <a:r>
              <a:rPr sz="1800" spc="55" dirty="0">
                <a:latin typeface="Cambria"/>
                <a:cs typeface="Cambria"/>
              </a:rPr>
              <a:t>until</a:t>
            </a:r>
            <a:endParaRPr sz="1800">
              <a:latin typeface="Cambria"/>
              <a:cs typeface="Cambria"/>
            </a:endParaRPr>
          </a:p>
          <a:p>
            <a:pPr marL="926465" lvl="2" indent="-18224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6465" algn="l"/>
              </a:tabLst>
            </a:pPr>
            <a:r>
              <a:rPr sz="1800" spc="-25" dirty="0">
                <a:latin typeface="Cambria"/>
                <a:cs typeface="Cambria"/>
              </a:rPr>
              <a:t>for</a:t>
            </a:r>
            <a:endParaRPr sz="1800">
              <a:latin typeface="Cambria"/>
              <a:cs typeface="Cambria"/>
            </a:endParaRPr>
          </a:p>
          <a:p>
            <a:pPr marL="926465" lvl="2" indent="-18224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6465" algn="l"/>
              </a:tabLst>
            </a:pPr>
            <a:r>
              <a:rPr sz="1800" spc="-10" dirty="0">
                <a:latin typeface="Cambria"/>
                <a:cs typeface="Cambria"/>
              </a:rPr>
              <a:t>select</a:t>
            </a:r>
            <a:endParaRPr sz="18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58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90" dirty="0">
                <a:latin typeface="Cambria"/>
                <a:cs typeface="Cambria"/>
              </a:rPr>
              <a:t>Functions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75" dirty="0">
                <a:latin typeface="Cambria"/>
                <a:cs typeface="Cambria"/>
              </a:rPr>
              <a:t>Trapping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signals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56447" y="761"/>
            <a:ext cx="626745" cy="6858000"/>
            <a:chOff x="8156447" y="761"/>
            <a:chExt cx="626745" cy="6858000"/>
          </a:xfrm>
        </p:grpSpPr>
        <p:sp>
          <p:nvSpPr>
            <p:cNvPr id="3" name="object 3"/>
            <p:cNvSpPr/>
            <p:nvPr/>
          </p:nvSpPr>
          <p:spPr>
            <a:xfrm>
              <a:off x="8763761" y="761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38100">
              <a:solidFill>
                <a:srgbClr val="FDC3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156447" y="5715000"/>
              <a:ext cx="550545" cy="548640"/>
            </a:xfrm>
            <a:custGeom>
              <a:avLst/>
              <a:gdLst/>
              <a:ahLst/>
              <a:cxnLst/>
              <a:rect l="l" t="t" r="r" b="b"/>
              <a:pathLst>
                <a:path w="550545" h="548639">
                  <a:moveTo>
                    <a:pt x="275081" y="0"/>
                  </a:moveTo>
                  <a:lnTo>
                    <a:pt x="225643" y="4419"/>
                  </a:lnTo>
                  <a:lnTo>
                    <a:pt x="179109" y="17162"/>
                  </a:lnTo>
                  <a:lnTo>
                    <a:pt x="136256" y="37453"/>
                  </a:lnTo>
                  <a:lnTo>
                    <a:pt x="97863" y="64518"/>
                  </a:lnTo>
                  <a:lnTo>
                    <a:pt x="64706" y="97580"/>
                  </a:lnTo>
                  <a:lnTo>
                    <a:pt x="37563" y="135867"/>
                  </a:lnTo>
                  <a:lnTo>
                    <a:pt x="17213" y="178602"/>
                  </a:lnTo>
                  <a:lnTo>
                    <a:pt x="4432" y="225011"/>
                  </a:lnTo>
                  <a:lnTo>
                    <a:pt x="0" y="274319"/>
                  </a:lnTo>
                  <a:lnTo>
                    <a:pt x="4432" y="323628"/>
                  </a:lnTo>
                  <a:lnTo>
                    <a:pt x="17213" y="370037"/>
                  </a:lnTo>
                  <a:lnTo>
                    <a:pt x="37563" y="412772"/>
                  </a:lnTo>
                  <a:lnTo>
                    <a:pt x="64706" y="451059"/>
                  </a:lnTo>
                  <a:lnTo>
                    <a:pt x="97863" y="484121"/>
                  </a:lnTo>
                  <a:lnTo>
                    <a:pt x="136256" y="511186"/>
                  </a:lnTo>
                  <a:lnTo>
                    <a:pt x="179109" y="531477"/>
                  </a:lnTo>
                  <a:lnTo>
                    <a:pt x="225643" y="544220"/>
                  </a:lnTo>
                  <a:lnTo>
                    <a:pt x="275081" y="548640"/>
                  </a:lnTo>
                  <a:lnTo>
                    <a:pt x="324520" y="544220"/>
                  </a:lnTo>
                  <a:lnTo>
                    <a:pt x="371054" y="531477"/>
                  </a:lnTo>
                  <a:lnTo>
                    <a:pt x="413907" y="511186"/>
                  </a:lnTo>
                  <a:lnTo>
                    <a:pt x="452300" y="484121"/>
                  </a:lnTo>
                  <a:lnTo>
                    <a:pt x="485457" y="451059"/>
                  </a:lnTo>
                  <a:lnTo>
                    <a:pt x="512600" y="412772"/>
                  </a:lnTo>
                  <a:lnTo>
                    <a:pt x="532950" y="370037"/>
                  </a:lnTo>
                  <a:lnTo>
                    <a:pt x="545731" y="323628"/>
                  </a:lnTo>
                  <a:lnTo>
                    <a:pt x="550163" y="274319"/>
                  </a:lnTo>
                  <a:lnTo>
                    <a:pt x="545731" y="225011"/>
                  </a:lnTo>
                  <a:lnTo>
                    <a:pt x="532950" y="178602"/>
                  </a:lnTo>
                  <a:lnTo>
                    <a:pt x="512600" y="135867"/>
                  </a:lnTo>
                  <a:lnTo>
                    <a:pt x="485457" y="97580"/>
                  </a:lnTo>
                  <a:lnTo>
                    <a:pt x="452300" y="64518"/>
                  </a:lnTo>
                  <a:lnTo>
                    <a:pt x="413907" y="37453"/>
                  </a:lnTo>
                  <a:lnTo>
                    <a:pt x="371054" y="17162"/>
                  </a:lnTo>
                  <a:lnTo>
                    <a:pt x="324520" y="4419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7" name="object 7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6672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95"/>
              </a:spcBef>
            </a:pPr>
            <a:r>
              <a:rPr sz="2800" cap="small" spc="295" dirty="0"/>
              <a:t>Repetition</a:t>
            </a:r>
            <a:r>
              <a:rPr sz="2800" cap="small" spc="270" dirty="0"/>
              <a:t> </a:t>
            </a:r>
            <a:r>
              <a:rPr sz="2800" cap="small" spc="295" dirty="0"/>
              <a:t>Constructs</a:t>
            </a:r>
            <a:endParaRPr sz="280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28800"/>
            <a:ext cx="7835958" cy="330860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1878"/>
            <a:ext cx="3002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while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225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71000"/>
            <a:ext cx="7034530" cy="389699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50" dirty="0">
                <a:latin typeface="Cambria"/>
                <a:cs typeface="Cambria"/>
              </a:rPr>
              <a:t>Purpose:</a:t>
            </a:r>
            <a:endParaRPr sz="2400">
              <a:latin typeface="Cambria"/>
              <a:cs typeface="Cambria"/>
            </a:endParaRPr>
          </a:p>
          <a:p>
            <a:pPr marL="285115" marR="508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Cambria"/>
                <a:cs typeface="Cambria"/>
              </a:rPr>
              <a:t>To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execute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commands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“command-</a:t>
            </a:r>
            <a:r>
              <a:rPr sz="2400" spc="75" dirty="0">
                <a:latin typeface="Cambria"/>
                <a:cs typeface="Cambria"/>
              </a:rPr>
              <a:t>list”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long </a:t>
            </a:r>
            <a:r>
              <a:rPr sz="2400" spc="110" dirty="0">
                <a:latin typeface="Cambria"/>
                <a:cs typeface="Cambria"/>
              </a:rPr>
              <a:t>as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“expression”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evaluates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true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350"/>
              </a:spcBef>
            </a:pPr>
            <a:r>
              <a:rPr sz="2400" b="1" dirty="0">
                <a:latin typeface="Courier New"/>
                <a:cs typeface="Courier New"/>
              </a:rPr>
              <a:t>while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expression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]</a:t>
            </a:r>
            <a:endParaRPr sz="24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285115" marR="3906520" indent="641350">
              <a:lnSpc>
                <a:spcPct val="120800"/>
              </a:lnSpc>
            </a:pPr>
            <a:r>
              <a:rPr sz="2400" b="1" spc="-10" dirty="0">
                <a:latin typeface="Courier New"/>
                <a:cs typeface="Courier New"/>
              </a:rPr>
              <a:t>command-</a:t>
            </a:r>
            <a:r>
              <a:rPr sz="2400" b="1" spc="-20" dirty="0">
                <a:latin typeface="Courier New"/>
                <a:cs typeface="Courier New"/>
              </a:rPr>
              <a:t>list done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5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while</a:t>
            </a:r>
            <a:r>
              <a:rPr sz="3000" b="0" cap="small" spc="320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6311" rIns="0" bIns="0" rtlCol="0">
            <a:spAutoFit/>
          </a:bodyPr>
          <a:lstStyle/>
          <a:p>
            <a:pPr marL="12700" marR="3656329">
              <a:lnSpc>
                <a:spcPct val="120800"/>
              </a:lnSpc>
              <a:spcBef>
                <a:spcPts val="95"/>
              </a:spcBef>
            </a:pPr>
            <a:r>
              <a:rPr sz="2400" spc="-10" dirty="0"/>
              <a:t>#!/bin/bash COUNTER=0</a:t>
            </a:r>
            <a:endParaRPr sz="2400"/>
          </a:p>
          <a:p>
            <a:pPr marL="12700" marR="1101725">
              <a:lnSpc>
                <a:spcPct val="120800"/>
              </a:lnSpc>
              <a:spcBef>
                <a:spcPts val="5"/>
              </a:spcBef>
            </a:pPr>
            <a:r>
              <a:rPr sz="2400" dirty="0"/>
              <a:t>while</a:t>
            </a:r>
            <a:r>
              <a:rPr sz="2400" spc="-20" dirty="0"/>
              <a:t> </a:t>
            </a:r>
            <a:r>
              <a:rPr sz="2400" dirty="0"/>
              <a:t>[</a:t>
            </a:r>
            <a:r>
              <a:rPr sz="2400" spc="-40" dirty="0"/>
              <a:t> </a:t>
            </a:r>
            <a:r>
              <a:rPr sz="2400" dirty="0"/>
              <a:t>$COUNTER</a:t>
            </a:r>
            <a:r>
              <a:rPr sz="2400" spc="-25" dirty="0"/>
              <a:t> </a:t>
            </a:r>
            <a:r>
              <a:rPr sz="2400" spc="-10" dirty="0"/>
              <a:t>-</a:t>
            </a:r>
            <a:r>
              <a:rPr sz="2400" dirty="0"/>
              <a:t>lt</a:t>
            </a:r>
            <a:r>
              <a:rPr sz="2400" spc="-20" dirty="0"/>
              <a:t> </a:t>
            </a:r>
            <a:r>
              <a:rPr sz="2400" dirty="0"/>
              <a:t>10</a:t>
            </a:r>
            <a:r>
              <a:rPr sz="2400" spc="-35" dirty="0"/>
              <a:t> </a:t>
            </a:r>
            <a:r>
              <a:rPr sz="2400" spc="-50" dirty="0"/>
              <a:t>] </a:t>
            </a:r>
            <a:r>
              <a:rPr sz="2400" spc="-25" dirty="0"/>
              <a:t>do</a:t>
            </a:r>
            <a:endParaRPr sz="2400"/>
          </a:p>
          <a:p>
            <a:pPr marL="561340" marR="5080">
              <a:lnSpc>
                <a:spcPct val="120800"/>
              </a:lnSpc>
              <a:spcBef>
                <a:spcPts val="5"/>
              </a:spcBef>
            </a:pPr>
            <a:r>
              <a:rPr sz="2400" dirty="0"/>
              <a:t>echo</a:t>
            </a:r>
            <a:r>
              <a:rPr sz="2400" spc="-45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counter</a:t>
            </a:r>
            <a:r>
              <a:rPr sz="2400" spc="-25" dirty="0"/>
              <a:t> </a:t>
            </a:r>
            <a:r>
              <a:rPr sz="2400" dirty="0"/>
              <a:t>is</a:t>
            </a:r>
            <a:r>
              <a:rPr sz="2400" spc="-35" dirty="0"/>
              <a:t> </a:t>
            </a:r>
            <a:r>
              <a:rPr sz="2400" spc="-10" dirty="0"/>
              <a:t>$COUNTER </a:t>
            </a:r>
            <a:r>
              <a:rPr sz="2400" dirty="0"/>
              <a:t>let</a:t>
            </a:r>
            <a:r>
              <a:rPr sz="2400" spc="-35" dirty="0"/>
              <a:t> </a:t>
            </a:r>
            <a:r>
              <a:rPr sz="2400" spc="-10" dirty="0"/>
              <a:t>COUNTER=$COUNTER+1</a:t>
            </a:r>
            <a:endParaRPr sz="2400"/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20" dirty="0"/>
              <a:t>done</a:t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1878"/>
            <a:ext cx="60045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5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while</a:t>
            </a:r>
            <a:r>
              <a:rPr sz="3000" b="0" cap="small" spc="320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4089"/>
            <a:ext cx="6896734" cy="3380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ourier New"/>
                <a:cs typeface="Courier New"/>
              </a:rPr>
              <a:t>#!/bin/bash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Cont="Y"</a:t>
            </a:r>
            <a:endParaRPr sz="2000">
              <a:latin typeface="Courier New"/>
              <a:cs typeface="Courier New"/>
            </a:endParaRPr>
          </a:p>
          <a:p>
            <a:pPr marL="317500" marR="3065780" indent="-304800">
              <a:lnSpc>
                <a:spcPts val="3000"/>
              </a:lnSpc>
              <a:spcBef>
                <a:spcPts val="200"/>
              </a:spcBef>
            </a:pPr>
            <a:r>
              <a:rPr sz="2000" b="1" dirty="0">
                <a:latin typeface="Courier New"/>
                <a:cs typeface="Courier New"/>
              </a:rPr>
              <a:t>while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$Cont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"Y"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];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do </a:t>
            </a:r>
            <a:r>
              <a:rPr sz="2000" b="1" dirty="0">
                <a:latin typeface="Courier New"/>
                <a:cs typeface="Courier New"/>
              </a:rPr>
              <a:t>ps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spc="-50" dirty="0">
                <a:latin typeface="Courier New"/>
                <a:cs typeface="Courier New"/>
              </a:rPr>
              <a:t>A</a:t>
            </a:r>
            <a:endParaRPr sz="2000">
              <a:latin typeface="Courier New"/>
              <a:cs typeface="Courier New"/>
            </a:endParaRPr>
          </a:p>
          <a:p>
            <a:pPr marL="317500" marR="5080">
              <a:lnSpc>
                <a:spcPts val="3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read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p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"want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continue?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(Y/N)"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reply </a:t>
            </a:r>
            <a:r>
              <a:rPr sz="2000" b="1" dirty="0">
                <a:latin typeface="Courier New"/>
                <a:cs typeface="Courier New"/>
              </a:rPr>
              <a:t>Cont=`echo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$reply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tr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[:lower:]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[:upper:]`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spc="-20" dirty="0">
                <a:latin typeface="Courier New"/>
                <a:cs typeface="Courier New"/>
              </a:rPr>
              <a:t>done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echo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"done"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1878"/>
            <a:ext cx="60045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5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while</a:t>
            </a:r>
            <a:r>
              <a:rPr sz="3000" b="0" cap="small" spc="320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4089"/>
            <a:ext cx="3683000" cy="2618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ourier New"/>
                <a:cs typeface="Courier New"/>
              </a:rPr>
              <a:t>#!/bin/bash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Courier New"/>
                <a:cs typeface="Courier New"/>
              </a:rPr>
              <a:t>x=1</a:t>
            </a:r>
            <a:endParaRPr sz="2000">
              <a:latin typeface="Courier New"/>
              <a:cs typeface="Courier New"/>
            </a:endParaRPr>
          </a:p>
          <a:p>
            <a:pPr marL="165100" marR="5080" indent="-152400">
              <a:lnSpc>
                <a:spcPct val="125000"/>
              </a:lnSpc>
            </a:pPr>
            <a:r>
              <a:rPr sz="2000" b="1" dirty="0">
                <a:latin typeface="Courier New"/>
                <a:cs typeface="Courier New"/>
              </a:rPr>
              <a:t>while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$x</a:t>
            </a:r>
            <a:r>
              <a:rPr sz="2000" b="1" spc="-10" dirty="0">
                <a:latin typeface="Courier New"/>
                <a:cs typeface="Courier New"/>
              </a:rPr>
              <a:t> -</a:t>
            </a:r>
            <a:r>
              <a:rPr sz="2000" b="1" dirty="0">
                <a:latin typeface="Courier New"/>
                <a:cs typeface="Courier New"/>
              </a:rPr>
              <a:t>le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5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];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do </a:t>
            </a:r>
            <a:r>
              <a:rPr sz="2000" b="1" dirty="0">
                <a:latin typeface="Courier New"/>
                <a:cs typeface="Courier New"/>
              </a:rPr>
              <a:t>echo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“Welcome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$x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times” </a:t>
            </a:r>
            <a:r>
              <a:rPr sz="2000" b="1" dirty="0">
                <a:latin typeface="Courier New"/>
                <a:cs typeface="Courier New"/>
              </a:rPr>
              <a:t>x=$((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$x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+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1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))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20" dirty="0">
                <a:latin typeface="Courier New"/>
                <a:cs typeface="Courier New"/>
              </a:rPr>
              <a:t>done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70" dirty="0">
                <a:latin typeface="Cambria"/>
                <a:cs typeface="Cambria"/>
              </a:rPr>
              <a:t>until </a:t>
            </a:r>
            <a:r>
              <a:rPr sz="3000" b="0" cap="small" spc="220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3083"/>
            <a:ext cx="7034530" cy="38957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45" dirty="0">
                <a:latin typeface="Cambria"/>
                <a:cs typeface="Cambria"/>
              </a:rPr>
              <a:t>Purpose:</a:t>
            </a:r>
            <a:endParaRPr sz="2400">
              <a:latin typeface="Cambria"/>
              <a:cs typeface="Cambria"/>
            </a:endParaRPr>
          </a:p>
          <a:p>
            <a:pPr marL="285115" marR="508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Cambria"/>
                <a:cs typeface="Cambria"/>
              </a:rPr>
              <a:t>To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execute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commands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“command-</a:t>
            </a:r>
            <a:r>
              <a:rPr sz="2400" spc="75" dirty="0">
                <a:latin typeface="Cambria"/>
                <a:cs typeface="Cambria"/>
              </a:rPr>
              <a:t>list”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long </a:t>
            </a:r>
            <a:r>
              <a:rPr sz="2400" spc="110" dirty="0">
                <a:latin typeface="Cambria"/>
                <a:cs typeface="Cambria"/>
              </a:rPr>
              <a:t>as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“expression”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evaluates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false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350"/>
              </a:spcBef>
            </a:pPr>
            <a:r>
              <a:rPr sz="2400" b="1" dirty="0">
                <a:latin typeface="Courier New"/>
                <a:cs typeface="Courier New"/>
              </a:rPr>
              <a:t>until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expression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]</a:t>
            </a:r>
            <a:endParaRPr sz="24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605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285115" marR="3906520" indent="641350">
              <a:lnSpc>
                <a:spcPct val="120800"/>
              </a:lnSpc>
            </a:pPr>
            <a:r>
              <a:rPr sz="2400" b="1" spc="-10" dirty="0">
                <a:latin typeface="Courier New"/>
                <a:cs typeface="Courier New"/>
              </a:rPr>
              <a:t>command-</a:t>
            </a:r>
            <a:r>
              <a:rPr sz="2400" b="1" spc="-20" dirty="0">
                <a:latin typeface="Courier New"/>
                <a:cs typeface="Courier New"/>
              </a:rPr>
              <a:t>list done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0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0" dirty="0">
                <a:latin typeface="Cambria"/>
                <a:cs typeface="Cambria"/>
              </a:rPr>
              <a:t> </a:t>
            </a:r>
            <a:r>
              <a:rPr sz="3000" b="0" cap="small" spc="270" dirty="0">
                <a:latin typeface="Cambria"/>
                <a:cs typeface="Cambria"/>
              </a:rPr>
              <a:t>until</a:t>
            </a:r>
            <a:r>
              <a:rPr sz="3000" b="0" cap="small" spc="275" dirty="0">
                <a:latin typeface="Cambria"/>
                <a:cs typeface="Cambria"/>
              </a:rPr>
              <a:t> 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73478"/>
            <a:ext cx="4589145" cy="34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COUNTER=20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208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until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$COUNTER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-</a:t>
            </a:r>
            <a:r>
              <a:rPr sz="2400" b="1" dirty="0">
                <a:latin typeface="Courier New"/>
                <a:cs typeface="Courier New"/>
              </a:rPr>
              <a:t>lt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10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] </a:t>
            </a: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$COUNTER</a:t>
            </a:r>
            <a:endParaRPr sz="24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let</a:t>
            </a:r>
            <a:r>
              <a:rPr sz="2400" b="1" spc="-10" dirty="0">
                <a:latin typeface="Courier New"/>
                <a:cs typeface="Courier New"/>
              </a:rPr>
              <a:t> COUNTER-</a:t>
            </a:r>
            <a:r>
              <a:rPr sz="2400" b="1" spc="-25" dirty="0">
                <a:latin typeface="Courier New"/>
                <a:cs typeface="Courier New"/>
              </a:rPr>
              <a:t>=1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190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30" dirty="0">
                <a:latin typeface="Cambria"/>
                <a:cs typeface="Cambria"/>
              </a:rPr>
              <a:t> </a:t>
            </a:r>
            <a:r>
              <a:rPr sz="3000" b="0" cap="small" spc="270" dirty="0">
                <a:latin typeface="Cambria"/>
                <a:cs typeface="Cambria"/>
              </a:rPr>
              <a:t>until</a:t>
            </a:r>
            <a:r>
              <a:rPr sz="3000" b="0" cap="small" spc="275" dirty="0">
                <a:latin typeface="Cambria"/>
                <a:cs typeface="Cambria"/>
              </a:rPr>
              <a:t> 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3375"/>
            <a:ext cx="6896734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ourier New"/>
                <a:cs typeface="Courier New"/>
              </a:rPr>
              <a:t>#!/bin/bash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ourier New"/>
                <a:cs typeface="Courier New"/>
              </a:rPr>
              <a:t>Stop="N"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until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$Stop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"Y"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];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do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605"/>
              </a:spcBef>
            </a:pPr>
            <a:r>
              <a:rPr sz="2000" b="1" dirty="0">
                <a:latin typeface="Courier New"/>
                <a:cs typeface="Courier New"/>
              </a:rPr>
              <a:t>ps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spc="-50" dirty="0">
                <a:latin typeface="Courier New"/>
                <a:cs typeface="Courier New"/>
              </a:rPr>
              <a:t>A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read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p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"want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to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stop?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(Y/N)"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reply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Stop=`echo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$reply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tr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[:lower:]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[:upper:]`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20" dirty="0">
                <a:latin typeface="Courier New"/>
                <a:cs typeface="Courier New"/>
              </a:rPr>
              <a:t>done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latin typeface="Courier New"/>
                <a:cs typeface="Courier New"/>
              </a:rPr>
              <a:t>echo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"done"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05" dirty="0">
                <a:latin typeface="Cambria"/>
                <a:cs typeface="Cambria"/>
              </a:rPr>
              <a:t> </a:t>
            </a:r>
            <a:r>
              <a:rPr sz="3000" b="0" cap="small" spc="270" dirty="0">
                <a:latin typeface="Cambria"/>
                <a:cs typeface="Cambria"/>
              </a:rPr>
              <a:t>for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20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3083"/>
            <a:ext cx="6435725" cy="38957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45" dirty="0">
                <a:latin typeface="Cambria"/>
                <a:cs typeface="Cambria"/>
              </a:rPr>
              <a:t>Purpose: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execute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commands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many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times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0" dirty="0">
                <a:latin typeface="Cambria"/>
                <a:cs typeface="Cambria"/>
              </a:rPr>
              <a:t>number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words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“argument-</a:t>
            </a:r>
            <a:r>
              <a:rPr sz="2400" spc="65" dirty="0">
                <a:latin typeface="Cambria"/>
                <a:cs typeface="Cambria"/>
              </a:rPr>
              <a:t>list”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350"/>
              </a:spcBef>
            </a:pPr>
            <a:r>
              <a:rPr sz="2400" b="1" dirty="0">
                <a:latin typeface="Courier New"/>
                <a:cs typeface="Courier New"/>
              </a:rPr>
              <a:t>for variable in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argument-list</a:t>
            </a:r>
            <a:endParaRPr sz="24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605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285115" marR="4039235" indent="641350">
              <a:lnSpc>
                <a:spcPct val="120800"/>
              </a:lnSpc>
            </a:pPr>
            <a:r>
              <a:rPr sz="2400" b="1" spc="-10" dirty="0">
                <a:latin typeface="Courier New"/>
                <a:cs typeface="Courier New"/>
              </a:rPr>
              <a:t>commands </a:t>
            </a: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5" dirty="0">
                <a:latin typeface="Cambria"/>
                <a:cs typeface="Cambria"/>
              </a:rPr>
              <a:t>Example</a:t>
            </a:r>
            <a:r>
              <a:rPr sz="3000" b="0" cap="small" spc="300" dirty="0">
                <a:latin typeface="Cambria"/>
                <a:cs typeface="Cambria"/>
              </a:rPr>
              <a:t> </a:t>
            </a:r>
            <a:r>
              <a:rPr sz="3000" b="0" cap="small" dirty="0">
                <a:latin typeface="Cambria"/>
                <a:cs typeface="Cambria"/>
              </a:rPr>
              <a:t>1:</a:t>
            </a:r>
            <a:r>
              <a:rPr sz="3000" b="0" cap="small" spc="195" dirty="0">
                <a:latin typeface="Cambria"/>
                <a:cs typeface="Cambria"/>
              </a:rPr>
              <a:t> </a:t>
            </a: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70" dirty="0">
                <a:latin typeface="Cambria"/>
                <a:cs typeface="Cambria"/>
              </a:rPr>
              <a:t>for</a:t>
            </a:r>
            <a:r>
              <a:rPr sz="3000" b="0" cap="small" spc="33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97278"/>
            <a:ext cx="3677285" cy="2601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7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9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2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3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4 </a:t>
            </a:r>
            <a:r>
              <a:rPr sz="2400" b="1" spc="-50" dirty="0">
                <a:latin typeface="Courier New"/>
                <a:cs typeface="Courier New"/>
              </a:rPr>
              <a:t>5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12700" marR="1830070" indent="548640">
              <a:lnSpc>
                <a:spcPct val="1208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$i </a:t>
            </a: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1878"/>
            <a:ext cx="58826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305" dirty="0">
                <a:latin typeface="Cambria"/>
                <a:cs typeface="Cambria"/>
              </a:rPr>
              <a:t>Example</a:t>
            </a:r>
            <a:r>
              <a:rPr sz="3000" b="0" cap="small" spc="300" dirty="0">
                <a:latin typeface="Cambria"/>
                <a:cs typeface="Cambria"/>
              </a:rPr>
              <a:t> </a:t>
            </a:r>
            <a:r>
              <a:rPr sz="3000" b="0" cap="small" dirty="0">
                <a:latin typeface="Cambria"/>
                <a:cs typeface="Cambria"/>
              </a:rPr>
              <a:t>2:</a:t>
            </a:r>
            <a:r>
              <a:rPr sz="3000" b="0" cap="small" spc="190" dirty="0">
                <a:latin typeface="Cambria"/>
                <a:cs typeface="Cambria"/>
              </a:rPr>
              <a:t> </a:t>
            </a:r>
            <a:r>
              <a:rPr sz="3000" b="0" cap="small" spc="340" dirty="0">
                <a:latin typeface="Cambria"/>
                <a:cs typeface="Cambria"/>
              </a:rPr>
              <a:t>Using</a:t>
            </a:r>
            <a:r>
              <a:rPr sz="3000" b="0" cap="small" spc="310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the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0" dirty="0">
                <a:latin typeface="Cambria"/>
                <a:cs typeface="Cambria"/>
              </a:rPr>
              <a:t>for</a:t>
            </a:r>
            <a:r>
              <a:rPr sz="3000" b="0" cap="small" spc="325" dirty="0">
                <a:latin typeface="Cambria"/>
                <a:cs typeface="Cambria"/>
              </a:rPr>
              <a:t> </a:t>
            </a:r>
            <a:r>
              <a:rPr sz="3000" b="0" cap="small" spc="275" dirty="0">
                <a:latin typeface="Cambria"/>
                <a:cs typeface="Cambria"/>
              </a:rPr>
              <a:t>Loop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20585"/>
            <a:ext cx="6963409" cy="392811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40"/>
              </a:lnSpc>
              <a:spcBef>
                <a:spcPts val="310"/>
              </a:spcBef>
            </a:pPr>
            <a:r>
              <a:rPr sz="2400" b="1" dirty="0">
                <a:latin typeface="Courier New"/>
                <a:cs typeface="Courier New"/>
              </a:rPr>
              <a:t>#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compute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the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average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weekly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ts val="2740"/>
              </a:lnSpc>
            </a:pPr>
            <a:r>
              <a:rPr sz="2400" b="1" spc="-10" dirty="0">
                <a:latin typeface="Courier New"/>
                <a:cs typeface="Courier New"/>
              </a:rPr>
              <a:t>temperature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num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 1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2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3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4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5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6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7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561340">
              <a:lnSpc>
                <a:spcPts val="2735"/>
              </a:lnSpc>
              <a:spcBef>
                <a:spcPts val="310"/>
              </a:spcBef>
            </a:pPr>
            <a:r>
              <a:rPr sz="2400" b="1" dirty="0">
                <a:latin typeface="Courier New"/>
                <a:cs typeface="Courier New"/>
              </a:rPr>
              <a:t>read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-</a:t>
            </a:r>
            <a:r>
              <a:rPr sz="2400" b="1" dirty="0">
                <a:latin typeface="Courier New"/>
                <a:cs typeface="Courier New"/>
              </a:rPr>
              <a:t>p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"Enter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temp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day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$num: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60" dirty="0">
                <a:latin typeface="Courier New"/>
                <a:cs typeface="Courier New"/>
              </a:rPr>
              <a:t>"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ts val="2735"/>
              </a:lnSpc>
            </a:pPr>
            <a:r>
              <a:rPr sz="2400" b="1" spc="-20" dirty="0">
                <a:latin typeface="Courier New"/>
                <a:cs typeface="Courier New"/>
              </a:rPr>
              <a:t>Temp</a:t>
            </a:r>
            <a:endParaRPr sz="2400">
              <a:latin typeface="Courier New"/>
              <a:cs typeface="Courier New"/>
            </a:endParaRPr>
          </a:p>
          <a:p>
            <a:pPr marL="12700" marR="918844" indent="548640">
              <a:lnSpc>
                <a:spcPct val="1108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let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TempTotal=$TempTotal+$Temp </a:t>
            </a: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228335"/>
            <a:ext cx="6781165" cy="83629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b="1" dirty="0">
                <a:latin typeface="Courier New"/>
                <a:cs typeface="Courier New"/>
              </a:rPr>
              <a:t>let</a:t>
            </a:r>
            <a:r>
              <a:rPr sz="2400" b="1" spc="-10" dirty="0">
                <a:latin typeface="Courier New"/>
                <a:cs typeface="Courier New"/>
              </a:rPr>
              <a:t> AvgTemp=$TempTotal/7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"Average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temperature: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$AvgTemp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51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780"/>
              </a:spcBef>
            </a:pPr>
            <a:r>
              <a:rPr sz="2700" cap="small" spc="335" dirty="0"/>
              <a:t>Using</a:t>
            </a:r>
            <a:r>
              <a:rPr sz="2700" cap="small" spc="310" dirty="0"/>
              <a:t> comma</a:t>
            </a:r>
            <a:r>
              <a:rPr sz="2700" cap="small" spc="305" dirty="0"/>
              <a:t> </a:t>
            </a:r>
            <a:r>
              <a:rPr sz="2700" cap="small" spc="260" dirty="0"/>
              <a:t>in</a:t>
            </a:r>
            <a:r>
              <a:rPr sz="2700" cap="small" spc="310" dirty="0"/>
              <a:t> </a:t>
            </a:r>
            <a:r>
              <a:rPr sz="2700" cap="small" spc="305" dirty="0"/>
              <a:t>the</a:t>
            </a:r>
            <a:r>
              <a:rPr sz="2700" cap="small" spc="290" dirty="0"/>
              <a:t> </a:t>
            </a:r>
            <a:r>
              <a:rPr sz="2700" cap="small" spc="280" dirty="0"/>
              <a:t>bash</a:t>
            </a:r>
            <a:r>
              <a:rPr sz="2700" cap="small" spc="295" dirty="0"/>
              <a:t> </a:t>
            </a:r>
            <a:r>
              <a:rPr sz="2700" cap="small" spc="254" dirty="0"/>
              <a:t>C-</a:t>
            </a:r>
            <a:r>
              <a:rPr sz="2700" cap="small" spc="310" dirty="0"/>
              <a:t>style</a:t>
            </a:r>
            <a:r>
              <a:rPr sz="2700" cap="small" spc="295" dirty="0"/>
              <a:t> </a:t>
            </a:r>
            <a:r>
              <a:rPr sz="2700" cap="small" spc="245" dirty="0"/>
              <a:t>for</a:t>
            </a:r>
            <a:endParaRPr sz="2700"/>
          </a:p>
          <a:p>
            <a:pPr marL="64769">
              <a:lnSpc>
                <a:spcPct val="100000"/>
              </a:lnSpc>
              <a:spcBef>
                <a:spcPts val="555"/>
              </a:spcBef>
            </a:pPr>
            <a:r>
              <a:rPr sz="2150" spc="295" dirty="0"/>
              <a:t>LOOP</a:t>
            </a:r>
            <a:endParaRPr sz="21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53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97278"/>
            <a:ext cx="312801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927735" algn="l"/>
              </a:tabLst>
            </a:pPr>
            <a:r>
              <a:rPr sz="2400" b="1" spc="-25" dirty="0">
                <a:latin typeface="Courier New"/>
                <a:cs typeface="Courier New"/>
              </a:rPr>
              <a:t>for</a:t>
            </a:r>
            <a:r>
              <a:rPr sz="2400" b="1" dirty="0">
                <a:latin typeface="Courier New"/>
                <a:cs typeface="Courier New"/>
              </a:rPr>
              <a:t>	((i=1,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j=10;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4371" y="2480894"/>
            <a:ext cx="38569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&lt;=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5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;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i++,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j=j+5))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249673"/>
            <a:ext cx="3677285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“Number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$i: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$j”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7579"/>
            <a:ext cx="317881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320" dirty="0">
                <a:latin typeface="Cambria"/>
                <a:cs typeface="Cambria"/>
              </a:rPr>
              <a:t>Select</a:t>
            </a:r>
            <a:r>
              <a:rPr sz="3000" b="0" cap="small" spc="340" dirty="0">
                <a:latin typeface="Cambria"/>
                <a:cs typeface="Cambria"/>
              </a:rPr>
              <a:t> </a:t>
            </a:r>
            <a:r>
              <a:rPr sz="3000" b="0" cap="small" spc="240" dirty="0">
                <a:latin typeface="Cambria"/>
                <a:cs typeface="Cambria"/>
              </a:rPr>
              <a:t>command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54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714882"/>
            <a:ext cx="7071995" cy="52539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69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0" dirty="0">
                <a:latin typeface="Cambria"/>
                <a:cs typeface="Cambria"/>
              </a:rPr>
              <a:t>Constructs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simple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menu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word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list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65" dirty="0">
                <a:latin typeface="Cambria"/>
                <a:cs typeface="Cambria"/>
              </a:rPr>
              <a:t>Allows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enter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 </a:t>
            </a:r>
            <a:r>
              <a:rPr sz="2400" spc="80" dirty="0">
                <a:latin typeface="Cambria"/>
                <a:cs typeface="Cambria"/>
              </a:rPr>
              <a:t>number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instead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 </a:t>
            </a:r>
            <a:r>
              <a:rPr sz="2400" spc="-20" dirty="0">
                <a:latin typeface="Cambria"/>
                <a:cs typeface="Cambria"/>
              </a:rPr>
              <a:t>word</a:t>
            </a:r>
            <a:endParaRPr sz="2400">
              <a:latin typeface="Cambria"/>
              <a:cs typeface="Cambria"/>
            </a:endParaRPr>
          </a:p>
          <a:p>
            <a:pPr marL="285115" marR="157480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35" dirty="0">
                <a:latin typeface="Cambria"/>
                <a:cs typeface="Cambria"/>
              </a:rPr>
              <a:t>User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enters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sequence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number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corresponding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to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word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Clr>
                <a:srgbClr val="FD8537"/>
              </a:buClr>
              <a:buFont typeface="Wingdings"/>
              <a:buChar char=""/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350"/>
              </a:spcBef>
            </a:pPr>
            <a:r>
              <a:rPr sz="2400" b="1" dirty="0">
                <a:latin typeface="Courier New"/>
                <a:cs typeface="Courier New"/>
              </a:rPr>
              <a:t>select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WORD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b="1" spc="-20" dirty="0">
                <a:latin typeface="Courier New"/>
                <a:cs typeface="Courier New"/>
              </a:rPr>
              <a:t> LIST</a:t>
            </a:r>
            <a:endParaRPr sz="24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400" b="1" spc="-10" dirty="0">
                <a:latin typeface="Courier New"/>
                <a:cs typeface="Courier New"/>
              </a:rPr>
              <a:t>RESPECTIVE-COMMANDS</a:t>
            </a:r>
            <a:endParaRPr sz="2400">
              <a:latin typeface="Courier New"/>
              <a:cs typeface="Courier New"/>
            </a:endParaRPr>
          </a:p>
          <a:p>
            <a:pPr marL="285115">
              <a:lnSpc>
                <a:spcPct val="100000"/>
              </a:lnSpc>
              <a:spcBef>
                <a:spcPts val="600"/>
              </a:spcBef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2400">
              <a:latin typeface="Courier New"/>
              <a:cs typeface="Courier New"/>
            </a:endParaRPr>
          </a:p>
          <a:p>
            <a:pPr marL="285115" indent="-272415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  <a:tab pos="4859655" algn="l"/>
              </a:tabLst>
            </a:pPr>
            <a:r>
              <a:rPr sz="2400" dirty="0">
                <a:latin typeface="Cambria"/>
                <a:cs typeface="Cambria"/>
              </a:rPr>
              <a:t>Loops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until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end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input,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i.e.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^d</a:t>
            </a:r>
            <a:r>
              <a:rPr sz="2400" dirty="0">
                <a:latin typeface="Cambria"/>
                <a:cs typeface="Cambria"/>
              </a:rPr>
              <a:t>	(or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^c)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20" dirty="0">
                <a:latin typeface="Cambria"/>
                <a:cs typeface="Cambria"/>
              </a:rPr>
              <a:t>Select</a:t>
            </a:r>
            <a:r>
              <a:rPr sz="3000" b="0" cap="small" spc="345" dirty="0">
                <a:latin typeface="Cambria"/>
                <a:cs typeface="Cambria"/>
              </a:rPr>
              <a:t> </a:t>
            </a:r>
            <a:r>
              <a:rPr sz="3000" b="0" cap="small" spc="235" dirty="0">
                <a:latin typeface="Cambria"/>
                <a:cs typeface="Cambria"/>
              </a:rPr>
              <a:t>example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55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078"/>
            <a:ext cx="5502910" cy="13519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Courier New"/>
                <a:cs typeface="Courier New"/>
              </a:rPr>
              <a:t>#!</a:t>
            </a:r>
            <a:r>
              <a:rPr sz="2400" b="1" spc="-10" dirty="0">
                <a:latin typeface="Courier New"/>
                <a:cs typeface="Courier New"/>
              </a:rPr>
              <a:t> /bin/bash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20800"/>
              </a:lnSpc>
            </a:pPr>
            <a:r>
              <a:rPr sz="2400" b="1" dirty="0">
                <a:latin typeface="Courier New"/>
                <a:cs typeface="Courier New"/>
              </a:rPr>
              <a:t>select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var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alpha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beta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gamma </a:t>
            </a: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2923413"/>
            <a:ext cx="166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$var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365372"/>
            <a:ext cx="756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281678"/>
            <a:ext cx="126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0" dirty="0">
                <a:latin typeface="Cambria"/>
                <a:cs typeface="Cambria"/>
              </a:rPr>
              <a:t>Prints: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4400" y="2971800"/>
            <a:ext cx="1647825" cy="301625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638810" indent="-546735">
              <a:lnSpc>
                <a:spcPct val="100000"/>
              </a:lnSpc>
              <a:spcBef>
                <a:spcPts val="80"/>
              </a:spcBef>
              <a:buAutoNum type="arabicParenR"/>
              <a:tabLst>
                <a:tab pos="638810" algn="l"/>
              </a:tabLst>
            </a:pPr>
            <a:r>
              <a:rPr sz="2400" b="1" spc="-10" dirty="0">
                <a:latin typeface="Courier New"/>
                <a:cs typeface="Courier New"/>
              </a:rPr>
              <a:t>alpha</a:t>
            </a:r>
            <a:endParaRPr sz="2400">
              <a:latin typeface="Courier New"/>
              <a:cs typeface="Courier New"/>
            </a:endParaRPr>
          </a:p>
          <a:p>
            <a:pPr marL="640080" indent="-548005">
              <a:lnSpc>
                <a:spcPct val="100000"/>
              </a:lnSpc>
              <a:buAutoNum type="arabicParenR"/>
              <a:tabLst>
                <a:tab pos="640080" algn="l"/>
              </a:tabLst>
            </a:pPr>
            <a:r>
              <a:rPr sz="2400" b="1" spc="-20" dirty="0">
                <a:latin typeface="Courier New"/>
                <a:cs typeface="Courier New"/>
              </a:rPr>
              <a:t>beta</a:t>
            </a:r>
            <a:endParaRPr sz="2400">
              <a:latin typeface="Courier New"/>
              <a:cs typeface="Courier New"/>
            </a:endParaRPr>
          </a:p>
          <a:p>
            <a:pPr marL="640080" indent="-548005">
              <a:lnSpc>
                <a:spcPct val="100000"/>
              </a:lnSpc>
              <a:buAutoNum type="arabicParenR"/>
              <a:tabLst>
                <a:tab pos="640080" algn="l"/>
              </a:tabLst>
            </a:pPr>
            <a:r>
              <a:rPr sz="2400" b="1" spc="-10" dirty="0">
                <a:latin typeface="Courier New"/>
                <a:cs typeface="Courier New"/>
              </a:rPr>
              <a:t>gamma</a:t>
            </a:r>
            <a:endParaRPr sz="24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#? </a:t>
            </a:r>
            <a:r>
              <a:rPr sz="2400" b="1" spc="-50" dirty="0">
                <a:latin typeface="Courier New"/>
                <a:cs typeface="Courier New"/>
              </a:rPr>
              <a:t>2</a:t>
            </a:r>
            <a:endParaRPr sz="2400">
              <a:latin typeface="Courier New"/>
              <a:cs typeface="Courier New"/>
            </a:endParaRPr>
          </a:p>
          <a:p>
            <a:pPr marL="92075" marR="814705">
              <a:lnSpc>
                <a:spcPct val="100000"/>
              </a:lnSpc>
            </a:pPr>
            <a:r>
              <a:rPr sz="2400" b="1" spc="-20" dirty="0">
                <a:latin typeface="Courier New"/>
                <a:cs typeface="Courier New"/>
              </a:rPr>
              <a:t>beta </a:t>
            </a:r>
            <a:r>
              <a:rPr sz="2400" b="1" dirty="0">
                <a:latin typeface="Courier New"/>
                <a:cs typeface="Courier New"/>
              </a:rPr>
              <a:t>#? </a:t>
            </a:r>
            <a:r>
              <a:rPr sz="2400" b="1" spc="-50" dirty="0">
                <a:latin typeface="Courier New"/>
                <a:cs typeface="Courier New"/>
              </a:rPr>
              <a:t>4</a:t>
            </a:r>
            <a:endParaRPr sz="24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#? </a:t>
            </a:r>
            <a:r>
              <a:rPr sz="2400" b="1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65"/>
              </a:spcBef>
            </a:pPr>
            <a:r>
              <a:rPr sz="2400" b="1" spc="-10" dirty="0">
                <a:latin typeface="Courier New"/>
                <a:cs typeface="Courier New"/>
              </a:rPr>
              <a:t>alpha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20" dirty="0">
                <a:latin typeface="Cambria"/>
                <a:cs typeface="Cambria"/>
              </a:rPr>
              <a:t>Select</a:t>
            </a:r>
            <a:r>
              <a:rPr sz="3000" b="0" cap="small" spc="345" dirty="0">
                <a:latin typeface="Cambria"/>
                <a:cs typeface="Cambria"/>
              </a:rPr>
              <a:t> </a:t>
            </a:r>
            <a:r>
              <a:rPr sz="3000" b="0" cap="small" spc="160" dirty="0">
                <a:latin typeface="Cambria"/>
                <a:cs typeface="Cambria"/>
              </a:rPr>
              <a:t>detail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9283"/>
            <a:ext cx="3776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75" dirty="0">
                <a:latin typeface="Cambria"/>
                <a:cs typeface="Cambria"/>
              </a:rPr>
              <a:t>PS3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select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sub-</a:t>
            </a:r>
            <a:r>
              <a:rPr sz="2400" spc="40" dirty="0">
                <a:latin typeface="Cambria"/>
                <a:cs typeface="Cambria"/>
              </a:rPr>
              <a:t>prompt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847213"/>
            <a:ext cx="4771390" cy="26777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dirty="0">
                <a:latin typeface="Courier New"/>
                <a:cs typeface="Courier New"/>
              </a:rPr>
              <a:t>#!</a:t>
            </a:r>
            <a:r>
              <a:rPr sz="2400" b="1" spc="-10" dirty="0">
                <a:latin typeface="Courier New"/>
                <a:cs typeface="Courier New"/>
              </a:rPr>
              <a:t> /bin/bash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20800"/>
              </a:lnSpc>
            </a:pPr>
            <a:r>
              <a:rPr sz="2400" b="1" dirty="0">
                <a:latin typeface="Courier New"/>
                <a:cs typeface="Courier New"/>
              </a:rPr>
              <a:t>PS3="select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entry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or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^D: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" </a:t>
            </a:r>
            <a:r>
              <a:rPr sz="2400" b="1" dirty="0">
                <a:latin typeface="Courier New"/>
                <a:cs typeface="Courier New"/>
              </a:rPr>
              <a:t>select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var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alpha</a:t>
            </a:r>
            <a:r>
              <a:rPr sz="2400" b="1" spc="-20" dirty="0">
                <a:latin typeface="Courier New"/>
                <a:cs typeface="Courier New"/>
              </a:rPr>
              <a:t> beta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"$REPLY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$var"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91200" y="1752600"/>
            <a:ext cx="2257425" cy="3016250"/>
          </a:xfrm>
          <a:custGeom>
            <a:avLst/>
            <a:gdLst/>
            <a:ahLst/>
            <a:cxnLst/>
            <a:rect l="l" t="t" r="r" b="b"/>
            <a:pathLst>
              <a:path w="2257425" h="3016250">
                <a:moveTo>
                  <a:pt x="0" y="3015996"/>
                </a:moveTo>
                <a:lnTo>
                  <a:pt x="2257044" y="3015996"/>
                </a:lnTo>
                <a:lnTo>
                  <a:pt x="2257044" y="0"/>
                </a:lnTo>
                <a:lnTo>
                  <a:pt x="0" y="0"/>
                </a:lnTo>
                <a:lnTo>
                  <a:pt x="0" y="301599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70828" y="1749678"/>
            <a:ext cx="1306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Output</a:t>
            </a:r>
            <a:r>
              <a:rPr sz="2400" b="1" spc="-10" dirty="0">
                <a:latin typeface="Courier New"/>
                <a:cs typeface="Courier New"/>
              </a:rPr>
              <a:t>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56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0540" y="2071242"/>
            <a:ext cx="7237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0515" indent="-27241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10515" algn="l"/>
              </a:tabLst>
            </a:pPr>
            <a:r>
              <a:rPr sz="2400" spc="215" dirty="0">
                <a:latin typeface="Cambria"/>
                <a:cs typeface="Cambria"/>
              </a:rPr>
              <a:t>$REPLY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input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(the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number)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3600" b="1" baseline="-8101" dirty="0">
                <a:latin typeface="Courier New"/>
                <a:cs typeface="Courier New"/>
              </a:rPr>
              <a:t>select</a:t>
            </a:r>
            <a:r>
              <a:rPr sz="3600" b="1" spc="60" baseline="-8101" dirty="0">
                <a:latin typeface="Courier New"/>
                <a:cs typeface="Courier New"/>
              </a:rPr>
              <a:t> </a:t>
            </a:r>
            <a:r>
              <a:rPr sz="3600" b="1" spc="-37" baseline="-8101" dirty="0">
                <a:latin typeface="Courier New"/>
                <a:cs typeface="Courier New"/>
              </a:rPr>
              <a:t>...</a:t>
            </a:r>
            <a:endParaRPr sz="3600" baseline="-8101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0828" y="2480894"/>
            <a:ext cx="166878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560705" algn="l"/>
              </a:tabLst>
            </a:pPr>
            <a:r>
              <a:rPr sz="2400" b="1" spc="-10" dirty="0">
                <a:latin typeface="Courier New"/>
                <a:cs typeface="Courier New"/>
              </a:rPr>
              <a:t>alpha</a:t>
            </a:r>
            <a:endParaRPr sz="2400">
              <a:latin typeface="Courier New"/>
              <a:cs typeface="Courier New"/>
            </a:endParaRPr>
          </a:p>
          <a:p>
            <a:pPr marL="559435" indent="-546735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559435" algn="l"/>
              </a:tabLst>
            </a:pPr>
            <a:r>
              <a:rPr sz="2400" b="1" spc="-20" dirty="0">
                <a:latin typeface="Courier New"/>
                <a:cs typeface="Courier New"/>
              </a:rPr>
              <a:t>beta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?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2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2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beta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?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1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alpha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20" dirty="0">
                <a:latin typeface="Cambria"/>
                <a:cs typeface="Cambria"/>
              </a:rPr>
              <a:t>Select</a:t>
            </a:r>
            <a:r>
              <a:rPr sz="3000" b="0" cap="small" spc="345" dirty="0">
                <a:latin typeface="Cambria"/>
                <a:cs typeface="Cambria"/>
              </a:rPr>
              <a:t> </a:t>
            </a:r>
            <a:r>
              <a:rPr sz="3000" b="0" cap="small" spc="235" dirty="0">
                <a:latin typeface="Cambria"/>
                <a:cs typeface="Cambria"/>
              </a:rPr>
              <a:t>example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57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078"/>
            <a:ext cx="6971665" cy="444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 marL="12700" marR="561975">
              <a:lnSpc>
                <a:spcPct val="120800"/>
              </a:lnSpc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"script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make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files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private" </a:t>
            </a: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"Select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file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protect:"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2400">
              <a:latin typeface="Courier New"/>
              <a:cs typeface="Courier New"/>
            </a:endParaRPr>
          </a:p>
          <a:p>
            <a:pPr marL="12700" marR="3299460">
              <a:lnSpc>
                <a:spcPct val="120800"/>
              </a:lnSpc>
            </a:pPr>
            <a:r>
              <a:rPr sz="2400" b="1" dirty="0">
                <a:latin typeface="Courier New"/>
                <a:cs typeface="Courier New"/>
              </a:rPr>
              <a:t>select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FILENAME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* </a:t>
            </a: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377825" marR="5080">
              <a:lnSpc>
                <a:spcPct val="1208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"You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picked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$FILENAME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($REPLY)" </a:t>
            </a:r>
            <a:r>
              <a:rPr sz="2400" b="1" dirty="0">
                <a:latin typeface="Courier New"/>
                <a:cs typeface="Courier New"/>
              </a:rPr>
              <a:t>chmod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go-</a:t>
            </a:r>
            <a:r>
              <a:rPr sz="2400" b="1" dirty="0">
                <a:latin typeface="Courier New"/>
                <a:cs typeface="Courier New"/>
              </a:rPr>
              <a:t>rwx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"$FILENAME"</a:t>
            </a:r>
            <a:endParaRPr sz="2400">
              <a:latin typeface="Courier New"/>
              <a:cs typeface="Courier New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"it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now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private"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3027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0"/>
              </a:spcBef>
            </a:pPr>
            <a:r>
              <a:rPr b="0" spc="270" dirty="0">
                <a:latin typeface="Cambria"/>
                <a:cs typeface="Cambria"/>
              </a:rPr>
              <a:t>BREAK</a:t>
            </a:r>
            <a:r>
              <a:rPr b="0" spc="180" dirty="0">
                <a:latin typeface="Cambria"/>
                <a:cs typeface="Cambria"/>
              </a:rPr>
              <a:t> </a:t>
            </a:r>
            <a:r>
              <a:rPr b="0" spc="265" dirty="0">
                <a:latin typeface="Cambria"/>
                <a:cs typeface="Cambria"/>
              </a:rPr>
              <a:t>AND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b="0" spc="285" dirty="0">
                <a:latin typeface="Cambria"/>
                <a:cs typeface="Cambria"/>
              </a:rPr>
              <a:t>CONTINUE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58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3083"/>
            <a:ext cx="6825615" cy="39128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95" dirty="0">
                <a:latin typeface="Cambria"/>
                <a:cs typeface="Cambria"/>
              </a:rPr>
              <a:t>Interrupt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for,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while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until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loop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0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break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statement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80" dirty="0">
                <a:latin typeface="Cambria"/>
                <a:cs typeface="Cambria"/>
              </a:rPr>
              <a:t>transfer</a:t>
            </a:r>
            <a:r>
              <a:rPr sz="2100" spc="17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control</a:t>
            </a:r>
            <a:r>
              <a:rPr sz="2100" spc="16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to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6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statement</a:t>
            </a:r>
            <a:r>
              <a:rPr sz="2100" spc="15" dirty="0">
                <a:latin typeface="Cambria"/>
                <a:cs typeface="Cambria"/>
              </a:rPr>
              <a:t> </a:t>
            </a:r>
            <a:r>
              <a:rPr sz="2100" spc="215" dirty="0">
                <a:latin typeface="Cambria"/>
                <a:cs typeface="Cambria"/>
              </a:rPr>
              <a:t>AFTER</a:t>
            </a:r>
            <a:r>
              <a:rPr sz="2100" spc="16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70" dirty="0">
                <a:latin typeface="Cambria"/>
                <a:cs typeface="Cambria"/>
              </a:rPr>
              <a:t> </a:t>
            </a:r>
            <a:r>
              <a:rPr sz="2100" spc="-20" dirty="0">
                <a:latin typeface="Cambria"/>
                <a:cs typeface="Cambria"/>
              </a:rPr>
              <a:t>done </a:t>
            </a:r>
            <a:r>
              <a:rPr sz="2100" spc="75" dirty="0">
                <a:latin typeface="Cambria"/>
                <a:cs typeface="Cambria"/>
              </a:rPr>
              <a:t>statement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80" dirty="0">
                <a:latin typeface="Cambria"/>
                <a:cs typeface="Cambria"/>
              </a:rPr>
              <a:t>terminate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execution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-20" dirty="0">
                <a:latin typeface="Cambria"/>
                <a:cs typeface="Cambria"/>
              </a:rPr>
              <a:t>loop</a:t>
            </a:r>
            <a:endParaRPr sz="21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0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continue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statement</a:t>
            </a:r>
            <a:endParaRPr sz="2400">
              <a:latin typeface="Cambria"/>
              <a:cs typeface="Cambria"/>
            </a:endParaRPr>
          </a:p>
          <a:p>
            <a:pPr marL="652780" marR="53657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80" dirty="0">
                <a:latin typeface="Cambria"/>
                <a:cs typeface="Cambria"/>
              </a:rPr>
              <a:t>transfer</a:t>
            </a:r>
            <a:r>
              <a:rPr sz="2100" spc="17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control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to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statement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195" dirty="0">
                <a:latin typeface="Cambria"/>
                <a:cs typeface="Cambria"/>
              </a:rPr>
              <a:t>TO</a:t>
            </a:r>
            <a:r>
              <a:rPr sz="2100" spc="16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60" dirty="0">
                <a:latin typeface="Cambria"/>
                <a:cs typeface="Cambria"/>
              </a:rPr>
              <a:t> </a:t>
            </a:r>
            <a:r>
              <a:rPr sz="2100" spc="-20" dirty="0">
                <a:latin typeface="Cambria"/>
                <a:cs typeface="Cambria"/>
              </a:rPr>
              <a:t>done </a:t>
            </a:r>
            <a:r>
              <a:rPr sz="2100" spc="75" dirty="0">
                <a:latin typeface="Cambria"/>
                <a:cs typeface="Cambria"/>
              </a:rPr>
              <a:t>statement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70" dirty="0">
                <a:latin typeface="Cambria"/>
                <a:cs typeface="Cambria"/>
              </a:rPr>
              <a:t>skip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test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statements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for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4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current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iteration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60" dirty="0">
                <a:latin typeface="Cambria"/>
                <a:cs typeface="Cambria"/>
              </a:rPr>
              <a:t>continues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execution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20" dirty="0">
                <a:latin typeface="Cambria"/>
                <a:cs typeface="Cambria"/>
              </a:rPr>
              <a:t>loop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15" dirty="0">
                <a:latin typeface="Cambria"/>
                <a:cs typeface="Cambria"/>
              </a:rPr>
              <a:t> </a:t>
            </a:r>
            <a:r>
              <a:rPr sz="3000" b="0" cap="small" spc="270" dirty="0">
                <a:latin typeface="Cambria"/>
                <a:cs typeface="Cambria"/>
              </a:rPr>
              <a:t>break</a:t>
            </a:r>
            <a:r>
              <a:rPr sz="3000" b="0" cap="small" spc="350" dirty="0">
                <a:latin typeface="Cambria"/>
                <a:cs typeface="Cambria"/>
              </a:rPr>
              <a:t> </a:t>
            </a:r>
            <a:r>
              <a:rPr sz="3000" b="0" cap="small" spc="250" dirty="0">
                <a:latin typeface="Cambria"/>
                <a:cs typeface="Cambria"/>
              </a:rPr>
              <a:t>command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1078"/>
            <a:ext cx="3494404" cy="135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while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condition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] </a:t>
            </a: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600"/>
              </a:spcBef>
            </a:pPr>
            <a:r>
              <a:rPr sz="2400" b="1" spc="-10" dirty="0">
                <a:latin typeface="Courier New"/>
                <a:cs typeface="Courier New"/>
              </a:rPr>
              <a:t>cmd-</a:t>
            </a:r>
            <a:r>
              <a:rPr sz="2400" b="1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7713" y="2847213"/>
            <a:ext cx="93726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break cmd-</a:t>
            </a:r>
            <a:r>
              <a:rPr sz="2400" b="1" spc="-50" dirty="0">
                <a:latin typeface="Courier New"/>
                <a:cs typeface="Courier New"/>
              </a:rPr>
              <a:t>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730431"/>
            <a:ext cx="2034539" cy="9105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"done"</a:t>
            </a:r>
            <a:endParaRPr sz="24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48761" y="3112261"/>
            <a:ext cx="1079500" cy="1386205"/>
            <a:chOff x="3048761" y="3112261"/>
            <a:chExt cx="1079500" cy="1386205"/>
          </a:xfrm>
        </p:grpSpPr>
        <p:sp>
          <p:nvSpPr>
            <p:cNvPr id="7" name="object 7"/>
            <p:cNvSpPr/>
            <p:nvPr/>
          </p:nvSpPr>
          <p:spPr>
            <a:xfrm>
              <a:off x="3124961" y="3124961"/>
              <a:ext cx="990600" cy="1295400"/>
            </a:xfrm>
            <a:custGeom>
              <a:avLst/>
              <a:gdLst/>
              <a:ahLst/>
              <a:cxnLst/>
              <a:rect l="l" t="t" r="r" b="b"/>
              <a:pathLst>
                <a:path w="990600" h="1295400">
                  <a:moveTo>
                    <a:pt x="0" y="0"/>
                  </a:moveTo>
                  <a:lnTo>
                    <a:pt x="990600" y="0"/>
                  </a:lnTo>
                </a:path>
                <a:path w="990600" h="1295400">
                  <a:moveTo>
                    <a:pt x="990600" y="0"/>
                  </a:moveTo>
                  <a:lnTo>
                    <a:pt x="990600" y="12954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48761" y="4342383"/>
              <a:ext cx="1066800" cy="156210"/>
            </a:xfrm>
            <a:custGeom>
              <a:avLst/>
              <a:gdLst/>
              <a:ahLst/>
              <a:cxnLst/>
              <a:rect l="l" t="t" r="r" b="b"/>
              <a:pathLst>
                <a:path w="1066800" h="156210">
                  <a:moveTo>
                    <a:pt x="140462" y="0"/>
                  </a:moveTo>
                  <a:lnTo>
                    <a:pt x="0" y="77978"/>
                  </a:lnTo>
                  <a:lnTo>
                    <a:pt x="140462" y="155956"/>
                  </a:lnTo>
                  <a:lnTo>
                    <a:pt x="148208" y="153797"/>
                  </a:lnTo>
                  <a:lnTo>
                    <a:pt x="151511" y="147701"/>
                  </a:lnTo>
                  <a:lnTo>
                    <a:pt x="154939" y="141478"/>
                  </a:lnTo>
                  <a:lnTo>
                    <a:pt x="152781" y="133731"/>
                  </a:lnTo>
                  <a:lnTo>
                    <a:pt x="146685" y="130429"/>
                  </a:lnTo>
                  <a:lnTo>
                    <a:pt x="75133" y="90678"/>
                  </a:lnTo>
                  <a:lnTo>
                    <a:pt x="26162" y="90678"/>
                  </a:lnTo>
                  <a:lnTo>
                    <a:pt x="26162" y="65278"/>
                  </a:lnTo>
                  <a:lnTo>
                    <a:pt x="75133" y="65278"/>
                  </a:lnTo>
                  <a:lnTo>
                    <a:pt x="146685" y="25527"/>
                  </a:lnTo>
                  <a:lnTo>
                    <a:pt x="152781" y="22225"/>
                  </a:lnTo>
                  <a:lnTo>
                    <a:pt x="154939" y="14478"/>
                  </a:lnTo>
                  <a:lnTo>
                    <a:pt x="151511" y="8255"/>
                  </a:lnTo>
                  <a:lnTo>
                    <a:pt x="148208" y="2159"/>
                  </a:lnTo>
                  <a:lnTo>
                    <a:pt x="140462" y="0"/>
                  </a:lnTo>
                  <a:close/>
                </a:path>
                <a:path w="1066800" h="156210">
                  <a:moveTo>
                    <a:pt x="75133" y="65278"/>
                  </a:moveTo>
                  <a:lnTo>
                    <a:pt x="26162" y="65278"/>
                  </a:lnTo>
                  <a:lnTo>
                    <a:pt x="26162" y="90678"/>
                  </a:lnTo>
                  <a:lnTo>
                    <a:pt x="75133" y="90678"/>
                  </a:lnTo>
                  <a:lnTo>
                    <a:pt x="72161" y="89027"/>
                  </a:lnTo>
                  <a:lnTo>
                    <a:pt x="32385" y="89027"/>
                  </a:lnTo>
                  <a:lnTo>
                    <a:pt x="32385" y="66929"/>
                  </a:lnTo>
                  <a:lnTo>
                    <a:pt x="72161" y="66929"/>
                  </a:lnTo>
                  <a:lnTo>
                    <a:pt x="75133" y="65278"/>
                  </a:lnTo>
                  <a:close/>
                </a:path>
                <a:path w="1066800" h="156210">
                  <a:moveTo>
                    <a:pt x="1066800" y="65278"/>
                  </a:moveTo>
                  <a:lnTo>
                    <a:pt x="75133" y="65278"/>
                  </a:lnTo>
                  <a:lnTo>
                    <a:pt x="52273" y="77978"/>
                  </a:lnTo>
                  <a:lnTo>
                    <a:pt x="75133" y="90678"/>
                  </a:lnTo>
                  <a:lnTo>
                    <a:pt x="1066800" y="90678"/>
                  </a:lnTo>
                  <a:lnTo>
                    <a:pt x="1066800" y="65278"/>
                  </a:lnTo>
                  <a:close/>
                </a:path>
                <a:path w="1066800" h="156210">
                  <a:moveTo>
                    <a:pt x="32385" y="66929"/>
                  </a:moveTo>
                  <a:lnTo>
                    <a:pt x="32385" y="89027"/>
                  </a:lnTo>
                  <a:lnTo>
                    <a:pt x="52273" y="77978"/>
                  </a:lnTo>
                  <a:lnTo>
                    <a:pt x="32385" y="66929"/>
                  </a:lnTo>
                  <a:close/>
                </a:path>
                <a:path w="1066800" h="156210">
                  <a:moveTo>
                    <a:pt x="52273" y="77978"/>
                  </a:moveTo>
                  <a:lnTo>
                    <a:pt x="32385" y="89027"/>
                  </a:lnTo>
                  <a:lnTo>
                    <a:pt x="72161" y="89027"/>
                  </a:lnTo>
                  <a:lnTo>
                    <a:pt x="52273" y="77978"/>
                  </a:lnTo>
                  <a:close/>
                </a:path>
                <a:path w="1066800" h="156210">
                  <a:moveTo>
                    <a:pt x="72161" y="66929"/>
                  </a:moveTo>
                  <a:lnTo>
                    <a:pt x="32385" y="66929"/>
                  </a:lnTo>
                  <a:lnTo>
                    <a:pt x="52273" y="77978"/>
                  </a:lnTo>
                  <a:lnTo>
                    <a:pt x="72161" y="669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194047" y="2819400"/>
            <a:ext cx="3655060" cy="1295400"/>
          </a:xfrm>
          <a:custGeom>
            <a:avLst/>
            <a:gdLst/>
            <a:ahLst/>
            <a:cxnLst/>
            <a:rect l="l" t="t" r="r" b="b"/>
            <a:pathLst>
              <a:path w="3655059" h="1295400">
                <a:moveTo>
                  <a:pt x="606551" y="215900"/>
                </a:moveTo>
                <a:lnTo>
                  <a:pt x="612253" y="166391"/>
                </a:lnTo>
                <a:lnTo>
                  <a:pt x="628493" y="120946"/>
                </a:lnTo>
                <a:lnTo>
                  <a:pt x="653978" y="80859"/>
                </a:lnTo>
                <a:lnTo>
                  <a:pt x="687411" y="47426"/>
                </a:lnTo>
                <a:lnTo>
                  <a:pt x="727498" y="21941"/>
                </a:lnTo>
                <a:lnTo>
                  <a:pt x="772943" y="5701"/>
                </a:lnTo>
                <a:lnTo>
                  <a:pt x="822451" y="0"/>
                </a:lnTo>
                <a:lnTo>
                  <a:pt x="1114552" y="0"/>
                </a:lnTo>
                <a:lnTo>
                  <a:pt x="1876552" y="0"/>
                </a:lnTo>
                <a:lnTo>
                  <a:pt x="3438652" y="0"/>
                </a:lnTo>
                <a:lnTo>
                  <a:pt x="3488160" y="5701"/>
                </a:lnTo>
                <a:lnTo>
                  <a:pt x="3533605" y="21941"/>
                </a:lnTo>
                <a:lnTo>
                  <a:pt x="3573692" y="47426"/>
                </a:lnTo>
                <a:lnTo>
                  <a:pt x="3607125" y="80859"/>
                </a:lnTo>
                <a:lnTo>
                  <a:pt x="3632610" y="120946"/>
                </a:lnTo>
                <a:lnTo>
                  <a:pt x="3648850" y="166391"/>
                </a:lnTo>
                <a:lnTo>
                  <a:pt x="3654552" y="215900"/>
                </a:lnTo>
                <a:lnTo>
                  <a:pt x="3654552" y="755650"/>
                </a:lnTo>
                <a:lnTo>
                  <a:pt x="3654552" y="1079500"/>
                </a:lnTo>
                <a:lnTo>
                  <a:pt x="3648850" y="1129008"/>
                </a:lnTo>
                <a:lnTo>
                  <a:pt x="3632610" y="1174453"/>
                </a:lnTo>
                <a:lnTo>
                  <a:pt x="3607125" y="1214540"/>
                </a:lnTo>
                <a:lnTo>
                  <a:pt x="3573692" y="1247973"/>
                </a:lnTo>
                <a:lnTo>
                  <a:pt x="3533605" y="1273458"/>
                </a:lnTo>
                <a:lnTo>
                  <a:pt x="3488160" y="1289698"/>
                </a:lnTo>
                <a:lnTo>
                  <a:pt x="3438652" y="1295400"/>
                </a:lnTo>
                <a:lnTo>
                  <a:pt x="1876552" y="1295400"/>
                </a:lnTo>
                <a:lnTo>
                  <a:pt x="1114552" y="1295400"/>
                </a:lnTo>
                <a:lnTo>
                  <a:pt x="822451" y="1295400"/>
                </a:lnTo>
                <a:lnTo>
                  <a:pt x="772943" y="1289698"/>
                </a:lnTo>
                <a:lnTo>
                  <a:pt x="727498" y="1273458"/>
                </a:lnTo>
                <a:lnTo>
                  <a:pt x="687411" y="1247973"/>
                </a:lnTo>
                <a:lnTo>
                  <a:pt x="653978" y="1214540"/>
                </a:lnTo>
                <a:lnTo>
                  <a:pt x="628493" y="1174453"/>
                </a:lnTo>
                <a:lnTo>
                  <a:pt x="612253" y="1129008"/>
                </a:lnTo>
                <a:lnTo>
                  <a:pt x="606551" y="1079500"/>
                </a:lnTo>
                <a:lnTo>
                  <a:pt x="0" y="1052449"/>
                </a:lnTo>
                <a:lnTo>
                  <a:pt x="606551" y="755650"/>
                </a:lnTo>
                <a:lnTo>
                  <a:pt x="606551" y="21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86020" y="2905759"/>
            <a:ext cx="26822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iteration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over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more </a:t>
            </a:r>
            <a:r>
              <a:rPr sz="2400" spc="-10" dirty="0">
                <a:latin typeface="Times New Roman"/>
                <a:cs typeface="Times New Roman"/>
              </a:rPr>
              <a:t>iterations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300" dirty="0">
                <a:latin typeface="Cambria"/>
                <a:cs typeface="Cambria"/>
              </a:rPr>
              <a:t>The</a:t>
            </a:r>
            <a:r>
              <a:rPr sz="3000" b="0" cap="small" spc="320" dirty="0">
                <a:latin typeface="Cambria"/>
                <a:cs typeface="Cambria"/>
              </a:rPr>
              <a:t> </a:t>
            </a:r>
            <a:r>
              <a:rPr sz="3000" b="0" cap="small" spc="290" dirty="0">
                <a:latin typeface="Cambria"/>
                <a:cs typeface="Cambria"/>
              </a:rPr>
              <a:t>continue</a:t>
            </a:r>
            <a:r>
              <a:rPr sz="3000" b="0" cap="small" spc="330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command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1078"/>
            <a:ext cx="3494404" cy="135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while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[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condition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] </a:t>
            </a:r>
            <a:r>
              <a:rPr sz="2400" b="1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744220">
              <a:lnSpc>
                <a:spcPct val="100000"/>
              </a:lnSpc>
              <a:spcBef>
                <a:spcPts val="600"/>
              </a:spcBef>
            </a:pPr>
            <a:r>
              <a:rPr sz="2400" b="1" spc="-10" dirty="0">
                <a:latin typeface="Courier New"/>
                <a:cs typeface="Courier New"/>
              </a:rPr>
              <a:t>cmd-</a:t>
            </a:r>
            <a:r>
              <a:rPr sz="2400" b="1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7713" y="2847213"/>
            <a:ext cx="148590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continue cmd-</a:t>
            </a:r>
            <a:r>
              <a:rPr sz="2400" b="1" spc="-50" dirty="0">
                <a:latin typeface="Courier New"/>
                <a:cs typeface="Courier New"/>
              </a:rPr>
              <a:t>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730431"/>
            <a:ext cx="2034539" cy="9105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b="1" spc="-20" dirty="0">
                <a:latin typeface="Courier New"/>
                <a:cs typeface="Courier New"/>
              </a:rPr>
              <a:t>done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"done"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44288" y="2514600"/>
            <a:ext cx="3157220" cy="1295400"/>
          </a:xfrm>
          <a:custGeom>
            <a:avLst/>
            <a:gdLst/>
            <a:ahLst/>
            <a:cxnLst/>
            <a:rect l="l" t="t" r="r" b="b"/>
            <a:pathLst>
              <a:path w="3157220" h="1295400">
                <a:moveTo>
                  <a:pt x="489712" y="215900"/>
                </a:moveTo>
                <a:lnTo>
                  <a:pt x="495413" y="166391"/>
                </a:lnTo>
                <a:lnTo>
                  <a:pt x="511653" y="120946"/>
                </a:lnTo>
                <a:lnTo>
                  <a:pt x="537138" y="80859"/>
                </a:lnTo>
                <a:lnTo>
                  <a:pt x="570571" y="47426"/>
                </a:lnTo>
                <a:lnTo>
                  <a:pt x="610658" y="21941"/>
                </a:lnTo>
                <a:lnTo>
                  <a:pt x="656103" y="5701"/>
                </a:lnTo>
                <a:lnTo>
                  <a:pt x="705612" y="0"/>
                </a:lnTo>
                <a:lnTo>
                  <a:pt x="934212" y="0"/>
                </a:lnTo>
                <a:lnTo>
                  <a:pt x="1600962" y="0"/>
                </a:lnTo>
                <a:lnTo>
                  <a:pt x="2940812" y="0"/>
                </a:lnTo>
                <a:lnTo>
                  <a:pt x="2990320" y="5701"/>
                </a:lnTo>
                <a:lnTo>
                  <a:pt x="3035765" y="21941"/>
                </a:lnTo>
                <a:lnTo>
                  <a:pt x="3075852" y="47426"/>
                </a:lnTo>
                <a:lnTo>
                  <a:pt x="3109285" y="80859"/>
                </a:lnTo>
                <a:lnTo>
                  <a:pt x="3134770" y="120946"/>
                </a:lnTo>
                <a:lnTo>
                  <a:pt x="3151010" y="166391"/>
                </a:lnTo>
                <a:lnTo>
                  <a:pt x="3156712" y="215900"/>
                </a:lnTo>
                <a:lnTo>
                  <a:pt x="3156712" y="539750"/>
                </a:lnTo>
                <a:lnTo>
                  <a:pt x="3156712" y="1079500"/>
                </a:lnTo>
                <a:lnTo>
                  <a:pt x="3151010" y="1129008"/>
                </a:lnTo>
                <a:lnTo>
                  <a:pt x="3134770" y="1174453"/>
                </a:lnTo>
                <a:lnTo>
                  <a:pt x="3109285" y="1214540"/>
                </a:lnTo>
                <a:lnTo>
                  <a:pt x="3075852" y="1247973"/>
                </a:lnTo>
                <a:lnTo>
                  <a:pt x="3035765" y="1273458"/>
                </a:lnTo>
                <a:lnTo>
                  <a:pt x="2990320" y="1289698"/>
                </a:lnTo>
                <a:lnTo>
                  <a:pt x="2940812" y="1295400"/>
                </a:lnTo>
                <a:lnTo>
                  <a:pt x="1600962" y="1295400"/>
                </a:lnTo>
                <a:lnTo>
                  <a:pt x="934212" y="1295400"/>
                </a:lnTo>
                <a:lnTo>
                  <a:pt x="705612" y="1295400"/>
                </a:lnTo>
                <a:lnTo>
                  <a:pt x="656103" y="1289698"/>
                </a:lnTo>
                <a:lnTo>
                  <a:pt x="610658" y="1273458"/>
                </a:lnTo>
                <a:lnTo>
                  <a:pt x="570571" y="1247973"/>
                </a:lnTo>
                <a:lnTo>
                  <a:pt x="537138" y="1214540"/>
                </a:lnTo>
                <a:lnTo>
                  <a:pt x="511653" y="1174453"/>
                </a:lnTo>
                <a:lnTo>
                  <a:pt x="495413" y="1129008"/>
                </a:lnTo>
                <a:lnTo>
                  <a:pt x="489712" y="1079500"/>
                </a:lnTo>
                <a:lnTo>
                  <a:pt x="489712" y="539750"/>
                </a:lnTo>
                <a:lnTo>
                  <a:pt x="0" y="0"/>
                </a:lnTo>
                <a:lnTo>
                  <a:pt x="489712" y="21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27878" y="2600959"/>
            <a:ext cx="20796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iteration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over;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next </a:t>
            </a:r>
            <a:r>
              <a:rPr sz="2400" spc="-10" dirty="0">
                <a:latin typeface="Times New Roman"/>
                <a:cs typeface="Times New Roman"/>
              </a:rPr>
              <a:t>iteration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10761" y="1903983"/>
            <a:ext cx="1003300" cy="1233805"/>
            <a:chOff x="3810761" y="1903983"/>
            <a:chExt cx="1003300" cy="1233805"/>
          </a:xfrm>
        </p:grpSpPr>
        <p:sp>
          <p:nvSpPr>
            <p:cNvPr id="9" name="object 9"/>
            <p:cNvSpPr/>
            <p:nvPr/>
          </p:nvSpPr>
          <p:spPr>
            <a:xfrm>
              <a:off x="3810761" y="1981961"/>
              <a:ext cx="990600" cy="1143000"/>
            </a:xfrm>
            <a:custGeom>
              <a:avLst/>
              <a:gdLst/>
              <a:ahLst/>
              <a:cxnLst/>
              <a:rect l="l" t="t" r="r" b="b"/>
              <a:pathLst>
                <a:path w="990600" h="1143000">
                  <a:moveTo>
                    <a:pt x="0" y="1143000"/>
                  </a:moveTo>
                  <a:lnTo>
                    <a:pt x="990600" y="1143000"/>
                  </a:lnTo>
                </a:path>
                <a:path w="990600" h="1143000">
                  <a:moveTo>
                    <a:pt x="990600" y="1143000"/>
                  </a:moveTo>
                  <a:lnTo>
                    <a:pt x="99060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7961" y="1903983"/>
              <a:ext cx="533400" cy="156210"/>
            </a:xfrm>
            <a:custGeom>
              <a:avLst/>
              <a:gdLst/>
              <a:ahLst/>
              <a:cxnLst/>
              <a:rect l="l" t="t" r="r" b="b"/>
              <a:pathLst>
                <a:path w="533400" h="156210">
                  <a:moveTo>
                    <a:pt x="140462" y="0"/>
                  </a:moveTo>
                  <a:lnTo>
                    <a:pt x="0" y="77977"/>
                  </a:lnTo>
                  <a:lnTo>
                    <a:pt x="140462" y="155955"/>
                  </a:lnTo>
                  <a:lnTo>
                    <a:pt x="148209" y="153796"/>
                  </a:lnTo>
                  <a:lnTo>
                    <a:pt x="151511" y="147700"/>
                  </a:lnTo>
                  <a:lnTo>
                    <a:pt x="154939" y="141477"/>
                  </a:lnTo>
                  <a:lnTo>
                    <a:pt x="152780" y="133730"/>
                  </a:lnTo>
                  <a:lnTo>
                    <a:pt x="146685" y="130428"/>
                  </a:lnTo>
                  <a:lnTo>
                    <a:pt x="75133" y="90677"/>
                  </a:lnTo>
                  <a:lnTo>
                    <a:pt x="26162" y="90677"/>
                  </a:lnTo>
                  <a:lnTo>
                    <a:pt x="26162" y="65277"/>
                  </a:lnTo>
                  <a:lnTo>
                    <a:pt x="75133" y="65277"/>
                  </a:lnTo>
                  <a:lnTo>
                    <a:pt x="146685" y="25526"/>
                  </a:lnTo>
                  <a:lnTo>
                    <a:pt x="152780" y="22225"/>
                  </a:lnTo>
                  <a:lnTo>
                    <a:pt x="154939" y="14477"/>
                  </a:lnTo>
                  <a:lnTo>
                    <a:pt x="151511" y="8254"/>
                  </a:lnTo>
                  <a:lnTo>
                    <a:pt x="148209" y="2158"/>
                  </a:lnTo>
                  <a:lnTo>
                    <a:pt x="140462" y="0"/>
                  </a:lnTo>
                  <a:close/>
                </a:path>
                <a:path w="533400" h="156210">
                  <a:moveTo>
                    <a:pt x="75133" y="65277"/>
                  </a:moveTo>
                  <a:lnTo>
                    <a:pt x="26162" y="65277"/>
                  </a:lnTo>
                  <a:lnTo>
                    <a:pt x="26162" y="90677"/>
                  </a:lnTo>
                  <a:lnTo>
                    <a:pt x="75133" y="90677"/>
                  </a:lnTo>
                  <a:lnTo>
                    <a:pt x="72161" y="89026"/>
                  </a:lnTo>
                  <a:lnTo>
                    <a:pt x="32385" y="89026"/>
                  </a:lnTo>
                  <a:lnTo>
                    <a:pt x="32385" y="66928"/>
                  </a:lnTo>
                  <a:lnTo>
                    <a:pt x="72161" y="66928"/>
                  </a:lnTo>
                  <a:lnTo>
                    <a:pt x="75133" y="65277"/>
                  </a:lnTo>
                  <a:close/>
                </a:path>
                <a:path w="533400" h="156210">
                  <a:moveTo>
                    <a:pt x="533400" y="65277"/>
                  </a:moveTo>
                  <a:lnTo>
                    <a:pt x="75133" y="65277"/>
                  </a:lnTo>
                  <a:lnTo>
                    <a:pt x="52273" y="77977"/>
                  </a:lnTo>
                  <a:lnTo>
                    <a:pt x="75133" y="90677"/>
                  </a:lnTo>
                  <a:lnTo>
                    <a:pt x="533400" y="90677"/>
                  </a:lnTo>
                  <a:lnTo>
                    <a:pt x="533400" y="65277"/>
                  </a:lnTo>
                  <a:close/>
                </a:path>
                <a:path w="533400" h="156210">
                  <a:moveTo>
                    <a:pt x="32385" y="66928"/>
                  </a:moveTo>
                  <a:lnTo>
                    <a:pt x="32385" y="89026"/>
                  </a:lnTo>
                  <a:lnTo>
                    <a:pt x="52273" y="77977"/>
                  </a:lnTo>
                  <a:lnTo>
                    <a:pt x="32385" y="66928"/>
                  </a:lnTo>
                  <a:close/>
                </a:path>
                <a:path w="533400" h="156210">
                  <a:moveTo>
                    <a:pt x="52273" y="77977"/>
                  </a:moveTo>
                  <a:lnTo>
                    <a:pt x="32385" y="89026"/>
                  </a:lnTo>
                  <a:lnTo>
                    <a:pt x="72161" y="89026"/>
                  </a:lnTo>
                  <a:lnTo>
                    <a:pt x="52273" y="77977"/>
                  </a:lnTo>
                  <a:close/>
                </a:path>
                <a:path w="533400" h="156210">
                  <a:moveTo>
                    <a:pt x="72161" y="66928"/>
                  </a:moveTo>
                  <a:lnTo>
                    <a:pt x="32385" y="66928"/>
                  </a:lnTo>
                  <a:lnTo>
                    <a:pt x="52273" y="77977"/>
                  </a:lnTo>
                  <a:lnTo>
                    <a:pt x="72161" y="66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29" dirty="0">
                <a:latin typeface="Cambria"/>
                <a:cs typeface="Cambria"/>
              </a:rPr>
              <a:t>Example: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6530">
              <a:lnSpc>
                <a:spcPct val="1127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15" dirty="0"/>
              <a:t> </a:t>
            </a:r>
            <a:r>
              <a:rPr dirty="0"/>
              <a:t>index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1</a:t>
            </a:r>
            <a:r>
              <a:rPr spc="-10" dirty="0"/>
              <a:t> </a:t>
            </a:r>
            <a:r>
              <a:rPr dirty="0"/>
              <a:t>2</a:t>
            </a:r>
            <a:r>
              <a:rPr spc="-10" dirty="0"/>
              <a:t> </a:t>
            </a:r>
            <a:r>
              <a:rPr dirty="0"/>
              <a:t>3</a:t>
            </a:r>
            <a:r>
              <a:rPr spc="-10" dirty="0"/>
              <a:t> </a:t>
            </a:r>
            <a:r>
              <a:rPr dirty="0"/>
              <a:t>4</a:t>
            </a:r>
            <a:r>
              <a:rPr spc="-10" dirty="0"/>
              <a:t> </a:t>
            </a:r>
            <a:r>
              <a:rPr dirty="0"/>
              <a:t>5</a:t>
            </a:r>
            <a:r>
              <a:rPr spc="-2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dirty="0"/>
              <a:t>7 8</a:t>
            </a:r>
            <a:r>
              <a:rPr spc="-25" dirty="0"/>
              <a:t> </a:t>
            </a:r>
            <a:r>
              <a:rPr dirty="0"/>
              <a:t>9</a:t>
            </a:r>
            <a:r>
              <a:rPr spc="-10" dirty="0"/>
              <a:t> </a:t>
            </a:r>
            <a:r>
              <a:rPr spc="-25" dirty="0"/>
              <a:t>10 do</a:t>
            </a:r>
          </a:p>
          <a:p>
            <a:pPr marL="1176020" algn="ctr">
              <a:lnSpc>
                <a:spcPct val="100000"/>
              </a:lnSpc>
              <a:spcBef>
                <a:spcPts val="335"/>
              </a:spcBef>
            </a:pPr>
            <a:r>
              <a:rPr dirty="0"/>
              <a:t>if</a:t>
            </a:r>
            <a:r>
              <a:rPr spc="-30" dirty="0"/>
              <a:t> </a:t>
            </a:r>
            <a:r>
              <a:rPr dirty="0"/>
              <a:t>[</a:t>
            </a:r>
            <a:r>
              <a:rPr spc="-15" dirty="0"/>
              <a:t> </a:t>
            </a:r>
            <a:r>
              <a:rPr dirty="0"/>
              <a:t>$index</a:t>
            </a:r>
            <a:r>
              <a:rPr spc="-15" dirty="0"/>
              <a:t> </a:t>
            </a:r>
            <a:r>
              <a:rPr dirty="0"/>
              <a:t>–le</a:t>
            </a:r>
            <a:r>
              <a:rPr spc="-15" dirty="0"/>
              <a:t> </a:t>
            </a:r>
            <a:r>
              <a:rPr dirty="0"/>
              <a:t>3</a:t>
            </a:r>
            <a:r>
              <a:rPr spc="-10" dirty="0"/>
              <a:t> </a:t>
            </a:r>
            <a:r>
              <a:rPr dirty="0"/>
              <a:t>];</a:t>
            </a:r>
            <a:r>
              <a:rPr spc="-30" dirty="0"/>
              <a:t> </a:t>
            </a:r>
            <a:r>
              <a:rPr spc="-20" dirty="0"/>
              <a:t>then</a:t>
            </a:r>
          </a:p>
          <a:p>
            <a:pPr marL="1176655" algn="ctr">
              <a:lnSpc>
                <a:spcPct val="100000"/>
              </a:lnSpc>
              <a:spcBef>
                <a:spcPts val="335"/>
              </a:spcBef>
            </a:pPr>
            <a:r>
              <a:rPr dirty="0"/>
              <a:t>echo</a:t>
            </a:r>
            <a:r>
              <a:rPr spc="-35" dirty="0"/>
              <a:t> </a:t>
            </a:r>
            <a:r>
              <a:rPr spc="-10" dirty="0"/>
              <a:t>"continue"</a:t>
            </a:r>
          </a:p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spc="-10" dirty="0"/>
              <a:t>continue</a:t>
            </a:r>
          </a:p>
          <a:p>
            <a:pPr marL="1358265">
              <a:lnSpc>
                <a:spcPct val="100000"/>
              </a:lnSpc>
              <a:spcBef>
                <a:spcPts val="335"/>
              </a:spcBef>
            </a:pPr>
            <a:r>
              <a:rPr spc="-25" dirty="0"/>
              <a:t>fi</a:t>
            </a:r>
          </a:p>
          <a:p>
            <a:pPr marL="1358265">
              <a:lnSpc>
                <a:spcPct val="100000"/>
              </a:lnSpc>
              <a:spcBef>
                <a:spcPts val="335"/>
              </a:spcBef>
            </a:pPr>
            <a:r>
              <a:rPr dirty="0"/>
              <a:t>echo</a:t>
            </a:r>
            <a:r>
              <a:rPr spc="-45" dirty="0"/>
              <a:t> </a:t>
            </a:r>
            <a:r>
              <a:rPr spc="-10" dirty="0"/>
              <a:t>$index</a:t>
            </a:r>
          </a:p>
          <a:p>
            <a:pPr marL="2199640" marR="5080" indent="-841375">
              <a:lnSpc>
                <a:spcPct val="112700"/>
              </a:lnSpc>
              <a:spcBef>
                <a:spcPts val="5"/>
              </a:spcBef>
              <a:tabLst>
                <a:tab pos="2031364" algn="l"/>
              </a:tabLst>
            </a:pPr>
            <a:r>
              <a:rPr spc="-25" dirty="0"/>
              <a:t>if</a:t>
            </a:r>
            <a:r>
              <a:rPr dirty="0"/>
              <a:t>	[</a:t>
            </a:r>
            <a:r>
              <a:rPr spc="-35" dirty="0"/>
              <a:t> </a:t>
            </a:r>
            <a:r>
              <a:rPr dirty="0"/>
              <a:t>$index</a:t>
            </a:r>
            <a:r>
              <a:rPr spc="-10" dirty="0"/>
              <a:t> </a:t>
            </a:r>
            <a:r>
              <a:rPr dirty="0"/>
              <a:t>–ge</a:t>
            </a:r>
            <a:r>
              <a:rPr spc="-20" dirty="0"/>
              <a:t> </a:t>
            </a:r>
            <a:r>
              <a:rPr dirty="0"/>
              <a:t>8</a:t>
            </a:r>
            <a:r>
              <a:rPr spc="-5" dirty="0"/>
              <a:t> </a:t>
            </a:r>
            <a:r>
              <a:rPr dirty="0"/>
              <a:t>];</a:t>
            </a:r>
            <a:r>
              <a:rPr spc="-20" dirty="0"/>
              <a:t> then </a:t>
            </a:r>
            <a:r>
              <a:rPr dirty="0"/>
              <a:t>echo</a:t>
            </a:r>
            <a:r>
              <a:rPr spc="-25" dirty="0"/>
              <a:t> </a:t>
            </a:r>
            <a:r>
              <a:rPr spc="-10" dirty="0"/>
              <a:t>"break"</a:t>
            </a:r>
          </a:p>
          <a:p>
            <a:pPr marL="2199640">
              <a:lnSpc>
                <a:spcPct val="100000"/>
              </a:lnSpc>
              <a:spcBef>
                <a:spcPts val="335"/>
              </a:spcBef>
            </a:pPr>
            <a:r>
              <a:rPr spc="-10" dirty="0"/>
              <a:t>break</a:t>
            </a:r>
          </a:p>
          <a:p>
            <a:pPr marL="1358265">
              <a:lnSpc>
                <a:spcPct val="100000"/>
              </a:lnSpc>
              <a:spcBef>
                <a:spcPts val="340"/>
              </a:spcBef>
            </a:pPr>
            <a:r>
              <a:rPr spc="-25" dirty="0"/>
              <a:t>fi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5734303"/>
            <a:ext cx="6972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latin typeface="Courier New"/>
                <a:cs typeface="Courier New"/>
              </a:rPr>
              <a:t>done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61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2437" y="1519237"/>
            <a:ext cx="6562725" cy="3362325"/>
            <a:chOff x="452437" y="1519237"/>
            <a:chExt cx="6562725" cy="3362325"/>
          </a:xfrm>
        </p:grpSpPr>
        <p:sp>
          <p:nvSpPr>
            <p:cNvPr id="3" name="object 3"/>
            <p:cNvSpPr/>
            <p:nvPr/>
          </p:nvSpPr>
          <p:spPr>
            <a:xfrm>
              <a:off x="457200" y="1524000"/>
              <a:ext cx="6553200" cy="3352800"/>
            </a:xfrm>
            <a:custGeom>
              <a:avLst/>
              <a:gdLst/>
              <a:ahLst/>
              <a:cxnLst/>
              <a:rect l="l" t="t" r="r" b="b"/>
              <a:pathLst>
                <a:path w="6553200" h="3352800">
                  <a:moveTo>
                    <a:pt x="5994400" y="0"/>
                  </a:moveTo>
                  <a:lnTo>
                    <a:pt x="558812" y="0"/>
                  </a:lnTo>
                  <a:lnTo>
                    <a:pt x="510596" y="2051"/>
                  </a:lnTo>
                  <a:lnTo>
                    <a:pt x="463518" y="8092"/>
                  </a:lnTo>
                  <a:lnTo>
                    <a:pt x="417748" y="17957"/>
                  </a:lnTo>
                  <a:lnTo>
                    <a:pt x="373451" y="31476"/>
                  </a:lnTo>
                  <a:lnTo>
                    <a:pt x="330797" y="48483"/>
                  </a:lnTo>
                  <a:lnTo>
                    <a:pt x="289953" y="68809"/>
                  </a:lnTo>
                  <a:lnTo>
                    <a:pt x="251086" y="92288"/>
                  </a:lnTo>
                  <a:lnTo>
                    <a:pt x="214365" y="118750"/>
                  </a:lnTo>
                  <a:lnTo>
                    <a:pt x="179957" y="148028"/>
                  </a:lnTo>
                  <a:lnTo>
                    <a:pt x="148029" y="179955"/>
                  </a:lnTo>
                  <a:lnTo>
                    <a:pt x="118751" y="214362"/>
                  </a:lnTo>
                  <a:lnTo>
                    <a:pt x="92288" y="251083"/>
                  </a:lnTo>
                  <a:lnTo>
                    <a:pt x="68810" y="289949"/>
                  </a:lnTo>
                  <a:lnTo>
                    <a:pt x="48483" y="330792"/>
                  </a:lnTo>
                  <a:lnTo>
                    <a:pt x="31477" y="373445"/>
                  </a:lnTo>
                  <a:lnTo>
                    <a:pt x="17957" y="417740"/>
                  </a:lnTo>
                  <a:lnTo>
                    <a:pt x="8092" y="463509"/>
                  </a:lnTo>
                  <a:lnTo>
                    <a:pt x="2051" y="510585"/>
                  </a:lnTo>
                  <a:lnTo>
                    <a:pt x="0" y="558800"/>
                  </a:lnTo>
                  <a:lnTo>
                    <a:pt x="0" y="2794000"/>
                  </a:lnTo>
                  <a:lnTo>
                    <a:pt x="2051" y="2842214"/>
                  </a:lnTo>
                  <a:lnTo>
                    <a:pt x="8092" y="2889290"/>
                  </a:lnTo>
                  <a:lnTo>
                    <a:pt x="17957" y="2935059"/>
                  </a:lnTo>
                  <a:lnTo>
                    <a:pt x="31477" y="2979354"/>
                  </a:lnTo>
                  <a:lnTo>
                    <a:pt x="48483" y="3022007"/>
                  </a:lnTo>
                  <a:lnTo>
                    <a:pt x="68810" y="3062850"/>
                  </a:lnTo>
                  <a:lnTo>
                    <a:pt x="92288" y="3101716"/>
                  </a:lnTo>
                  <a:lnTo>
                    <a:pt x="118751" y="3138437"/>
                  </a:lnTo>
                  <a:lnTo>
                    <a:pt x="148029" y="3172844"/>
                  </a:lnTo>
                  <a:lnTo>
                    <a:pt x="179957" y="3204771"/>
                  </a:lnTo>
                  <a:lnTo>
                    <a:pt x="214365" y="3234049"/>
                  </a:lnTo>
                  <a:lnTo>
                    <a:pt x="251086" y="3260511"/>
                  </a:lnTo>
                  <a:lnTo>
                    <a:pt x="289953" y="3283990"/>
                  </a:lnTo>
                  <a:lnTo>
                    <a:pt x="330797" y="3304316"/>
                  </a:lnTo>
                  <a:lnTo>
                    <a:pt x="373451" y="3321323"/>
                  </a:lnTo>
                  <a:lnTo>
                    <a:pt x="417748" y="3334842"/>
                  </a:lnTo>
                  <a:lnTo>
                    <a:pt x="463518" y="3344707"/>
                  </a:lnTo>
                  <a:lnTo>
                    <a:pt x="510596" y="3350748"/>
                  </a:lnTo>
                  <a:lnTo>
                    <a:pt x="558812" y="3352800"/>
                  </a:lnTo>
                  <a:lnTo>
                    <a:pt x="5994400" y="3352800"/>
                  </a:lnTo>
                  <a:lnTo>
                    <a:pt x="6042614" y="3350748"/>
                  </a:lnTo>
                  <a:lnTo>
                    <a:pt x="6089690" y="3344707"/>
                  </a:lnTo>
                  <a:lnTo>
                    <a:pt x="6135459" y="3334842"/>
                  </a:lnTo>
                  <a:lnTo>
                    <a:pt x="6179754" y="3321323"/>
                  </a:lnTo>
                  <a:lnTo>
                    <a:pt x="6222407" y="3304316"/>
                  </a:lnTo>
                  <a:lnTo>
                    <a:pt x="6263250" y="3283990"/>
                  </a:lnTo>
                  <a:lnTo>
                    <a:pt x="6302116" y="3260511"/>
                  </a:lnTo>
                  <a:lnTo>
                    <a:pt x="6338837" y="3234049"/>
                  </a:lnTo>
                  <a:lnTo>
                    <a:pt x="6373244" y="3204771"/>
                  </a:lnTo>
                  <a:lnTo>
                    <a:pt x="6405171" y="3172844"/>
                  </a:lnTo>
                  <a:lnTo>
                    <a:pt x="6434449" y="3138437"/>
                  </a:lnTo>
                  <a:lnTo>
                    <a:pt x="6460911" y="3101716"/>
                  </a:lnTo>
                  <a:lnTo>
                    <a:pt x="6484390" y="3062850"/>
                  </a:lnTo>
                  <a:lnTo>
                    <a:pt x="6504716" y="3022007"/>
                  </a:lnTo>
                  <a:lnTo>
                    <a:pt x="6521723" y="2979354"/>
                  </a:lnTo>
                  <a:lnTo>
                    <a:pt x="6535242" y="2935059"/>
                  </a:lnTo>
                  <a:lnTo>
                    <a:pt x="6545107" y="2889290"/>
                  </a:lnTo>
                  <a:lnTo>
                    <a:pt x="6551148" y="2842214"/>
                  </a:lnTo>
                  <a:lnTo>
                    <a:pt x="6553200" y="2794000"/>
                  </a:lnTo>
                  <a:lnTo>
                    <a:pt x="6553200" y="558800"/>
                  </a:lnTo>
                  <a:lnTo>
                    <a:pt x="6551148" y="510585"/>
                  </a:lnTo>
                  <a:lnTo>
                    <a:pt x="6545107" y="463509"/>
                  </a:lnTo>
                  <a:lnTo>
                    <a:pt x="6535242" y="417740"/>
                  </a:lnTo>
                  <a:lnTo>
                    <a:pt x="6521723" y="373445"/>
                  </a:lnTo>
                  <a:lnTo>
                    <a:pt x="6504716" y="330792"/>
                  </a:lnTo>
                  <a:lnTo>
                    <a:pt x="6484390" y="289949"/>
                  </a:lnTo>
                  <a:lnTo>
                    <a:pt x="6460911" y="251083"/>
                  </a:lnTo>
                  <a:lnTo>
                    <a:pt x="6434449" y="214362"/>
                  </a:lnTo>
                  <a:lnTo>
                    <a:pt x="6405171" y="179955"/>
                  </a:lnTo>
                  <a:lnTo>
                    <a:pt x="6373244" y="148028"/>
                  </a:lnTo>
                  <a:lnTo>
                    <a:pt x="6338837" y="118750"/>
                  </a:lnTo>
                  <a:lnTo>
                    <a:pt x="6302116" y="92288"/>
                  </a:lnTo>
                  <a:lnTo>
                    <a:pt x="6263250" y="68809"/>
                  </a:lnTo>
                  <a:lnTo>
                    <a:pt x="6222407" y="48483"/>
                  </a:lnTo>
                  <a:lnTo>
                    <a:pt x="6179754" y="31476"/>
                  </a:lnTo>
                  <a:lnTo>
                    <a:pt x="6135459" y="17957"/>
                  </a:lnTo>
                  <a:lnTo>
                    <a:pt x="6089690" y="8092"/>
                  </a:lnTo>
                  <a:lnTo>
                    <a:pt x="6042614" y="2051"/>
                  </a:lnTo>
                  <a:lnTo>
                    <a:pt x="5994400" y="0"/>
                  </a:lnTo>
                  <a:close/>
                </a:path>
              </a:pathLst>
            </a:custGeom>
            <a:solidFill>
              <a:srgbClr val="FD8537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200" y="1524000"/>
              <a:ext cx="6553200" cy="3352800"/>
            </a:xfrm>
            <a:custGeom>
              <a:avLst/>
              <a:gdLst/>
              <a:ahLst/>
              <a:cxnLst/>
              <a:rect l="l" t="t" r="r" b="b"/>
              <a:pathLst>
                <a:path w="6553200" h="3352800">
                  <a:moveTo>
                    <a:pt x="0" y="558800"/>
                  </a:moveTo>
                  <a:lnTo>
                    <a:pt x="2051" y="510585"/>
                  </a:lnTo>
                  <a:lnTo>
                    <a:pt x="8092" y="463509"/>
                  </a:lnTo>
                  <a:lnTo>
                    <a:pt x="17957" y="417740"/>
                  </a:lnTo>
                  <a:lnTo>
                    <a:pt x="31477" y="373445"/>
                  </a:lnTo>
                  <a:lnTo>
                    <a:pt x="48483" y="330792"/>
                  </a:lnTo>
                  <a:lnTo>
                    <a:pt x="68810" y="289949"/>
                  </a:lnTo>
                  <a:lnTo>
                    <a:pt x="92288" y="251083"/>
                  </a:lnTo>
                  <a:lnTo>
                    <a:pt x="118751" y="214362"/>
                  </a:lnTo>
                  <a:lnTo>
                    <a:pt x="148029" y="179955"/>
                  </a:lnTo>
                  <a:lnTo>
                    <a:pt x="179957" y="148028"/>
                  </a:lnTo>
                  <a:lnTo>
                    <a:pt x="214365" y="118750"/>
                  </a:lnTo>
                  <a:lnTo>
                    <a:pt x="251086" y="92288"/>
                  </a:lnTo>
                  <a:lnTo>
                    <a:pt x="289953" y="68809"/>
                  </a:lnTo>
                  <a:lnTo>
                    <a:pt x="330797" y="48483"/>
                  </a:lnTo>
                  <a:lnTo>
                    <a:pt x="373451" y="31476"/>
                  </a:lnTo>
                  <a:lnTo>
                    <a:pt x="417748" y="17957"/>
                  </a:lnTo>
                  <a:lnTo>
                    <a:pt x="463518" y="8092"/>
                  </a:lnTo>
                  <a:lnTo>
                    <a:pt x="510596" y="2051"/>
                  </a:lnTo>
                  <a:lnTo>
                    <a:pt x="558812" y="0"/>
                  </a:lnTo>
                  <a:lnTo>
                    <a:pt x="5994400" y="0"/>
                  </a:lnTo>
                  <a:lnTo>
                    <a:pt x="6042614" y="2051"/>
                  </a:lnTo>
                  <a:lnTo>
                    <a:pt x="6089690" y="8092"/>
                  </a:lnTo>
                  <a:lnTo>
                    <a:pt x="6135459" y="17957"/>
                  </a:lnTo>
                  <a:lnTo>
                    <a:pt x="6179754" y="31476"/>
                  </a:lnTo>
                  <a:lnTo>
                    <a:pt x="6222407" y="48483"/>
                  </a:lnTo>
                  <a:lnTo>
                    <a:pt x="6263250" y="68809"/>
                  </a:lnTo>
                  <a:lnTo>
                    <a:pt x="6302116" y="92288"/>
                  </a:lnTo>
                  <a:lnTo>
                    <a:pt x="6338837" y="118750"/>
                  </a:lnTo>
                  <a:lnTo>
                    <a:pt x="6373244" y="148028"/>
                  </a:lnTo>
                  <a:lnTo>
                    <a:pt x="6405171" y="179955"/>
                  </a:lnTo>
                  <a:lnTo>
                    <a:pt x="6434449" y="214362"/>
                  </a:lnTo>
                  <a:lnTo>
                    <a:pt x="6460911" y="251083"/>
                  </a:lnTo>
                  <a:lnTo>
                    <a:pt x="6484390" y="289949"/>
                  </a:lnTo>
                  <a:lnTo>
                    <a:pt x="6504716" y="330792"/>
                  </a:lnTo>
                  <a:lnTo>
                    <a:pt x="6521723" y="373445"/>
                  </a:lnTo>
                  <a:lnTo>
                    <a:pt x="6535242" y="417740"/>
                  </a:lnTo>
                  <a:lnTo>
                    <a:pt x="6545107" y="463509"/>
                  </a:lnTo>
                  <a:lnTo>
                    <a:pt x="6551148" y="510585"/>
                  </a:lnTo>
                  <a:lnTo>
                    <a:pt x="6553200" y="558800"/>
                  </a:lnTo>
                  <a:lnTo>
                    <a:pt x="6553200" y="2794000"/>
                  </a:lnTo>
                  <a:lnTo>
                    <a:pt x="6551148" y="2842214"/>
                  </a:lnTo>
                  <a:lnTo>
                    <a:pt x="6545107" y="2889290"/>
                  </a:lnTo>
                  <a:lnTo>
                    <a:pt x="6535242" y="2935059"/>
                  </a:lnTo>
                  <a:lnTo>
                    <a:pt x="6521723" y="2979354"/>
                  </a:lnTo>
                  <a:lnTo>
                    <a:pt x="6504716" y="3022007"/>
                  </a:lnTo>
                  <a:lnTo>
                    <a:pt x="6484390" y="3062850"/>
                  </a:lnTo>
                  <a:lnTo>
                    <a:pt x="6460911" y="3101716"/>
                  </a:lnTo>
                  <a:lnTo>
                    <a:pt x="6434449" y="3138437"/>
                  </a:lnTo>
                  <a:lnTo>
                    <a:pt x="6405171" y="3172844"/>
                  </a:lnTo>
                  <a:lnTo>
                    <a:pt x="6373244" y="3204771"/>
                  </a:lnTo>
                  <a:lnTo>
                    <a:pt x="6338837" y="3234049"/>
                  </a:lnTo>
                  <a:lnTo>
                    <a:pt x="6302116" y="3260511"/>
                  </a:lnTo>
                  <a:lnTo>
                    <a:pt x="6263250" y="3283990"/>
                  </a:lnTo>
                  <a:lnTo>
                    <a:pt x="6222407" y="3304316"/>
                  </a:lnTo>
                  <a:lnTo>
                    <a:pt x="6179754" y="3321323"/>
                  </a:lnTo>
                  <a:lnTo>
                    <a:pt x="6135459" y="3334842"/>
                  </a:lnTo>
                  <a:lnTo>
                    <a:pt x="6089690" y="3344707"/>
                  </a:lnTo>
                  <a:lnTo>
                    <a:pt x="6042614" y="3350748"/>
                  </a:lnTo>
                  <a:lnTo>
                    <a:pt x="5994400" y="3352800"/>
                  </a:lnTo>
                  <a:lnTo>
                    <a:pt x="558812" y="3352800"/>
                  </a:lnTo>
                  <a:lnTo>
                    <a:pt x="510596" y="3350748"/>
                  </a:lnTo>
                  <a:lnTo>
                    <a:pt x="463518" y="3344707"/>
                  </a:lnTo>
                  <a:lnTo>
                    <a:pt x="417748" y="3334842"/>
                  </a:lnTo>
                  <a:lnTo>
                    <a:pt x="373451" y="3321323"/>
                  </a:lnTo>
                  <a:lnTo>
                    <a:pt x="330797" y="3304316"/>
                  </a:lnTo>
                  <a:lnTo>
                    <a:pt x="289953" y="3283990"/>
                  </a:lnTo>
                  <a:lnTo>
                    <a:pt x="251086" y="3260511"/>
                  </a:lnTo>
                  <a:lnTo>
                    <a:pt x="214365" y="3234049"/>
                  </a:lnTo>
                  <a:lnTo>
                    <a:pt x="179957" y="3204771"/>
                  </a:lnTo>
                  <a:lnTo>
                    <a:pt x="148029" y="3172844"/>
                  </a:lnTo>
                  <a:lnTo>
                    <a:pt x="118751" y="3138437"/>
                  </a:lnTo>
                  <a:lnTo>
                    <a:pt x="92288" y="3101716"/>
                  </a:lnTo>
                  <a:lnTo>
                    <a:pt x="68810" y="3062850"/>
                  </a:lnTo>
                  <a:lnTo>
                    <a:pt x="48483" y="3022007"/>
                  </a:lnTo>
                  <a:lnTo>
                    <a:pt x="31477" y="2979354"/>
                  </a:lnTo>
                  <a:lnTo>
                    <a:pt x="17957" y="2935059"/>
                  </a:lnTo>
                  <a:lnTo>
                    <a:pt x="8092" y="2889290"/>
                  </a:lnTo>
                  <a:lnTo>
                    <a:pt x="2051" y="2842214"/>
                  </a:lnTo>
                  <a:lnTo>
                    <a:pt x="0" y="2794000"/>
                  </a:lnTo>
                  <a:lnTo>
                    <a:pt x="0" y="558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717540" y="3173984"/>
            <a:ext cx="1050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DONE</a:t>
            </a:r>
            <a:r>
              <a:rPr sz="24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imes New Roman"/>
                <a:cs typeface="Times New Roman"/>
              </a:rPr>
              <a:t>!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82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000" b="0" cap="small" spc="295" dirty="0">
                <a:latin typeface="Cambria"/>
                <a:cs typeface="Cambria"/>
              </a:rPr>
              <a:t>Bash </a:t>
            </a:r>
            <a:r>
              <a:rPr sz="3000" b="0" cap="small" spc="325" dirty="0">
                <a:latin typeface="Cambria"/>
                <a:cs typeface="Cambria"/>
              </a:rPr>
              <a:t>shell</a:t>
            </a:r>
            <a:r>
              <a:rPr sz="3000" b="0" cap="small" spc="275" dirty="0">
                <a:latin typeface="Cambria"/>
                <a:cs typeface="Cambria"/>
              </a:rPr>
              <a:t> </a:t>
            </a:r>
            <a:r>
              <a:rPr sz="3000" b="0" cap="small" spc="254" dirty="0">
                <a:latin typeface="Cambria"/>
                <a:cs typeface="Cambria"/>
              </a:rPr>
              <a:t>programming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pc="65" dirty="0"/>
              <a:t>Sequence</a:t>
            </a: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pc="60" dirty="0"/>
              <a:t>Decision:</a:t>
            </a:r>
          </a:p>
          <a:p>
            <a:pPr marL="652780" lvl="1" indent="-27305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dirty="0">
                <a:latin typeface="Cambria"/>
                <a:cs typeface="Cambria"/>
              </a:rPr>
              <a:t>if-</a:t>
            </a:r>
            <a:r>
              <a:rPr sz="2100" spc="60" dirty="0">
                <a:latin typeface="Cambria"/>
                <a:cs typeface="Cambria"/>
              </a:rPr>
              <a:t>then-</a:t>
            </a:r>
            <a:r>
              <a:rPr sz="2100" spc="-20" dirty="0">
                <a:latin typeface="Cambria"/>
                <a:cs typeface="Cambria"/>
              </a:rPr>
              <a:t>else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35" dirty="0">
                <a:latin typeface="Cambria"/>
                <a:cs typeface="Cambria"/>
              </a:rPr>
              <a:t>case</a:t>
            </a:r>
            <a:endParaRPr sz="21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pc="65" dirty="0"/>
              <a:t>Repetition</a:t>
            </a:r>
          </a:p>
          <a:p>
            <a:pPr marL="652780" lvl="1" indent="-27305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20" dirty="0">
                <a:latin typeface="Cambria"/>
                <a:cs typeface="Cambria"/>
              </a:rPr>
              <a:t>do-</a:t>
            </a:r>
            <a:r>
              <a:rPr sz="2100" spc="70" dirty="0">
                <a:latin typeface="Cambria"/>
                <a:cs typeface="Cambria"/>
              </a:rPr>
              <a:t>while,</a:t>
            </a:r>
            <a:r>
              <a:rPr sz="2100" spc="17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repeat-</a:t>
            </a:r>
            <a:r>
              <a:rPr sz="2100" spc="80" dirty="0">
                <a:latin typeface="Cambria"/>
                <a:cs typeface="Cambria"/>
              </a:rPr>
              <a:t>until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25" dirty="0">
                <a:latin typeface="Cambria"/>
                <a:cs typeface="Cambria"/>
              </a:rPr>
              <a:t>for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-10" dirty="0">
                <a:latin typeface="Cambria"/>
                <a:cs typeface="Cambria"/>
              </a:rPr>
              <a:t>select</a:t>
            </a:r>
            <a:endParaRPr sz="21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pc="85" dirty="0"/>
              <a:t>Functions</a:t>
            </a: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pc="55" dirty="0"/>
              <a:t>Traps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52437" y="4872037"/>
            <a:ext cx="6562725" cy="1152525"/>
            <a:chOff x="452437" y="4872037"/>
            <a:chExt cx="6562725" cy="1152525"/>
          </a:xfrm>
        </p:grpSpPr>
        <p:sp>
          <p:nvSpPr>
            <p:cNvPr id="9" name="object 9"/>
            <p:cNvSpPr/>
            <p:nvPr/>
          </p:nvSpPr>
          <p:spPr>
            <a:xfrm>
              <a:off x="457200" y="4876800"/>
              <a:ext cx="6553200" cy="1143000"/>
            </a:xfrm>
            <a:custGeom>
              <a:avLst/>
              <a:gdLst/>
              <a:ahLst/>
              <a:cxnLst/>
              <a:rect l="l" t="t" r="r" b="b"/>
              <a:pathLst>
                <a:path w="6553200" h="1143000">
                  <a:moveTo>
                    <a:pt x="6362700" y="0"/>
                  </a:moveTo>
                  <a:lnTo>
                    <a:pt x="190500" y="0"/>
                  </a:lnTo>
                  <a:lnTo>
                    <a:pt x="146821" y="5034"/>
                  </a:lnTo>
                  <a:lnTo>
                    <a:pt x="106724" y="19372"/>
                  </a:lnTo>
                  <a:lnTo>
                    <a:pt x="71353" y="41867"/>
                  </a:lnTo>
                  <a:lnTo>
                    <a:pt x="41851" y="71374"/>
                  </a:lnTo>
                  <a:lnTo>
                    <a:pt x="19363" y="106746"/>
                  </a:lnTo>
                  <a:lnTo>
                    <a:pt x="5031" y="146837"/>
                  </a:lnTo>
                  <a:lnTo>
                    <a:pt x="0" y="190500"/>
                  </a:lnTo>
                  <a:lnTo>
                    <a:pt x="0" y="952500"/>
                  </a:lnTo>
                  <a:lnTo>
                    <a:pt x="5031" y="996178"/>
                  </a:lnTo>
                  <a:lnTo>
                    <a:pt x="19363" y="1036275"/>
                  </a:lnTo>
                  <a:lnTo>
                    <a:pt x="41851" y="1071646"/>
                  </a:lnTo>
                  <a:lnTo>
                    <a:pt x="71353" y="1101148"/>
                  </a:lnTo>
                  <a:lnTo>
                    <a:pt x="106724" y="1123636"/>
                  </a:lnTo>
                  <a:lnTo>
                    <a:pt x="146821" y="1137968"/>
                  </a:lnTo>
                  <a:lnTo>
                    <a:pt x="190500" y="1143000"/>
                  </a:lnTo>
                  <a:lnTo>
                    <a:pt x="6362700" y="1143000"/>
                  </a:lnTo>
                  <a:lnTo>
                    <a:pt x="6406362" y="1137968"/>
                  </a:lnTo>
                  <a:lnTo>
                    <a:pt x="6446453" y="1123636"/>
                  </a:lnTo>
                  <a:lnTo>
                    <a:pt x="6481825" y="1101148"/>
                  </a:lnTo>
                  <a:lnTo>
                    <a:pt x="6511332" y="1071646"/>
                  </a:lnTo>
                  <a:lnTo>
                    <a:pt x="6533827" y="1036275"/>
                  </a:lnTo>
                  <a:lnTo>
                    <a:pt x="6548165" y="996178"/>
                  </a:lnTo>
                  <a:lnTo>
                    <a:pt x="6553200" y="952500"/>
                  </a:lnTo>
                  <a:lnTo>
                    <a:pt x="6553200" y="190500"/>
                  </a:lnTo>
                  <a:lnTo>
                    <a:pt x="6548165" y="146837"/>
                  </a:lnTo>
                  <a:lnTo>
                    <a:pt x="6533827" y="106746"/>
                  </a:lnTo>
                  <a:lnTo>
                    <a:pt x="6511332" y="71374"/>
                  </a:lnTo>
                  <a:lnTo>
                    <a:pt x="6481825" y="41867"/>
                  </a:lnTo>
                  <a:lnTo>
                    <a:pt x="6446453" y="19372"/>
                  </a:lnTo>
                  <a:lnTo>
                    <a:pt x="6406362" y="5034"/>
                  </a:lnTo>
                  <a:lnTo>
                    <a:pt x="6362700" y="0"/>
                  </a:lnTo>
                  <a:close/>
                </a:path>
              </a:pathLst>
            </a:custGeom>
            <a:solidFill>
              <a:srgbClr val="FF0000">
                <a:alpha val="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4876800"/>
              <a:ext cx="6553200" cy="1143000"/>
            </a:xfrm>
            <a:custGeom>
              <a:avLst/>
              <a:gdLst/>
              <a:ahLst/>
              <a:cxnLst/>
              <a:rect l="l" t="t" r="r" b="b"/>
              <a:pathLst>
                <a:path w="6553200" h="1143000">
                  <a:moveTo>
                    <a:pt x="0" y="190500"/>
                  </a:moveTo>
                  <a:lnTo>
                    <a:pt x="5031" y="146837"/>
                  </a:lnTo>
                  <a:lnTo>
                    <a:pt x="19363" y="106746"/>
                  </a:lnTo>
                  <a:lnTo>
                    <a:pt x="41851" y="71374"/>
                  </a:lnTo>
                  <a:lnTo>
                    <a:pt x="71353" y="41867"/>
                  </a:lnTo>
                  <a:lnTo>
                    <a:pt x="106724" y="19372"/>
                  </a:lnTo>
                  <a:lnTo>
                    <a:pt x="146821" y="5034"/>
                  </a:lnTo>
                  <a:lnTo>
                    <a:pt x="190500" y="0"/>
                  </a:lnTo>
                  <a:lnTo>
                    <a:pt x="6362700" y="0"/>
                  </a:lnTo>
                  <a:lnTo>
                    <a:pt x="6406362" y="5034"/>
                  </a:lnTo>
                  <a:lnTo>
                    <a:pt x="6446453" y="19372"/>
                  </a:lnTo>
                  <a:lnTo>
                    <a:pt x="6481825" y="41867"/>
                  </a:lnTo>
                  <a:lnTo>
                    <a:pt x="6511332" y="71374"/>
                  </a:lnTo>
                  <a:lnTo>
                    <a:pt x="6533827" y="106746"/>
                  </a:lnTo>
                  <a:lnTo>
                    <a:pt x="6548165" y="146837"/>
                  </a:lnTo>
                  <a:lnTo>
                    <a:pt x="6553200" y="190500"/>
                  </a:lnTo>
                  <a:lnTo>
                    <a:pt x="6553200" y="952500"/>
                  </a:lnTo>
                  <a:lnTo>
                    <a:pt x="6548165" y="996178"/>
                  </a:lnTo>
                  <a:lnTo>
                    <a:pt x="6533827" y="1036275"/>
                  </a:lnTo>
                  <a:lnTo>
                    <a:pt x="6511332" y="1071646"/>
                  </a:lnTo>
                  <a:lnTo>
                    <a:pt x="6481825" y="1101148"/>
                  </a:lnTo>
                  <a:lnTo>
                    <a:pt x="6446453" y="1123636"/>
                  </a:lnTo>
                  <a:lnTo>
                    <a:pt x="6406362" y="1137968"/>
                  </a:lnTo>
                  <a:lnTo>
                    <a:pt x="6362700" y="1143000"/>
                  </a:lnTo>
                  <a:lnTo>
                    <a:pt x="190500" y="1143000"/>
                  </a:lnTo>
                  <a:lnTo>
                    <a:pt x="146821" y="1137968"/>
                  </a:lnTo>
                  <a:lnTo>
                    <a:pt x="106724" y="1123636"/>
                  </a:lnTo>
                  <a:lnTo>
                    <a:pt x="71353" y="1101148"/>
                  </a:lnTo>
                  <a:lnTo>
                    <a:pt x="41851" y="1071646"/>
                  </a:lnTo>
                  <a:lnTo>
                    <a:pt x="19363" y="1036275"/>
                  </a:lnTo>
                  <a:lnTo>
                    <a:pt x="5031" y="996178"/>
                  </a:lnTo>
                  <a:lnTo>
                    <a:pt x="0" y="952500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7461" y="5322214"/>
            <a:ext cx="1527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CC00"/>
                </a:solidFill>
                <a:latin typeface="Times New Roman"/>
                <a:cs typeface="Times New Roman"/>
              </a:rPr>
              <a:t>still</a:t>
            </a:r>
            <a:r>
              <a:rPr sz="2400" spc="-40" dirty="0">
                <a:solidFill>
                  <a:srgbClr val="00CC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CC00"/>
                </a:solidFill>
                <a:latin typeface="Times New Roman"/>
                <a:cs typeface="Times New Roman"/>
              </a:rPr>
              <a:t>to</a:t>
            </a:r>
            <a:r>
              <a:rPr sz="2400" spc="-5" dirty="0">
                <a:solidFill>
                  <a:srgbClr val="00CC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0CC00"/>
                </a:solidFill>
                <a:latin typeface="Times New Roman"/>
                <a:cs typeface="Times New Roman"/>
              </a:rPr>
              <a:t>come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45338"/>
            <a:ext cx="3223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335" dirty="0">
                <a:latin typeface="Cambria"/>
                <a:cs typeface="Cambria"/>
              </a:rPr>
              <a:t>Shell</a:t>
            </a:r>
            <a:r>
              <a:rPr sz="3000" b="0" cap="small" spc="280" dirty="0">
                <a:latin typeface="Cambria"/>
                <a:cs typeface="Cambria"/>
              </a:rPr>
              <a:t> </a:t>
            </a:r>
            <a:r>
              <a:rPr sz="3000" b="0" cap="small" spc="260" dirty="0">
                <a:latin typeface="Cambria"/>
                <a:cs typeface="Cambria"/>
              </a:rPr>
              <a:t>Functions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63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50206"/>
            <a:ext cx="7127875" cy="43586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68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225" dirty="0">
                <a:latin typeface="Cambria"/>
                <a:cs typeface="Cambria"/>
              </a:rPr>
              <a:t>A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shell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function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similar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 </a:t>
            </a:r>
            <a:r>
              <a:rPr sz="2400" spc="85" dirty="0">
                <a:latin typeface="Cambria"/>
                <a:cs typeface="Cambria"/>
              </a:rPr>
              <a:t>shell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script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dirty="0">
                <a:latin typeface="Cambria"/>
                <a:cs typeface="Cambria"/>
              </a:rPr>
              <a:t>stores</a:t>
            </a:r>
            <a:r>
              <a:rPr sz="2100" spc="215" dirty="0">
                <a:latin typeface="Cambria"/>
                <a:cs typeface="Cambria"/>
              </a:rPr>
              <a:t> </a:t>
            </a:r>
            <a:r>
              <a:rPr sz="2100" spc="130" dirty="0">
                <a:latin typeface="Cambria"/>
                <a:cs typeface="Cambria"/>
              </a:rPr>
              <a:t>a</a:t>
            </a:r>
            <a:r>
              <a:rPr sz="2100" spc="2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series</a:t>
            </a:r>
            <a:r>
              <a:rPr sz="2100" spc="2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22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commands</a:t>
            </a:r>
            <a:r>
              <a:rPr sz="2100" spc="19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for</a:t>
            </a:r>
            <a:r>
              <a:rPr sz="2100" spc="22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execution</a:t>
            </a:r>
            <a:r>
              <a:rPr sz="2100" spc="2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later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75" dirty="0">
                <a:latin typeface="Cambria"/>
                <a:cs typeface="Cambria"/>
              </a:rPr>
              <a:t>shell</a:t>
            </a:r>
            <a:r>
              <a:rPr sz="2100" spc="20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stores</a:t>
            </a:r>
            <a:r>
              <a:rPr sz="2100" spc="2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functions</a:t>
            </a:r>
            <a:r>
              <a:rPr sz="2100" spc="2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in</a:t>
            </a:r>
            <a:r>
              <a:rPr sz="2100" spc="20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memory</a:t>
            </a:r>
            <a:endParaRPr sz="21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75" dirty="0">
                <a:latin typeface="Cambria"/>
                <a:cs typeface="Cambria"/>
              </a:rPr>
              <a:t>shell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executes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30" dirty="0">
                <a:latin typeface="Cambria"/>
                <a:cs typeface="Cambria"/>
              </a:rPr>
              <a:t>a </a:t>
            </a:r>
            <a:r>
              <a:rPr sz="2100" spc="75" dirty="0">
                <a:latin typeface="Cambria"/>
                <a:cs typeface="Cambria"/>
              </a:rPr>
              <a:t>shell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function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in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same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shell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that </a:t>
            </a:r>
            <a:r>
              <a:rPr sz="2100" spc="55" dirty="0">
                <a:latin typeface="Cambria"/>
                <a:cs typeface="Cambria"/>
              </a:rPr>
              <a:t>called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it</a:t>
            </a:r>
            <a:endParaRPr sz="21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70" dirty="0">
                <a:latin typeface="Cambria"/>
                <a:cs typeface="Cambria"/>
              </a:rPr>
              <a:t>Where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define</a:t>
            </a:r>
            <a:endParaRPr sz="24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135" dirty="0">
                <a:latin typeface="Cambria"/>
                <a:cs typeface="Cambria"/>
              </a:rPr>
              <a:t>In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.profile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135" dirty="0">
                <a:latin typeface="Cambria"/>
                <a:cs typeface="Cambria"/>
              </a:rPr>
              <a:t>In</a:t>
            </a:r>
            <a:r>
              <a:rPr sz="2100" spc="21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your</a:t>
            </a:r>
            <a:r>
              <a:rPr sz="2100" spc="2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script</a:t>
            </a:r>
            <a:endParaRPr sz="2100">
              <a:latin typeface="Cambria"/>
              <a:cs typeface="Cambria"/>
            </a:endParaRPr>
          </a:p>
          <a:p>
            <a:pPr marL="652780" lvl="1" indent="-27305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</a:tabLst>
            </a:pPr>
            <a:r>
              <a:rPr sz="2100" spc="155" dirty="0">
                <a:latin typeface="Cambria"/>
                <a:cs typeface="Cambria"/>
              </a:rPr>
              <a:t>Or</a:t>
            </a:r>
            <a:r>
              <a:rPr sz="2100" spc="15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</a:t>
            </a:r>
            <a:r>
              <a:rPr sz="2100" spc="14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command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line</a:t>
            </a:r>
            <a:endParaRPr sz="2100">
              <a:latin typeface="Cambria"/>
              <a:cs typeface="Cambria"/>
            </a:endParaRPr>
          </a:p>
          <a:p>
            <a:pPr marL="272415" marR="4217035" indent="-272415" algn="r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72415" algn="l"/>
              </a:tabLst>
            </a:pPr>
            <a:r>
              <a:rPr sz="2400" spc="65" dirty="0">
                <a:latin typeface="Cambria"/>
                <a:cs typeface="Cambria"/>
              </a:rPr>
              <a:t>Remove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function</a:t>
            </a:r>
            <a:endParaRPr sz="2400">
              <a:latin typeface="Cambria"/>
              <a:cs typeface="Cambria"/>
            </a:endParaRPr>
          </a:p>
          <a:p>
            <a:pPr marL="272415" marR="4238625" lvl="1" indent="-272415" algn="r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272415" algn="l"/>
              </a:tabLst>
            </a:pPr>
            <a:r>
              <a:rPr sz="2100" spc="140" dirty="0">
                <a:latin typeface="Cambria"/>
                <a:cs typeface="Cambria"/>
              </a:rPr>
              <a:t>Use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unset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built-in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16738"/>
            <a:ext cx="3223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335" dirty="0">
                <a:latin typeface="Cambria"/>
                <a:cs typeface="Cambria"/>
              </a:rPr>
              <a:t>Shell</a:t>
            </a:r>
            <a:r>
              <a:rPr sz="3000" b="0" cap="small" spc="280" dirty="0">
                <a:latin typeface="Cambria"/>
                <a:cs typeface="Cambria"/>
              </a:rPr>
              <a:t> </a:t>
            </a:r>
            <a:r>
              <a:rPr sz="3000" b="0" cap="small" spc="260" dirty="0">
                <a:latin typeface="Cambria"/>
                <a:cs typeface="Cambria"/>
              </a:rPr>
              <a:t>Functions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64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8921"/>
            <a:ext cx="6749415" cy="34639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5" dirty="0">
                <a:latin typeface="Cambria"/>
                <a:cs typeface="Cambria"/>
              </a:rPr>
              <a:t>must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defined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before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they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referenced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05" dirty="0">
                <a:latin typeface="Cambria"/>
                <a:cs typeface="Cambria"/>
              </a:rPr>
              <a:t>usually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placed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beginning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script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Syntax:</a:t>
            </a:r>
            <a:endParaRPr sz="2400">
              <a:latin typeface="Cambria"/>
              <a:cs typeface="Cambria"/>
            </a:endParaRPr>
          </a:p>
          <a:p>
            <a:pPr marL="928369" marR="3075305" indent="-549275">
              <a:lnSpc>
                <a:spcPct val="120000"/>
              </a:lnSpc>
              <a:spcBef>
                <a:spcPts val="2775"/>
              </a:spcBef>
            </a:pPr>
            <a:r>
              <a:rPr sz="2400" b="1" spc="-10" dirty="0">
                <a:latin typeface="Courier New"/>
                <a:cs typeface="Courier New"/>
              </a:rPr>
              <a:t>function-</a:t>
            </a:r>
            <a:r>
              <a:rPr sz="2400" b="1" dirty="0">
                <a:latin typeface="Courier New"/>
                <a:cs typeface="Courier New"/>
              </a:rPr>
              <a:t>name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()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 </a:t>
            </a:r>
            <a:r>
              <a:rPr sz="2400" b="1" spc="-10" dirty="0">
                <a:latin typeface="Courier New"/>
                <a:cs typeface="Courier New"/>
              </a:rPr>
              <a:t>statements</a:t>
            </a:r>
            <a:endParaRPr sz="24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  <a:spcBef>
                <a:spcPts val="580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45338"/>
            <a:ext cx="35928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220" dirty="0">
                <a:latin typeface="Cambria"/>
                <a:cs typeface="Cambria"/>
              </a:rPr>
              <a:t> </a:t>
            </a:r>
            <a:r>
              <a:rPr sz="3000" b="0" cap="small" spc="265" dirty="0">
                <a:latin typeface="Cambria"/>
                <a:cs typeface="Cambria"/>
              </a:rPr>
              <a:t>function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r>
              <a:rPr spc="-25" dirty="0"/>
              <a:t>65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40561"/>
            <a:ext cx="6331585" cy="4446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#!/bin/bash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test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()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310"/>
              </a:spcBef>
            </a:pPr>
            <a:r>
              <a:rPr sz="2400" b="1" dirty="0">
                <a:latin typeface="Courier New"/>
                <a:cs typeface="Courier New"/>
              </a:rPr>
              <a:t>#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This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is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simple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function</a:t>
            </a:r>
            <a:endParaRPr sz="2400">
              <a:latin typeface="Courier New"/>
              <a:cs typeface="Courier New"/>
            </a:endParaRPr>
          </a:p>
          <a:p>
            <a:pPr marL="286385" marR="5080">
              <a:lnSpc>
                <a:spcPct val="1108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"This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is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test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function." </a:t>
            </a:r>
            <a:r>
              <a:rPr sz="2400" b="1" dirty="0">
                <a:latin typeface="Courier New"/>
                <a:cs typeface="Courier New"/>
              </a:rPr>
              <a:t>echo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"Now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exiting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test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function."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 marR="469265">
              <a:lnSpc>
                <a:spcPct val="2217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#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declaration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must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precede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call: </a:t>
            </a:r>
            <a:r>
              <a:rPr sz="2400" b="1" spc="-20" dirty="0">
                <a:latin typeface="Courier New"/>
                <a:cs typeface="Courier New"/>
              </a:rPr>
              <a:t>test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9138"/>
            <a:ext cx="35928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cap="small" spc="265" dirty="0">
                <a:latin typeface="Cambria"/>
                <a:cs typeface="Cambria"/>
              </a:rPr>
              <a:t>Example:</a:t>
            </a:r>
            <a:r>
              <a:rPr sz="3000" b="0" cap="small" spc="220" dirty="0">
                <a:latin typeface="Cambria"/>
                <a:cs typeface="Cambria"/>
              </a:rPr>
              <a:t> </a:t>
            </a:r>
            <a:r>
              <a:rPr sz="3000" b="0" cap="small" spc="265" dirty="0">
                <a:latin typeface="Cambria"/>
                <a:cs typeface="Cambria"/>
              </a:rPr>
              <a:t>function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50899"/>
            <a:ext cx="7674609" cy="531876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2200" b="1" spc="-10" dirty="0">
                <a:latin typeface="Courier New"/>
                <a:cs typeface="Courier New"/>
              </a:rPr>
              <a:t>#!/bin/bash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b="1" dirty="0">
                <a:latin typeface="Courier New"/>
                <a:cs typeface="Courier New"/>
              </a:rPr>
              <a:t>fun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()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{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#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somewhat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more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complex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function.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340"/>
              </a:spcBef>
            </a:pPr>
            <a:r>
              <a:rPr sz="2200" b="1" spc="-10" dirty="0">
                <a:latin typeface="Courier New"/>
                <a:cs typeface="Courier New"/>
              </a:rPr>
              <a:t>JUST_A_SECOND=1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335"/>
              </a:spcBef>
            </a:pPr>
            <a:r>
              <a:rPr sz="2200" b="1" dirty="0">
                <a:latin typeface="Courier New"/>
                <a:cs typeface="Courier New"/>
              </a:rPr>
              <a:t>let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spc="-25" dirty="0">
                <a:latin typeface="Courier New"/>
                <a:cs typeface="Courier New"/>
              </a:rPr>
              <a:t>i=0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335"/>
              </a:spcBef>
            </a:pPr>
            <a:r>
              <a:rPr sz="2200" b="1" spc="-10" dirty="0">
                <a:latin typeface="Courier New"/>
                <a:cs typeface="Courier New"/>
              </a:rPr>
              <a:t>REPEATS=10</a:t>
            </a:r>
            <a:endParaRPr sz="2200">
              <a:latin typeface="Courier New"/>
              <a:cs typeface="Courier New"/>
            </a:endParaRPr>
          </a:p>
          <a:p>
            <a:pPr marL="286385" marR="1147445">
              <a:lnSpc>
                <a:spcPct val="112700"/>
              </a:lnSpc>
              <a:spcBef>
                <a:spcPts val="5"/>
              </a:spcBef>
            </a:pPr>
            <a:r>
              <a:rPr sz="2200" b="1" dirty="0">
                <a:latin typeface="Courier New"/>
                <a:cs typeface="Courier New"/>
              </a:rPr>
              <a:t>echo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"And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now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the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fun</a:t>
            </a:r>
            <a:r>
              <a:rPr sz="2200" b="1" spc="-2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really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begins." </a:t>
            </a:r>
            <a:r>
              <a:rPr sz="2200" b="1" dirty="0">
                <a:latin typeface="Courier New"/>
                <a:cs typeface="Courier New"/>
              </a:rPr>
              <a:t>while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[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$i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lt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$REPEATS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spc="-50" dirty="0">
                <a:latin typeface="Courier New"/>
                <a:cs typeface="Courier New"/>
              </a:rPr>
              <a:t>]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335"/>
              </a:spcBef>
            </a:pPr>
            <a:r>
              <a:rPr sz="2200" b="1" spc="-25" dirty="0">
                <a:latin typeface="Courier New"/>
                <a:cs typeface="Courier New"/>
              </a:rPr>
              <a:t>do</a:t>
            </a:r>
            <a:endParaRPr sz="2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40"/>
              </a:spcBef>
            </a:pPr>
            <a:r>
              <a:rPr sz="2200" b="1" dirty="0">
                <a:latin typeface="Courier New"/>
                <a:cs typeface="Courier New"/>
              </a:rPr>
              <a:t>echo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"-</a:t>
            </a:r>
            <a:r>
              <a:rPr sz="2200" b="1" dirty="0">
                <a:latin typeface="Courier New"/>
                <a:cs typeface="Courier New"/>
              </a:rPr>
              <a:t>-</a:t>
            </a:r>
            <a:r>
              <a:rPr sz="2200" b="1" spc="-10" dirty="0">
                <a:latin typeface="Courier New"/>
                <a:cs typeface="Courier New"/>
              </a:rPr>
              <a:t>-</a:t>
            </a:r>
            <a:r>
              <a:rPr sz="2200" b="1" spc="-25" dirty="0">
                <a:latin typeface="Courier New"/>
                <a:cs typeface="Courier New"/>
              </a:rPr>
              <a:t>--</a:t>
            </a:r>
            <a:r>
              <a:rPr sz="2200" b="1" dirty="0">
                <a:latin typeface="Courier New"/>
                <a:cs typeface="Courier New"/>
              </a:rPr>
              <a:t>-</a:t>
            </a:r>
            <a:r>
              <a:rPr sz="2200" b="1" spc="-1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FUNCTIONS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are</a:t>
            </a:r>
            <a:r>
              <a:rPr sz="2200" b="1" spc="-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fun-</a:t>
            </a:r>
            <a:r>
              <a:rPr sz="2200" b="1" spc="-25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-</a:t>
            </a:r>
            <a:r>
              <a:rPr sz="2200" b="1" spc="-25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-</a:t>
            </a:r>
            <a:r>
              <a:rPr sz="2200" b="1" spc="-10" dirty="0">
                <a:latin typeface="Courier New"/>
                <a:cs typeface="Courier New"/>
              </a:rPr>
              <a:t>-</a:t>
            </a:r>
            <a:r>
              <a:rPr sz="2200" b="1" spc="-25" dirty="0">
                <a:latin typeface="Courier New"/>
                <a:cs typeface="Courier New"/>
              </a:rPr>
              <a:t>-</a:t>
            </a:r>
            <a:r>
              <a:rPr sz="2200" b="1" spc="-10" dirty="0">
                <a:latin typeface="Courier New"/>
                <a:cs typeface="Courier New"/>
              </a:rPr>
              <a:t>-</a:t>
            </a:r>
            <a:r>
              <a:rPr sz="2200" b="1" spc="-35" dirty="0">
                <a:latin typeface="Courier New"/>
                <a:cs typeface="Courier New"/>
              </a:rPr>
              <a:t>&gt;"</a:t>
            </a:r>
            <a:endParaRPr sz="2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200" b="1" dirty="0">
                <a:latin typeface="Courier New"/>
                <a:cs typeface="Courier New"/>
              </a:rPr>
              <a:t>sleep</a:t>
            </a:r>
            <a:r>
              <a:rPr sz="2200" b="1" spc="-6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$JUST_A_SECOND</a:t>
            </a:r>
            <a:endParaRPr sz="22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200" b="1" dirty="0">
                <a:latin typeface="Courier New"/>
                <a:cs typeface="Courier New"/>
              </a:rPr>
              <a:t>let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20" dirty="0">
                <a:latin typeface="Courier New"/>
                <a:cs typeface="Courier New"/>
              </a:rPr>
              <a:t>i+=1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340"/>
              </a:spcBef>
            </a:pPr>
            <a:r>
              <a:rPr sz="2200" b="1" spc="-20" dirty="0">
                <a:latin typeface="Courier New"/>
                <a:cs typeface="Courier New"/>
              </a:rPr>
              <a:t>done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b="1" spc="-50" dirty="0">
                <a:latin typeface="Courier New"/>
                <a:cs typeface="Courier New"/>
              </a:rPr>
              <a:t>}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b="1" spc="-25" dirty="0">
                <a:latin typeface="Courier New"/>
                <a:cs typeface="Courier New"/>
              </a:rPr>
              <a:t>fun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66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4402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pc="290" dirty="0"/>
              <a:t>ARRAY</a:t>
            </a:r>
            <a:r>
              <a:rPr spc="335" dirty="0"/>
              <a:t> </a:t>
            </a:r>
            <a:r>
              <a:rPr spc="300" dirty="0"/>
              <a:t>VARIABLE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32089" y="5889964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9117" y="1400683"/>
            <a:ext cx="8016240" cy="289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</a:tabLst>
            </a:pPr>
            <a:r>
              <a:rPr sz="2400" spc="110" dirty="0">
                <a:latin typeface="Cambria"/>
                <a:cs typeface="Cambria"/>
              </a:rPr>
              <a:t>This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hold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multiple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same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time.</a:t>
            </a:r>
            <a:endParaRPr sz="24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204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100" dirty="0">
                <a:latin typeface="Cambria"/>
                <a:cs typeface="Cambria"/>
              </a:rPr>
              <a:t>Arrays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method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grouping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a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set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variables.</a:t>
            </a:r>
            <a:endParaRPr sz="2400">
              <a:latin typeface="Cambria"/>
              <a:cs typeface="Cambria"/>
            </a:endParaRPr>
          </a:p>
          <a:p>
            <a:pPr marL="368935" indent="-356235">
              <a:lnSpc>
                <a:spcPct val="100000"/>
              </a:lnSpc>
              <a:spcBef>
                <a:spcPts val="203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368935" algn="l"/>
              </a:tabLst>
            </a:pPr>
            <a:r>
              <a:rPr sz="2400" spc="105" dirty="0">
                <a:latin typeface="Cambria"/>
                <a:cs typeface="Cambria"/>
              </a:rPr>
              <a:t>syntax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array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initialization</a:t>
            </a:r>
            <a:endParaRPr sz="2400">
              <a:latin typeface="Cambria"/>
              <a:cs typeface="Cambria"/>
            </a:endParaRPr>
          </a:p>
          <a:p>
            <a:pPr marL="284480" indent="-271780">
              <a:lnSpc>
                <a:spcPct val="100000"/>
              </a:lnSpc>
              <a:spcBef>
                <a:spcPts val="203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4480" algn="l"/>
              </a:tabLst>
            </a:pPr>
            <a:r>
              <a:rPr sz="2400" spc="75" dirty="0">
                <a:latin typeface="Cambria"/>
                <a:cs typeface="Cambria"/>
              </a:rPr>
              <a:t>Array=(va1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va2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va3)</a:t>
            </a:r>
            <a:endParaRPr sz="2400">
              <a:latin typeface="Cambria"/>
              <a:cs typeface="Cambria"/>
            </a:endParaRPr>
          </a:p>
          <a:p>
            <a:pPr marL="285115" indent="-272415">
              <a:lnSpc>
                <a:spcPct val="100000"/>
              </a:lnSpc>
              <a:spcBef>
                <a:spcPts val="204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115" algn="l"/>
                <a:tab pos="1080135" algn="l"/>
              </a:tabLst>
            </a:pPr>
            <a:r>
              <a:rPr sz="2400" spc="-20" dirty="0">
                <a:latin typeface="Cambria"/>
                <a:cs typeface="Cambria"/>
              </a:rPr>
              <a:t>echo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75" dirty="0">
                <a:latin typeface="Cambria"/>
                <a:cs typeface="Cambria"/>
              </a:rPr>
              <a:t>“first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value=${Array[0]}”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16890" y="562545"/>
          <a:ext cx="7645400" cy="5915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2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spc="95" dirty="0">
                          <a:latin typeface="Cambria"/>
                          <a:cs typeface="Cambria"/>
                        </a:rPr>
                        <a:t>Syntax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ts val="2135"/>
                        </a:lnSpc>
                      </a:pPr>
                      <a:r>
                        <a:rPr sz="1800" spc="65" dirty="0">
                          <a:latin typeface="Cambria"/>
                          <a:cs typeface="Cambria"/>
                        </a:rPr>
                        <a:t>Result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arr=()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95" dirty="0">
                          <a:latin typeface="Cambria"/>
                          <a:cs typeface="Cambria"/>
                        </a:rPr>
                        <a:t>Create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18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empty</a:t>
                      </a:r>
                      <a:r>
                        <a:rPr sz="18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array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arr=(1</a:t>
                      </a:r>
                      <a:r>
                        <a:rPr sz="18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2</a:t>
                      </a:r>
                      <a:r>
                        <a:rPr sz="18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3)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75" dirty="0">
                          <a:latin typeface="Cambria"/>
                          <a:cs typeface="Cambria"/>
                        </a:rPr>
                        <a:t>Initialize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array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${arr[2]}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Retrieve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third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element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${arr[@]}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Retrieve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all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elements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${!arr[@]}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Retrieve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array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indices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${#arr[@]}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95" dirty="0">
                          <a:latin typeface="Cambria"/>
                          <a:cs typeface="Cambria"/>
                        </a:rPr>
                        <a:t>Calculate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array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size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arr[0]=3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0965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Overwrite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1st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element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096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arr+=(4)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Append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value(s)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str=$(ls)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100" dirty="0">
                          <a:latin typeface="Cambria"/>
                          <a:cs typeface="Cambria"/>
                        </a:rPr>
                        <a:t>Save</a:t>
                      </a:r>
                      <a:r>
                        <a:rPr sz="18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ls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output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string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60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arr=(</a:t>
                      </a:r>
                      <a:r>
                        <a:rPr sz="18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$(ls)</a:t>
                      </a:r>
                      <a:r>
                        <a:rPr sz="180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 marL="136715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800" spc="100" dirty="0">
                          <a:latin typeface="Cambria"/>
                          <a:cs typeface="Cambria"/>
                        </a:rPr>
                        <a:t>Save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ls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output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array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files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0160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756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5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${arr[@]:s:n}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50" marB="0"/>
                </a:tc>
                <a:tc>
                  <a:txBody>
                    <a:bodyPr/>
                    <a:lstStyle/>
                    <a:p>
                      <a:pPr marL="1367155" marR="26352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Retrieve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n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elements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starting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at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index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1493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332089" y="5889964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68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69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514" y="322833"/>
            <a:ext cx="24022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10" dirty="0">
                <a:solidFill>
                  <a:srgbClr val="405F40"/>
                </a:solidFill>
                <a:latin typeface="Calibri"/>
                <a:cs typeface="Calibri"/>
              </a:rPr>
              <a:t>#!/bin/bash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</a:pPr>
            <a:r>
              <a:rPr sz="2000" b="0" dirty="0">
                <a:solidFill>
                  <a:srgbClr val="405F40"/>
                </a:solidFill>
                <a:latin typeface="Calibri"/>
                <a:cs typeface="Calibri"/>
              </a:rPr>
              <a:t>#Declare</a:t>
            </a:r>
            <a:r>
              <a:rPr sz="2000" b="0" spc="-3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405F40"/>
                </a:solidFill>
                <a:latin typeface="Calibri"/>
                <a:cs typeface="Calibri"/>
              </a:rPr>
              <a:t>a</a:t>
            </a:r>
            <a:r>
              <a:rPr sz="2000" b="0" spc="-5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405F40"/>
                </a:solidFill>
                <a:latin typeface="Calibri"/>
                <a:cs typeface="Calibri"/>
              </a:rPr>
              <a:t>string</a:t>
            </a:r>
            <a:r>
              <a:rPr sz="2000" b="0" spc="-25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b="0" spc="-20" dirty="0">
                <a:solidFill>
                  <a:srgbClr val="405F40"/>
                </a:solidFill>
                <a:latin typeface="Calibri"/>
                <a:cs typeface="Calibri"/>
              </a:rPr>
              <a:t>array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514" y="1237233"/>
            <a:ext cx="633285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8080"/>
                </a:solidFill>
                <a:latin typeface="Calibri"/>
                <a:cs typeface="Calibri"/>
              </a:rPr>
              <a:t>Array</a:t>
            </a:r>
            <a:r>
              <a:rPr sz="2000" dirty="0">
                <a:latin typeface="Calibri"/>
                <a:cs typeface="Calibri"/>
              </a:rPr>
              <a:t>=(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"PHP"</a:t>
            </a:r>
            <a:r>
              <a:rPr sz="2000" spc="39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"Java"</a:t>
            </a:r>
            <a:r>
              <a:rPr sz="2000" spc="39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"C#"</a:t>
            </a:r>
            <a:r>
              <a:rPr sz="2000" spc="38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"C++"</a:t>
            </a:r>
            <a:r>
              <a:rPr sz="2000" spc="39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"VB.Net"</a:t>
            </a:r>
            <a:r>
              <a:rPr sz="2000" spc="380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"Python"</a:t>
            </a:r>
            <a:r>
              <a:rPr sz="2000" spc="370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2F2F"/>
                </a:solidFill>
                <a:latin typeface="Calibri"/>
                <a:cs typeface="Calibri"/>
              </a:rPr>
              <a:t>"Perl"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#</a:t>
            </a:r>
            <a:r>
              <a:rPr sz="2000" spc="-45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Print</a:t>
            </a:r>
            <a:r>
              <a:rPr sz="2000" spc="-3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5F40"/>
                </a:solidFill>
                <a:latin typeface="Calibri"/>
                <a:cs typeface="Calibri"/>
              </a:rPr>
              <a:t>array</a:t>
            </a:r>
            <a:r>
              <a:rPr sz="2000" spc="-4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values</a:t>
            </a:r>
            <a:r>
              <a:rPr sz="2000" spc="-5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in</a:t>
            </a:r>
            <a:r>
              <a:rPr sz="2000" spc="375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5F40"/>
                </a:solidFill>
                <a:latin typeface="Calibri"/>
                <a:cs typeface="Calibri"/>
              </a:rPr>
              <a:t>lines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8080"/>
                </a:solidFill>
                <a:latin typeface="Calibri"/>
                <a:cs typeface="Calibri"/>
              </a:rPr>
              <a:t>echo</a:t>
            </a:r>
            <a:r>
              <a:rPr sz="2000" spc="-50" dirty="0">
                <a:solidFill>
                  <a:srgbClr val="00808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"Print</a:t>
            </a:r>
            <a:r>
              <a:rPr sz="2000" spc="-4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every</a:t>
            </a:r>
            <a:r>
              <a:rPr sz="2000" spc="-3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element</a:t>
            </a:r>
            <a:r>
              <a:rPr sz="2000" spc="-20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new</a:t>
            </a:r>
            <a:r>
              <a:rPr sz="2000" spc="-4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2F2F"/>
                </a:solidFill>
                <a:latin typeface="Calibri"/>
                <a:cs typeface="Calibri"/>
              </a:rPr>
              <a:t>line"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1F5F9F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1F5F9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val1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5F9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1F5F9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5F40"/>
                </a:solidFill>
                <a:latin typeface="Calibri"/>
                <a:cs typeface="Calibri"/>
              </a:rPr>
              <a:t>${Array[*]}</a:t>
            </a:r>
            <a:r>
              <a:rPr sz="2000" spc="-10" dirty="0">
                <a:latin typeface="Calibri"/>
                <a:cs typeface="Calibri"/>
              </a:rPr>
              <a:t>;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F5F9F"/>
                </a:solidFill>
                <a:latin typeface="Calibri"/>
                <a:cs typeface="Calibri"/>
              </a:rPr>
              <a:t>do</a:t>
            </a:r>
            <a:endParaRPr sz="2000">
              <a:latin typeface="Calibri"/>
              <a:cs typeface="Calibri"/>
            </a:endParaRPr>
          </a:p>
          <a:p>
            <a:pPr marL="12700" marR="4916805" indent="28511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8080"/>
                </a:solidFill>
                <a:latin typeface="Calibri"/>
                <a:cs typeface="Calibri"/>
              </a:rPr>
              <a:t>echo</a:t>
            </a:r>
            <a:r>
              <a:rPr sz="2000" spc="-45" dirty="0">
                <a:solidFill>
                  <a:srgbClr val="00808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9F8000"/>
                </a:solidFill>
                <a:latin typeface="Calibri"/>
                <a:cs typeface="Calibri"/>
              </a:rPr>
              <a:t>$val1 </a:t>
            </a:r>
            <a:r>
              <a:rPr sz="2000" spc="-20" dirty="0">
                <a:solidFill>
                  <a:srgbClr val="1F5F9F"/>
                </a:solidFill>
                <a:latin typeface="Calibri"/>
                <a:cs typeface="Calibri"/>
              </a:rPr>
              <a:t>done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008080"/>
                </a:solidFill>
                <a:latin typeface="Calibri"/>
                <a:cs typeface="Calibri"/>
              </a:rPr>
              <a:t>echo</a:t>
            </a:r>
            <a:r>
              <a:rPr sz="2000" spc="-20" dirty="0">
                <a:solidFill>
                  <a:srgbClr val="00808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C02F2F"/>
                </a:solidFill>
                <a:latin typeface="Calibri"/>
                <a:cs typeface="Calibri"/>
              </a:rPr>
              <a:t>""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514" y="4591050"/>
            <a:ext cx="411416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#</a:t>
            </a:r>
            <a:r>
              <a:rPr sz="2000" spc="-45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Print</a:t>
            </a:r>
            <a:r>
              <a:rPr sz="2000" spc="-35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5F40"/>
                </a:solidFill>
                <a:latin typeface="Calibri"/>
                <a:cs typeface="Calibri"/>
              </a:rPr>
              <a:t>array</a:t>
            </a:r>
            <a:r>
              <a:rPr sz="2000" spc="-4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values</a:t>
            </a:r>
            <a:r>
              <a:rPr sz="2000" spc="-55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5F40"/>
                </a:solidFill>
                <a:latin typeface="Calibri"/>
                <a:cs typeface="Calibri"/>
              </a:rPr>
              <a:t>one</a:t>
            </a:r>
            <a:r>
              <a:rPr sz="2000" spc="-50" dirty="0">
                <a:solidFill>
                  <a:srgbClr val="405F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5F40"/>
                </a:solidFill>
                <a:latin typeface="Calibri"/>
                <a:cs typeface="Calibri"/>
              </a:rPr>
              <a:t>line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8080"/>
                </a:solidFill>
                <a:latin typeface="Calibri"/>
                <a:cs typeface="Calibri"/>
              </a:rPr>
              <a:t>echo</a:t>
            </a:r>
            <a:r>
              <a:rPr sz="2000" spc="-45" dirty="0">
                <a:solidFill>
                  <a:srgbClr val="00808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"Print</a:t>
            </a:r>
            <a:r>
              <a:rPr sz="2000" spc="-40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all</a:t>
            </a:r>
            <a:r>
              <a:rPr sz="2000" spc="-3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elements</a:t>
            </a:r>
            <a:r>
              <a:rPr sz="2000" spc="-20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2F2F"/>
                </a:solidFill>
                <a:latin typeface="Calibri"/>
                <a:cs typeface="Calibri"/>
              </a:rPr>
              <a:t>single</a:t>
            </a:r>
            <a:r>
              <a:rPr sz="2000" spc="-40" dirty="0">
                <a:solidFill>
                  <a:srgbClr val="C02F2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2F2F"/>
                </a:solidFill>
                <a:latin typeface="Calibri"/>
                <a:cs typeface="Calibri"/>
              </a:rPr>
              <a:t>line"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1F5F9F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1F5F9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val2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5F9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1F5F9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C02F2F"/>
                </a:solidFill>
                <a:latin typeface="Calibri"/>
                <a:cs typeface="Calibri"/>
              </a:rPr>
              <a:t>"${Array[*]}"</a:t>
            </a:r>
            <a:r>
              <a:rPr sz="2000" spc="-10" dirty="0">
                <a:latin typeface="Calibri"/>
                <a:cs typeface="Calibri"/>
              </a:rPr>
              <a:t>;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F5F9F"/>
                </a:solidFill>
                <a:latin typeface="Calibri"/>
                <a:cs typeface="Calibri"/>
              </a:rPr>
              <a:t>do</a:t>
            </a:r>
            <a:endParaRPr sz="2000">
              <a:latin typeface="Calibri"/>
              <a:cs typeface="Calibri"/>
            </a:endParaRPr>
          </a:p>
          <a:p>
            <a:pPr marL="12700" marR="2754630" indent="228600">
              <a:lnSpc>
                <a:spcPct val="100000"/>
              </a:lnSpc>
            </a:pPr>
            <a:r>
              <a:rPr sz="2000" dirty="0">
                <a:solidFill>
                  <a:srgbClr val="008080"/>
                </a:solidFill>
                <a:latin typeface="Calibri"/>
                <a:cs typeface="Calibri"/>
              </a:rPr>
              <a:t>echo</a:t>
            </a:r>
            <a:r>
              <a:rPr sz="2000" spc="-45" dirty="0">
                <a:solidFill>
                  <a:srgbClr val="00808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9F8000"/>
                </a:solidFill>
                <a:latin typeface="Calibri"/>
                <a:cs typeface="Calibri"/>
              </a:rPr>
              <a:t>$val2 </a:t>
            </a:r>
            <a:r>
              <a:rPr sz="2000" spc="-20" dirty="0">
                <a:solidFill>
                  <a:srgbClr val="1F5F9F"/>
                </a:solidFill>
                <a:latin typeface="Calibri"/>
                <a:cs typeface="Calibri"/>
              </a:rPr>
              <a:t>done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8080"/>
                </a:solidFill>
                <a:latin typeface="Calibri"/>
                <a:cs typeface="Calibri"/>
              </a:rPr>
              <a:t>echo</a:t>
            </a:r>
            <a:r>
              <a:rPr sz="2000" spc="-45" dirty="0">
                <a:solidFill>
                  <a:srgbClr val="00808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C02F2F"/>
                </a:solidFill>
                <a:latin typeface="Calibri"/>
                <a:cs typeface="Calibri"/>
              </a:rPr>
              <a:t>""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70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331419"/>
            <a:ext cx="2654935" cy="197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#!/bin/bash</a:t>
            </a:r>
            <a:endParaRPr sz="1600">
              <a:latin typeface="Times New Roman"/>
              <a:cs typeface="Times New Roman"/>
            </a:endParaRPr>
          </a:p>
          <a:p>
            <a:pPr marL="12700" marR="2316480" algn="just">
              <a:lnSpc>
                <a:spcPct val="100000"/>
              </a:lnSpc>
              <a:spcBef>
                <a:spcPts val="5"/>
              </a:spcBef>
            </a:pPr>
            <a:r>
              <a:rPr sz="1600" spc="-25" dirty="0">
                <a:latin typeface="Times New Roman"/>
                <a:cs typeface="Times New Roman"/>
              </a:rPr>
              <a:t>i=0 p=0 n=0 z=0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$i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le 9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Times New Roman"/>
                <a:cs typeface="Times New Roman"/>
              </a:rPr>
              <a:t>do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read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"Enter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Number: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a[$i]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965" y="2526918"/>
            <a:ext cx="1973580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${a[$i]}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gt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0" dirty="0">
                <a:latin typeface="Times New Roman"/>
                <a:cs typeface="Times New Roman"/>
              </a:rPr>
              <a:t>then</a:t>
            </a:r>
            <a:endParaRPr sz="1600">
              <a:latin typeface="Times New Roman"/>
              <a:cs typeface="Times New Roman"/>
            </a:endParaRPr>
          </a:p>
          <a:p>
            <a:pPr marL="12700" marR="742315" indent="202565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p=$(($p+1)) </a:t>
            </a:r>
            <a:r>
              <a:rPr sz="1600" spc="-20" dirty="0">
                <a:latin typeface="Times New Roman"/>
                <a:cs typeface="Times New Roman"/>
              </a:rPr>
              <a:t>else</a:t>
            </a:r>
            <a:endParaRPr sz="1600">
              <a:latin typeface="Times New Roman"/>
              <a:cs typeface="Times New Roman"/>
            </a:endParaRPr>
          </a:p>
          <a:p>
            <a:pPr marL="215265" marR="19177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[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${a[$i]}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eq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] </a:t>
            </a:r>
            <a:r>
              <a:rPr sz="1600" spc="-20" dirty="0">
                <a:latin typeface="Times New Roman"/>
                <a:cs typeface="Times New Roman"/>
              </a:rPr>
              <a:t>then</a:t>
            </a:r>
            <a:endParaRPr sz="16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z=$(($z+1))</a:t>
            </a:r>
            <a:endParaRPr sz="16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Times New Roman"/>
                <a:cs typeface="Times New Roman"/>
              </a:rPr>
              <a:t>else</a:t>
            </a:r>
            <a:endParaRPr sz="160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n=$(($n+1))</a:t>
            </a:r>
            <a:endParaRPr sz="16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</a:pPr>
            <a:r>
              <a:rPr sz="1600" spc="-25" dirty="0">
                <a:latin typeface="Times New Roman"/>
                <a:cs typeface="Times New Roman"/>
              </a:rPr>
              <a:t>fi</a:t>
            </a:r>
            <a:endParaRPr sz="1600">
              <a:latin typeface="Times New Roman"/>
              <a:cs typeface="Times New Roman"/>
            </a:endParaRPr>
          </a:p>
          <a:p>
            <a:pPr marL="12700" marR="1036319">
              <a:lnSpc>
                <a:spcPct val="100000"/>
              </a:lnSpc>
            </a:pPr>
            <a:r>
              <a:rPr sz="1600" spc="-25" dirty="0">
                <a:latin typeface="Times New Roman"/>
                <a:cs typeface="Times New Roman"/>
              </a:rPr>
              <a:t>fi </a:t>
            </a:r>
            <a:r>
              <a:rPr sz="1600" spc="-10" dirty="0">
                <a:latin typeface="Times New Roman"/>
                <a:cs typeface="Times New Roman"/>
              </a:rPr>
              <a:t>i=$(($i+1)) </a:t>
            </a:r>
            <a:r>
              <a:rPr sz="1600" spc="-20" dirty="0">
                <a:latin typeface="Times New Roman"/>
                <a:cs typeface="Times New Roman"/>
              </a:rPr>
              <a:t>done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"+ve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number=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$p" </a:t>
            </a: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"-</a:t>
            </a:r>
            <a:r>
              <a:rPr sz="1600" dirty="0">
                <a:latin typeface="Times New Roman"/>
                <a:cs typeface="Times New Roman"/>
              </a:rPr>
              <a:t>ve no=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$n"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"zero=</a:t>
            </a:r>
            <a:r>
              <a:rPr sz="1600" spc="-25" dirty="0">
                <a:latin typeface="Times New Roman"/>
                <a:cs typeface="Times New Roman"/>
              </a:rPr>
              <a:t> $z"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32089" y="587054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71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539" y="255219"/>
            <a:ext cx="9925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#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!/bin/bash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539" y="743458"/>
            <a:ext cx="2598420" cy="5634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clear</a:t>
            </a:r>
            <a:endParaRPr sz="1600">
              <a:latin typeface="Times New Roman"/>
              <a:cs typeface="Times New Roman"/>
            </a:endParaRPr>
          </a:p>
          <a:p>
            <a:pPr marL="12700" marR="906144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read </a:t>
            </a:r>
            <a:r>
              <a:rPr sz="1600" spc="-2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"string=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str </a:t>
            </a:r>
            <a:r>
              <a:rPr sz="1600" spc="-20" dirty="0">
                <a:latin typeface="Times New Roman"/>
                <a:cs typeface="Times New Roman"/>
              </a:rPr>
              <a:t>echo</a:t>
            </a:r>
            <a:endParaRPr sz="1600">
              <a:latin typeface="Times New Roman"/>
              <a:cs typeface="Times New Roman"/>
            </a:endParaRPr>
          </a:p>
          <a:p>
            <a:pPr marL="12700" marR="74993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len=`echo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$str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|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wc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-</a:t>
            </a:r>
            <a:r>
              <a:rPr sz="1600" spc="-25" dirty="0">
                <a:latin typeface="Times New Roman"/>
                <a:cs typeface="Times New Roman"/>
              </a:rPr>
              <a:t>c` </a:t>
            </a: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"len=$len" len=$((len-</a:t>
            </a:r>
            <a:r>
              <a:rPr sz="1600" spc="-25" dirty="0">
                <a:latin typeface="Times New Roman"/>
                <a:cs typeface="Times New Roman"/>
              </a:rPr>
              <a:t>1))</a:t>
            </a:r>
            <a:endParaRPr sz="1600">
              <a:latin typeface="Times New Roman"/>
              <a:cs typeface="Times New Roman"/>
            </a:endParaRPr>
          </a:p>
          <a:p>
            <a:pPr marL="12700" marR="126301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"len=$len" </a:t>
            </a:r>
            <a:r>
              <a:rPr sz="1600" spc="-25" dirty="0">
                <a:latin typeface="Times New Roman"/>
                <a:cs typeface="Times New Roman"/>
              </a:rPr>
              <a:t>i=1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j=`expr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$len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2`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"j=$j"</a:t>
            </a:r>
            <a:endParaRPr sz="1600">
              <a:latin typeface="Times New Roman"/>
              <a:cs typeface="Times New Roman"/>
            </a:endParaRPr>
          </a:p>
          <a:p>
            <a:pPr marL="12700" marR="110553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 $i</a:t>
            </a:r>
            <a:r>
              <a:rPr sz="1600" spc="-25" dirty="0">
                <a:latin typeface="Times New Roman"/>
                <a:cs typeface="Times New Roman"/>
              </a:rPr>
              <a:t> -</a:t>
            </a:r>
            <a:r>
              <a:rPr sz="1600" dirty="0">
                <a:latin typeface="Times New Roman"/>
                <a:cs typeface="Times New Roman"/>
              </a:rPr>
              <a:t>le </a:t>
            </a:r>
            <a:r>
              <a:rPr sz="1600" spc="-25" dirty="0">
                <a:latin typeface="Times New Roman"/>
                <a:cs typeface="Times New Roman"/>
              </a:rPr>
              <a:t>$j do</a:t>
            </a:r>
            <a:endParaRPr sz="1600">
              <a:latin typeface="Times New Roman"/>
              <a:cs typeface="Times New Roman"/>
            </a:endParaRPr>
          </a:p>
          <a:p>
            <a:pPr marL="12700" marR="52641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k=`echo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$str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|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cut</a:t>
            </a:r>
            <a:r>
              <a:rPr sz="1600" spc="-25" dirty="0">
                <a:latin typeface="Times New Roman"/>
                <a:cs typeface="Times New Roman"/>
              </a:rPr>
              <a:t> -</a:t>
            </a:r>
            <a:r>
              <a:rPr sz="1600" dirty="0">
                <a:latin typeface="Times New Roman"/>
                <a:cs typeface="Times New Roman"/>
              </a:rPr>
              <a:t>c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$i` </a:t>
            </a:r>
            <a:r>
              <a:rPr sz="1600" dirty="0">
                <a:latin typeface="Times New Roman"/>
                <a:cs typeface="Times New Roman"/>
              </a:rPr>
              <a:t>l=`echo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$str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|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c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$len`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test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$k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!=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$l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latin typeface="Times New Roman"/>
                <a:cs typeface="Times New Roman"/>
              </a:rPr>
              <a:t>then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"String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palindrome" </a:t>
            </a:r>
            <a:r>
              <a:rPr sz="1600" spc="-20" dirty="0">
                <a:latin typeface="Times New Roman"/>
                <a:cs typeface="Times New Roman"/>
              </a:rPr>
              <a:t>exit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Times New Roman"/>
                <a:cs typeface="Times New Roman"/>
              </a:rPr>
              <a:t>fi</a:t>
            </a:r>
            <a:endParaRPr sz="1600">
              <a:latin typeface="Times New Roman"/>
              <a:cs typeface="Times New Roman"/>
            </a:endParaRPr>
          </a:p>
          <a:p>
            <a:pPr marL="12700" marR="10414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i=`expr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$i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+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1` </a:t>
            </a:r>
            <a:r>
              <a:rPr sz="1600" dirty="0">
                <a:latin typeface="Times New Roman"/>
                <a:cs typeface="Times New Roman"/>
              </a:rPr>
              <a:t>len=`expr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$len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1` </a:t>
            </a:r>
            <a:r>
              <a:rPr sz="1600" spc="-20" dirty="0">
                <a:latin typeface="Times New Roman"/>
                <a:cs typeface="Times New Roman"/>
              </a:rPr>
              <a:t>done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echo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"String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palindrome"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3665</Words>
  <Application>Microsoft Office PowerPoint</Application>
  <PresentationFormat>On-screen Show (4:3)</PresentationFormat>
  <Paragraphs>803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Arial MT</vt:lpstr>
      <vt:lpstr>Calibri</vt:lpstr>
      <vt:lpstr>Cambria</vt:lpstr>
      <vt:lpstr>Courier New</vt:lpstr>
      <vt:lpstr>Segoe UI Symbol</vt:lpstr>
      <vt:lpstr>Times New Roman</vt:lpstr>
      <vt:lpstr>Wingdings</vt:lpstr>
      <vt:lpstr>Office Theme</vt:lpstr>
      <vt:lpstr>Shell Scripting</vt:lpstr>
      <vt:lpstr>What is Shell</vt:lpstr>
      <vt:lpstr>PowerPoint Presentation</vt:lpstr>
      <vt:lpstr>Types of shells</vt:lpstr>
      <vt:lpstr>Basic Shell Programming</vt:lpstr>
      <vt:lpstr>Bash shell programming</vt:lpstr>
      <vt:lpstr>Variable</vt:lpstr>
      <vt:lpstr>Special shell variables</vt:lpstr>
      <vt:lpstr>PowerPoint Presentation</vt:lpstr>
      <vt:lpstr>PowerPoint Presentation</vt:lpstr>
      <vt:lpstr>Arithmetic Operators</vt:lpstr>
      <vt:lpstr>Arithmetic Operators</vt:lpstr>
      <vt:lpstr>PowerPoint Presentation</vt:lpstr>
      <vt:lpstr>Relational Operators</vt:lpstr>
      <vt:lpstr>Boolean Operators</vt:lpstr>
      <vt:lpstr>String Operators</vt:lpstr>
      <vt:lpstr>User input</vt:lpstr>
      <vt:lpstr>User input example</vt:lpstr>
      <vt:lpstr>BASH CONTROL STRUCTURES</vt:lpstr>
      <vt:lpstr>PowerPoint Presentation</vt:lpstr>
      <vt:lpstr>TEST COMMAND</vt:lpstr>
      <vt:lpstr>The simple if statement</vt:lpstr>
      <vt:lpstr>The if-then-else statement</vt:lpstr>
      <vt:lpstr>The if…statement</vt:lpstr>
      <vt:lpstr>Relational Operators</vt:lpstr>
      <vt:lpstr>Compound logical expressions</vt:lpstr>
      <vt:lpstr>Example: Using the ! Operator</vt:lpstr>
      <vt:lpstr>Example: Using the &amp;&amp; Operator</vt:lpstr>
      <vt:lpstr>Example: Using the || Operator</vt:lpstr>
      <vt:lpstr>File Testing</vt:lpstr>
      <vt:lpstr>Example: File Testing</vt:lpstr>
      <vt:lpstr>Example: File Testing</vt:lpstr>
      <vt:lpstr>Example: if… Statement</vt:lpstr>
      <vt:lpstr>The case Statement</vt:lpstr>
      <vt:lpstr>PowerPoint Presentation</vt:lpstr>
      <vt:lpstr>Example 1: The case Statement</vt:lpstr>
      <vt:lpstr>Bash programming: so far</vt:lpstr>
      <vt:lpstr>Bash programming: still to come</vt:lpstr>
      <vt:lpstr>Repetition Constructs</vt:lpstr>
      <vt:lpstr>The while Loop</vt:lpstr>
      <vt:lpstr>Example: Using the while Loop</vt:lpstr>
      <vt:lpstr>Example: Using the while Loop</vt:lpstr>
      <vt:lpstr>Example: Using the while Loop</vt:lpstr>
      <vt:lpstr>The until Loop</vt:lpstr>
      <vt:lpstr>Example: Using the until Loop</vt:lpstr>
      <vt:lpstr>Example: Using the until Loop</vt:lpstr>
      <vt:lpstr>The for Loop</vt:lpstr>
      <vt:lpstr>Example 1: The for Loop</vt:lpstr>
      <vt:lpstr>Example 2: Using the for Loop</vt:lpstr>
      <vt:lpstr>Using comma in the bash C-style for LOOP</vt:lpstr>
      <vt:lpstr>Select command</vt:lpstr>
      <vt:lpstr>Select example</vt:lpstr>
      <vt:lpstr>Select detail</vt:lpstr>
      <vt:lpstr>Select example</vt:lpstr>
      <vt:lpstr>BREAK AND CONTINUE</vt:lpstr>
      <vt:lpstr>The break command</vt:lpstr>
      <vt:lpstr>The continue command</vt:lpstr>
      <vt:lpstr>Example:</vt:lpstr>
      <vt:lpstr>Bash shell programming</vt:lpstr>
      <vt:lpstr>Shell Functions</vt:lpstr>
      <vt:lpstr>Shell Functions</vt:lpstr>
      <vt:lpstr>Example: function</vt:lpstr>
      <vt:lpstr>Example: function</vt:lpstr>
      <vt:lpstr>ARRAY VARIABLE</vt:lpstr>
      <vt:lpstr>PowerPoint Presentation</vt:lpstr>
      <vt:lpstr>#!/bin/bash #Declare a string array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Bash Programming</dc:title>
  <dc:subject>CSCI 330: The UNIX System</dc:subject>
  <dc:creator>Raimund Ege</dc:creator>
  <cp:lastModifiedBy>patel rakesh</cp:lastModifiedBy>
  <cp:revision>1</cp:revision>
  <dcterms:created xsi:type="dcterms:W3CDTF">2026-02-27T06:28:13Z</dcterms:created>
  <dcterms:modified xsi:type="dcterms:W3CDTF">2026-02-27T08:13:14Z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2026-02-27T00:00:00Z</vt:filetime>
  </property>
  <property fmtid="{D5CDD505-2E9C-101B-9397-08002B2CF9AE}" pid="5" name="Producer">
    <vt:lpwstr>Microsoft® PowerPoint® 2016</vt:lpwstr>
  </property>
</Properties>
</file>