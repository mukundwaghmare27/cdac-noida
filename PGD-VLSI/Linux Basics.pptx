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8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15DA3C-182D-4949-83FA-72CE0F3859EF}" v="4" dt="2026-02-26T08:30:17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el rakesh" userId="74ee47eba30fd748" providerId="LiveId" clId="{6D32CA86-25F8-411B-B6F7-5DE79421E0F4}"/>
    <pc:docChg chg="custSel addSld delSld modSld sldOrd">
      <pc:chgData name="patel rakesh" userId="74ee47eba30fd748" providerId="LiveId" clId="{6D32CA86-25F8-411B-B6F7-5DE79421E0F4}" dt="2026-02-26T08:30:41.527" v="35" actId="5793"/>
      <pc:docMkLst>
        <pc:docMk/>
      </pc:docMkLst>
      <pc:sldChg chg="modSp mod">
        <pc:chgData name="patel rakesh" userId="74ee47eba30fd748" providerId="LiveId" clId="{6D32CA86-25F8-411B-B6F7-5DE79421E0F4}" dt="2026-02-26T08:30:41.527" v="35" actId="5793"/>
        <pc:sldMkLst>
          <pc:docMk/>
          <pc:sldMk cId="3511314718" sldId="270"/>
        </pc:sldMkLst>
        <pc:spChg chg="mod">
          <ac:chgData name="patel rakesh" userId="74ee47eba30fd748" providerId="LiveId" clId="{6D32CA86-25F8-411B-B6F7-5DE79421E0F4}" dt="2026-02-26T08:30:27.121" v="32" actId="14100"/>
          <ac:spMkLst>
            <pc:docMk/>
            <pc:sldMk cId="3511314718" sldId="270"/>
            <ac:spMk id="2" creationId="{5FC35B1F-A84B-811B-EA27-4617F03FB00D}"/>
          </ac:spMkLst>
        </pc:spChg>
        <pc:spChg chg="mod">
          <ac:chgData name="patel rakesh" userId="74ee47eba30fd748" providerId="LiveId" clId="{6D32CA86-25F8-411B-B6F7-5DE79421E0F4}" dt="2026-02-26T08:30:41.527" v="35" actId="5793"/>
          <ac:spMkLst>
            <pc:docMk/>
            <pc:sldMk cId="3511314718" sldId="270"/>
            <ac:spMk id="3" creationId="{81C6EFEA-26DC-9D4B-4EC8-5AB287A39D93}"/>
          </ac:spMkLst>
        </pc:spChg>
      </pc:sldChg>
      <pc:sldChg chg="ord">
        <pc:chgData name="patel rakesh" userId="74ee47eba30fd748" providerId="LiveId" clId="{6D32CA86-25F8-411B-B6F7-5DE79421E0F4}" dt="2026-02-26T08:26:50.175" v="24"/>
        <pc:sldMkLst>
          <pc:docMk/>
          <pc:sldMk cId="1384498616" sldId="274"/>
        </pc:sldMkLst>
      </pc:sldChg>
      <pc:sldChg chg="del">
        <pc:chgData name="patel rakesh" userId="74ee47eba30fd748" providerId="LiveId" clId="{6D32CA86-25F8-411B-B6F7-5DE79421E0F4}" dt="2026-02-26T08:26:35.668" v="22" actId="2696"/>
        <pc:sldMkLst>
          <pc:docMk/>
          <pc:sldMk cId="2858341877" sldId="275"/>
        </pc:sldMkLst>
      </pc:sldChg>
      <pc:sldChg chg="modSp new mod">
        <pc:chgData name="patel rakesh" userId="74ee47eba30fd748" providerId="LiveId" clId="{6D32CA86-25F8-411B-B6F7-5DE79421E0F4}" dt="2026-02-26T08:24:48.518" v="21" actId="113"/>
        <pc:sldMkLst>
          <pc:docMk/>
          <pc:sldMk cId="1149953090" sldId="278"/>
        </pc:sldMkLst>
        <pc:spChg chg="mod">
          <ac:chgData name="patel rakesh" userId="74ee47eba30fd748" providerId="LiveId" clId="{6D32CA86-25F8-411B-B6F7-5DE79421E0F4}" dt="2026-02-26T08:22:53.324" v="7" actId="27636"/>
          <ac:spMkLst>
            <pc:docMk/>
            <pc:sldMk cId="1149953090" sldId="278"/>
            <ac:spMk id="2" creationId="{3AEBDD05-024A-5371-021B-1D781CA02F80}"/>
          </ac:spMkLst>
        </pc:spChg>
        <pc:spChg chg="mod">
          <ac:chgData name="patel rakesh" userId="74ee47eba30fd748" providerId="LiveId" clId="{6D32CA86-25F8-411B-B6F7-5DE79421E0F4}" dt="2026-02-26T08:24:48.518" v="21" actId="113"/>
          <ac:spMkLst>
            <pc:docMk/>
            <pc:sldMk cId="1149953090" sldId="278"/>
            <ac:spMk id="3" creationId="{DE52E87E-3ECC-73A0-4BAB-38B25182ED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5B8A-33EC-FA43-F27C-40C83CC1F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B808E-D4EB-722D-D699-1B6EEF299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4808B-73B2-C1F9-DA3E-A49FAFC0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AC353-E3F4-4E93-1891-3208BD15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02C86-3D40-96CD-7161-6483E2F9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6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0C3A1-3D27-849A-D60C-070C6F642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3BB7-051B-1CBE-7BE8-95C810979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0661B-39B2-2CED-2D5F-391340149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D841D-DE61-29C2-4D2E-2CF87DA9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B9F97-93CC-D707-0DFB-BB3D75FA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4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5C34-2F47-0D02-0C36-CBA672B28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D9E5E-937A-07B3-1250-6C21B0A9F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9B7B7-5EF2-5702-DFE2-CF9D01E7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0C84B-EF81-557F-E765-74A5EBD3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E9480-9A53-0681-1E2D-7FF6C2EF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7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5189-45F4-8A09-4C4F-5E23A5C2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A8F7C-64F7-1CCB-553A-AD19694CB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14272-97D9-7E96-36A0-FE743B8DB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E930E-C5DF-09B5-344D-1FB58DC8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86032-9676-924F-BC57-AB905D568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17B28-273E-8B38-DA69-3946A7794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7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49D3-AE67-DCA4-5F56-10364DDC1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7585C-83B8-36E2-56DB-A083CED7E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0DE35-1587-0E51-9F51-3AA8B7F00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92E13-74B7-78C6-E137-2EDA87166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B9EA5-44E9-4DA5-0915-45AD290CE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53B151-CB49-92A8-9C16-3F0F0EE81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7CA437-2873-D7A9-9857-F8096A432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594E9-137A-A198-D9D3-8A11C6DF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8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21F8-6DD3-8262-FD0B-493F64B0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C09DA6-29E9-CDD5-291F-05D60605D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CDD54-98F0-FAFF-087B-786B71680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D11B8-7009-68FE-8CBF-ED42F365E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8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BB2CA-1C32-BB2A-4F49-BC814C81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1144A-7FF7-7D69-75B7-E3F3356D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4985E-57A5-2885-E741-C5B944032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58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548F-FB66-7A23-D766-90B105DFB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71F1C-985F-7525-3BB6-E24F2FC9E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C6D94-1A7B-A3AB-DD69-F1074017A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C4E16-E752-A307-6686-9AD372BA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9BF93-0E74-D694-9061-89241E782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8C073-5AE6-D332-0C63-8D3A5C48B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7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36B6-A035-606D-887C-FB4DAEEF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E642A6-63E4-41EB-7F1D-B42E79C71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B3A61-62FF-9559-3169-41B317B4F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F397F-ADCA-F084-C89E-EA32338C3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DBC11-2A25-16D0-C788-5593AA6E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83B62-9043-A09B-117D-2C1A691A9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08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81A4-E21D-2F65-56DB-A9FFFFA76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052DF-7AF2-F455-7338-B368336C3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E8874-7FBC-87BD-BEAB-79A4B8B3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240BB-C9EC-824A-833B-0FED7674D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D564E-5B3D-7039-78C3-04A0502F3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51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93D6A-3F1B-5283-8DE0-1C687BFB66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B5847-AD4D-9482-DC3C-30F98F6F3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1F397-3685-3870-C6FF-5136531D3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B0C89-956E-9D33-31B5-485C3E71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B79AF-35A8-8E9C-6EA8-76DF5AE4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51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2B20E-7F02-2523-E3FF-04ECFACFB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ED15E-8EF2-1828-1B2E-C0261C7FE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85E15-8BB0-3B2B-797D-249B9D3D1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F44FE-56A1-4EC9-B48B-39FDF5BF46E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DF070-3C3F-C67B-E3FD-675FBB5BB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30C58-9CC6-D67B-5A52-362F24E80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40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C2A5-039C-CE97-B52A-6E917A6B7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108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Linux Basics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PGCP-VLSI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Linux Shell Scripting &amp; Python</a:t>
            </a:r>
            <a:br>
              <a:rPr lang="en-US" dirty="0"/>
            </a:br>
            <a:br>
              <a:rPr lang="en-US" dirty="0"/>
            </a:br>
            <a:r>
              <a:rPr lang="en-US" sz="2200" dirty="0"/>
              <a:t>Mr. Mukund Waghmare – HPC/AI Engineer – CDAC Noida</a:t>
            </a:r>
          </a:p>
        </p:txBody>
      </p:sp>
    </p:spTree>
    <p:extLst>
      <p:ext uri="{BB962C8B-B14F-4D97-AF65-F5344CB8AC3E}">
        <p14:creationId xmlns:p14="http://schemas.microsoft.com/office/powerpoint/2010/main" val="3515819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CE4F-9C2F-D32A-E71E-0352E9EE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DF3FE-A2E7-C709-E8C7-C8DF4FBA7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 is an Operating System?</a:t>
            </a:r>
          </a:p>
          <a:p>
            <a:pPr marL="0" indent="0">
              <a:buNone/>
            </a:pPr>
            <a:r>
              <a:rPr lang="en-IN" dirty="0"/>
              <a:t>An OS is system software that:</a:t>
            </a:r>
          </a:p>
          <a:p>
            <a:r>
              <a:rPr lang="en-IN" dirty="0"/>
              <a:t>Manages </a:t>
            </a:r>
            <a:r>
              <a:rPr lang="en-IN" b="1" dirty="0"/>
              <a:t>CPU (Process Management)</a:t>
            </a:r>
            <a:endParaRPr lang="en-IN" dirty="0"/>
          </a:p>
          <a:p>
            <a:r>
              <a:rPr lang="en-IN" dirty="0"/>
              <a:t>Manages </a:t>
            </a:r>
            <a:r>
              <a:rPr lang="en-IN" b="1" dirty="0"/>
              <a:t>Memory (RAM allocation)</a:t>
            </a:r>
            <a:endParaRPr lang="en-IN" dirty="0"/>
          </a:p>
          <a:p>
            <a:r>
              <a:rPr lang="en-IN" dirty="0"/>
              <a:t>Manages </a:t>
            </a:r>
            <a:r>
              <a:rPr lang="en-IN" b="1" dirty="0"/>
              <a:t>File System</a:t>
            </a:r>
            <a:endParaRPr lang="en-IN" dirty="0"/>
          </a:p>
          <a:p>
            <a:r>
              <a:rPr lang="en-IN" dirty="0"/>
              <a:t>Manages </a:t>
            </a:r>
            <a:r>
              <a:rPr lang="en-IN" b="1" dirty="0"/>
              <a:t>I/O Devices</a:t>
            </a:r>
            <a:endParaRPr lang="en-IN" dirty="0"/>
          </a:p>
          <a:p>
            <a:r>
              <a:rPr lang="en-IN" dirty="0"/>
              <a:t>Provides </a:t>
            </a:r>
            <a:r>
              <a:rPr lang="en-IN" b="1" dirty="0"/>
              <a:t>User Interface (CLI/GUI)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0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1E66-AE43-2523-F4F7-46E359D3D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Linux?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D31E-D1A3-CCAF-5BFF-2D9AF3F1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is a </a:t>
            </a:r>
            <a:r>
              <a:rPr lang="en-US" b="1" dirty="0"/>
              <a:t>Unix-like, open-source operating system</a:t>
            </a:r>
            <a:endParaRPr lang="en-US" dirty="0"/>
          </a:p>
          <a:p>
            <a:r>
              <a:rPr lang="en-US" dirty="0"/>
              <a:t>Released in 1991 by Linus Torvalds</a:t>
            </a:r>
          </a:p>
          <a:p>
            <a:r>
              <a:rPr lang="en-US" dirty="0"/>
              <a:t>Kernel-based architecture</a:t>
            </a:r>
          </a:p>
          <a:p>
            <a:r>
              <a:rPr lang="en-US" dirty="0"/>
              <a:t>Multi-user, multi-tasking, secure</a:t>
            </a:r>
          </a:p>
          <a:p>
            <a:pPr marL="0" indent="0">
              <a:buNone/>
            </a:pPr>
            <a:r>
              <a:rPr lang="en-US" b="1" dirty="0"/>
              <a:t>GNU + Linux</a:t>
            </a:r>
          </a:p>
          <a:p>
            <a:r>
              <a:rPr lang="en-US" dirty="0"/>
              <a:t>GNU → Utilities</a:t>
            </a:r>
          </a:p>
          <a:p>
            <a:r>
              <a:rPr lang="en-US" dirty="0"/>
              <a:t>Linux → Kernel</a:t>
            </a:r>
          </a:p>
          <a:p>
            <a:r>
              <a:rPr lang="en-US" dirty="0"/>
              <a:t>Together → GNU/Linux</a:t>
            </a:r>
          </a:p>
          <a:p>
            <a:endParaRPr lang="en-US" dirty="0"/>
          </a:p>
        </p:txBody>
      </p:sp>
      <p:pic>
        <p:nvPicPr>
          <p:cNvPr id="6148" name="Picture 4" descr="No photo description available.">
            <a:extLst>
              <a:ext uri="{FF2B5EF4-FFF2-40B4-BE49-F238E27FC236}">
                <a16:creationId xmlns:a16="http://schemas.microsoft.com/office/drawing/2014/main" id="{0FCA63CB-0DBC-CF3C-32B7-53E7722CB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196" y="2492375"/>
            <a:ext cx="6005804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23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2A94-DA08-C08F-BC14-30EAC9BF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85233-9A8C-00FE-50E2-A87AF0783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Components:</a:t>
            </a:r>
          </a:p>
          <a:p>
            <a:r>
              <a:rPr lang="en-IN" b="1" dirty="0"/>
              <a:t>Hardware</a:t>
            </a:r>
            <a:endParaRPr lang="en-IN" dirty="0"/>
          </a:p>
          <a:p>
            <a:r>
              <a:rPr lang="en-IN" b="1" dirty="0"/>
              <a:t>Kernel</a:t>
            </a:r>
            <a:endParaRPr lang="en-IN" dirty="0"/>
          </a:p>
          <a:p>
            <a:pPr lvl="1"/>
            <a:r>
              <a:rPr lang="en-IN" dirty="0"/>
              <a:t>Process scheduling</a:t>
            </a:r>
          </a:p>
          <a:p>
            <a:pPr lvl="1"/>
            <a:r>
              <a:rPr lang="en-IN" dirty="0"/>
              <a:t>Memory management</a:t>
            </a:r>
          </a:p>
          <a:p>
            <a:pPr lvl="1"/>
            <a:r>
              <a:rPr lang="en-IN" dirty="0"/>
              <a:t>Device drivers</a:t>
            </a:r>
          </a:p>
          <a:p>
            <a:r>
              <a:rPr lang="en-IN" b="1" dirty="0"/>
              <a:t>Shell</a:t>
            </a:r>
            <a:endParaRPr lang="en-IN" dirty="0"/>
          </a:p>
          <a:p>
            <a:pPr lvl="1"/>
            <a:r>
              <a:rPr lang="en-IN" dirty="0"/>
              <a:t>Command interpreter</a:t>
            </a:r>
          </a:p>
          <a:p>
            <a:r>
              <a:rPr lang="en-IN" b="1" dirty="0"/>
              <a:t>Applications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Note: Shell translates human-readable commands into kernel-understandable instructions.</a:t>
            </a:r>
          </a:p>
          <a:p>
            <a:endParaRPr lang="en-US" dirty="0"/>
          </a:p>
        </p:txBody>
      </p:sp>
      <p:pic>
        <p:nvPicPr>
          <p:cNvPr id="1026" name="Picture 2" descr="Architecture of Linux Operating System - LinuxSimply">
            <a:extLst>
              <a:ext uri="{FF2B5EF4-FFF2-40B4-BE49-F238E27FC236}">
                <a16:creationId xmlns:a16="http://schemas.microsoft.com/office/drawing/2014/main" id="{851795CD-0790-6E99-7105-4BB5C302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491" y="779884"/>
            <a:ext cx="46863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713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3AA6-F53E-DEAF-9AFC-BBFCF1B0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530"/>
            <a:ext cx="10515600" cy="1325563"/>
          </a:xfrm>
        </p:spPr>
        <p:txBody>
          <a:bodyPr/>
          <a:lstStyle/>
          <a:p>
            <a:r>
              <a:rPr lang="en-US" dirty="0"/>
              <a:t>Important Features of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BD8D4-AF20-F8F9-7DBE-0046E3C7A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093"/>
            <a:ext cx="10515600" cy="472887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Open source</a:t>
            </a:r>
          </a:p>
          <a:p>
            <a:r>
              <a:rPr lang="en-US" dirty="0"/>
              <a:t>Portable</a:t>
            </a:r>
          </a:p>
          <a:p>
            <a:r>
              <a:rPr lang="en-US" dirty="0"/>
              <a:t>Multi-user</a:t>
            </a:r>
          </a:p>
          <a:p>
            <a:r>
              <a:rPr lang="en-US" dirty="0"/>
              <a:t>Multi-tasking</a:t>
            </a:r>
          </a:p>
          <a:p>
            <a:r>
              <a:rPr lang="en-US" dirty="0"/>
              <a:t>Strong CLI</a:t>
            </a:r>
          </a:p>
          <a:p>
            <a:r>
              <a:rPr lang="en-US" dirty="0"/>
              <a:t>Secure permission model</a:t>
            </a:r>
          </a:p>
          <a:p>
            <a:r>
              <a:rPr lang="en-US" dirty="0"/>
              <a:t>Powerful networking</a:t>
            </a:r>
          </a:p>
          <a:p>
            <a:r>
              <a:rPr lang="en-US" dirty="0"/>
              <a:t>Stability for servers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Why Linux in VLSI?</a:t>
            </a:r>
          </a:p>
          <a:p>
            <a:r>
              <a:rPr lang="en-US" dirty="0"/>
              <a:t>Toolchains (EDA tools)</a:t>
            </a:r>
          </a:p>
          <a:p>
            <a:r>
              <a:rPr lang="en-US" dirty="0"/>
              <a:t>Server-based workflows</a:t>
            </a:r>
          </a:p>
          <a:p>
            <a:r>
              <a:rPr lang="en-US" dirty="0"/>
              <a:t>Automation scripting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6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7170C-A750-13EF-06D7-12D13098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0"/>
            <a:ext cx="10515600" cy="745218"/>
          </a:xfrm>
        </p:spPr>
        <p:txBody>
          <a:bodyPr/>
          <a:lstStyle/>
          <a:p>
            <a:r>
              <a:rPr lang="en-US" dirty="0"/>
              <a:t>Linux File System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C4BAC-E021-99AE-2400-EBD4D5673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5218"/>
            <a:ext cx="10515600" cy="5431745"/>
          </a:xfrm>
        </p:spPr>
        <p:txBody>
          <a:bodyPr>
            <a:normAutofit/>
          </a:bodyPr>
          <a:lstStyle/>
          <a:p>
            <a:r>
              <a:rPr lang="en-IN" sz="2000" dirty="0"/>
              <a:t>Linux follows a </a:t>
            </a:r>
            <a:r>
              <a:rPr lang="en-IN" sz="2000" b="1" dirty="0"/>
              <a:t>Single Root Directory Structure</a:t>
            </a:r>
          </a:p>
          <a:p>
            <a:r>
              <a:rPr lang="en-US" sz="2000" dirty="0"/>
              <a:t>Everything starts from: </a:t>
            </a:r>
            <a:r>
              <a:rPr lang="en-US" sz="2000" b="1" dirty="0"/>
              <a:t> /</a:t>
            </a:r>
          </a:p>
          <a:p>
            <a:r>
              <a:rPr lang="en-US" sz="2000" b="1" dirty="0"/>
              <a:t>Important directories</a:t>
            </a:r>
            <a:endParaRPr lang="en-IN" sz="2000" b="1" dirty="0"/>
          </a:p>
          <a:p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D124C4-EC8C-4196-4852-1620FA428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097831"/>
              </p:ext>
            </p:extLst>
          </p:nvPr>
        </p:nvGraphicFramePr>
        <p:xfrm>
          <a:off x="1054359" y="1989614"/>
          <a:ext cx="10299441" cy="4023360"/>
        </p:xfrm>
        <a:graphic>
          <a:graphicData uri="http://schemas.openxmlformats.org/drawingml/2006/table">
            <a:tbl>
              <a:tblPr/>
              <a:tblGrid>
                <a:gridCol w="3788229">
                  <a:extLst>
                    <a:ext uri="{9D8B030D-6E8A-4147-A177-3AD203B41FA5}">
                      <a16:colId xmlns:a16="http://schemas.microsoft.com/office/drawing/2014/main" val="1616798371"/>
                    </a:ext>
                  </a:extLst>
                </a:gridCol>
                <a:gridCol w="6511212">
                  <a:extLst>
                    <a:ext uri="{9D8B030D-6E8A-4147-A177-3AD203B41FA5}">
                      <a16:colId xmlns:a16="http://schemas.microsoft.com/office/drawing/2014/main" val="34914995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997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619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/bin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User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251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/sbin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492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/etc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Configuration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120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/home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directories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292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/var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207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/tmp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Temporary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990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/boot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Boot loader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764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/dev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537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/usr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User 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244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216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2C03-B943-168C-60D7-E9F66AA1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Navigation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D56D-82B0-CDB8-4EDB-D63DE6C5E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IN" b="1" dirty="0" err="1"/>
              <a:t>pwd</a:t>
            </a:r>
            <a:r>
              <a:rPr lang="en-IN" dirty="0"/>
              <a:t> – Print working directory</a:t>
            </a:r>
          </a:p>
          <a:p>
            <a:r>
              <a:rPr lang="en-IN" b="1" dirty="0"/>
              <a:t>cd </a:t>
            </a:r>
            <a:r>
              <a:rPr lang="en-IN" dirty="0"/>
              <a:t>– Change directory</a:t>
            </a:r>
          </a:p>
          <a:p>
            <a:r>
              <a:rPr lang="en-IN" b="1" dirty="0"/>
              <a:t>ls </a:t>
            </a:r>
            <a:r>
              <a:rPr lang="en-IN" dirty="0"/>
              <a:t>– List files</a:t>
            </a:r>
          </a:p>
          <a:p>
            <a:r>
              <a:rPr lang="en-IN" b="1" dirty="0" err="1"/>
              <a:t>mkdir</a:t>
            </a:r>
            <a:r>
              <a:rPr lang="en-IN" b="1" dirty="0"/>
              <a:t> </a:t>
            </a:r>
            <a:r>
              <a:rPr lang="en-IN" dirty="0"/>
              <a:t>– Create directory</a:t>
            </a:r>
          </a:p>
          <a:p>
            <a:r>
              <a:rPr lang="en-IN" b="1" dirty="0" err="1"/>
              <a:t>rmdir</a:t>
            </a:r>
            <a:r>
              <a:rPr lang="en-IN" dirty="0"/>
              <a:t> – Remove empty directory</a:t>
            </a:r>
          </a:p>
          <a:p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265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77B4-A511-7ED1-6A1B-4B5F1BD5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Creation &amp; Viewing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DD050-C703-9C39-A54C-DC09E654E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touch – Create empty file</a:t>
            </a:r>
          </a:p>
          <a:p>
            <a:r>
              <a:rPr lang="en-IN" dirty="0"/>
              <a:t>cat – Display file content</a:t>
            </a:r>
          </a:p>
          <a:p>
            <a:r>
              <a:rPr lang="en-IN" dirty="0"/>
              <a:t>head – First 10 lines</a:t>
            </a:r>
          </a:p>
          <a:p>
            <a:r>
              <a:rPr lang="en-IN" dirty="0"/>
              <a:t>tail – Last 10 lines</a:t>
            </a:r>
          </a:p>
          <a:p>
            <a:r>
              <a:rPr lang="en-IN" dirty="0"/>
              <a:t>file – File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25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3B0F-0BE0-7C99-4CC9-8D876208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&amp; Move Commands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A5C45-73E9-77DE-B59B-5444A4923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cp – Copy files</a:t>
            </a:r>
          </a:p>
          <a:p>
            <a:r>
              <a:rPr lang="en-IN" dirty="0"/>
              <a:t>mv – Move/Rename files</a:t>
            </a:r>
          </a:p>
          <a:p>
            <a:r>
              <a:rPr lang="en-IN" dirty="0"/>
              <a:t>rm – Remove files</a:t>
            </a:r>
          </a:p>
          <a:p>
            <a:r>
              <a:rPr lang="en-IN" dirty="0"/>
              <a:t>rm -rf – Force remove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Wildcards:</a:t>
            </a:r>
          </a:p>
          <a:p>
            <a:r>
              <a:rPr lang="en-IN" dirty="0"/>
              <a:t>* → multiple characters</a:t>
            </a:r>
          </a:p>
          <a:p>
            <a:r>
              <a:rPr lang="en-IN" dirty="0"/>
              <a:t>? → single character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ls file*</a:t>
            </a:r>
            <a:br>
              <a:rPr lang="en-US" dirty="0"/>
            </a:br>
            <a:r>
              <a:rPr lang="en-US" dirty="0"/>
              <a:t>ls file?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20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1730F-F90D-55A3-CD40-156C2ED6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588235"/>
          </a:xfrm>
        </p:spPr>
        <p:txBody>
          <a:bodyPr>
            <a:normAutofit fontScale="90000"/>
          </a:bodyPr>
          <a:lstStyle/>
          <a:p>
            <a:r>
              <a:rPr lang="en-US" dirty="0"/>
              <a:t>VI Editor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71186-BBCE-256C-D9E0-A148C31AF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90"/>
            <a:ext cx="10515600" cy="5570473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/>
              <a:t>Modes</a:t>
            </a:r>
          </a:p>
          <a:p>
            <a:pPr lvl="1"/>
            <a:r>
              <a:rPr lang="fr-FR" dirty="0"/>
              <a:t>Command Mode</a:t>
            </a:r>
          </a:p>
          <a:p>
            <a:pPr lvl="1"/>
            <a:r>
              <a:rPr lang="fr-FR" dirty="0"/>
              <a:t>Insert Mode</a:t>
            </a:r>
          </a:p>
          <a:p>
            <a:pPr lvl="1"/>
            <a:r>
              <a:rPr lang="fr-FR" dirty="0"/>
              <a:t>Last Line Mode</a:t>
            </a:r>
            <a:br>
              <a:rPr lang="fr-FR" dirty="0"/>
            </a:br>
            <a:endParaRPr lang="fr-FR" dirty="0"/>
          </a:p>
          <a:p>
            <a:r>
              <a:rPr lang="fr-FR" b="1" dirty="0"/>
              <a:t>Basic Operations</a:t>
            </a:r>
          </a:p>
          <a:p>
            <a:pPr marL="0" indent="0">
              <a:buNone/>
            </a:pPr>
            <a:r>
              <a:rPr lang="fr-FR" dirty="0"/>
              <a:t>Enter insert:</a:t>
            </a:r>
          </a:p>
          <a:p>
            <a:pPr lvl="1"/>
            <a:r>
              <a:rPr lang="fr-FR" dirty="0"/>
              <a:t>i</a:t>
            </a:r>
          </a:p>
          <a:p>
            <a:pPr marL="0" indent="0">
              <a:buNone/>
            </a:pPr>
            <a:r>
              <a:rPr lang="fr-FR" dirty="0"/>
              <a:t>Save:</a:t>
            </a:r>
          </a:p>
          <a:p>
            <a:pPr lvl="1"/>
            <a:r>
              <a:rPr lang="fr-FR" dirty="0"/>
              <a:t>:w</a:t>
            </a:r>
          </a:p>
          <a:p>
            <a:pPr marL="0" indent="0">
              <a:buNone/>
            </a:pPr>
            <a:r>
              <a:rPr lang="fr-FR" dirty="0" err="1"/>
              <a:t>Quit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:q</a:t>
            </a:r>
          </a:p>
          <a:p>
            <a:pPr marL="0" indent="0">
              <a:buNone/>
            </a:pPr>
            <a:r>
              <a:rPr lang="fr-FR" dirty="0"/>
              <a:t>Save &amp; Exit:</a:t>
            </a:r>
          </a:p>
          <a:p>
            <a:pPr lvl="1"/>
            <a:r>
              <a:rPr lang="fr-FR" dirty="0"/>
              <a:t>:</a:t>
            </a:r>
            <a:r>
              <a:rPr lang="fr-FR" dirty="0" err="1"/>
              <a:t>wq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Force </a:t>
            </a:r>
            <a:r>
              <a:rPr lang="fr-FR" dirty="0" err="1"/>
              <a:t>Quit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:q!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498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BDD05-024A-5371-021B-1D781CA0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755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Create a New User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2E87E-3ECC-73A0-4BAB-38B25182E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8668"/>
            <a:ext cx="10515600" cy="516829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Syntax:</a:t>
            </a:r>
          </a:p>
          <a:p>
            <a:r>
              <a:rPr lang="en-IN" dirty="0" err="1"/>
              <a:t>useradd</a:t>
            </a:r>
            <a:r>
              <a:rPr lang="en-IN" dirty="0"/>
              <a:t> username</a:t>
            </a:r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useradd</a:t>
            </a:r>
            <a:r>
              <a:rPr lang="en-IN" dirty="0"/>
              <a:t> </a:t>
            </a:r>
            <a:r>
              <a:rPr lang="en-IN" dirty="0" err="1"/>
              <a:t>neha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After creation, home directory is created in:</a:t>
            </a:r>
          </a:p>
          <a:p>
            <a:r>
              <a:rPr lang="en-IN" dirty="0"/>
              <a:t>/home/</a:t>
            </a:r>
            <a:r>
              <a:rPr lang="en-IN" dirty="0" err="1"/>
              <a:t>neha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Verify:</a:t>
            </a:r>
          </a:p>
          <a:p>
            <a:r>
              <a:rPr lang="en-IN" dirty="0"/>
              <a:t>cat /etc/passwd | grep </a:t>
            </a:r>
            <a:r>
              <a:rPr lang="en-IN" dirty="0" err="1"/>
              <a:t>neha</a:t>
            </a:r>
            <a:endParaRPr lang="en-IN" dirty="0"/>
          </a:p>
          <a:p>
            <a:r>
              <a:rPr lang="en-IN" b="1" dirty="0"/>
              <a:t>Set / Change Password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r>
              <a:rPr lang="en-IN" dirty="0"/>
              <a:t>passwd username</a:t>
            </a:r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r>
              <a:rPr lang="en-IN" dirty="0" err="1"/>
              <a:t>sudo</a:t>
            </a:r>
            <a:r>
              <a:rPr lang="en-IN" dirty="0"/>
              <a:t> passwd </a:t>
            </a:r>
            <a:r>
              <a:rPr lang="en-IN" dirty="0" err="1"/>
              <a:t>neha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Password is stored (encrypted) in:</a:t>
            </a:r>
          </a:p>
          <a:p>
            <a:r>
              <a:rPr lang="en-IN" dirty="0"/>
              <a:t>/etc/shadow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953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6B6F-5609-2255-07B7-126895649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&amp; Pattern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BA5C4-4369-AAC0-41A0-49BA3D4D2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5122506"/>
          </a:xfrm>
        </p:spPr>
        <p:txBody>
          <a:bodyPr>
            <a:normAutofit/>
          </a:bodyPr>
          <a:lstStyle/>
          <a:p>
            <a:r>
              <a:rPr lang="en-US" b="1" dirty="0"/>
              <a:t>grep (Pattern Search)</a:t>
            </a:r>
          </a:p>
          <a:p>
            <a:pPr marL="0" indent="0">
              <a:buNone/>
            </a:pPr>
            <a:r>
              <a:rPr lang="en-US" b="1" dirty="0"/>
              <a:t>Syntax:</a:t>
            </a:r>
          </a:p>
          <a:p>
            <a:pPr lvl="1"/>
            <a:r>
              <a:rPr lang="en-US" dirty="0"/>
              <a:t>grep [options] pattern filename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</a:p>
          <a:p>
            <a:pPr lvl="1"/>
            <a:r>
              <a:rPr lang="en-US" dirty="0"/>
              <a:t>grep root /</a:t>
            </a:r>
            <a:r>
              <a:rPr lang="en-US" dirty="0" err="1"/>
              <a:t>etc</a:t>
            </a:r>
            <a:r>
              <a:rPr lang="en-US" dirty="0"/>
              <a:t>/passwd</a:t>
            </a:r>
            <a:br>
              <a:rPr lang="en-US" dirty="0"/>
            </a:br>
            <a:r>
              <a:rPr lang="en-US" dirty="0"/>
              <a:t>grep -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linux</a:t>
            </a:r>
            <a:r>
              <a:rPr lang="en-US" dirty="0"/>
              <a:t> file.txt</a:t>
            </a:r>
            <a:br>
              <a:rPr lang="en-US" dirty="0"/>
            </a:br>
            <a:r>
              <a:rPr lang="en-US" dirty="0"/>
              <a:t>grep -r "main" .</a:t>
            </a:r>
          </a:p>
          <a:p>
            <a:pPr marL="0" indent="0">
              <a:buNone/>
            </a:pPr>
            <a:r>
              <a:rPr lang="en-US" b="1" dirty="0"/>
              <a:t>With Pipe:</a:t>
            </a:r>
          </a:p>
          <a:p>
            <a:pPr lvl="1"/>
            <a:r>
              <a:rPr lang="en-US" dirty="0"/>
              <a:t>cat /</a:t>
            </a:r>
            <a:r>
              <a:rPr lang="en-US" dirty="0" err="1"/>
              <a:t>etc</a:t>
            </a:r>
            <a:r>
              <a:rPr lang="en-US" dirty="0"/>
              <a:t>/passwd | grep bash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find Command</a:t>
            </a:r>
          </a:p>
          <a:p>
            <a:pPr lvl="1"/>
            <a:r>
              <a:rPr lang="en-IN" dirty="0"/>
              <a:t>find /home -name "file1"</a:t>
            </a:r>
            <a:br>
              <a:rPr lang="en-IN" dirty="0"/>
            </a:br>
            <a:r>
              <a:rPr lang="en-IN" dirty="0"/>
              <a:t>find . -type f -name "*.txt"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9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CAF5-ED43-35B3-52EA-DFBDF45A5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6449"/>
          </a:xfrm>
        </p:spPr>
        <p:txBody>
          <a:bodyPr/>
          <a:lstStyle/>
          <a:p>
            <a:r>
              <a:rPr lang="en-US" dirty="0"/>
              <a:t>File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459A-8A01-9766-D542-C426C1612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6448"/>
            <a:ext cx="10515600" cy="6111551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Each file has:</a:t>
            </a:r>
          </a:p>
          <a:p>
            <a:pPr lvl="1"/>
            <a:r>
              <a:rPr lang="en-IN" dirty="0"/>
              <a:t>Owner</a:t>
            </a:r>
          </a:p>
          <a:p>
            <a:pPr lvl="1"/>
            <a:r>
              <a:rPr lang="en-IN" dirty="0"/>
              <a:t>Group</a:t>
            </a:r>
          </a:p>
          <a:p>
            <a:pPr lvl="1"/>
            <a:r>
              <a:rPr lang="en-IN" dirty="0"/>
              <a:t>Others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US" dirty="0"/>
              <a:t>Permission Bits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Example:</a:t>
            </a:r>
          </a:p>
          <a:p>
            <a:pPr lvl="1"/>
            <a:r>
              <a:rPr lang="en-IN" dirty="0" err="1"/>
              <a:t>rwxr-xr</a:t>
            </a:r>
            <a:r>
              <a:rPr lang="en-IN" dirty="0"/>
              <a:t>-- → 754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Viewing Permissions</a:t>
            </a:r>
          </a:p>
          <a:p>
            <a:r>
              <a:rPr lang="en-IN" dirty="0"/>
              <a:t>ls -l file1</a:t>
            </a:r>
          </a:p>
          <a:p>
            <a:pPr marL="0" indent="0">
              <a:buNone/>
            </a:pPr>
            <a:r>
              <a:rPr lang="en-IN" dirty="0"/>
              <a:t>Output format:</a:t>
            </a:r>
          </a:p>
          <a:p>
            <a:r>
              <a:rPr lang="en-IN" dirty="0"/>
              <a:t>-</a:t>
            </a:r>
            <a:r>
              <a:rPr lang="en-IN" dirty="0" err="1"/>
              <a:t>rwxr-xr</a:t>
            </a:r>
            <a:r>
              <a:rPr lang="en-IN" dirty="0"/>
              <a:t>-- 1 user group size date file1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6509AA-8F8E-2BB5-3095-38B8EE2BF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245041"/>
              </p:ext>
            </p:extLst>
          </p:nvPr>
        </p:nvGraphicFramePr>
        <p:xfrm>
          <a:off x="1184988" y="2697480"/>
          <a:ext cx="10168812" cy="1463040"/>
        </p:xfrm>
        <a:graphic>
          <a:graphicData uri="http://schemas.openxmlformats.org/drawingml/2006/table">
            <a:tbl>
              <a:tblPr/>
              <a:tblGrid>
                <a:gridCol w="3554963">
                  <a:extLst>
                    <a:ext uri="{9D8B030D-6E8A-4147-A177-3AD203B41FA5}">
                      <a16:colId xmlns:a16="http://schemas.microsoft.com/office/drawing/2014/main" val="4260108138"/>
                    </a:ext>
                  </a:extLst>
                </a:gridCol>
                <a:gridCol w="6613849">
                  <a:extLst>
                    <a:ext uri="{9D8B030D-6E8A-4147-A177-3AD203B41FA5}">
                      <a16:colId xmlns:a16="http://schemas.microsoft.com/office/drawing/2014/main" val="2195294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713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242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70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391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408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848AF-EE27-AF78-A274-EE2EE650F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17443"/>
          </a:xfrm>
        </p:spPr>
        <p:txBody>
          <a:bodyPr/>
          <a:lstStyle/>
          <a:p>
            <a:r>
              <a:rPr lang="en-US" dirty="0" err="1"/>
              <a:t>chmod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D9CB5-CA9E-FDCB-11DF-A46E1F2E7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5698"/>
            <a:ext cx="10515600" cy="51412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Numeric Method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 err="1"/>
              <a:t>chmod</a:t>
            </a:r>
            <a:r>
              <a:rPr lang="en-US" dirty="0"/>
              <a:t> 755 file1</a:t>
            </a:r>
            <a:br>
              <a:rPr lang="en-US" dirty="0"/>
            </a:br>
            <a:r>
              <a:rPr lang="en-US" dirty="0" err="1"/>
              <a:t>chmod</a:t>
            </a:r>
            <a:r>
              <a:rPr lang="en-US" dirty="0"/>
              <a:t> 644 file1</a:t>
            </a:r>
          </a:p>
          <a:p>
            <a:pPr marL="0" indent="0">
              <a:buNone/>
            </a:pPr>
            <a:r>
              <a:rPr lang="en-US" dirty="0"/>
              <a:t>Meaning:</a:t>
            </a:r>
          </a:p>
          <a:p>
            <a:r>
              <a:rPr lang="en-US" dirty="0"/>
              <a:t>7 → </a:t>
            </a:r>
            <a:r>
              <a:rPr lang="en-US" dirty="0" err="1"/>
              <a:t>rwx</a:t>
            </a:r>
            <a:br>
              <a:rPr lang="en-US" dirty="0"/>
            </a:br>
            <a:r>
              <a:rPr lang="en-US" dirty="0"/>
              <a:t>5 → r-x</a:t>
            </a:r>
            <a:br>
              <a:rPr lang="en-US" dirty="0"/>
            </a:br>
            <a:r>
              <a:rPr lang="en-US" dirty="0"/>
              <a:t>4 → r--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Symbolic Method</a:t>
            </a:r>
          </a:p>
          <a:p>
            <a:r>
              <a:rPr lang="en-US" dirty="0" err="1"/>
              <a:t>chmod</a:t>
            </a:r>
            <a:r>
              <a:rPr lang="en-US" dirty="0"/>
              <a:t> [</a:t>
            </a:r>
            <a:r>
              <a:rPr lang="en-US" dirty="0" err="1"/>
              <a:t>ugoa</a:t>
            </a:r>
            <a:r>
              <a:rPr lang="en-US" dirty="0"/>
              <a:t>][+/-][</a:t>
            </a:r>
            <a:r>
              <a:rPr lang="en-US" dirty="0" err="1"/>
              <a:t>rwx</a:t>
            </a:r>
            <a:r>
              <a:rPr lang="en-US" dirty="0"/>
              <a:t>] filename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 err="1"/>
              <a:t>chmod</a:t>
            </a:r>
            <a:r>
              <a:rPr lang="en-US" dirty="0"/>
              <a:t> </a:t>
            </a:r>
            <a:r>
              <a:rPr lang="en-US" dirty="0" err="1"/>
              <a:t>o+w</a:t>
            </a:r>
            <a:r>
              <a:rPr lang="en-US" dirty="0"/>
              <a:t> file1</a:t>
            </a:r>
            <a:br>
              <a:rPr lang="en-US" dirty="0"/>
            </a:br>
            <a:r>
              <a:rPr lang="en-US" dirty="0" err="1"/>
              <a:t>chmod</a:t>
            </a:r>
            <a:r>
              <a:rPr lang="en-US" dirty="0"/>
              <a:t> g-x file1</a:t>
            </a:r>
            <a:br>
              <a:rPr lang="en-US" dirty="0"/>
            </a:br>
            <a:r>
              <a:rPr lang="en-US" dirty="0" err="1"/>
              <a:t>chmod</a:t>
            </a:r>
            <a:r>
              <a:rPr lang="en-US" dirty="0"/>
              <a:t> </a:t>
            </a:r>
            <a:r>
              <a:rPr lang="en-US" dirty="0" err="1"/>
              <a:t>u+rwx</a:t>
            </a:r>
            <a:r>
              <a:rPr lang="en-US" dirty="0"/>
              <a:t> file1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976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DD0A-ACC2-4260-921A-C2761BDC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chown</a:t>
            </a:r>
            <a:r>
              <a:rPr lang="en-US" dirty="0"/>
              <a:t> &amp; </a:t>
            </a:r>
            <a:r>
              <a:rPr lang="en-US" dirty="0" err="1"/>
              <a:t>chgrp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D414A-275A-17D9-0AD2-38A891B28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Change Owner</a:t>
            </a:r>
          </a:p>
          <a:p>
            <a:r>
              <a:rPr lang="en-IN" dirty="0" err="1"/>
              <a:t>chown</a:t>
            </a:r>
            <a:r>
              <a:rPr lang="en-IN" dirty="0"/>
              <a:t> user file</a:t>
            </a:r>
            <a:br>
              <a:rPr lang="en-IN" dirty="0"/>
            </a:br>
            <a:r>
              <a:rPr lang="en-IN" dirty="0" err="1"/>
              <a:t>chown</a:t>
            </a:r>
            <a:r>
              <a:rPr lang="en-IN" dirty="0"/>
              <a:t> </a:t>
            </a:r>
            <a:r>
              <a:rPr lang="en-IN" dirty="0" err="1"/>
              <a:t>user:group</a:t>
            </a:r>
            <a:r>
              <a:rPr lang="en-IN" dirty="0"/>
              <a:t> file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r>
              <a:rPr lang="en-IN" dirty="0" err="1"/>
              <a:t>chown</a:t>
            </a:r>
            <a:r>
              <a:rPr lang="en-IN" dirty="0"/>
              <a:t> </a:t>
            </a:r>
            <a:r>
              <a:rPr lang="en-IN" dirty="0" err="1"/>
              <a:t>neha</a:t>
            </a:r>
            <a:r>
              <a:rPr lang="en-IN" dirty="0"/>
              <a:t> file1</a:t>
            </a:r>
            <a:br>
              <a:rPr lang="en-IN" dirty="0"/>
            </a:br>
            <a:r>
              <a:rPr lang="en-IN" dirty="0" err="1"/>
              <a:t>chown</a:t>
            </a:r>
            <a:r>
              <a:rPr lang="en-IN" dirty="0"/>
              <a:t> </a:t>
            </a:r>
            <a:r>
              <a:rPr lang="en-IN" dirty="0" err="1"/>
              <a:t>neha:neha</a:t>
            </a:r>
            <a:r>
              <a:rPr lang="en-IN" dirty="0"/>
              <a:t> file1</a:t>
            </a:r>
          </a:p>
          <a:p>
            <a:pPr marL="0" indent="0">
              <a:buNone/>
            </a:pPr>
            <a:r>
              <a:rPr lang="en-IN" dirty="0"/>
              <a:t>⚠ Only root can change ownership.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Change Group</a:t>
            </a:r>
          </a:p>
          <a:p>
            <a:r>
              <a:rPr lang="en-IN" dirty="0" err="1"/>
              <a:t>chgrp</a:t>
            </a:r>
            <a:r>
              <a:rPr lang="en-IN" dirty="0"/>
              <a:t> group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00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3374-6E35-0D6C-B51E-8C7539683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Access Control List (ACL)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1A212-A4C3-0791-164B-0182F0C01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648"/>
            <a:ext cx="10515600" cy="5281127"/>
          </a:xfrm>
        </p:spPr>
        <p:txBody>
          <a:bodyPr>
            <a:normAutofit/>
          </a:bodyPr>
          <a:lstStyle/>
          <a:p>
            <a:r>
              <a:rPr lang="en-US" dirty="0"/>
              <a:t>Used when permission needs to be given to </a:t>
            </a:r>
            <a:r>
              <a:rPr lang="en-US" b="1" dirty="0"/>
              <a:t>specific user only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Set ACL</a:t>
            </a:r>
          </a:p>
          <a:p>
            <a:r>
              <a:rPr lang="en-US" dirty="0" err="1"/>
              <a:t>setfacl</a:t>
            </a:r>
            <a:r>
              <a:rPr lang="en-US" dirty="0"/>
              <a:t> -m u:username:permission filename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 err="1"/>
              <a:t>setfacl</a:t>
            </a:r>
            <a:r>
              <a:rPr lang="en-US" dirty="0"/>
              <a:t> -m u:ron:rwx file1</a:t>
            </a:r>
          </a:p>
          <a:p>
            <a:pPr marL="0" indent="0">
              <a:buNone/>
            </a:pPr>
            <a:r>
              <a:rPr lang="en-US" b="1" dirty="0"/>
              <a:t>Recursive ACL</a:t>
            </a:r>
          </a:p>
          <a:p>
            <a:r>
              <a:rPr lang="en-US" dirty="0" err="1"/>
              <a:t>setfacl</a:t>
            </a:r>
            <a:r>
              <a:rPr lang="en-US" dirty="0"/>
              <a:t> -R -m u:ron:rwx folder</a:t>
            </a:r>
          </a:p>
          <a:p>
            <a:pPr marL="0" indent="0">
              <a:buNone/>
            </a:pPr>
            <a:r>
              <a:rPr lang="en-US" b="1" dirty="0"/>
              <a:t>View ACL</a:t>
            </a:r>
          </a:p>
          <a:p>
            <a:r>
              <a:rPr lang="en-US" dirty="0" err="1"/>
              <a:t>getfacl</a:t>
            </a:r>
            <a:r>
              <a:rPr lang="en-US" dirty="0"/>
              <a:t> filename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078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5B1F-A84B-811B-EA27-4617F03FB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58438"/>
          </a:xfrm>
        </p:spPr>
        <p:txBody>
          <a:bodyPr/>
          <a:lstStyle/>
          <a:p>
            <a:r>
              <a:rPr lang="en-US" dirty="0"/>
              <a:t>UMASK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6EFEA-26DC-9D4B-4EC8-5AB287A39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694"/>
            <a:ext cx="10515600" cy="5300269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umask</a:t>
            </a:r>
            <a:r>
              <a:rPr lang="en-US" dirty="0"/>
              <a:t> is a </a:t>
            </a:r>
            <a:r>
              <a:rPr lang="en-US" b="1" dirty="0"/>
              <a:t>mask value</a:t>
            </a:r>
            <a:r>
              <a:rPr lang="en-US" dirty="0"/>
              <a:t> that removes permissions from the default.</a:t>
            </a:r>
          </a:p>
          <a:p>
            <a:r>
              <a:rPr lang="en-US" dirty="0"/>
              <a:t>It defines what permissions should </a:t>
            </a:r>
            <a:r>
              <a:rPr lang="en-US" b="1" dirty="0"/>
              <a:t>NOT</a:t>
            </a:r>
            <a:r>
              <a:rPr lang="en-US" dirty="0"/>
              <a:t> be given.</a:t>
            </a:r>
          </a:p>
          <a:p>
            <a:pPr marL="0" indent="0">
              <a:buNone/>
            </a:pPr>
            <a:r>
              <a:rPr lang="en-US" b="1" dirty="0"/>
              <a:t>Formula:</a:t>
            </a:r>
          </a:p>
          <a:p>
            <a:r>
              <a:rPr lang="en-US" dirty="0"/>
              <a:t>Effective Permission = Default – </a:t>
            </a:r>
            <a:r>
              <a:rPr lang="en-US" dirty="0" err="1"/>
              <a:t>Umask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Default permissions:</a:t>
            </a:r>
          </a:p>
          <a:p>
            <a:pPr lvl="1"/>
            <a:r>
              <a:rPr lang="en-US" dirty="0"/>
              <a:t>File → 666</a:t>
            </a:r>
          </a:p>
          <a:p>
            <a:pPr lvl="1"/>
            <a:r>
              <a:rPr lang="en-US" dirty="0"/>
              <a:t>Directory → 777</a:t>
            </a:r>
          </a:p>
          <a:p>
            <a:r>
              <a:rPr lang="en-US" dirty="0"/>
              <a:t>Effective permission:</a:t>
            </a:r>
          </a:p>
          <a:p>
            <a:pPr lvl="1"/>
            <a:r>
              <a:rPr lang="en-US" dirty="0"/>
              <a:t>Default – </a:t>
            </a:r>
            <a:r>
              <a:rPr lang="en-US" dirty="0" err="1"/>
              <a:t>Umask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666 – 022 = 644</a:t>
            </a:r>
          </a:p>
          <a:p>
            <a:pPr marL="0" indent="0">
              <a:buNone/>
            </a:pPr>
            <a:r>
              <a:rPr lang="en-US" dirty="0"/>
              <a:t>Check:</a:t>
            </a:r>
          </a:p>
          <a:p>
            <a:r>
              <a:rPr lang="en-US" dirty="0" err="1"/>
              <a:t>umask</a:t>
            </a:r>
            <a:br>
              <a:rPr lang="en-US" dirty="0"/>
            </a:br>
            <a:r>
              <a:rPr lang="en-US" dirty="0"/>
              <a:t>stat -c %a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314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D3B9-4029-5F90-0FE2-892CDE4C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998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Sticky Bit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1DCFC-751F-65DB-2FB8-C10A3FD18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9086"/>
            <a:ext cx="10515600" cy="5327877"/>
          </a:xfrm>
        </p:spPr>
        <p:txBody>
          <a:bodyPr/>
          <a:lstStyle/>
          <a:p>
            <a:r>
              <a:rPr lang="en-IN" dirty="0"/>
              <a:t>Applied on directories.</a:t>
            </a:r>
          </a:p>
          <a:p>
            <a:r>
              <a:rPr lang="en-IN" dirty="0"/>
              <a:t>Only file owner can delete file.</a:t>
            </a:r>
          </a:p>
          <a:p>
            <a:pPr marL="0" indent="0">
              <a:buNone/>
            </a:pPr>
            <a:r>
              <a:rPr lang="en-IN" b="1" dirty="0"/>
              <a:t>Apply Sticky Bit</a:t>
            </a:r>
          </a:p>
          <a:p>
            <a:pPr lvl="1"/>
            <a:r>
              <a:rPr lang="en-IN" dirty="0" err="1"/>
              <a:t>chmod</a:t>
            </a:r>
            <a:r>
              <a:rPr lang="en-IN" dirty="0"/>
              <a:t> +t folder</a:t>
            </a:r>
          </a:p>
          <a:p>
            <a:pPr marL="0" indent="0">
              <a:buNone/>
            </a:pPr>
            <a:r>
              <a:rPr lang="en-IN" b="1" dirty="0"/>
              <a:t>Check</a:t>
            </a:r>
          </a:p>
          <a:p>
            <a:pPr lvl="1"/>
            <a:r>
              <a:rPr lang="en-IN" dirty="0"/>
              <a:t>ls -</a:t>
            </a:r>
            <a:r>
              <a:rPr lang="en-IN" dirty="0" err="1"/>
              <a:t>ld</a:t>
            </a:r>
            <a:r>
              <a:rPr lang="en-IN" dirty="0"/>
              <a:t> folder</a:t>
            </a:r>
          </a:p>
          <a:p>
            <a:pPr marL="0" indent="0">
              <a:buNone/>
            </a:pPr>
            <a:r>
              <a:rPr lang="en-IN" dirty="0"/>
              <a:t>Output:</a:t>
            </a:r>
          </a:p>
          <a:p>
            <a:pPr lvl="1"/>
            <a:r>
              <a:rPr lang="en-IN" dirty="0" err="1"/>
              <a:t>drwxrwxr</a:t>
            </a:r>
            <a:r>
              <a:rPr lang="en-IN" dirty="0"/>
              <a:t>-t</a:t>
            </a:r>
          </a:p>
          <a:p>
            <a:pPr lvl="1"/>
            <a:endParaRPr lang="en-IN" dirty="0"/>
          </a:p>
          <a:p>
            <a:r>
              <a:rPr lang="en-IN" dirty="0"/>
              <a:t>T indicates sticky bit.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1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F08C9-0919-8DE0-F159-551ABB49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1C6B4-4EFA-1357-C347-0D817EC15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SSH</a:t>
            </a:r>
          </a:p>
          <a:p>
            <a:pPr marL="0" indent="0">
              <a:buNone/>
            </a:pPr>
            <a:r>
              <a:rPr lang="en-IN" dirty="0"/>
              <a:t>ssh </a:t>
            </a:r>
            <a:r>
              <a:rPr lang="en-IN" dirty="0" err="1"/>
              <a:t>user@ip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SFTP</a:t>
            </a:r>
          </a:p>
          <a:p>
            <a:pPr marL="0" indent="0">
              <a:buNone/>
            </a:pPr>
            <a:r>
              <a:rPr lang="en-IN" dirty="0"/>
              <a:t>sftp </a:t>
            </a:r>
            <a:r>
              <a:rPr lang="en-IN" dirty="0" err="1"/>
              <a:t>user@ip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FTP</a:t>
            </a:r>
          </a:p>
          <a:p>
            <a:pPr marL="0" indent="0">
              <a:buNone/>
            </a:pPr>
            <a:r>
              <a:rPr lang="en-IN" dirty="0"/>
              <a:t>ftp </a:t>
            </a:r>
            <a:r>
              <a:rPr lang="en-IN" dirty="0" err="1"/>
              <a:t>ip_address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211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B244E-831B-F49B-799A-0CD885091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Mount &amp; Unmount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149A1-2A9A-9878-1FC1-FE9E111E6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833145"/>
          </a:xfrm>
        </p:spPr>
        <p:txBody>
          <a:bodyPr/>
          <a:lstStyle/>
          <a:p>
            <a:r>
              <a:rPr lang="en-US" dirty="0"/>
              <a:t>Attach storage:</a:t>
            </a:r>
          </a:p>
          <a:p>
            <a:pPr lvl="1"/>
            <a:r>
              <a:rPr lang="en-US" dirty="0"/>
              <a:t>mount /dev/sdb1 /</a:t>
            </a:r>
            <a:r>
              <a:rPr lang="en-US" dirty="0" err="1"/>
              <a:t>mnt</a:t>
            </a:r>
            <a:endParaRPr lang="en-US" dirty="0"/>
          </a:p>
          <a:p>
            <a:r>
              <a:rPr lang="en-US" dirty="0"/>
              <a:t>Detach:</a:t>
            </a:r>
          </a:p>
          <a:p>
            <a:pPr lvl="1"/>
            <a:r>
              <a:rPr lang="en-US" dirty="0" err="1"/>
              <a:t>umount</a:t>
            </a:r>
            <a:r>
              <a:rPr lang="en-US" dirty="0"/>
              <a:t> /</a:t>
            </a:r>
            <a:r>
              <a:rPr lang="en-US" dirty="0" err="1"/>
              <a:t>mnt</a:t>
            </a:r>
            <a:endParaRPr lang="en-US" dirty="0"/>
          </a:p>
          <a:p>
            <a:r>
              <a:rPr lang="en-US" dirty="0"/>
              <a:t>Used for:</a:t>
            </a:r>
          </a:p>
          <a:p>
            <a:pPr lvl="1"/>
            <a:r>
              <a:rPr lang="en-US" dirty="0"/>
              <a:t>USB</a:t>
            </a:r>
          </a:p>
          <a:p>
            <a:pPr lvl="1"/>
            <a:r>
              <a:rPr lang="en-US" dirty="0"/>
              <a:t>External storage</a:t>
            </a:r>
          </a:p>
          <a:p>
            <a:pPr lvl="1"/>
            <a:r>
              <a:rPr lang="en-US" dirty="0"/>
              <a:t>Network drives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5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26DA-70D1-79FE-E393-FF4C53E3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241" y="596754"/>
            <a:ext cx="10515600" cy="793508"/>
          </a:xfrm>
        </p:spPr>
        <p:txBody>
          <a:bodyPr/>
          <a:lstStyle/>
          <a:p>
            <a:r>
              <a:rPr lang="en-US" dirty="0"/>
              <a:t>Lab Practice Tasks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23C795-12A2-FF8A-60CB-A1176670DB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8241" y="0"/>
            <a:ext cx="10515600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3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shared directory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permissions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ACL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sticky bit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users with bash 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 files using vi</a:t>
            </a:r>
          </a:p>
        </p:txBody>
      </p:sp>
    </p:spTree>
    <p:extLst>
      <p:ext uri="{BB962C8B-B14F-4D97-AF65-F5344CB8AC3E}">
        <p14:creationId xmlns:p14="http://schemas.microsoft.com/office/powerpoint/2010/main" val="3606822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Linux creator Linus Torvalds slates Nvidia - eTeknix">
            <a:extLst>
              <a:ext uri="{FF2B5EF4-FFF2-40B4-BE49-F238E27FC236}">
                <a16:creationId xmlns:a16="http://schemas.microsoft.com/office/drawing/2014/main" id="{A3FED335-C65C-CAAC-5967-AF38CE2AE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644" y="0"/>
            <a:ext cx="752980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571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4788</TotalTime>
  <Words>850</Words>
  <Application>Microsoft Office PowerPoint</Application>
  <PresentationFormat>Widescreen</PresentationFormat>
  <Paragraphs>242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Linux Basics  PGCP-VLSI  Linux Shell Scripting &amp; Python  Mr. Mukund Waghmare – HPC/AI Engineer – CDAC Noida</vt:lpstr>
      <vt:lpstr>Operating System Fundamentals</vt:lpstr>
      <vt:lpstr>What is Linux?</vt:lpstr>
      <vt:lpstr>Linux Architecture </vt:lpstr>
      <vt:lpstr>Important Features of Linux</vt:lpstr>
      <vt:lpstr>Linux File System Hierarchy</vt:lpstr>
      <vt:lpstr>Basic Navigation Commands</vt:lpstr>
      <vt:lpstr>File Creation &amp; Viewing Commands</vt:lpstr>
      <vt:lpstr>Copy &amp; Move Commands </vt:lpstr>
      <vt:lpstr>VI Editor </vt:lpstr>
      <vt:lpstr>Create a New User </vt:lpstr>
      <vt:lpstr>Search &amp; Pattern Matching</vt:lpstr>
      <vt:lpstr>File Permissions</vt:lpstr>
      <vt:lpstr>chmod</vt:lpstr>
      <vt:lpstr>chown &amp; chgrp</vt:lpstr>
      <vt:lpstr>Access Control List (ACL)</vt:lpstr>
      <vt:lpstr>UMASK </vt:lpstr>
      <vt:lpstr>Sticky Bit </vt:lpstr>
      <vt:lpstr>Remote Commands</vt:lpstr>
      <vt:lpstr>Mount &amp; Unmount</vt:lpstr>
      <vt:lpstr>Lab Practice Tasks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WAGHAMARE MUKUND POSHETTI</dc:creator>
  <cp:lastModifiedBy>patel rakesh</cp:lastModifiedBy>
  <cp:revision>5</cp:revision>
  <dcterms:created xsi:type="dcterms:W3CDTF">2026-02-22T05:16:42Z</dcterms:created>
  <dcterms:modified xsi:type="dcterms:W3CDTF">2026-02-26T08:30:50Z</dcterms:modified>
</cp:coreProperties>
</file>