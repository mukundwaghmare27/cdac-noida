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75" r:id="rId6"/>
    <p:sldId id="276" r:id="rId7"/>
    <p:sldId id="277" r:id="rId8"/>
    <p:sldId id="278" r:id="rId9"/>
    <p:sldId id="279" r:id="rId10"/>
    <p:sldId id="259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3" r:id="rId23"/>
    <p:sldId id="274" r:id="rId24"/>
    <p:sldId id="272" r:id="rId25"/>
    <p:sldId id="281" r:id="rId26"/>
    <p:sldId id="282" r:id="rId27"/>
    <p:sldId id="283" r:id="rId28"/>
    <p:sldId id="284" r:id="rId29"/>
    <p:sldId id="280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E1A45-9F08-B0AD-EE60-AC9593B24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EF721-C766-4E34-0DFD-840AF6801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6130C-5225-8E83-4944-E3FBF48E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C2E6-F0A4-49BE-90C2-6ECD7DD4BE1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50BFB-6FCF-6491-E9B8-4E4675A76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F51AD-AF15-ED82-4067-33E18A6B1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857F8-27BF-4F11-A62E-4A700ADF3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78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77F71-9B95-2B34-3B92-4D819F857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E4107-775F-EB1A-29D9-9BF2326F4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2E162-0DD9-9BB1-D46B-022D1A9D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C2E6-F0A4-49BE-90C2-6ECD7DD4BE1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FF8EB-9A67-4209-132B-46872192D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036F0-3289-A8D6-8205-2F1E27D4B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857F8-27BF-4F11-A62E-4A700ADF3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39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840B6-4222-BD97-8433-81AB650AF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939CC-3B3C-D9FE-9F04-039A928C0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09CFB-561E-19AA-D448-419B6E50D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C2E6-F0A4-49BE-90C2-6ECD7DD4BE1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BD554-451A-B9F0-39AB-515288E3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49F79-6158-04A0-37E0-EBB3BD01B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857F8-27BF-4F11-A62E-4A700ADF3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09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2CA13-3203-3FCA-4A07-42759B50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2287A-C8BF-DF47-EA22-9CCA66E56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A858B-5CD2-8D17-B844-BF0B59FD5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0DC49-D859-913C-21FB-AFD7CF324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C2E6-F0A4-49BE-90C2-6ECD7DD4BE1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AA27F-2FFE-E8CE-E75A-132466D36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9CEA4-913A-4396-566D-66418BB8C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857F8-27BF-4F11-A62E-4A700ADF3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45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9A62-CBAB-A316-1733-49B694423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E48A7-E9D7-E445-69EE-28CF17C54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8B2FD-B075-6035-417F-E2AE331B2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9DD12F-7207-C513-D0A1-5EC6712FAC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3187CE-C212-9BD6-3CCE-753CBC5D3C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6C9693-07D6-ECA7-7867-2D5D119DD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C2E6-F0A4-49BE-90C2-6ECD7DD4BE1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3E43CD-ECA4-4634-1915-5695E088C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E4DE6C-A5B3-678D-7954-84C5ED750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857F8-27BF-4F11-A62E-4A700ADF3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303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5A785-31C8-8FD9-27CD-947EF549D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CCFABA-9871-DA2C-6EF9-9FAAA0A3D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C2E6-F0A4-49BE-90C2-6ECD7DD4BE1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680728-7B89-432E-1246-FAE759EB2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911D0-BC5B-D09A-8F43-A0D740F2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857F8-27BF-4F11-A62E-4A700ADF3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0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F1C695-C4D5-9726-DC2C-8F6130049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C2E6-F0A4-49BE-90C2-6ECD7DD4BE1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C21B7A-0C6E-DCAB-DD50-2A8AFBD0E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D9231-84C9-4B74-3ADD-8A2C69D3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857F8-27BF-4F11-A62E-4A700ADF3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88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10FE1-517E-25C4-93F1-B50B6E82F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86A1B-D55F-C53A-29DC-DB24DD3AF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F4A39-7937-7D1B-76E3-CE2B03242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54418A-7F9F-C4B1-16A5-C552C9D19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C2E6-F0A4-49BE-90C2-6ECD7DD4BE1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ECFD1-BFEF-8F7A-5C5C-5547DD363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BD376-9C12-7130-36B3-361A8DEAD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857F8-27BF-4F11-A62E-4A700ADF3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522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8BFE-93DE-5D94-58D0-CD257DE07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8A4F6-BDB9-AEEB-DA96-DAD8E8FFC4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49DEF-4F73-111B-76AD-96127F9A1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69BEF-219C-AD21-8EC7-6C2D9B298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C2E6-F0A4-49BE-90C2-6ECD7DD4BE1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44A96-D90F-EABC-C647-6FFB0305C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0D919-8B71-50C7-6246-548D3ECAE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857F8-27BF-4F11-A62E-4A700ADF3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87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E79E5-0016-B830-9500-8782475E5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97045-AF62-0C5A-44C7-80C3348A9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98F2F-4290-EA55-4E13-8B877FAB7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C2E6-F0A4-49BE-90C2-6ECD7DD4BE1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BED07-ED2A-25EA-9087-7D885E5C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C23E5-6F8B-C22D-7885-463D130E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857F8-27BF-4F11-A62E-4A700ADF3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58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567E20-6A8C-B9F4-D76E-5E6585E66E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A850F7-6D7D-3D24-5523-A0B9E25E0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7749E-E44C-A965-3ECA-7B0697CEA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C2E6-F0A4-49BE-90C2-6ECD7DD4BE1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EFDC1-485B-A36E-D46E-AA77F82BC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75336-2E9E-C03F-0368-ACB20F613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857F8-27BF-4F11-A62E-4A700ADF3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55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5A627A-E505-81C5-737A-4AE739CCC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E6537-30F7-87EF-1EAE-9D0C40023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C36B7-601C-A590-8C2C-A4FE71909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9C2E6-F0A4-49BE-90C2-6ECD7DD4BE1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000B3-1006-33C2-76D3-839D20434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EDC95-AAA2-E24D-BFB5-D42F51D3A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857F8-27BF-4F11-A62E-4A700ADF3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67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8BAEB-0D66-C28A-876A-D962485E21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Linux Shell Scripting &amp; Python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E69C0B-B213-BA2E-AB7F-E9663A923D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Mr. Mukund Waghmare, HPC Engineer, CDAC Noida</a:t>
            </a:r>
          </a:p>
        </p:txBody>
      </p:sp>
    </p:spTree>
    <p:extLst>
      <p:ext uri="{BB962C8B-B14F-4D97-AF65-F5344CB8AC3E}">
        <p14:creationId xmlns:p14="http://schemas.microsoft.com/office/powerpoint/2010/main" val="4092676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E32C-E1D8-9925-F813-074984AAF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868152"/>
          </a:xfrm>
        </p:spPr>
        <p:txBody>
          <a:bodyPr>
            <a:normAutofit/>
          </a:bodyPr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73692-5ADE-BEEC-646C-97B9CD0A5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6408"/>
            <a:ext cx="10515600" cy="568234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What is Python?</a:t>
            </a:r>
          </a:p>
          <a:p>
            <a:pPr marL="0" indent="0">
              <a:buNone/>
            </a:pPr>
            <a:r>
              <a:rPr lang="en-IN" b="1" dirty="0"/>
              <a:t>Definition</a:t>
            </a:r>
          </a:p>
          <a:p>
            <a:r>
              <a:rPr lang="en-IN" b="1" dirty="0"/>
              <a:t>Python</a:t>
            </a:r>
            <a:r>
              <a:rPr lang="en-IN" dirty="0"/>
              <a:t> is a </a:t>
            </a:r>
            <a:r>
              <a:rPr lang="en-IN" b="1" dirty="0"/>
              <a:t>high-level, interpreted, general-purpose programming language</a:t>
            </a:r>
            <a:r>
              <a:rPr lang="en-IN" dirty="0"/>
              <a:t> designed for readability, rapid development, and ease of use.</a:t>
            </a:r>
          </a:p>
          <a:p>
            <a:pPr marL="0" indent="0">
              <a:buNone/>
            </a:pPr>
            <a:r>
              <a:rPr lang="en-IN" dirty="0"/>
              <a:t>It supports multiple programming paradigms:</a:t>
            </a:r>
          </a:p>
          <a:p>
            <a:r>
              <a:rPr lang="en-IN" dirty="0"/>
              <a:t>Procedural</a:t>
            </a:r>
          </a:p>
          <a:p>
            <a:r>
              <a:rPr lang="en-IN" dirty="0"/>
              <a:t>Object-Oriented</a:t>
            </a:r>
          </a:p>
          <a:p>
            <a:r>
              <a:rPr lang="en-IN" dirty="0"/>
              <a:t>Functional programming</a:t>
            </a:r>
          </a:p>
          <a:p>
            <a:pPr marL="0" indent="0">
              <a:buNone/>
            </a:pPr>
            <a:r>
              <a:rPr lang="en-IN" dirty="0"/>
              <a:t>Python code is </a:t>
            </a:r>
            <a:r>
              <a:rPr lang="en-IN" b="1" dirty="0"/>
              <a:t>very close to natural language</a:t>
            </a:r>
            <a:r>
              <a:rPr lang="en-IN" dirty="0"/>
              <a:t>, making it ideal for beginners and engineers who want to automate tasks.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39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A85F4-1035-96EF-77F2-D5B5CE925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16754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Key Features of Python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93041-D0FC-031C-76D3-D12C76D43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0328"/>
            <a:ext cx="4069702" cy="534663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1. Simple Syntax</a:t>
            </a:r>
          </a:p>
          <a:p>
            <a:r>
              <a:rPr lang="en-IN" dirty="0"/>
              <a:t>Python code is short and readable.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print("Hello World")</a:t>
            </a:r>
          </a:p>
          <a:p>
            <a:pPr marL="0" indent="0">
              <a:buNone/>
            </a:pPr>
            <a:r>
              <a:rPr lang="en-IN" dirty="0"/>
              <a:t>Compared to C:</a:t>
            </a:r>
          </a:p>
          <a:p>
            <a:r>
              <a:rPr lang="en-IN" dirty="0"/>
              <a:t>#include&lt;stdio.h&gt;</a:t>
            </a:r>
            <a:br>
              <a:rPr lang="en-IN" dirty="0"/>
            </a:br>
            <a:r>
              <a:rPr lang="en-IN" dirty="0"/>
              <a:t>int main()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("Hello World");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US" b="1" dirty="0"/>
              <a:t>2. Interpreted Language</a:t>
            </a:r>
          </a:p>
          <a:p>
            <a:r>
              <a:rPr lang="en-US" dirty="0"/>
              <a:t>Python does </a:t>
            </a:r>
            <a:r>
              <a:rPr lang="en-US" b="1" dirty="0"/>
              <a:t>not require compilation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Execution pipeline:</a:t>
            </a:r>
          </a:p>
          <a:p>
            <a:r>
              <a:rPr lang="en-US" dirty="0"/>
              <a:t>Python Code (.</a:t>
            </a:r>
            <a:r>
              <a:rPr lang="en-US" dirty="0" err="1"/>
              <a:t>py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    ↓</a:t>
            </a:r>
            <a:br>
              <a:rPr lang="en-US" dirty="0"/>
            </a:br>
            <a:r>
              <a:rPr lang="en-US" dirty="0"/>
              <a:t>Python Interpreter</a:t>
            </a:r>
            <a:br>
              <a:rPr lang="en-US" dirty="0"/>
            </a:br>
            <a:r>
              <a:rPr lang="en-US" dirty="0"/>
              <a:t>        ↓</a:t>
            </a:r>
            <a:br>
              <a:rPr lang="en-US" dirty="0"/>
            </a:br>
            <a:r>
              <a:rPr lang="en-US" dirty="0"/>
              <a:t>Bytecode (.</a:t>
            </a:r>
            <a:r>
              <a:rPr lang="en-US" dirty="0" err="1"/>
              <a:t>pyc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    ↓</a:t>
            </a:r>
            <a:br>
              <a:rPr lang="en-US" dirty="0"/>
            </a:br>
            <a:r>
              <a:rPr lang="en-US" dirty="0"/>
              <a:t>Python Virtual Machine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67AEAF-9340-5795-CB35-CF1C0F4DA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708834"/>
              </p:ext>
            </p:extLst>
          </p:nvPr>
        </p:nvGraphicFramePr>
        <p:xfrm>
          <a:off x="4869492" y="3800367"/>
          <a:ext cx="3844524" cy="2337004"/>
        </p:xfrm>
        <a:graphic>
          <a:graphicData uri="http://schemas.openxmlformats.org/drawingml/2006/table">
            <a:tbl>
              <a:tblPr/>
              <a:tblGrid>
                <a:gridCol w="1922262">
                  <a:extLst>
                    <a:ext uri="{9D8B030D-6E8A-4147-A177-3AD203B41FA5}">
                      <a16:colId xmlns:a16="http://schemas.microsoft.com/office/drawing/2014/main" val="386435324"/>
                    </a:ext>
                  </a:extLst>
                </a:gridCol>
                <a:gridCol w="1922262">
                  <a:extLst>
                    <a:ext uri="{9D8B030D-6E8A-4147-A177-3AD203B41FA5}">
                      <a16:colId xmlns:a16="http://schemas.microsoft.com/office/drawing/2014/main" val="3575055394"/>
                    </a:ext>
                  </a:extLst>
                </a:gridCol>
              </a:tblGrid>
              <a:tr h="424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Library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913767"/>
                  </a:ext>
                </a:extLst>
              </a:tr>
              <a:tr h="477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numpy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scientific computing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049493"/>
                  </a:ext>
                </a:extLst>
              </a:tr>
              <a:tr h="424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pandas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778849"/>
                  </a:ext>
                </a:extLst>
              </a:tr>
              <a:tr h="424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matplotlib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818440"/>
                  </a:ext>
                </a:extLst>
              </a:tr>
              <a:tr h="424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tensorflow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machine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986053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CBCF6AF2-EE9A-D7C1-6B14-3485C1DD3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108" y="3184558"/>
            <a:ext cx="445741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Huge Library Ecosystem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 libraries: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CE37CB8-520C-A30C-DDB0-5FEEFBA7068C}"/>
              </a:ext>
            </a:extLst>
          </p:cNvPr>
          <p:cNvSpPr txBox="1">
            <a:spLocks/>
          </p:cNvSpPr>
          <p:nvPr/>
        </p:nvSpPr>
        <p:spPr>
          <a:xfrm>
            <a:off x="4776108" y="926740"/>
            <a:ext cx="4069702" cy="5346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/>
              <a:t>3. Dynamically Typed</a:t>
            </a:r>
          </a:p>
          <a:p>
            <a:r>
              <a:rPr lang="en-IN" sz="2000" dirty="0"/>
              <a:t>Variables do </a:t>
            </a:r>
            <a:r>
              <a:rPr lang="en-IN" sz="2000" b="1" dirty="0"/>
              <a:t>not require type declaration</a:t>
            </a:r>
            <a:r>
              <a:rPr lang="en-IN" sz="2000" dirty="0"/>
              <a:t>.</a:t>
            </a:r>
          </a:p>
          <a:p>
            <a:r>
              <a:rPr lang="en-IN" sz="2000" dirty="0"/>
              <a:t>x = 10</a:t>
            </a:r>
            <a:br>
              <a:rPr lang="en-IN" sz="2000" dirty="0"/>
            </a:br>
            <a:r>
              <a:rPr lang="en-IN" sz="2000" dirty="0"/>
              <a:t>x = "Python“</a:t>
            </a:r>
          </a:p>
          <a:p>
            <a:endParaRPr lang="en-I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E5FCF8C-AED6-336C-EB03-E61FABB3F8E1}"/>
              </a:ext>
            </a:extLst>
          </p:cNvPr>
          <p:cNvSpPr txBox="1">
            <a:spLocks/>
          </p:cNvSpPr>
          <p:nvPr/>
        </p:nvSpPr>
        <p:spPr>
          <a:xfrm>
            <a:off x="8098971" y="830328"/>
            <a:ext cx="4093029" cy="5346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Why Python is useful in VLSI / Engineering</a:t>
            </a:r>
          </a:p>
          <a:p>
            <a:r>
              <a:rPr lang="en-US" sz="2000" dirty="0"/>
              <a:t>Python is widely used for:</a:t>
            </a:r>
          </a:p>
          <a:p>
            <a:r>
              <a:rPr lang="en-US" sz="2000" b="1" dirty="0"/>
              <a:t>EDA tool automation</a:t>
            </a:r>
            <a:endParaRPr lang="en-US" sz="2000" dirty="0"/>
          </a:p>
          <a:p>
            <a:r>
              <a:rPr lang="en-US" sz="2000" b="1" dirty="0"/>
              <a:t>log parsing</a:t>
            </a:r>
            <a:endParaRPr lang="en-US" sz="2000" dirty="0"/>
          </a:p>
          <a:p>
            <a:r>
              <a:rPr lang="en-US" sz="2000" b="1" dirty="0"/>
              <a:t>testbench automation</a:t>
            </a:r>
            <a:endParaRPr lang="en-US" sz="2000" dirty="0"/>
          </a:p>
          <a:p>
            <a:r>
              <a:rPr lang="en-US" sz="2000" b="1" dirty="0"/>
              <a:t>data analysis of simulation results</a:t>
            </a:r>
            <a:endParaRPr lang="en-US" sz="2000" dirty="0"/>
          </a:p>
          <a:p>
            <a:r>
              <a:rPr lang="en-US" sz="2000" b="1" dirty="0"/>
              <a:t>bit manipulation</a:t>
            </a:r>
            <a:endParaRPr lang="en-US" sz="2000" dirty="0"/>
          </a:p>
          <a:p>
            <a:r>
              <a:rPr lang="en-US" sz="2000" b="1" dirty="0"/>
              <a:t>script integration with tools</a:t>
            </a:r>
            <a:endParaRPr lang="en-US" sz="2000" dirty="0"/>
          </a:p>
          <a:p>
            <a:r>
              <a:rPr lang="en-US" sz="2000" dirty="0"/>
              <a:t>Example:</a:t>
            </a:r>
          </a:p>
          <a:p>
            <a:r>
              <a:rPr lang="en-US" sz="2000" dirty="0"/>
              <a:t>Parsing simulation log files.</a:t>
            </a:r>
          </a:p>
        </p:txBody>
      </p:sp>
    </p:spTree>
    <p:extLst>
      <p:ext uri="{BB962C8B-B14F-4D97-AF65-F5344CB8AC3E}">
        <p14:creationId xmlns:p14="http://schemas.microsoft.com/office/powerpoint/2010/main" val="1279260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3929B-4775-8990-CA96-EC38D15EC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637"/>
            <a:ext cx="10515600" cy="6074326"/>
          </a:xfrm>
        </p:spPr>
        <p:txBody>
          <a:bodyPr>
            <a:normAutofit/>
          </a:bodyPr>
          <a:lstStyle/>
          <a:p>
            <a:r>
              <a:rPr lang="en-IN" b="1" dirty="0"/>
              <a:t>Python Scripts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What is a Python Script?</a:t>
            </a:r>
          </a:p>
          <a:p>
            <a:r>
              <a:rPr lang="en-IN" dirty="0"/>
              <a:t>A </a:t>
            </a:r>
            <a:r>
              <a:rPr lang="en-IN" b="1" dirty="0"/>
              <a:t>Python script</a:t>
            </a:r>
            <a:r>
              <a:rPr lang="en-IN" dirty="0"/>
              <a:t> is a file containing Python code.</a:t>
            </a:r>
          </a:p>
          <a:p>
            <a:pPr marL="0" indent="0">
              <a:buNone/>
            </a:pPr>
            <a:r>
              <a:rPr lang="en-IN" dirty="0"/>
              <a:t>Extension:</a:t>
            </a:r>
          </a:p>
          <a:p>
            <a:r>
              <a:rPr lang="en-IN" dirty="0"/>
              <a:t>filename.py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r>
              <a:rPr lang="en-IN" dirty="0"/>
              <a:t>hello.py</a:t>
            </a:r>
          </a:p>
        </p:txBody>
      </p:sp>
    </p:spTree>
    <p:extLst>
      <p:ext uri="{BB962C8B-B14F-4D97-AF65-F5344CB8AC3E}">
        <p14:creationId xmlns:p14="http://schemas.microsoft.com/office/powerpoint/2010/main" val="1717536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D361A-2870-1203-23B7-BDCFB2632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579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Basics of 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ED873-9B8A-9414-D372-2C256EAB9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55" y="681038"/>
            <a:ext cx="10515600" cy="4351338"/>
          </a:xfrm>
        </p:spPr>
        <p:txBody>
          <a:bodyPr/>
          <a:lstStyle/>
          <a:p>
            <a:r>
              <a:rPr lang="en-IN" sz="2400" b="1" dirty="0"/>
              <a:t>Numbers in Python</a:t>
            </a:r>
          </a:p>
          <a:p>
            <a:pPr marL="0" indent="0">
              <a:buNone/>
            </a:pPr>
            <a:r>
              <a:rPr lang="en-IN" sz="2400" b="1" dirty="0"/>
              <a:t>Definition</a:t>
            </a:r>
          </a:p>
          <a:p>
            <a:r>
              <a:rPr lang="en-IN" sz="2400" dirty="0"/>
              <a:t>Numbers represent </a:t>
            </a:r>
            <a:r>
              <a:rPr lang="en-IN" sz="2400" b="1" dirty="0"/>
              <a:t>numeric data values</a:t>
            </a:r>
            <a:r>
              <a:rPr lang="en-IN" sz="2400" dirty="0"/>
              <a:t> in Python programs.</a:t>
            </a:r>
          </a:p>
          <a:p>
            <a:r>
              <a:rPr lang="en-IN" sz="2400" dirty="0"/>
              <a:t>Python supports three primary numeric types:</a:t>
            </a:r>
          </a:p>
          <a:p>
            <a:endParaRPr lang="en-IN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834E3C-23DD-6146-CFB8-7A78E9F90E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382380"/>
              </p:ext>
            </p:extLst>
          </p:nvPr>
        </p:nvGraphicFramePr>
        <p:xfrm>
          <a:off x="838200" y="2445554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25549021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447778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248967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148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Integer numbers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10, -5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991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float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Decimal numbers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953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 + imaginary numbers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 + 4j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47089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99280E8-77F4-4BAF-74F6-626E62011DBF}"/>
              </a:ext>
            </a:extLst>
          </p:cNvPr>
          <p:cNvSpPr txBox="1"/>
          <p:nvPr/>
        </p:nvSpPr>
        <p:spPr>
          <a:xfrm>
            <a:off x="362339" y="3796627"/>
            <a:ext cx="51971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Integer Numbers</a:t>
            </a:r>
          </a:p>
          <a:p>
            <a:r>
              <a:rPr lang="en-IN" dirty="0"/>
              <a:t>Example</a:t>
            </a:r>
          </a:p>
          <a:p>
            <a:r>
              <a:rPr lang="en-IN" dirty="0"/>
              <a:t>x = 10</a:t>
            </a:r>
            <a:br>
              <a:rPr lang="en-IN" dirty="0"/>
            </a:br>
            <a:r>
              <a:rPr lang="en-IN" dirty="0"/>
              <a:t>y = -5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print(x + y)</a:t>
            </a:r>
          </a:p>
          <a:p>
            <a:r>
              <a:rPr lang="en-IN" dirty="0"/>
              <a:t>Output</a:t>
            </a:r>
          </a:p>
          <a:p>
            <a:r>
              <a:rPr lang="en-IN" dirty="0"/>
              <a:t>5</a:t>
            </a:r>
          </a:p>
          <a:p>
            <a:r>
              <a:rPr lang="en-IN" dirty="0"/>
              <a:t>Explanation</a:t>
            </a:r>
            <a:br>
              <a:rPr lang="en-IN" dirty="0"/>
            </a:br>
            <a:r>
              <a:rPr lang="en-IN" dirty="0"/>
              <a:t>Integers represent whole numbers without </a:t>
            </a:r>
          </a:p>
          <a:p>
            <a:r>
              <a:rPr lang="en-IN" dirty="0"/>
              <a:t>decimal points.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270836-33E5-639D-BE5D-56E9B9BEFD6F}"/>
              </a:ext>
            </a:extLst>
          </p:cNvPr>
          <p:cNvSpPr txBox="1"/>
          <p:nvPr/>
        </p:nvSpPr>
        <p:spPr>
          <a:xfrm>
            <a:off x="5592148" y="3908594"/>
            <a:ext cx="28054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Floating Point Numbers</a:t>
            </a:r>
          </a:p>
          <a:p>
            <a:r>
              <a:rPr lang="en-IN" dirty="0"/>
              <a:t>Example</a:t>
            </a:r>
          </a:p>
          <a:p>
            <a:r>
              <a:rPr lang="en-IN" dirty="0"/>
              <a:t>a = 5.5</a:t>
            </a:r>
            <a:br>
              <a:rPr lang="en-IN" dirty="0"/>
            </a:br>
            <a:r>
              <a:rPr lang="en-IN" dirty="0"/>
              <a:t>b = 2.3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print(a * b)</a:t>
            </a:r>
          </a:p>
          <a:p>
            <a:r>
              <a:rPr lang="en-IN" dirty="0"/>
              <a:t>Output</a:t>
            </a:r>
          </a:p>
          <a:p>
            <a:r>
              <a:rPr lang="en-IN" dirty="0"/>
              <a:t>12.65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DDEA0-DC2F-185A-F14D-8FB1A440AB69}"/>
              </a:ext>
            </a:extLst>
          </p:cNvPr>
          <p:cNvSpPr txBox="1"/>
          <p:nvPr/>
        </p:nvSpPr>
        <p:spPr>
          <a:xfrm>
            <a:off x="9024256" y="3877036"/>
            <a:ext cx="28054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Complex Numbers</a:t>
            </a:r>
          </a:p>
          <a:p>
            <a:r>
              <a:rPr lang="en-IN" dirty="0"/>
              <a:t>Used mainly in </a:t>
            </a:r>
            <a:r>
              <a:rPr lang="en-IN" b="1" dirty="0"/>
              <a:t>scientific computing</a:t>
            </a:r>
            <a:r>
              <a:rPr lang="en-IN" dirty="0"/>
              <a:t>.</a:t>
            </a:r>
          </a:p>
          <a:p>
            <a:r>
              <a:rPr lang="en-IN" dirty="0"/>
              <a:t>Example</a:t>
            </a:r>
          </a:p>
          <a:p>
            <a:r>
              <a:rPr lang="en-IN" dirty="0"/>
              <a:t>z = 3 + 4j</a:t>
            </a:r>
            <a:br>
              <a:rPr lang="en-IN" dirty="0"/>
            </a:br>
            <a:r>
              <a:rPr lang="en-IN" dirty="0"/>
              <a:t>print(z)</a:t>
            </a:r>
          </a:p>
          <a:p>
            <a:r>
              <a:rPr lang="en-IN" dirty="0"/>
              <a:t>Output</a:t>
            </a:r>
          </a:p>
          <a:p>
            <a:r>
              <a:rPr lang="en-IN" dirty="0"/>
              <a:t>(3+4j)</a:t>
            </a:r>
          </a:p>
        </p:txBody>
      </p:sp>
    </p:spTree>
    <p:extLst>
      <p:ext uri="{BB962C8B-B14F-4D97-AF65-F5344CB8AC3E}">
        <p14:creationId xmlns:p14="http://schemas.microsoft.com/office/powerpoint/2010/main" val="1652135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8C399-998D-6ADC-08B1-D0412DB55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97A5D-4EAA-50A9-5FAD-810D6119C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5047861" cy="68580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Strings in Python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Definition</a:t>
            </a:r>
          </a:p>
          <a:p>
            <a:r>
              <a:rPr lang="en-IN" dirty="0"/>
              <a:t>A </a:t>
            </a:r>
            <a:r>
              <a:rPr lang="en-IN" b="1" dirty="0"/>
              <a:t>string</a:t>
            </a:r>
            <a:r>
              <a:rPr lang="en-IN" dirty="0"/>
              <a:t> is a sequence of characters.</a:t>
            </a:r>
          </a:p>
          <a:p>
            <a:pPr marL="0" indent="0">
              <a:buNone/>
            </a:pPr>
            <a:r>
              <a:rPr lang="en-IN" dirty="0"/>
              <a:t>Example</a:t>
            </a:r>
          </a:p>
          <a:p>
            <a:r>
              <a:rPr lang="en-IN" dirty="0"/>
              <a:t>name = "Python"</a:t>
            </a:r>
          </a:p>
          <a:p>
            <a:r>
              <a:rPr lang="en-IN" dirty="0"/>
              <a:t>Strings are </a:t>
            </a:r>
            <a:r>
              <a:rPr lang="en-IN" b="1" dirty="0"/>
              <a:t>immutable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Ex. 1 Accessing Characters</a:t>
            </a:r>
          </a:p>
          <a:p>
            <a:r>
              <a:rPr lang="en-IN" dirty="0"/>
              <a:t>text = "VLSI"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print(text[0])</a:t>
            </a:r>
            <a:br>
              <a:rPr lang="en-IN" dirty="0"/>
            </a:br>
            <a:r>
              <a:rPr lang="en-IN" dirty="0"/>
              <a:t>print(text[1])</a:t>
            </a:r>
          </a:p>
          <a:p>
            <a:pPr marL="0" indent="0">
              <a:buNone/>
            </a:pPr>
            <a:r>
              <a:rPr lang="en-IN" dirty="0"/>
              <a:t>Output</a:t>
            </a:r>
          </a:p>
          <a:p>
            <a:r>
              <a:rPr lang="en-IN" dirty="0"/>
              <a:t>V</a:t>
            </a:r>
            <a:br>
              <a:rPr lang="en-IN" dirty="0"/>
            </a:br>
            <a:r>
              <a:rPr lang="en-IN" dirty="0"/>
              <a:t>L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679132-7118-F96F-3D60-46174530FD65}"/>
              </a:ext>
            </a:extLst>
          </p:cNvPr>
          <p:cNvSpPr txBox="1">
            <a:spLocks/>
          </p:cNvSpPr>
          <p:nvPr/>
        </p:nvSpPr>
        <p:spPr>
          <a:xfrm>
            <a:off x="4086809" y="0"/>
            <a:ext cx="3778897" cy="685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Ex. 2 String Slicing</a:t>
            </a:r>
          </a:p>
          <a:p>
            <a:r>
              <a:rPr lang="en-IN" dirty="0"/>
              <a:t>text = "Python"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print(text[0:4])</a:t>
            </a:r>
          </a:p>
          <a:p>
            <a:pPr marL="0" indent="0">
              <a:buNone/>
            </a:pPr>
            <a:r>
              <a:rPr lang="en-IN" dirty="0"/>
              <a:t>Output</a:t>
            </a:r>
          </a:p>
          <a:p>
            <a:r>
              <a:rPr lang="en-IN" dirty="0" err="1"/>
              <a:t>Pyth</a:t>
            </a:r>
            <a:endParaRPr lang="en-IN" dirty="0"/>
          </a:p>
          <a:p>
            <a:pPr marL="0" indent="0">
              <a:buNone/>
            </a:pPr>
            <a:r>
              <a:rPr lang="en-US" sz="3100" b="1" dirty="0"/>
              <a:t>Important String Methods</a:t>
            </a:r>
            <a:endParaRPr lang="en-US" sz="3100" dirty="0"/>
          </a:p>
          <a:p>
            <a:r>
              <a:rPr lang="en-US" b="1" dirty="0"/>
              <a:t>upper()</a:t>
            </a:r>
          </a:p>
          <a:p>
            <a:r>
              <a:rPr lang="en-US" dirty="0"/>
              <a:t>text = "python"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text.upper</a:t>
            </a:r>
            <a:r>
              <a:rPr lang="en-US" dirty="0"/>
              <a:t>())</a:t>
            </a:r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r>
              <a:rPr lang="en-US" dirty="0"/>
              <a:t>PYTHON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lower()</a:t>
            </a:r>
          </a:p>
          <a:p>
            <a:r>
              <a:rPr lang="en-US" dirty="0"/>
              <a:t>text = "PYTHON"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text.lower</a:t>
            </a:r>
            <a:r>
              <a:rPr lang="en-US" dirty="0"/>
              <a:t>())</a:t>
            </a:r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r>
              <a:rPr lang="en-US" dirty="0"/>
              <a:t>python</a:t>
            </a:r>
          </a:p>
          <a:p>
            <a:endParaRPr lang="en-IN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BD5680C-2EDE-04C7-A7A1-6BC0B9DB1B15}"/>
              </a:ext>
            </a:extLst>
          </p:cNvPr>
          <p:cNvSpPr txBox="1">
            <a:spLocks/>
          </p:cNvSpPr>
          <p:nvPr/>
        </p:nvSpPr>
        <p:spPr>
          <a:xfrm>
            <a:off x="8173616" y="0"/>
            <a:ext cx="4018384" cy="6858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format()</a:t>
            </a:r>
          </a:p>
          <a:p>
            <a:r>
              <a:rPr lang="en-US" dirty="0"/>
              <a:t>name = "EDA"</a:t>
            </a:r>
            <a:br>
              <a:rPr lang="en-US" dirty="0"/>
            </a:br>
            <a:r>
              <a:rPr lang="en-US" dirty="0"/>
              <a:t>version = 3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print("Tool {} version {}".format(name, version))</a:t>
            </a:r>
          </a:p>
          <a:p>
            <a:pPr marL="0" indent="0">
              <a:buNone/>
            </a:pPr>
            <a:r>
              <a:rPr lang="en-US" b="1" dirty="0"/>
              <a:t>f-Strings</a:t>
            </a:r>
          </a:p>
          <a:p>
            <a:r>
              <a:rPr lang="en-US" dirty="0"/>
              <a:t>Most modern formatting.</a:t>
            </a:r>
          </a:p>
          <a:p>
            <a:r>
              <a:rPr lang="en-US" dirty="0"/>
              <a:t>tool = "Python"</a:t>
            </a:r>
            <a:br>
              <a:rPr lang="en-US" dirty="0"/>
            </a:br>
            <a:r>
              <a:rPr lang="en-US" dirty="0"/>
              <a:t>version = 3.10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print(f"{tool} version {version}")</a:t>
            </a:r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r>
              <a:rPr lang="en-US" dirty="0"/>
              <a:t>Python version 3.10</a:t>
            </a:r>
          </a:p>
        </p:txBody>
      </p:sp>
    </p:spTree>
    <p:extLst>
      <p:ext uri="{BB962C8B-B14F-4D97-AF65-F5344CB8AC3E}">
        <p14:creationId xmlns:p14="http://schemas.microsoft.com/office/powerpoint/2010/main" val="2669867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B22F7-E36E-933A-F5EA-DA409B50E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C7611-3FA1-E75D-56C7-8DB7CF916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5047861" cy="6858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Lists in Python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Definition</a:t>
            </a:r>
          </a:p>
          <a:p>
            <a:r>
              <a:rPr lang="en-IN" dirty="0"/>
              <a:t>A </a:t>
            </a:r>
            <a:r>
              <a:rPr lang="en-IN" b="1" dirty="0"/>
              <a:t>list</a:t>
            </a:r>
            <a:r>
              <a:rPr lang="en-IN" dirty="0"/>
              <a:t> is an ordered collection of elements.</a:t>
            </a:r>
          </a:p>
          <a:p>
            <a:r>
              <a:rPr lang="en-IN" dirty="0"/>
              <a:t>Lists are </a:t>
            </a:r>
            <a:r>
              <a:rPr lang="en-IN" b="1" dirty="0"/>
              <a:t>mutable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Example</a:t>
            </a:r>
          </a:p>
          <a:p>
            <a:r>
              <a:rPr lang="en-IN" dirty="0"/>
              <a:t>signals = ["</a:t>
            </a:r>
            <a:r>
              <a:rPr lang="en-IN" dirty="0" err="1"/>
              <a:t>clk</a:t>
            </a:r>
            <a:r>
              <a:rPr lang="en-IN" dirty="0"/>
              <a:t>","</a:t>
            </a:r>
            <a:r>
              <a:rPr lang="en-IN" dirty="0" err="1"/>
              <a:t>reset","data</a:t>
            </a:r>
            <a:r>
              <a:rPr lang="en-IN" dirty="0"/>
              <a:t>"]</a:t>
            </a:r>
          </a:p>
          <a:p>
            <a:pPr marL="0" indent="0">
              <a:buNone/>
            </a:pPr>
            <a:r>
              <a:rPr lang="en-IN" b="1" dirty="0"/>
              <a:t>Indexing</a:t>
            </a:r>
          </a:p>
          <a:p>
            <a:r>
              <a:rPr lang="en-IN" dirty="0"/>
              <a:t>signals = ["</a:t>
            </a:r>
            <a:r>
              <a:rPr lang="en-IN" dirty="0" err="1"/>
              <a:t>clk</a:t>
            </a:r>
            <a:r>
              <a:rPr lang="en-IN" dirty="0"/>
              <a:t>","</a:t>
            </a:r>
            <a:r>
              <a:rPr lang="en-IN" dirty="0" err="1"/>
              <a:t>reset","data</a:t>
            </a:r>
            <a:r>
              <a:rPr lang="en-IN" dirty="0"/>
              <a:t>"]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print(signals[0])</a:t>
            </a:r>
          </a:p>
          <a:p>
            <a:pPr marL="0" indent="0">
              <a:buNone/>
            </a:pPr>
            <a:r>
              <a:rPr lang="en-IN" dirty="0"/>
              <a:t>Output</a:t>
            </a:r>
          </a:p>
          <a:p>
            <a:r>
              <a:rPr lang="en-IN" dirty="0" err="1"/>
              <a:t>clk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34D190-3672-3790-D6BF-65F9249DCB96}"/>
              </a:ext>
            </a:extLst>
          </p:cNvPr>
          <p:cNvSpPr txBox="1">
            <a:spLocks/>
          </p:cNvSpPr>
          <p:nvPr/>
        </p:nvSpPr>
        <p:spPr>
          <a:xfrm>
            <a:off x="4851919" y="0"/>
            <a:ext cx="3778897" cy="685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Slicing</a:t>
            </a:r>
          </a:p>
          <a:p>
            <a:r>
              <a:rPr lang="en-US" dirty="0"/>
              <a:t>signals = ["</a:t>
            </a:r>
            <a:r>
              <a:rPr lang="en-US" dirty="0" err="1"/>
              <a:t>clk</a:t>
            </a:r>
            <a:r>
              <a:rPr lang="en-US" dirty="0"/>
              <a:t>","</a:t>
            </a:r>
            <a:r>
              <a:rPr lang="en-US" dirty="0" err="1"/>
              <a:t>reset","data</a:t>
            </a:r>
            <a:r>
              <a:rPr lang="en-US" dirty="0"/>
              <a:t>"]</a:t>
            </a:r>
            <a:br>
              <a:rPr lang="en-US" dirty="0"/>
            </a:br>
            <a:r>
              <a:rPr lang="en-US" dirty="0"/>
              <a:t>print(signals[0:2])</a:t>
            </a:r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r>
              <a:rPr lang="en-US" dirty="0"/>
              <a:t>['</a:t>
            </a:r>
            <a:r>
              <a:rPr lang="en-US" dirty="0" err="1"/>
              <a:t>clk</a:t>
            </a:r>
            <a:r>
              <a:rPr lang="en-US" dirty="0"/>
              <a:t>','reset’]</a:t>
            </a:r>
          </a:p>
          <a:p>
            <a:endParaRPr lang="en-US" dirty="0"/>
          </a:p>
          <a:p>
            <a:r>
              <a:rPr lang="en-US" sz="3400" b="1" dirty="0"/>
              <a:t>List Methods</a:t>
            </a:r>
          </a:p>
          <a:p>
            <a:pPr marL="0" indent="0">
              <a:buNone/>
            </a:pPr>
            <a:r>
              <a:rPr lang="en-IN" b="1" dirty="0"/>
              <a:t>append()</a:t>
            </a:r>
          </a:p>
          <a:p>
            <a:pPr marL="0" indent="0">
              <a:buNone/>
            </a:pPr>
            <a:r>
              <a:rPr lang="en-IN" dirty="0"/>
              <a:t>Adds element.</a:t>
            </a:r>
          </a:p>
          <a:p>
            <a:r>
              <a:rPr lang="en-IN" dirty="0"/>
              <a:t>signals = ["</a:t>
            </a:r>
            <a:r>
              <a:rPr lang="en-IN" dirty="0" err="1"/>
              <a:t>clk</a:t>
            </a:r>
            <a:r>
              <a:rPr lang="en-IN" dirty="0"/>
              <a:t>"]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signals.append</a:t>
            </a:r>
            <a:r>
              <a:rPr lang="en-IN" dirty="0"/>
              <a:t>("reset")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print(signals)</a:t>
            </a:r>
          </a:p>
          <a:p>
            <a:pPr marL="0" indent="0">
              <a:buNone/>
            </a:pPr>
            <a:r>
              <a:rPr lang="en-IN" dirty="0"/>
              <a:t>Output</a:t>
            </a:r>
          </a:p>
          <a:p>
            <a:r>
              <a:rPr lang="en-IN" dirty="0"/>
              <a:t>['</a:t>
            </a:r>
            <a:r>
              <a:rPr lang="en-IN" dirty="0" err="1"/>
              <a:t>clk</a:t>
            </a:r>
            <a:r>
              <a:rPr lang="en-IN" dirty="0"/>
              <a:t>','reset']</a:t>
            </a:r>
          </a:p>
          <a:p>
            <a:pPr marL="0" indent="0">
              <a:buNone/>
            </a:pPr>
            <a:r>
              <a:rPr lang="en-IN" b="1" dirty="0"/>
              <a:t>extend()</a:t>
            </a:r>
          </a:p>
          <a:p>
            <a:r>
              <a:rPr lang="en-IN" dirty="0"/>
              <a:t>Adds multiple elements.</a:t>
            </a:r>
          </a:p>
          <a:p>
            <a:r>
              <a:rPr lang="en-IN" dirty="0"/>
              <a:t>signals = ["</a:t>
            </a:r>
            <a:r>
              <a:rPr lang="en-IN" dirty="0" err="1"/>
              <a:t>clk</a:t>
            </a:r>
            <a:r>
              <a:rPr lang="en-IN" dirty="0"/>
              <a:t>"]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signals.extend</a:t>
            </a:r>
            <a:r>
              <a:rPr lang="en-IN" dirty="0"/>
              <a:t>(["</a:t>
            </a:r>
            <a:r>
              <a:rPr lang="en-IN" dirty="0" err="1"/>
              <a:t>reset","data</a:t>
            </a:r>
            <a:r>
              <a:rPr lang="en-IN" dirty="0"/>
              <a:t>"])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print(signals)</a:t>
            </a:r>
          </a:p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991FD2D-551C-2955-07E8-3BBC4434FD1B}"/>
              </a:ext>
            </a:extLst>
          </p:cNvPr>
          <p:cNvSpPr txBox="1">
            <a:spLocks/>
          </p:cNvSpPr>
          <p:nvPr/>
        </p:nvSpPr>
        <p:spPr>
          <a:xfrm>
            <a:off x="8425542" y="0"/>
            <a:ext cx="4018384" cy="685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pop()</a:t>
            </a:r>
          </a:p>
          <a:p>
            <a:r>
              <a:rPr lang="en-US" dirty="0"/>
              <a:t>Removes element.</a:t>
            </a:r>
          </a:p>
          <a:p>
            <a:r>
              <a:rPr lang="en-US" dirty="0" err="1"/>
              <a:t>nums</a:t>
            </a:r>
            <a:r>
              <a:rPr lang="en-US" dirty="0"/>
              <a:t> = [1,2,3]</a:t>
            </a:r>
            <a:br>
              <a:rPr lang="en-US" dirty="0"/>
            </a:br>
            <a:r>
              <a:rPr lang="en-US" dirty="0" err="1"/>
              <a:t>nums.pop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nums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r>
              <a:rPr lang="en-US" dirty="0"/>
              <a:t>[1,2]</a:t>
            </a:r>
          </a:p>
          <a:p>
            <a:pPr marL="0" indent="0">
              <a:buNone/>
            </a:pPr>
            <a:r>
              <a:rPr lang="en-US" b="1" dirty="0"/>
              <a:t>remove()</a:t>
            </a:r>
          </a:p>
          <a:p>
            <a:r>
              <a:rPr lang="en-US" dirty="0" err="1"/>
              <a:t>nums</a:t>
            </a:r>
            <a:r>
              <a:rPr lang="en-US" dirty="0"/>
              <a:t> = [1,2,3]</a:t>
            </a:r>
            <a:br>
              <a:rPr lang="en-US" dirty="0"/>
            </a:br>
            <a:r>
              <a:rPr lang="en-US" dirty="0" err="1"/>
              <a:t>nums.remove</a:t>
            </a:r>
            <a:r>
              <a:rPr lang="en-US" dirty="0"/>
              <a:t>(2)</a:t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nums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r>
              <a:rPr lang="en-US" dirty="0"/>
              <a:t>[1,3]</a:t>
            </a:r>
          </a:p>
        </p:txBody>
      </p:sp>
    </p:spTree>
    <p:extLst>
      <p:ext uri="{BB962C8B-B14F-4D97-AF65-F5344CB8AC3E}">
        <p14:creationId xmlns:p14="http://schemas.microsoft.com/office/powerpoint/2010/main" val="2787491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A70C1-356B-FC21-4741-F9B5BBD92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B8A11-AE35-8764-D46A-57B6CC5A2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0"/>
            <a:ext cx="3778897" cy="685800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Tuples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A </a:t>
            </a:r>
            <a:r>
              <a:rPr lang="en-US" b="1" dirty="0"/>
              <a:t>tuple</a:t>
            </a:r>
            <a:r>
              <a:rPr lang="en-US" dirty="0"/>
              <a:t> is similar to a list but </a:t>
            </a:r>
            <a:r>
              <a:rPr lang="en-US" b="1" dirty="0"/>
              <a:t>immutable</a:t>
            </a:r>
            <a:r>
              <a:rPr lang="en-US" dirty="0"/>
              <a:t>.</a:t>
            </a:r>
          </a:p>
          <a:p>
            <a:r>
              <a:rPr lang="en-US" dirty="0"/>
              <a:t>Example</a:t>
            </a:r>
          </a:p>
          <a:p>
            <a:r>
              <a:rPr lang="en-US" dirty="0"/>
              <a:t>coordinates = (10,20)</a:t>
            </a:r>
          </a:p>
          <a:p>
            <a:pPr marL="0" indent="0">
              <a:buNone/>
            </a:pPr>
            <a:r>
              <a:rPr lang="en-US" b="1" dirty="0"/>
              <a:t>Accessing Elements</a:t>
            </a:r>
          </a:p>
          <a:p>
            <a:r>
              <a:rPr lang="en-US" dirty="0"/>
              <a:t>t = (1,2,3)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print(t[0])</a:t>
            </a:r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r>
              <a:rPr lang="en-US" dirty="0"/>
              <a:t>1</a:t>
            </a:r>
          </a:p>
          <a:p>
            <a:pPr marL="0" indent="0">
              <a:buNone/>
            </a:pPr>
            <a:r>
              <a:rPr lang="en-IN" b="1" dirty="0"/>
              <a:t>Tuple Packing</a:t>
            </a:r>
          </a:p>
          <a:p>
            <a:r>
              <a:rPr lang="en-IN" dirty="0"/>
              <a:t>t = 1,2,3</a:t>
            </a:r>
          </a:p>
          <a:p>
            <a:pPr marL="0" indent="0">
              <a:buNone/>
            </a:pPr>
            <a:r>
              <a:rPr lang="en-IN" b="1" dirty="0"/>
              <a:t>Tuple Unpacking</a:t>
            </a:r>
          </a:p>
          <a:p>
            <a:r>
              <a:rPr lang="en-IN" dirty="0" err="1"/>
              <a:t>a,b,c</a:t>
            </a:r>
            <a:r>
              <a:rPr lang="en-IN" dirty="0"/>
              <a:t> = (1,2,3)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print(</a:t>
            </a:r>
            <a:r>
              <a:rPr lang="en-IN" dirty="0" err="1"/>
              <a:t>a,b,c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Output</a:t>
            </a:r>
          </a:p>
          <a:p>
            <a:r>
              <a:rPr lang="en-IN" dirty="0"/>
              <a:t>1 2 3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43C28A1-B478-C90B-BA2B-1D2BA7949F6E}"/>
              </a:ext>
            </a:extLst>
          </p:cNvPr>
          <p:cNvSpPr txBox="1">
            <a:spLocks/>
          </p:cNvSpPr>
          <p:nvPr/>
        </p:nvSpPr>
        <p:spPr>
          <a:xfrm>
            <a:off x="4086809" y="0"/>
            <a:ext cx="3778897" cy="685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Dictionaries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Definition</a:t>
            </a:r>
          </a:p>
          <a:p>
            <a:r>
              <a:rPr lang="en-IN" dirty="0"/>
              <a:t>Dictionary stores </a:t>
            </a:r>
            <a:r>
              <a:rPr lang="en-IN" b="1" dirty="0"/>
              <a:t>key-value pairs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Example</a:t>
            </a:r>
          </a:p>
          <a:p>
            <a:r>
              <a:rPr lang="en-IN" dirty="0"/>
              <a:t>student = {</a:t>
            </a:r>
            <a:br>
              <a:rPr lang="en-IN" dirty="0"/>
            </a:br>
            <a:r>
              <a:rPr lang="en-IN" dirty="0"/>
              <a:t>"</a:t>
            </a:r>
            <a:r>
              <a:rPr lang="en-IN" dirty="0" err="1"/>
              <a:t>name":"Ravi</a:t>
            </a:r>
            <a:r>
              <a:rPr lang="en-IN" dirty="0"/>
              <a:t>",</a:t>
            </a:r>
            <a:br>
              <a:rPr lang="en-IN" dirty="0"/>
            </a:br>
            <a:r>
              <a:rPr lang="en-IN" dirty="0"/>
              <a:t>"marks":85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b="1" dirty="0"/>
              <a:t>Accessing Values</a:t>
            </a:r>
          </a:p>
          <a:p>
            <a:r>
              <a:rPr lang="en-IN" dirty="0"/>
              <a:t>print(student["name"])</a:t>
            </a:r>
          </a:p>
          <a:p>
            <a:pPr marL="0" indent="0">
              <a:buNone/>
            </a:pPr>
            <a:r>
              <a:rPr lang="en-IN" dirty="0"/>
              <a:t>Output</a:t>
            </a:r>
          </a:p>
          <a:p>
            <a:r>
              <a:rPr lang="en-IN" dirty="0"/>
              <a:t>Ravi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DB2B02-B642-C9BA-529F-5464CD44FB84}"/>
              </a:ext>
            </a:extLst>
          </p:cNvPr>
          <p:cNvSpPr txBox="1">
            <a:spLocks/>
          </p:cNvSpPr>
          <p:nvPr/>
        </p:nvSpPr>
        <p:spPr>
          <a:xfrm>
            <a:off x="7865706" y="0"/>
            <a:ext cx="4326294" cy="685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Important Methods in Dictionaries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keys()</a:t>
            </a:r>
          </a:p>
          <a:p>
            <a:r>
              <a:rPr lang="en-US" dirty="0"/>
              <a:t>print(</a:t>
            </a:r>
            <a:r>
              <a:rPr lang="en-US" dirty="0" err="1"/>
              <a:t>student.keys</a:t>
            </a:r>
            <a:r>
              <a:rPr lang="en-US" dirty="0"/>
              <a:t>())</a:t>
            </a:r>
          </a:p>
          <a:p>
            <a:pPr marL="0" indent="0">
              <a:buNone/>
            </a:pPr>
            <a:r>
              <a:rPr lang="en-US" b="1" dirty="0"/>
              <a:t>values()</a:t>
            </a:r>
          </a:p>
          <a:p>
            <a:r>
              <a:rPr lang="en-US" dirty="0"/>
              <a:t>print(</a:t>
            </a:r>
            <a:r>
              <a:rPr lang="en-US" dirty="0" err="1"/>
              <a:t>student.values</a:t>
            </a:r>
            <a:r>
              <a:rPr lang="en-US" dirty="0"/>
              <a:t>())</a:t>
            </a:r>
          </a:p>
          <a:p>
            <a:pPr marL="0" indent="0">
              <a:buNone/>
            </a:pPr>
            <a:r>
              <a:rPr lang="en-US" b="1" dirty="0"/>
              <a:t>items()</a:t>
            </a:r>
          </a:p>
          <a:p>
            <a:r>
              <a:rPr lang="en-US" dirty="0"/>
              <a:t>print(</a:t>
            </a:r>
            <a:r>
              <a:rPr lang="en-US" dirty="0" err="1"/>
              <a:t>student.items</a:t>
            </a:r>
            <a:r>
              <a:rPr lang="en-US" dirty="0"/>
              <a:t>())</a:t>
            </a:r>
          </a:p>
          <a:p>
            <a:pPr marL="0" indent="0">
              <a:buNone/>
            </a:pPr>
            <a:r>
              <a:rPr lang="en-US" b="1" dirty="0"/>
              <a:t>get()</a:t>
            </a:r>
          </a:p>
          <a:p>
            <a:r>
              <a:rPr lang="en-US" dirty="0"/>
              <a:t>print(</a:t>
            </a:r>
            <a:r>
              <a:rPr lang="en-US" dirty="0" err="1"/>
              <a:t>student.get</a:t>
            </a:r>
            <a:r>
              <a:rPr lang="en-US" dirty="0"/>
              <a:t>("name"))</a:t>
            </a:r>
          </a:p>
        </p:txBody>
      </p:sp>
    </p:spTree>
    <p:extLst>
      <p:ext uri="{BB962C8B-B14F-4D97-AF65-F5344CB8AC3E}">
        <p14:creationId xmlns:p14="http://schemas.microsoft.com/office/powerpoint/2010/main" val="4062249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FBA18-4348-4AF3-DC04-0EF640746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AA078-834C-6966-F01D-505982019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0"/>
            <a:ext cx="5038530" cy="68580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500" b="1" dirty="0"/>
              <a:t>Sets</a:t>
            </a:r>
            <a:endParaRPr lang="en-US" sz="3500" dirty="0"/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A </a:t>
            </a:r>
            <a:r>
              <a:rPr lang="en-US" b="1" dirty="0"/>
              <a:t>set</a:t>
            </a:r>
            <a:r>
              <a:rPr lang="en-US" dirty="0"/>
              <a:t> is an unordered collection of unique elements.</a:t>
            </a:r>
          </a:p>
          <a:p>
            <a:r>
              <a:rPr lang="en-US" dirty="0"/>
              <a:t>Example</a:t>
            </a:r>
          </a:p>
          <a:p>
            <a:r>
              <a:rPr lang="en-US" dirty="0"/>
              <a:t>s = {1,2,3}</a:t>
            </a:r>
          </a:p>
          <a:p>
            <a:pPr marL="0" indent="0">
              <a:buNone/>
            </a:pPr>
            <a:r>
              <a:rPr lang="en-US" b="1" dirty="0"/>
              <a:t>Set Operations</a:t>
            </a:r>
            <a:endParaRPr lang="en-US" dirty="0"/>
          </a:p>
          <a:p>
            <a:r>
              <a:rPr lang="en-US" b="1" dirty="0"/>
              <a:t>union()</a:t>
            </a:r>
          </a:p>
          <a:p>
            <a:r>
              <a:rPr lang="en-US" dirty="0"/>
              <a:t>a = {1,2}</a:t>
            </a:r>
            <a:br>
              <a:rPr lang="en-US" dirty="0"/>
            </a:br>
            <a:r>
              <a:rPr lang="en-US" dirty="0"/>
              <a:t>b = {2,3}</a:t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a.union</a:t>
            </a:r>
            <a:r>
              <a:rPr lang="en-US" dirty="0"/>
              <a:t>(b))</a:t>
            </a:r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r>
              <a:rPr lang="en-US" dirty="0"/>
              <a:t>{1,2,3}</a:t>
            </a:r>
          </a:p>
          <a:p>
            <a:pPr marL="0" indent="0">
              <a:buNone/>
            </a:pPr>
            <a:r>
              <a:rPr lang="en-US" b="1" dirty="0"/>
              <a:t>intersection()</a:t>
            </a:r>
          </a:p>
          <a:p>
            <a:r>
              <a:rPr lang="en-US" dirty="0"/>
              <a:t>print(</a:t>
            </a:r>
            <a:r>
              <a:rPr lang="en-US" dirty="0" err="1"/>
              <a:t>a.intersection</a:t>
            </a:r>
            <a:r>
              <a:rPr lang="en-US" dirty="0"/>
              <a:t>(b))</a:t>
            </a:r>
          </a:p>
          <a:p>
            <a:r>
              <a:rPr lang="en-US" dirty="0"/>
              <a:t>Output</a:t>
            </a:r>
          </a:p>
          <a:p>
            <a:r>
              <a:rPr lang="en-US" dirty="0"/>
              <a:t>{2}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B68C23-31F6-1934-B488-15ADAD215DE0}"/>
              </a:ext>
            </a:extLst>
          </p:cNvPr>
          <p:cNvSpPr txBox="1">
            <a:spLocks/>
          </p:cNvSpPr>
          <p:nvPr/>
        </p:nvSpPr>
        <p:spPr>
          <a:xfrm>
            <a:off x="5234474" y="9331"/>
            <a:ext cx="6344816" cy="685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difference()</a:t>
            </a:r>
          </a:p>
          <a:p>
            <a:r>
              <a:rPr lang="en-US" dirty="0"/>
              <a:t>print(</a:t>
            </a:r>
            <a:r>
              <a:rPr lang="en-US" dirty="0" err="1"/>
              <a:t>a.difference</a:t>
            </a:r>
            <a:r>
              <a:rPr lang="en-US" dirty="0"/>
              <a:t>(b))</a:t>
            </a:r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r>
              <a:rPr lang="en-US" dirty="0"/>
              <a:t>{1}</a:t>
            </a:r>
          </a:p>
          <a:p>
            <a:r>
              <a:rPr lang="en-US" b="1" dirty="0" err="1"/>
              <a:t>symmetric_difference</a:t>
            </a:r>
            <a:r>
              <a:rPr lang="en-US" b="1" dirty="0"/>
              <a:t>()</a:t>
            </a:r>
          </a:p>
          <a:p>
            <a:r>
              <a:rPr lang="en-US" dirty="0"/>
              <a:t>print(</a:t>
            </a:r>
            <a:r>
              <a:rPr lang="en-US" dirty="0" err="1"/>
              <a:t>a.symmetric_difference</a:t>
            </a:r>
            <a:r>
              <a:rPr lang="en-US" dirty="0"/>
              <a:t>(b))</a:t>
            </a:r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r>
              <a:rPr lang="en-US" dirty="0"/>
              <a:t>{1,3}</a:t>
            </a:r>
          </a:p>
        </p:txBody>
      </p:sp>
    </p:spTree>
    <p:extLst>
      <p:ext uri="{BB962C8B-B14F-4D97-AF65-F5344CB8AC3E}">
        <p14:creationId xmlns:p14="http://schemas.microsoft.com/office/powerpoint/2010/main" val="3322785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ADBDA-6E50-8710-E230-926B5BBC8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18" y="18255"/>
            <a:ext cx="10515600" cy="1325563"/>
          </a:xfrm>
        </p:spPr>
        <p:txBody>
          <a:bodyPr/>
          <a:lstStyle/>
          <a:p>
            <a:r>
              <a:rPr lang="en-US" b="1" dirty="0"/>
              <a:t>Print Function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C27ED-E44A-7807-23DC-5A3B66099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9796"/>
            <a:ext cx="5189376" cy="54771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Basic Syntax</a:t>
            </a:r>
          </a:p>
          <a:p>
            <a:r>
              <a:rPr lang="en-US" dirty="0"/>
              <a:t>print(object)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print("Hello")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Printing Multiple Values</a:t>
            </a:r>
          </a:p>
          <a:p>
            <a:r>
              <a:rPr lang="en-US" dirty="0"/>
              <a:t>print("Python", "Programming")</a:t>
            </a:r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r>
              <a:rPr lang="en-US" dirty="0"/>
              <a:t>Python Programming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201791D-009E-ED1A-1BFE-A271D44CC393}"/>
              </a:ext>
            </a:extLst>
          </p:cNvPr>
          <p:cNvSpPr txBox="1">
            <a:spLocks/>
          </p:cNvSpPr>
          <p:nvPr/>
        </p:nvSpPr>
        <p:spPr>
          <a:xfrm>
            <a:off x="6204858" y="690416"/>
            <a:ext cx="5189376" cy="547716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/>
              <a:t>sep</a:t>
            </a:r>
            <a:r>
              <a:rPr lang="en-US" b="1" dirty="0"/>
              <a:t> Parameter</a:t>
            </a:r>
          </a:p>
          <a:p>
            <a:r>
              <a:rPr lang="en-US" dirty="0"/>
              <a:t>Controls separator between items.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print("VLSI", "EDA", "Python", </a:t>
            </a:r>
            <a:r>
              <a:rPr lang="en-US" dirty="0" err="1"/>
              <a:t>sep</a:t>
            </a:r>
            <a:r>
              <a:rPr lang="en-US" dirty="0"/>
              <a:t>="-")</a:t>
            </a:r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r>
              <a:rPr lang="en-US" dirty="0"/>
              <a:t>VLSI-EDA-Python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end Parameter</a:t>
            </a:r>
          </a:p>
          <a:p>
            <a:r>
              <a:rPr lang="en-IN" dirty="0"/>
              <a:t>Controls line ending.</a:t>
            </a:r>
          </a:p>
          <a:p>
            <a:pPr marL="0" indent="0">
              <a:buNone/>
            </a:pPr>
            <a:r>
              <a:rPr lang="en-IN" dirty="0"/>
              <a:t>Default</a:t>
            </a:r>
          </a:p>
          <a:p>
            <a:r>
              <a:rPr lang="en-IN" dirty="0"/>
              <a:t>\n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	print("Hello", end=" ")</a:t>
            </a:r>
            <a:br>
              <a:rPr lang="en-IN" dirty="0"/>
            </a:br>
            <a:r>
              <a:rPr lang="en-IN" dirty="0"/>
              <a:t>	print("World")</a:t>
            </a:r>
          </a:p>
          <a:p>
            <a:pPr marL="0" indent="0">
              <a:buNone/>
            </a:pPr>
            <a:r>
              <a:rPr lang="en-IN" dirty="0"/>
              <a:t>Output:</a:t>
            </a:r>
          </a:p>
          <a:p>
            <a:pPr marL="0" indent="0">
              <a:buNone/>
            </a:pPr>
            <a:r>
              <a:rPr lang="en-IN" dirty="0"/>
              <a:t>	Hello World</a:t>
            </a:r>
          </a:p>
        </p:txBody>
      </p:sp>
    </p:spTree>
    <p:extLst>
      <p:ext uri="{BB962C8B-B14F-4D97-AF65-F5344CB8AC3E}">
        <p14:creationId xmlns:p14="http://schemas.microsoft.com/office/powerpoint/2010/main" val="3879108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D431F-5496-AA62-7D1B-C2FA72673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63" y="499017"/>
            <a:ext cx="10515600" cy="1031204"/>
          </a:xfrm>
        </p:spPr>
        <p:txBody>
          <a:bodyPr/>
          <a:lstStyle/>
          <a:p>
            <a:r>
              <a:rPr lang="en-US" dirty="0"/>
              <a:t>Literals in Python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D963D4-AE09-053B-791A-719DD67431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8143276"/>
              </p:ext>
            </p:extLst>
          </p:nvPr>
        </p:nvGraphicFramePr>
        <p:xfrm>
          <a:off x="735563" y="2692325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9371223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148710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669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674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Float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646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"Python"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654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Boolean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323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2952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70692C4A-976A-4B57-A064-E2393851C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563" y="180125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literal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constant value used in a program.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1C2A795-D3B6-44DD-E21E-4C142BD3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563" y="22351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Literals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599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7B2C-F762-AB64-19BD-921D468D2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Quoting Rules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7F2C6-3F3B-DB82-6C43-E38B8227F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Python supports </a:t>
            </a:r>
            <a:r>
              <a:rPr lang="en-US" b="1" dirty="0"/>
              <a:t>three types of quotes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Single Quotes</a:t>
            </a:r>
          </a:p>
          <a:p>
            <a:r>
              <a:rPr lang="en-US" dirty="0"/>
              <a:t>text = 'Hello'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Double Quotes</a:t>
            </a:r>
          </a:p>
          <a:p>
            <a:r>
              <a:rPr lang="en-US" dirty="0"/>
              <a:t>text = "Hello"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Triple Quotes</a:t>
            </a:r>
          </a:p>
          <a:p>
            <a:r>
              <a:rPr lang="en-US" dirty="0"/>
              <a:t>Used for </a:t>
            </a:r>
            <a:r>
              <a:rPr lang="en-US" b="1" dirty="0"/>
              <a:t>multi-line strings</a:t>
            </a:r>
            <a:endParaRPr lang="en-US" dirty="0"/>
          </a:p>
          <a:p>
            <a:r>
              <a:rPr lang="en-US" dirty="0"/>
              <a:t>text = """Python</a:t>
            </a:r>
            <a:br>
              <a:rPr lang="en-US" dirty="0"/>
            </a:br>
            <a:r>
              <a:rPr lang="en-US" dirty="0"/>
              <a:t>Programming</a:t>
            </a:r>
            <a:br>
              <a:rPr lang="en-US" dirty="0"/>
            </a:br>
            <a:r>
              <a:rPr lang="en-US" dirty="0"/>
              <a:t>Language"""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945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2802-304C-84BB-BF84-62BB4596D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797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Arithmetic and Assignment Operators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A53091-8034-F00D-7EE7-BB2EC9D906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6038538"/>
              </p:ext>
            </p:extLst>
          </p:nvPr>
        </p:nvGraphicFramePr>
        <p:xfrm>
          <a:off x="838200" y="793101"/>
          <a:ext cx="4246984" cy="4544009"/>
        </p:xfrm>
        <a:graphic>
          <a:graphicData uri="http://schemas.openxmlformats.org/drawingml/2006/table">
            <a:tbl>
              <a:tblPr/>
              <a:tblGrid>
                <a:gridCol w="1774371">
                  <a:extLst>
                    <a:ext uri="{9D8B030D-6E8A-4147-A177-3AD203B41FA5}">
                      <a16:colId xmlns:a16="http://schemas.microsoft.com/office/drawing/2014/main" val="2373422092"/>
                    </a:ext>
                  </a:extLst>
                </a:gridCol>
                <a:gridCol w="2472613">
                  <a:extLst>
                    <a:ext uri="{9D8B030D-6E8A-4147-A177-3AD203B41FA5}">
                      <a16:colId xmlns:a16="http://schemas.microsoft.com/office/drawing/2014/main" val="3627027231"/>
                    </a:ext>
                  </a:extLst>
                </a:gridCol>
              </a:tblGrid>
              <a:tr h="889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008868"/>
                  </a:ext>
                </a:extLst>
              </a:tr>
              <a:tr h="522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697731"/>
                  </a:ext>
                </a:extLst>
              </a:tr>
              <a:tr h="522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subtraction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990167"/>
                  </a:ext>
                </a:extLst>
              </a:tr>
              <a:tr h="522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multiplication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914040"/>
                  </a:ext>
                </a:extLst>
              </a:tr>
              <a:tr h="522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184262"/>
                  </a:ext>
                </a:extLst>
              </a:tr>
              <a:tr h="522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floor division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134911"/>
                  </a:ext>
                </a:extLst>
              </a:tr>
              <a:tr h="522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modulus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003386"/>
                  </a:ext>
                </a:extLst>
              </a:tr>
              <a:tr h="522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**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0086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49E6612-5496-E6C9-5156-A604FA0F017F}"/>
              </a:ext>
            </a:extLst>
          </p:cNvPr>
          <p:cNvSpPr txBox="1"/>
          <p:nvPr/>
        </p:nvSpPr>
        <p:spPr>
          <a:xfrm>
            <a:off x="5944378" y="1240970"/>
            <a:ext cx="310864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</a:p>
          <a:p>
            <a:r>
              <a:rPr lang="en-US" dirty="0"/>
              <a:t>a = 10</a:t>
            </a:r>
          </a:p>
          <a:p>
            <a:r>
              <a:rPr lang="en-US" dirty="0"/>
              <a:t>b = 3</a:t>
            </a:r>
          </a:p>
          <a:p>
            <a:endParaRPr lang="en-US" dirty="0"/>
          </a:p>
          <a:p>
            <a:r>
              <a:rPr lang="en-US" dirty="0"/>
              <a:t>print(a + b)</a:t>
            </a:r>
          </a:p>
          <a:p>
            <a:r>
              <a:rPr lang="en-US" dirty="0"/>
              <a:t>print(a - b)</a:t>
            </a:r>
          </a:p>
          <a:p>
            <a:r>
              <a:rPr lang="en-US" dirty="0"/>
              <a:t>print(a * b)</a:t>
            </a:r>
          </a:p>
          <a:p>
            <a:r>
              <a:rPr lang="en-US" dirty="0"/>
              <a:t>print(a / b)</a:t>
            </a:r>
          </a:p>
          <a:p>
            <a:r>
              <a:rPr lang="en-US" dirty="0"/>
              <a:t>print(a // b)</a:t>
            </a:r>
          </a:p>
          <a:p>
            <a:r>
              <a:rPr lang="en-US" dirty="0"/>
              <a:t>print(a % b)</a:t>
            </a:r>
          </a:p>
          <a:p>
            <a:r>
              <a:rPr lang="en-US" dirty="0"/>
              <a:t>print(a ** b)</a:t>
            </a:r>
          </a:p>
        </p:txBody>
      </p:sp>
    </p:spTree>
    <p:extLst>
      <p:ext uri="{BB962C8B-B14F-4D97-AF65-F5344CB8AC3E}">
        <p14:creationId xmlns:p14="http://schemas.microsoft.com/office/powerpoint/2010/main" val="2274047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C649F-882D-6081-DCDF-EF7881982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273" y="214604"/>
            <a:ext cx="10515600" cy="111967"/>
          </a:xfrm>
        </p:spPr>
        <p:txBody>
          <a:bodyPr>
            <a:normAutofit fontScale="90000"/>
          </a:bodyPr>
          <a:lstStyle/>
          <a:p>
            <a:r>
              <a:rPr lang="en-US" dirty="0"/>
              <a:t>Assignment Operators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ACC61F2-2B83-4EDE-93FB-AA0ECF88A3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7884150"/>
              </p:ext>
            </p:extLst>
          </p:nvPr>
        </p:nvGraphicFramePr>
        <p:xfrm>
          <a:off x="586273" y="618014"/>
          <a:ext cx="10515600" cy="2194560"/>
        </p:xfrm>
        <a:graphic>
          <a:graphicData uri="http://schemas.openxmlformats.org/drawingml/2006/table">
            <a:tbl>
              <a:tblPr/>
              <a:tblGrid>
                <a:gridCol w="1783702">
                  <a:extLst>
                    <a:ext uri="{9D8B030D-6E8A-4147-A177-3AD203B41FA5}">
                      <a16:colId xmlns:a16="http://schemas.microsoft.com/office/drawing/2014/main" val="4273122012"/>
                    </a:ext>
                  </a:extLst>
                </a:gridCol>
                <a:gridCol w="8731898">
                  <a:extLst>
                    <a:ext uri="{9D8B030D-6E8A-4147-A177-3AD203B41FA5}">
                      <a16:colId xmlns:a16="http://schemas.microsoft.com/office/drawing/2014/main" val="26468846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4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635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+=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767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subtract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852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*=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multiply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05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divide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00252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55FF9CB8-63BF-5F37-AF71-2059BD692E58}"/>
              </a:ext>
            </a:extLst>
          </p:cNvPr>
          <p:cNvSpPr txBox="1">
            <a:spLocks/>
          </p:cNvSpPr>
          <p:nvPr/>
        </p:nvSpPr>
        <p:spPr>
          <a:xfrm>
            <a:off x="651587" y="2964802"/>
            <a:ext cx="10515600" cy="2820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+mn-lt"/>
              </a:rPr>
              <a:t>Example:</a:t>
            </a:r>
          </a:p>
          <a:p>
            <a:r>
              <a:rPr lang="en-IN" sz="2800" dirty="0">
                <a:latin typeface="+mn-lt"/>
              </a:rPr>
              <a:t>x = 10</a:t>
            </a:r>
            <a:br>
              <a:rPr lang="en-IN" sz="2800" dirty="0">
                <a:latin typeface="+mn-lt"/>
              </a:rPr>
            </a:br>
            <a:r>
              <a:rPr lang="en-IN" sz="2800" dirty="0">
                <a:latin typeface="+mn-lt"/>
              </a:rPr>
              <a:t>x += 5</a:t>
            </a:r>
            <a:br>
              <a:rPr lang="en-IN" sz="2800" dirty="0">
                <a:latin typeface="+mn-lt"/>
              </a:rPr>
            </a:br>
            <a:r>
              <a:rPr lang="en-IN" sz="2800" dirty="0">
                <a:latin typeface="+mn-lt"/>
              </a:rPr>
              <a:t>print(x)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+mn-lt"/>
              </a:rPr>
              <a:t>Output</a:t>
            </a:r>
          </a:p>
          <a:p>
            <a:r>
              <a:rPr lang="en-IN" sz="2800" dirty="0">
                <a:latin typeface="+mn-l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51275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BE85A-5B8B-5156-A580-6F307E531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249" y="94538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Comparison and 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0DAD2-B163-BB77-1C84-9A79B40CB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6490"/>
            <a:ext cx="10515600" cy="5570473"/>
          </a:xfrm>
        </p:spPr>
        <p:txBody>
          <a:bodyPr/>
          <a:lstStyle/>
          <a:p>
            <a:r>
              <a:rPr lang="en-US" dirty="0"/>
              <a:t>Comparison Operators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2D1BF6-D864-99FF-19EA-23E392739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845721"/>
              </p:ext>
            </p:extLst>
          </p:nvPr>
        </p:nvGraphicFramePr>
        <p:xfrm>
          <a:off x="838200" y="1069614"/>
          <a:ext cx="4265645" cy="3297110"/>
        </p:xfrm>
        <a:graphic>
          <a:graphicData uri="http://schemas.openxmlformats.org/drawingml/2006/table">
            <a:tbl>
              <a:tblPr/>
              <a:tblGrid>
                <a:gridCol w="1634412">
                  <a:extLst>
                    <a:ext uri="{9D8B030D-6E8A-4147-A177-3AD203B41FA5}">
                      <a16:colId xmlns:a16="http://schemas.microsoft.com/office/drawing/2014/main" val="3351627170"/>
                    </a:ext>
                  </a:extLst>
                </a:gridCol>
                <a:gridCol w="2631233">
                  <a:extLst>
                    <a:ext uri="{9D8B030D-6E8A-4147-A177-3AD203B41FA5}">
                      <a16:colId xmlns:a16="http://schemas.microsoft.com/office/drawing/2014/main" val="3308185001"/>
                    </a:ext>
                  </a:extLst>
                </a:gridCol>
              </a:tblGrid>
              <a:tr h="684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078808"/>
                  </a:ext>
                </a:extLst>
              </a:tr>
              <a:tr h="435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==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783915"/>
                  </a:ext>
                </a:extLst>
              </a:tr>
              <a:tr h="435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!=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782369"/>
                  </a:ext>
                </a:extLst>
              </a:tr>
              <a:tr h="435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greater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650530"/>
                  </a:ext>
                </a:extLst>
              </a:tr>
              <a:tr h="435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482067"/>
                  </a:ext>
                </a:extLst>
              </a:tr>
              <a:tr h="435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&gt;=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greater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397845"/>
                  </a:ext>
                </a:extLst>
              </a:tr>
              <a:tr h="435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less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8889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91C2487-C705-BDF1-C3C5-0D6688A2E494}"/>
              </a:ext>
            </a:extLst>
          </p:cNvPr>
          <p:cNvSpPr txBox="1"/>
          <p:nvPr/>
        </p:nvSpPr>
        <p:spPr>
          <a:xfrm>
            <a:off x="5298233" y="606490"/>
            <a:ext cx="5719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Logical Operators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2BC76EB-C6BA-7843-CD11-88F479D94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532329"/>
              </p:ext>
            </p:extLst>
          </p:nvPr>
        </p:nvGraphicFramePr>
        <p:xfrm>
          <a:off x="5298233" y="1265654"/>
          <a:ext cx="5391540" cy="1463040"/>
        </p:xfrm>
        <a:graphic>
          <a:graphicData uri="http://schemas.openxmlformats.org/drawingml/2006/table">
            <a:tbl>
              <a:tblPr/>
              <a:tblGrid>
                <a:gridCol w="2695770">
                  <a:extLst>
                    <a:ext uri="{9D8B030D-6E8A-4147-A177-3AD203B41FA5}">
                      <a16:colId xmlns:a16="http://schemas.microsoft.com/office/drawing/2014/main" val="2774452700"/>
                    </a:ext>
                  </a:extLst>
                </a:gridCol>
                <a:gridCol w="2695770">
                  <a:extLst>
                    <a:ext uri="{9D8B030D-6E8A-4147-A177-3AD203B41FA5}">
                      <a16:colId xmlns:a16="http://schemas.microsoft.com/office/drawing/2014/main" val="8758035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905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both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126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any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956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reverse 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38792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98E1053-645D-F7F2-B9DE-77B3544691FC}"/>
              </a:ext>
            </a:extLst>
          </p:cNvPr>
          <p:cNvSpPr txBox="1"/>
          <p:nvPr/>
        </p:nvSpPr>
        <p:spPr>
          <a:xfrm>
            <a:off x="979714" y="4534678"/>
            <a:ext cx="52158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Example</a:t>
            </a:r>
          </a:p>
          <a:p>
            <a:r>
              <a:rPr lang="en-IN" dirty="0"/>
              <a:t>a = 10</a:t>
            </a:r>
            <a:br>
              <a:rPr lang="en-IN" dirty="0"/>
            </a:br>
            <a:r>
              <a:rPr lang="en-IN" dirty="0"/>
              <a:t>b = 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print(a &gt; 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Output</a:t>
            </a:r>
          </a:p>
          <a:p>
            <a:r>
              <a:rPr lang="en-IN" dirty="0"/>
              <a:t>True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032B3E-50F6-CF1B-EBBC-88774CC30A1E}"/>
              </a:ext>
            </a:extLst>
          </p:cNvPr>
          <p:cNvSpPr txBox="1"/>
          <p:nvPr/>
        </p:nvSpPr>
        <p:spPr>
          <a:xfrm>
            <a:off x="5386096" y="2997249"/>
            <a:ext cx="52158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Example</a:t>
            </a:r>
          </a:p>
          <a:p>
            <a:r>
              <a:rPr lang="en-IN" dirty="0"/>
              <a:t>a = 10</a:t>
            </a:r>
            <a:br>
              <a:rPr lang="en-IN" dirty="0"/>
            </a:br>
            <a:r>
              <a:rPr lang="en-IN" dirty="0"/>
              <a:t>b = 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print(a&gt;0 and b&gt;0)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Output</a:t>
            </a:r>
          </a:p>
          <a:p>
            <a:r>
              <a:rPr lang="en-IN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962883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7967A-4075-F2B8-729A-E1D72FB32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AB2E9-A807-1A5B-8679-46454A96A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249" y="94538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Identity, Membership and Bitwise Operators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C8EFE-B1A4-D0BE-CF25-D7B8938A2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6490"/>
            <a:ext cx="10515600" cy="5570473"/>
          </a:xfrm>
        </p:spPr>
        <p:txBody>
          <a:bodyPr/>
          <a:lstStyle/>
          <a:p>
            <a:r>
              <a:rPr lang="en-US" dirty="0"/>
              <a:t>Identity 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1D6F8A-E038-F013-D120-8C29845EA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257493"/>
              </p:ext>
            </p:extLst>
          </p:nvPr>
        </p:nvGraphicFramePr>
        <p:xfrm>
          <a:off x="849086" y="1069614"/>
          <a:ext cx="4254759" cy="3343767"/>
        </p:xfrm>
        <a:graphic>
          <a:graphicData uri="http://schemas.openxmlformats.org/drawingml/2006/table">
            <a:tbl>
              <a:tblPr/>
              <a:tblGrid>
                <a:gridCol w="1623526">
                  <a:extLst>
                    <a:ext uri="{9D8B030D-6E8A-4147-A177-3AD203B41FA5}">
                      <a16:colId xmlns:a16="http://schemas.microsoft.com/office/drawing/2014/main" val="3351627170"/>
                    </a:ext>
                  </a:extLst>
                </a:gridCol>
                <a:gridCol w="2631233">
                  <a:extLst>
                    <a:ext uri="{9D8B030D-6E8A-4147-A177-3AD203B41FA5}">
                      <a16:colId xmlns:a16="http://schemas.microsoft.com/office/drawing/2014/main" val="3308185001"/>
                    </a:ext>
                  </a:extLst>
                </a:gridCol>
              </a:tblGrid>
              <a:tr h="477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078808"/>
                  </a:ext>
                </a:extLst>
              </a:tr>
              <a:tr h="477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same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783915"/>
                  </a:ext>
                </a:extLst>
              </a:tr>
              <a:tr h="477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is 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different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782369"/>
                  </a:ext>
                </a:extLst>
              </a:tr>
              <a:tr h="47768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650530"/>
                  </a:ext>
                </a:extLst>
              </a:tr>
              <a:tr h="47768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482067"/>
                  </a:ext>
                </a:extLst>
              </a:tr>
              <a:tr h="47768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397845"/>
                  </a:ext>
                </a:extLst>
              </a:tr>
              <a:tr h="47768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8889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F94AE81-CAEB-77D2-DD20-07D8A914DB82}"/>
              </a:ext>
            </a:extLst>
          </p:cNvPr>
          <p:cNvSpPr txBox="1"/>
          <p:nvPr/>
        </p:nvSpPr>
        <p:spPr>
          <a:xfrm>
            <a:off x="5298233" y="606490"/>
            <a:ext cx="5719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Membership Operators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2B3429F-A0B8-6022-8B46-DC98FDFB3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104306"/>
              </p:ext>
            </p:extLst>
          </p:nvPr>
        </p:nvGraphicFramePr>
        <p:xfrm>
          <a:off x="5290457" y="1265654"/>
          <a:ext cx="5399316" cy="1463040"/>
        </p:xfrm>
        <a:graphic>
          <a:graphicData uri="http://schemas.openxmlformats.org/drawingml/2006/table">
            <a:tbl>
              <a:tblPr/>
              <a:tblGrid>
                <a:gridCol w="2703546">
                  <a:extLst>
                    <a:ext uri="{9D8B030D-6E8A-4147-A177-3AD203B41FA5}">
                      <a16:colId xmlns:a16="http://schemas.microsoft.com/office/drawing/2014/main" val="2774452700"/>
                    </a:ext>
                  </a:extLst>
                </a:gridCol>
                <a:gridCol w="2695770">
                  <a:extLst>
                    <a:ext uri="{9D8B030D-6E8A-4147-A177-3AD203B41FA5}">
                      <a16:colId xmlns:a16="http://schemas.microsoft.com/office/drawing/2014/main" val="8758035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905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exists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126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exists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956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38792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1F3EBA1-4DA2-6B55-074A-E9C9EA42F6F4}"/>
              </a:ext>
            </a:extLst>
          </p:cNvPr>
          <p:cNvSpPr txBox="1"/>
          <p:nvPr/>
        </p:nvSpPr>
        <p:spPr>
          <a:xfrm>
            <a:off x="838200" y="2675029"/>
            <a:ext cx="52158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Example</a:t>
            </a:r>
          </a:p>
          <a:p>
            <a:r>
              <a:rPr lang="en-IN" dirty="0"/>
              <a:t>a = [1,2]</a:t>
            </a:r>
            <a:br>
              <a:rPr lang="en-IN" dirty="0"/>
            </a:br>
            <a:r>
              <a:rPr lang="en-IN" dirty="0"/>
              <a:t>b = a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print(a is 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Output</a:t>
            </a:r>
          </a:p>
          <a:p>
            <a:r>
              <a:rPr lang="en-IN" dirty="0"/>
              <a:t>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630242-2472-E41E-CE02-652CCAEA6590}"/>
              </a:ext>
            </a:extLst>
          </p:cNvPr>
          <p:cNvSpPr txBox="1"/>
          <p:nvPr/>
        </p:nvSpPr>
        <p:spPr>
          <a:xfrm>
            <a:off x="5386096" y="2997249"/>
            <a:ext cx="52158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Example</a:t>
            </a:r>
          </a:p>
          <a:p>
            <a:r>
              <a:rPr lang="en-IN" dirty="0"/>
              <a:t>list1 = [1,2,3]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print(2 in list1)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Output</a:t>
            </a:r>
          </a:p>
          <a:p>
            <a:r>
              <a:rPr lang="en-IN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741914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55F09-C74B-6D5C-C43F-54C43558B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943"/>
            <a:ext cx="10515600" cy="5981020"/>
          </a:xfrm>
        </p:spPr>
        <p:txBody>
          <a:bodyPr/>
          <a:lstStyle/>
          <a:p>
            <a:r>
              <a:rPr lang="en-IN" b="1" dirty="0"/>
              <a:t>Bitwise Operators</a:t>
            </a:r>
          </a:p>
          <a:p>
            <a:pPr marL="0" indent="0">
              <a:buNone/>
            </a:pPr>
            <a:r>
              <a:rPr lang="en-IN" dirty="0"/>
              <a:t>Used for </a:t>
            </a:r>
            <a:r>
              <a:rPr lang="en-IN" b="1" dirty="0"/>
              <a:t>bit manipulation (important in hardware/VLSI)</a:t>
            </a:r>
            <a:endParaRPr lang="en-IN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DF952D-C3E7-30A3-C961-81CF7A5C3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151973"/>
              </p:ext>
            </p:extLst>
          </p:nvPr>
        </p:nvGraphicFramePr>
        <p:xfrm>
          <a:off x="838200" y="1200243"/>
          <a:ext cx="10515600" cy="3166485"/>
        </p:xfrm>
        <a:graphic>
          <a:graphicData uri="http://schemas.openxmlformats.org/drawingml/2006/table">
            <a:tbl>
              <a:tblPr/>
              <a:tblGrid>
                <a:gridCol w="2427514">
                  <a:extLst>
                    <a:ext uri="{9D8B030D-6E8A-4147-A177-3AD203B41FA5}">
                      <a16:colId xmlns:a16="http://schemas.microsoft.com/office/drawing/2014/main" val="265265519"/>
                    </a:ext>
                  </a:extLst>
                </a:gridCol>
                <a:gridCol w="8088086">
                  <a:extLst>
                    <a:ext uri="{9D8B030D-6E8A-4147-A177-3AD203B41FA5}">
                      <a16:colId xmlns:a16="http://schemas.microsoft.com/office/drawing/2014/main" val="1111424197"/>
                    </a:ext>
                  </a:extLst>
                </a:gridCol>
              </a:tblGrid>
              <a:tr h="452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173844"/>
                  </a:ext>
                </a:extLst>
              </a:tr>
              <a:tr h="452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&amp;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902585"/>
                  </a:ext>
                </a:extLst>
              </a:tr>
              <a:tr h="452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078240"/>
                  </a:ext>
                </a:extLst>
              </a:tr>
              <a:tr h="452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^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50033"/>
                  </a:ext>
                </a:extLst>
              </a:tr>
              <a:tr h="452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866661"/>
                  </a:ext>
                </a:extLst>
              </a:tr>
              <a:tr h="452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&lt;&lt;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left shift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599774"/>
                  </a:ext>
                </a:extLst>
              </a:tr>
              <a:tr h="452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&gt;&gt;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right shift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99668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55AF43-7661-4CFF-FDBA-CE24BDFC0360}"/>
              </a:ext>
            </a:extLst>
          </p:cNvPr>
          <p:cNvSpPr txBox="1"/>
          <p:nvPr/>
        </p:nvSpPr>
        <p:spPr>
          <a:xfrm>
            <a:off x="5859625" y="1200243"/>
            <a:ext cx="678335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Example</a:t>
            </a:r>
          </a:p>
          <a:p>
            <a:r>
              <a:rPr lang="en-IN" dirty="0"/>
              <a:t>a = 5</a:t>
            </a:r>
            <a:br>
              <a:rPr lang="en-IN" dirty="0"/>
            </a:br>
            <a:r>
              <a:rPr lang="en-IN" dirty="0"/>
              <a:t>b = 3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print(a &amp; 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Output</a:t>
            </a:r>
          </a:p>
          <a:p>
            <a:r>
              <a:rPr lang="en-IN" dirty="0"/>
              <a:t>1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Binary</a:t>
            </a:r>
          </a:p>
          <a:p>
            <a:r>
              <a:rPr lang="en-IN" dirty="0"/>
              <a:t>5 → 101</a:t>
            </a:r>
            <a:br>
              <a:rPr lang="en-IN" dirty="0"/>
            </a:br>
            <a:r>
              <a:rPr lang="en-IN" dirty="0"/>
              <a:t>3 → 011</a:t>
            </a:r>
            <a:br>
              <a:rPr lang="en-IN" dirty="0"/>
            </a:br>
            <a:r>
              <a:rPr lang="en-IN" dirty="0"/>
              <a:t>AND → 001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135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88E9C-9A9C-9D1E-7388-8CDDF8967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Flow Control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B0A37-B816-EB61-C52A-531B3161A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2433"/>
            <a:ext cx="10515600" cy="4236098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What is Flow Control?</a:t>
            </a:r>
          </a:p>
          <a:p>
            <a:pPr marL="0" indent="0">
              <a:buNone/>
            </a:pPr>
            <a:r>
              <a:rPr lang="en-IN" b="1" dirty="0"/>
              <a:t>Definition</a:t>
            </a:r>
          </a:p>
          <a:p>
            <a:r>
              <a:rPr lang="en-IN" b="1" dirty="0"/>
              <a:t>Flow control</a:t>
            </a:r>
            <a:r>
              <a:rPr lang="en-IN" dirty="0"/>
              <a:t> determines </a:t>
            </a:r>
            <a:r>
              <a:rPr lang="en-IN" b="1" dirty="0"/>
              <a:t>the order in which statements execute in a program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Normally, programs run sequentially:</a:t>
            </a:r>
          </a:p>
          <a:p>
            <a:r>
              <a:rPr lang="en-IN" dirty="0"/>
              <a:t>Statement 1</a:t>
            </a:r>
            <a:br>
              <a:rPr lang="en-IN" dirty="0"/>
            </a:br>
            <a:r>
              <a:rPr lang="en-IN" dirty="0"/>
              <a:t>Statement 2</a:t>
            </a:r>
            <a:br>
              <a:rPr lang="en-IN" dirty="0"/>
            </a:br>
            <a:r>
              <a:rPr lang="en-IN" dirty="0"/>
              <a:t>Statement 3</a:t>
            </a:r>
          </a:p>
          <a:p>
            <a:pPr marL="0" indent="0">
              <a:buNone/>
            </a:pPr>
            <a:r>
              <a:rPr lang="en-IN" dirty="0"/>
              <a:t>But often we need decisions like:</a:t>
            </a:r>
          </a:p>
          <a:p>
            <a:r>
              <a:rPr lang="en-IN" dirty="0"/>
              <a:t>If condition is true → execute block A</a:t>
            </a:r>
          </a:p>
          <a:p>
            <a:r>
              <a:rPr lang="en-IN" dirty="0"/>
              <a:t>Otherwise → execute block B</a:t>
            </a:r>
          </a:p>
          <a:p>
            <a:pPr marL="0" indent="0">
              <a:buNone/>
            </a:pPr>
            <a:r>
              <a:rPr lang="en-IN" dirty="0"/>
              <a:t>or</a:t>
            </a:r>
          </a:p>
          <a:p>
            <a:r>
              <a:rPr lang="en-IN" dirty="0"/>
              <a:t>Repeat something multiple times.</a:t>
            </a:r>
          </a:p>
          <a:p>
            <a:endParaRPr lang="en-IN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CDB3A6-D28A-888D-4B2B-0CDEC6AD2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739417"/>
              </p:ext>
            </p:extLst>
          </p:nvPr>
        </p:nvGraphicFramePr>
        <p:xfrm>
          <a:off x="838200" y="5374760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3524711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60065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361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Decision Making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Execute code based on conditions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0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Loops / Iteration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Repeat code multiple times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30713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16B7FB8-064C-14CD-7C0C-09061EFEA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990879"/>
            <a:ext cx="359258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Main Types of Flow Control</a:t>
            </a:r>
          </a:p>
        </p:txBody>
      </p:sp>
    </p:spTree>
    <p:extLst>
      <p:ext uri="{BB962C8B-B14F-4D97-AF65-F5344CB8AC3E}">
        <p14:creationId xmlns:p14="http://schemas.microsoft.com/office/powerpoint/2010/main" val="67252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FC264-055E-C805-3EBE-2CD54BE61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540759" cy="68580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The if Statement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Basic Syntax</a:t>
            </a:r>
          </a:p>
          <a:p>
            <a:r>
              <a:rPr lang="en-IN" dirty="0"/>
              <a:t>if condition:</a:t>
            </a:r>
            <a:br>
              <a:rPr lang="en-IN" dirty="0"/>
            </a:br>
            <a:r>
              <a:rPr lang="en-IN" dirty="0"/>
              <a:t>    statement</a:t>
            </a:r>
          </a:p>
          <a:p>
            <a:pPr marL="0" indent="0">
              <a:buNone/>
            </a:pPr>
            <a:r>
              <a:rPr lang="en-IN" dirty="0"/>
              <a:t>Important rule:</a:t>
            </a:r>
          </a:p>
          <a:p>
            <a:r>
              <a:rPr lang="en-IN" dirty="0"/>
              <a:t>Python uses </a:t>
            </a:r>
            <a:r>
              <a:rPr lang="en-IN" b="1" dirty="0"/>
              <a:t>indentation instead of braces {}</a:t>
            </a:r>
          </a:p>
          <a:p>
            <a:pPr marL="0" indent="0">
              <a:buNone/>
            </a:pPr>
            <a:r>
              <a:rPr lang="en-IN" b="1" dirty="0"/>
              <a:t>Example  — Check Positive Number</a:t>
            </a:r>
          </a:p>
          <a:p>
            <a:r>
              <a:rPr lang="en-IN" dirty="0"/>
              <a:t>Problem: Check if a number is positive.</a:t>
            </a:r>
          </a:p>
          <a:p>
            <a:r>
              <a:rPr lang="en-IN" dirty="0" err="1"/>
              <a:t>num</a:t>
            </a:r>
            <a:r>
              <a:rPr lang="en-IN" dirty="0"/>
              <a:t> = 10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 </a:t>
            </a:r>
            <a:r>
              <a:rPr lang="en-IN" dirty="0" err="1"/>
              <a:t>num</a:t>
            </a:r>
            <a:r>
              <a:rPr lang="en-IN" dirty="0"/>
              <a:t> &gt; 0:</a:t>
            </a:r>
            <a:br>
              <a:rPr lang="en-IN" dirty="0"/>
            </a:br>
            <a:r>
              <a:rPr lang="en-IN" dirty="0"/>
              <a:t>    print("Number is positive")</a:t>
            </a:r>
          </a:p>
          <a:p>
            <a:pPr marL="0" indent="0">
              <a:buNone/>
            </a:pPr>
            <a:r>
              <a:rPr lang="en-IN" dirty="0"/>
              <a:t>Output</a:t>
            </a:r>
          </a:p>
          <a:p>
            <a:r>
              <a:rPr lang="en-IN" dirty="0"/>
              <a:t>Number is positive</a:t>
            </a:r>
          </a:p>
          <a:p>
            <a:pPr marL="0" indent="0">
              <a:buNone/>
            </a:pPr>
            <a:r>
              <a:rPr lang="en-IN" dirty="0"/>
              <a:t>Explanation</a:t>
            </a:r>
          </a:p>
          <a:p>
            <a:r>
              <a:rPr lang="en-IN" dirty="0"/>
              <a:t>Condition </a:t>
            </a:r>
            <a:r>
              <a:rPr lang="en-IN" dirty="0" err="1"/>
              <a:t>num</a:t>
            </a:r>
            <a:r>
              <a:rPr lang="en-IN" dirty="0"/>
              <a:t> &gt; 0</a:t>
            </a:r>
          </a:p>
          <a:p>
            <a:r>
              <a:rPr lang="en-IN" dirty="0"/>
              <a:t>If true → code block executes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DDB26E5-3890-22E7-62B4-A941E7108F4A}"/>
              </a:ext>
            </a:extLst>
          </p:cNvPr>
          <p:cNvSpPr txBox="1">
            <a:spLocks/>
          </p:cNvSpPr>
          <p:nvPr/>
        </p:nvSpPr>
        <p:spPr>
          <a:xfrm>
            <a:off x="6329265" y="0"/>
            <a:ext cx="5862735" cy="685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The if-else Statement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Syntax</a:t>
            </a:r>
          </a:p>
          <a:p>
            <a:r>
              <a:rPr lang="en-IN" dirty="0"/>
              <a:t>if condition:</a:t>
            </a:r>
            <a:br>
              <a:rPr lang="en-IN" dirty="0"/>
            </a:br>
            <a:r>
              <a:rPr lang="en-IN" dirty="0"/>
              <a:t>    block1</a:t>
            </a:r>
            <a:br>
              <a:rPr lang="en-IN" dirty="0"/>
            </a:br>
            <a:r>
              <a:rPr lang="en-IN" dirty="0"/>
              <a:t>else:</a:t>
            </a:r>
            <a:br>
              <a:rPr lang="en-IN" dirty="0"/>
            </a:br>
            <a:r>
              <a:rPr lang="en-IN" dirty="0"/>
              <a:t>    block2</a:t>
            </a:r>
          </a:p>
          <a:p>
            <a:r>
              <a:rPr lang="en-IN" dirty="0"/>
              <a:t>If condition is </a:t>
            </a:r>
            <a:r>
              <a:rPr lang="en-IN" b="1" dirty="0"/>
              <a:t>false</a:t>
            </a:r>
            <a:r>
              <a:rPr lang="en-IN" dirty="0"/>
              <a:t>, the else block executes.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Example 1 — Even or Odd</a:t>
            </a:r>
          </a:p>
          <a:p>
            <a:r>
              <a:rPr lang="en-IN" dirty="0" err="1"/>
              <a:t>num</a:t>
            </a:r>
            <a:r>
              <a:rPr lang="en-IN" dirty="0"/>
              <a:t> = 7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 </a:t>
            </a:r>
            <a:r>
              <a:rPr lang="en-IN" dirty="0" err="1"/>
              <a:t>num</a:t>
            </a:r>
            <a:r>
              <a:rPr lang="en-IN" dirty="0"/>
              <a:t> % 2 == 0:</a:t>
            </a:r>
            <a:br>
              <a:rPr lang="en-IN" dirty="0"/>
            </a:br>
            <a:r>
              <a:rPr lang="en-IN" dirty="0"/>
              <a:t>    print("Even")</a:t>
            </a:r>
            <a:br>
              <a:rPr lang="en-IN" dirty="0"/>
            </a:br>
            <a:r>
              <a:rPr lang="en-IN" dirty="0"/>
              <a:t>else:</a:t>
            </a:r>
            <a:br>
              <a:rPr lang="en-IN" dirty="0"/>
            </a:br>
            <a:r>
              <a:rPr lang="en-IN" dirty="0"/>
              <a:t>    print("Odd")</a:t>
            </a:r>
          </a:p>
          <a:p>
            <a:pPr marL="0" indent="0">
              <a:buNone/>
            </a:pPr>
            <a:r>
              <a:rPr lang="en-IN" dirty="0"/>
              <a:t>Output</a:t>
            </a:r>
          </a:p>
          <a:p>
            <a:r>
              <a:rPr lang="en-IN" dirty="0"/>
              <a:t>Odd</a:t>
            </a:r>
          </a:p>
        </p:txBody>
      </p:sp>
    </p:spTree>
    <p:extLst>
      <p:ext uri="{BB962C8B-B14F-4D97-AF65-F5344CB8AC3E}">
        <p14:creationId xmlns:p14="http://schemas.microsoft.com/office/powerpoint/2010/main" val="1605243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8EE14-A2BD-E301-4606-19BA66222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D6501-BC6F-D376-9255-44010CBAE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540759" cy="685800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The if-</a:t>
            </a:r>
            <a:r>
              <a:rPr lang="en-US" b="1" dirty="0" err="1"/>
              <a:t>elif</a:t>
            </a:r>
            <a:r>
              <a:rPr lang="en-US" b="1" dirty="0"/>
              <a:t>-else Statement</a:t>
            </a:r>
          </a:p>
          <a:p>
            <a:r>
              <a:rPr lang="en-US" dirty="0"/>
              <a:t>Used when there are </a:t>
            </a:r>
            <a:r>
              <a:rPr lang="en-US" b="1" dirty="0"/>
              <a:t>multiple conditions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Syntax</a:t>
            </a:r>
          </a:p>
          <a:p>
            <a:r>
              <a:rPr lang="en-US" dirty="0"/>
              <a:t>if condition1:</a:t>
            </a:r>
            <a:br>
              <a:rPr lang="en-US" dirty="0"/>
            </a:br>
            <a:r>
              <a:rPr lang="en-US" dirty="0"/>
              <a:t>    block1</a:t>
            </a:r>
            <a:br>
              <a:rPr lang="en-US" dirty="0"/>
            </a:br>
            <a:r>
              <a:rPr lang="en-US" dirty="0" err="1"/>
              <a:t>elif</a:t>
            </a:r>
            <a:r>
              <a:rPr lang="en-US" dirty="0"/>
              <a:t> condition2:</a:t>
            </a:r>
            <a:br>
              <a:rPr lang="en-US" dirty="0"/>
            </a:br>
            <a:r>
              <a:rPr lang="en-US" dirty="0"/>
              <a:t>    block2</a:t>
            </a:r>
            <a:br>
              <a:rPr lang="en-US" dirty="0"/>
            </a:br>
            <a:r>
              <a:rPr lang="en-US" dirty="0" err="1"/>
              <a:t>elif</a:t>
            </a:r>
            <a:r>
              <a:rPr lang="en-US" dirty="0"/>
              <a:t> condition3:</a:t>
            </a:r>
            <a:br>
              <a:rPr lang="en-US" dirty="0"/>
            </a:br>
            <a:r>
              <a:rPr lang="en-US" dirty="0"/>
              <a:t>    block3</a:t>
            </a:r>
            <a:br>
              <a:rPr lang="en-US" dirty="0"/>
            </a:br>
            <a:r>
              <a:rPr lang="en-US" dirty="0"/>
              <a:t>else:</a:t>
            </a:r>
            <a:br>
              <a:rPr lang="en-US" dirty="0"/>
            </a:br>
            <a:r>
              <a:rPr lang="en-US" dirty="0"/>
              <a:t>    block4</a:t>
            </a:r>
          </a:p>
          <a:p>
            <a:pPr marL="0" indent="0">
              <a:buNone/>
            </a:pPr>
            <a:r>
              <a:rPr lang="en-US" b="1" dirty="0"/>
              <a:t>Example  — Grade Calculation</a:t>
            </a:r>
          </a:p>
          <a:p>
            <a:r>
              <a:rPr lang="en-US" dirty="0"/>
              <a:t>marks = 85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marks &gt;= 90:</a:t>
            </a:r>
            <a:br>
              <a:rPr lang="en-US" dirty="0"/>
            </a:br>
            <a:r>
              <a:rPr lang="en-US" dirty="0"/>
              <a:t>    print("Grade A")</a:t>
            </a:r>
            <a:br>
              <a:rPr lang="en-US" dirty="0"/>
            </a:br>
            <a:r>
              <a:rPr lang="en-US" dirty="0" err="1"/>
              <a:t>elif</a:t>
            </a:r>
            <a:r>
              <a:rPr lang="en-US" dirty="0"/>
              <a:t> marks &gt;= 75:</a:t>
            </a:r>
            <a:br>
              <a:rPr lang="en-US" dirty="0"/>
            </a:br>
            <a:r>
              <a:rPr lang="en-US" dirty="0"/>
              <a:t>    print("Grade B")</a:t>
            </a:r>
            <a:br>
              <a:rPr lang="en-US" dirty="0"/>
            </a:br>
            <a:r>
              <a:rPr lang="en-US" dirty="0" err="1"/>
              <a:t>elif</a:t>
            </a:r>
            <a:r>
              <a:rPr lang="en-US" dirty="0"/>
              <a:t> marks &gt;= 50:</a:t>
            </a:r>
            <a:br>
              <a:rPr lang="en-US" dirty="0"/>
            </a:br>
            <a:r>
              <a:rPr lang="en-US" dirty="0"/>
              <a:t>    print("Grade C")</a:t>
            </a:r>
            <a:br>
              <a:rPr lang="en-US" dirty="0"/>
            </a:br>
            <a:r>
              <a:rPr lang="en-US" dirty="0"/>
              <a:t>else:</a:t>
            </a:r>
            <a:br>
              <a:rPr lang="en-US" dirty="0"/>
            </a:br>
            <a:r>
              <a:rPr lang="en-US" dirty="0"/>
              <a:t>    print("Fail")</a:t>
            </a:r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r>
              <a:rPr lang="en-US" dirty="0"/>
              <a:t>Grade 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9F544C-6723-E1D2-0171-194EDF4483E6}"/>
              </a:ext>
            </a:extLst>
          </p:cNvPr>
          <p:cNvSpPr txBox="1">
            <a:spLocks/>
          </p:cNvSpPr>
          <p:nvPr/>
        </p:nvSpPr>
        <p:spPr>
          <a:xfrm>
            <a:off x="6329265" y="0"/>
            <a:ext cx="5862735" cy="685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Nested if Statements</a:t>
            </a:r>
          </a:p>
          <a:p>
            <a:r>
              <a:rPr lang="en-IN" dirty="0"/>
              <a:t>An if inside another if.</a:t>
            </a:r>
          </a:p>
          <a:p>
            <a:pPr marL="0" indent="0">
              <a:buNone/>
            </a:pPr>
            <a:r>
              <a:rPr lang="en-IN" b="1" dirty="0"/>
              <a:t>Example 1 — Login System</a:t>
            </a:r>
          </a:p>
          <a:p>
            <a:r>
              <a:rPr lang="en-IN" dirty="0"/>
              <a:t>username = "admin"</a:t>
            </a:r>
            <a:br>
              <a:rPr lang="en-IN" dirty="0"/>
            </a:br>
            <a:r>
              <a:rPr lang="en-IN" dirty="0"/>
              <a:t>password = "1234"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 username == "admin":</a:t>
            </a:r>
            <a:br>
              <a:rPr lang="en-IN" dirty="0"/>
            </a:br>
            <a:r>
              <a:rPr lang="en-IN" dirty="0"/>
              <a:t>    if password == "1234":</a:t>
            </a:r>
            <a:br>
              <a:rPr lang="en-IN" dirty="0"/>
            </a:br>
            <a:r>
              <a:rPr lang="en-IN" dirty="0"/>
              <a:t>        print("Login success")</a:t>
            </a:r>
            <a:br>
              <a:rPr lang="en-IN" dirty="0"/>
            </a:br>
            <a:r>
              <a:rPr lang="en-IN" dirty="0"/>
              <a:t>    else:</a:t>
            </a:r>
            <a:br>
              <a:rPr lang="en-IN" dirty="0"/>
            </a:br>
            <a:r>
              <a:rPr lang="en-IN" dirty="0"/>
              <a:t>        print("Wrong password")</a:t>
            </a:r>
            <a:br>
              <a:rPr lang="en-IN" dirty="0"/>
            </a:br>
            <a:r>
              <a:rPr lang="en-IN" dirty="0"/>
              <a:t>else:</a:t>
            </a:r>
            <a:br>
              <a:rPr lang="en-IN" dirty="0"/>
            </a:br>
            <a:r>
              <a:rPr lang="en-IN" dirty="0"/>
              <a:t>    print("Unknown user")</a:t>
            </a:r>
          </a:p>
          <a:p>
            <a:pPr marL="0" indent="0">
              <a:buNone/>
            </a:pPr>
            <a:r>
              <a:rPr lang="en-IN" b="1" dirty="0"/>
              <a:t>Example 2 — Number Range</a:t>
            </a:r>
          </a:p>
          <a:p>
            <a:r>
              <a:rPr lang="en-IN" dirty="0" err="1"/>
              <a:t>num</a:t>
            </a:r>
            <a:r>
              <a:rPr lang="en-IN" dirty="0"/>
              <a:t> = 15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 </a:t>
            </a:r>
            <a:r>
              <a:rPr lang="en-IN" dirty="0" err="1"/>
              <a:t>num</a:t>
            </a:r>
            <a:r>
              <a:rPr lang="en-IN" dirty="0"/>
              <a:t> &gt; 10:</a:t>
            </a:r>
            <a:br>
              <a:rPr lang="en-IN" dirty="0"/>
            </a:br>
            <a:r>
              <a:rPr lang="en-IN" dirty="0"/>
              <a:t>    if </a:t>
            </a:r>
            <a:r>
              <a:rPr lang="en-IN" dirty="0" err="1"/>
              <a:t>num</a:t>
            </a:r>
            <a:r>
              <a:rPr lang="en-IN" dirty="0"/>
              <a:t> &lt; 20:</a:t>
            </a:r>
            <a:br>
              <a:rPr lang="en-IN" dirty="0"/>
            </a:br>
            <a:r>
              <a:rPr lang="en-IN" dirty="0"/>
              <a:t>        print("Between 10 and 20")</a:t>
            </a:r>
          </a:p>
        </p:txBody>
      </p:sp>
    </p:spTree>
    <p:extLst>
      <p:ext uri="{BB962C8B-B14F-4D97-AF65-F5344CB8AC3E}">
        <p14:creationId xmlns:p14="http://schemas.microsoft.com/office/powerpoint/2010/main" val="25873311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25397-1F94-0369-3290-2B4EE32A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00951-8161-D82A-275D-AF7B01D95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540759" cy="685800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3300" b="1" dirty="0"/>
              <a:t>The for Loop</a:t>
            </a:r>
            <a:endParaRPr lang="en-IN" sz="3300" dirty="0"/>
          </a:p>
          <a:p>
            <a:pPr marL="0" indent="0">
              <a:buNone/>
            </a:pPr>
            <a:r>
              <a:rPr lang="en-IN" b="1" dirty="0"/>
              <a:t>Purpose</a:t>
            </a:r>
          </a:p>
          <a:p>
            <a:pPr marL="0" indent="0">
              <a:buNone/>
            </a:pPr>
            <a:r>
              <a:rPr lang="en-IN" dirty="0"/>
              <a:t>Used for </a:t>
            </a:r>
            <a:r>
              <a:rPr lang="en-IN" b="1" dirty="0"/>
              <a:t>iterating over sequences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r>
              <a:rPr lang="en-IN" dirty="0"/>
              <a:t>list</a:t>
            </a:r>
          </a:p>
          <a:p>
            <a:r>
              <a:rPr lang="en-IN" dirty="0"/>
              <a:t>string</a:t>
            </a:r>
          </a:p>
          <a:p>
            <a:r>
              <a:rPr lang="en-IN" dirty="0"/>
              <a:t>range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Syntax</a:t>
            </a:r>
          </a:p>
          <a:p>
            <a:r>
              <a:rPr lang="en-IN" dirty="0"/>
              <a:t>for variable in sequence:</a:t>
            </a:r>
            <a:br>
              <a:rPr lang="en-IN" dirty="0"/>
            </a:br>
            <a:r>
              <a:rPr lang="en-IN" dirty="0"/>
              <a:t>    statements</a:t>
            </a:r>
          </a:p>
          <a:p>
            <a:pPr marL="0" indent="0">
              <a:buNone/>
            </a:pPr>
            <a:r>
              <a:rPr lang="en-IN" b="1" dirty="0"/>
              <a:t>Example 1 — Simple Loop</a:t>
            </a:r>
          </a:p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range(5):</a:t>
            </a:r>
            <a:br>
              <a:rPr lang="en-IN" dirty="0"/>
            </a:br>
            <a:r>
              <a:rPr lang="en-IN" dirty="0"/>
              <a:t>    print(</a:t>
            </a:r>
            <a:r>
              <a:rPr lang="en-IN" dirty="0" err="1"/>
              <a:t>i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Output</a:t>
            </a:r>
          </a:p>
          <a:p>
            <a:r>
              <a:rPr lang="en-IN" dirty="0"/>
              <a:t>0</a:t>
            </a:r>
            <a:br>
              <a:rPr lang="en-IN" dirty="0"/>
            </a:br>
            <a:r>
              <a:rPr lang="en-IN" dirty="0"/>
              <a:t>1</a:t>
            </a:r>
            <a:br>
              <a:rPr lang="en-IN" dirty="0"/>
            </a:br>
            <a:r>
              <a:rPr lang="en-IN" dirty="0"/>
              <a:t>2</a:t>
            </a:r>
            <a:br>
              <a:rPr lang="en-IN" dirty="0"/>
            </a:br>
            <a:r>
              <a:rPr lang="en-IN" dirty="0"/>
              <a:t>3</a:t>
            </a:r>
            <a:br>
              <a:rPr lang="en-IN" dirty="0"/>
            </a:br>
            <a:r>
              <a:rPr lang="en-IN" dirty="0"/>
              <a:t>4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6424A20-7A20-E7EB-8F4E-F15717FEB727}"/>
              </a:ext>
            </a:extLst>
          </p:cNvPr>
          <p:cNvSpPr txBox="1">
            <a:spLocks/>
          </p:cNvSpPr>
          <p:nvPr/>
        </p:nvSpPr>
        <p:spPr>
          <a:xfrm>
            <a:off x="6329265" y="0"/>
            <a:ext cx="5862735" cy="6858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/>
              <a:t>Example 2 — Loop Through List</a:t>
            </a:r>
          </a:p>
          <a:p>
            <a:r>
              <a:rPr lang="en-IN" dirty="0"/>
              <a:t>signals = ["</a:t>
            </a:r>
            <a:r>
              <a:rPr lang="en-IN" dirty="0" err="1"/>
              <a:t>clk</a:t>
            </a:r>
            <a:r>
              <a:rPr lang="en-IN" dirty="0"/>
              <a:t>", "reset", "data"]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for s in signals:</a:t>
            </a:r>
            <a:br>
              <a:rPr lang="en-IN" dirty="0"/>
            </a:br>
            <a:r>
              <a:rPr lang="en-IN" dirty="0"/>
              <a:t>    print(s)</a:t>
            </a:r>
          </a:p>
          <a:p>
            <a:pPr marL="0" indent="0">
              <a:buNone/>
            </a:pPr>
            <a:r>
              <a:rPr lang="en-IN" dirty="0"/>
              <a:t>Output</a:t>
            </a:r>
          </a:p>
          <a:p>
            <a:r>
              <a:rPr lang="en-IN" dirty="0" err="1"/>
              <a:t>clk</a:t>
            </a:r>
            <a:br>
              <a:rPr lang="en-IN" dirty="0"/>
            </a:br>
            <a:r>
              <a:rPr lang="en-IN" dirty="0"/>
              <a:t>reset</a:t>
            </a:r>
            <a:br>
              <a:rPr lang="en-IN" dirty="0"/>
            </a:br>
            <a:r>
              <a:rPr lang="en-IN" dirty="0"/>
              <a:t>data</a:t>
            </a:r>
          </a:p>
          <a:p>
            <a:pPr marL="0" indent="0">
              <a:buNone/>
            </a:pPr>
            <a:r>
              <a:rPr lang="en-IN" b="1" dirty="0"/>
              <a:t>Example 3 — Loop Through String</a:t>
            </a:r>
          </a:p>
          <a:p>
            <a:r>
              <a:rPr lang="en-IN" dirty="0"/>
              <a:t>for char in "VLSI":</a:t>
            </a:r>
            <a:br>
              <a:rPr lang="en-IN" dirty="0"/>
            </a:br>
            <a:r>
              <a:rPr lang="en-IN" dirty="0"/>
              <a:t>    print(char)</a:t>
            </a:r>
          </a:p>
          <a:p>
            <a:pPr marL="0" indent="0">
              <a:buNone/>
            </a:pPr>
            <a:r>
              <a:rPr lang="en-IN" dirty="0"/>
              <a:t>Output</a:t>
            </a:r>
          </a:p>
          <a:p>
            <a:r>
              <a:rPr lang="en-IN" dirty="0"/>
              <a:t>V</a:t>
            </a:r>
            <a:br>
              <a:rPr lang="en-IN" dirty="0"/>
            </a:br>
            <a:r>
              <a:rPr lang="en-IN" dirty="0"/>
              <a:t>L</a:t>
            </a:r>
            <a:br>
              <a:rPr lang="en-IN" dirty="0"/>
            </a:br>
            <a:r>
              <a:rPr lang="en-IN" dirty="0"/>
              <a:t>S</a:t>
            </a:r>
            <a:br>
              <a:rPr lang="en-IN" dirty="0"/>
            </a:br>
            <a:r>
              <a:rPr lang="en-IN" dirty="0"/>
              <a:t>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9371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DD5C2-C516-6E2B-2E8B-06B4D8144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871F2-7056-CEE5-D237-0BF72A7AD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540759" cy="6858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The while</a:t>
            </a:r>
            <a:r>
              <a:rPr lang="en-IN" sz="4400" b="1" dirty="0"/>
              <a:t> </a:t>
            </a:r>
            <a:r>
              <a:rPr lang="en-IN" b="1" dirty="0"/>
              <a:t>Loop</a:t>
            </a:r>
            <a:endParaRPr lang="en-IN" dirty="0"/>
          </a:p>
          <a:p>
            <a:r>
              <a:rPr lang="en-IN" sz="2400" b="1" dirty="0"/>
              <a:t>Syntax</a:t>
            </a:r>
          </a:p>
          <a:p>
            <a:r>
              <a:rPr lang="en-IN" sz="1800" dirty="0"/>
              <a:t>while condition:</a:t>
            </a:r>
            <a:br>
              <a:rPr lang="en-IN" sz="1800" dirty="0"/>
            </a:br>
            <a:r>
              <a:rPr lang="en-IN" sz="1800" dirty="0"/>
              <a:t>    statements</a:t>
            </a:r>
          </a:p>
          <a:p>
            <a:r>
              <a:rPr lang="en-IN" sz="2400" dirty="0"/>
              <a:t>Loop continues </a:t>
            </a:r>
            <a:r>
              <a:rPr lang="en-IN" sz="2400" b="1" dirty="0"/>
              <a:t>until condition becomes false</a:t>
            </a:r>
            <a:r>
              <a:rPr lang="en-IN" sz="2400" dirty="0"/>
              <a:t>.</a:t>
            </a:r>
          </a:p>
          <a:p>
            <a:r>
              <a:rPr lang="en-IN" sz="2400" b="1" dirty="0"/>
              <a:t>Example 1 — Counting</a:t>
            </a:r>
          </a:p>
          <a:p>
            <a:r>
              <a:rPr lang="en-IN" sz="1800" dirty="0" err="1"/>
              <a:t>i</a:t>
            </a:r>
            <a:r>
              <a:rPr lang="en-IN" sz="1800" dirty="0"/>
              <a:t> = 1</a:t>
            </a:r>
            <a:br>
              <a:rPr lang="en-IN" sz="1800" dirty="0"/>
            </a:br>
            <a:br>
              <a:rPr lang="en-IN" sz="1800" dirty="0"/>
            </a:br>
            <a:r>
              <a:rPr lang="en-IN" sz="1800" dirty="0"/>
              <a:t>while </a:t>
            </a:r>
            <a:r>
              <a:rPr lang="en-IN" sz="1800" dirty="0" err="1"/>
              <a:t>i</a:t>
            </a:r>
            <a:r>
              <a:rPr lang="en-IN" sz="1800" dirty="0"/>
              <a:t> &lt;= 5:</a:t>
            </a:r>
            <a:br>
              <a:rPr lang="en-IN" sz="1800" dirty="0"/>
            </a:br>
            <a:r>
              <a:rPr lang="en-IN" sz="1800" dirty="0"/>
              <a:t>    print(</a:t>
            </a:r>
            <a:r>
              <a:rPr lang="en-IN" sz="1800" dirty="0" err="1"/>
              <a:t>i</a:t>
            </a:r>
            <a:r>
              <a:rPr lang="en-IN" sz="1800" dirty="0"/>
              <a:t>)</a:t>
            </a:r>
            <a:br>
              <a:rPr lang="en-IN" sz="1800" dirty="0"/>
            </a:br>
            <a:r>
              <a:rPr lang="en-IN" sz="1800" dirty="0"/>
              <a:t>    </a:t>
            </a:r>
            <a:r>
              <a:rPr lang="en-IN" sz="1800" dirty="0" err="1"/>
              <a:t>i</a:t>
            </a:r>
            <a:r>
              <a:rPr lang="en-IN" sz="1800" dirty="0"/>
              <a:t> += 1</a:t>
            </a:r>
          </a:p>
          <a:p>
            <a:r>
              <a:rPr lang="en-IN" sz="2400" dirty="0"/>
              <a:t>Output</a:t>
            </a:r>
          </a:p>
          <a:p>
            <a:r>
              <a:rPr lang="en-IN" sz="1800" dirty="0"/>
              <a:t>1</a:t>
            </a:r>
            <a:br>
              <a:rPr lang="en-IN" sz="1800" dirty="0"/>
            </a:br>
            <a:r>
              <a:rPr lang="en-IN" sz="1800" dirty="0"/>
              <a:t>2</a:t>
            </a:r>
            <a:br>
              <a:rPr lang="en-IN" sz="1800" dirty="0"/>
            </a:br>
            <a:r>
              <a:rPr lang="en-IN" sz="1800" dirty="0"/>
              <a:t>3</a:t>
            </a:r>
            <a:br>
              <a:rPr lang="en-IN" sz="1800" dirty="0"/>
            </a:br>
            <a:r>
              <a:rPr lang="en-IN" sz="1800" dirty="0"/>
              <a:t>4</a:t>
            </a:r>
            <a:br>
              <a:rPr lang="en-IN" sz="1800" dirty="0"/>
            </a:br>
            <a:r>
              <a:rPr lang="en-IN" sz="1800" dirty="0"/>
              <a:t>5</a:t>
            </a:r>
            <a:endParaRPr lang="en-IN" sz="2400" dirty="0"/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29AF43-391F-C9F9-DA6A-2E97BBAB3BCC}"/>
              </a:ext>
            </a:extLst>
          </p:cNvPr>
          <p:cNvSpPr txBox="1">
            <a:spLocks/>
          </p:cNvSpPr>
          <p:nvPr/>
        </p:nvSpPr>
        <p:spPr>
          <a:xfrm>
            <a:off x="6329265" y="0"/>
            <a:ext cx="5862735" cy="685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/>
              <a:t>Example 2 — Sum of Numbers</a:t>
            </a:r>
          </a:p>
          <a:p>
            <a:r>
              <a:rPr lang="en-IN" sz="2000" dirty="0"/>
              <a:t>total = 0</a:t>
            </a:r>
            <a:br>
              <a:rPr lang="en-IN" sz="2000" dirty="0"/>
            </a:br>
            <a:r>
              <a:rPr lang="en-IN" sz="2000" dirty="0" err="1"/>
              <a:t>i</a:t>
            </a:r>
            <a:r>
              <a:rPr lang="en-IN" sz="2000" dirty="0"/>
              <a:t> = 1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while </a:t>
            </a:r>
            <a:r>
              <a:rPr lang="en-IN" sz="2000" dirty="0" err="1"/>
              <a:t>i</a:t>
            </a:r>
            <a:r>
              <a:rPr lang="en-IN" sz="2000" dirty="0"/>
              <a:t> &lt;= 5:</a:t>
            </a:r>
            <a:br>
              <a:rPr lang="en-IN" sz="2000" dirty="0"/>
            </a:br>
            <a:r>
              <a:rPr lang="en-IN" sz="2000" dirty="0"/>
              <a:t>    total += </a:t>
            </a:r>
            <a:r>
              <a:rPr lang="en-IN" sz="2000" dirty="0" err="1"/>
              <a:t>i</a:t>
            </a:r>
            <a:br>
              <a:rPr lang="en-IN" sz="2000" dirty="0"/>
            </a:br>
            <a:r>
              <a:rPr lang="en-IN" sz="2000" dirty="0"/>
              <a:t>    </a:t>
            </a:r>
            <a:r>
              <a:rPr lang="en-IN" sz="2000" dirty="0" err="1"/>
              <a:t>i</a:t>
            </a:r>
            <a:r>
              <a:rPr lang="en-IN" sz="2000" dirty="0"/>
              <a:t> += 1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print(total)</a:t>
            </a:r>
          </a:p>
          <a:p>
            <a:pPr marL="0" indent="0">
              <a:buNone/>
            </a:pPr>
            <a:r>
              <a:rPr lang="en-IN" sz="2400" dirty="0"/>
              <a:t>Output</a:t>
            </a:r>
          </a:p>
          <a:p>
            <a:r>
              <a:rPr lang="en-IN" sz="2000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9675601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17F63-76A0-1AB4-F7EC-226C56E95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BCE18-2AB8-159A-7920-FFF749A91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5047861" cy="6858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break Statement</a:t>
            </a:r>
          </a:p>
          <a:p>
            <a:pPr marL="0" indent="0">
              <a:buNone/>
            </a:pPr>
            <a:r>
              <a:rPr lang="en-IN" dirty="0"/>
              <a:t>Used to </a:t>
            </a:r>
            <a:r>
              <a:rPr lang="en-IN" b="1" dirty="0"/>
              <a:t>exit a loop immediately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Example 1 — Stop at 5</a:t>
            </a:r>
          </a:p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range(10):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if </a:t>
            </a:r>
            <a:r>
              <a:rPr lang="en-IN" dirty="0" err="1"/>
              <a:t>i</a:t>
            </a:r>
            <a:r>
              <a:rPr lang="en-IN" dirty="0"/>
              <a:t> == 5:</a:t>
            </a:r>
            <a:br>
              <a:rPr lang="en-IN" dirty="0"/>
            </a:br>
            <a:r>
              <a:rPr lang="en-IN" dirty="0"/>
              <a:t>        break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print(</a:t>
            </a:r>
            <a:r>
              <a:rPr lang="en-IN" dirty="0" err="1"/>
              <a:t>i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Output</a:t>
            </a:r>
          </a:p>
          <a:p>
            <a:r>
              <a:rPr lang="en-IN" dirty="0"/>
              <a:t>0</a:t>
            </a:r>
            <a:br>
              <a:rPr lang="en-IN" dirty="0"/>
            </a:br>
            <a:r>
              <a:rPr lang="en-IN" dirty="0"/>
              <a:t>1</a:t>
            </a:r>
            <a:br>
              <a:rPr lang="en-IN" dirty="0"/>
            </a:br>
            <a:r>
              <a:rPr lang="en-IN" dirty="0"/>
              <a:t>2</a:t>
            </a:r>
            <a:br>
              <a:rPr lang="en-IN" dirty="0"/>
            </a:br>
            <a:r>
              <a:rPr lang="en-IN" dirty="0"/>
              <a:t>3</a:t>
            </a:r>
            <a:br>
              <a:rPr lang="en-IN" dirty="0"/>
            </a:br>
            <a:r>
              <a:rPr lang="en-IN" dirty="0"/>
              <a:t>4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49743D5-1426-E552-8DB2-7F1FD319E627}"/>
              </a:ext>
            </a:extLst>
          </p:cNvPr>
          <p:cNvSpPr txBox="1">
            <a:spLocks/>
          </p:cNvSpPr>
          <p:nvPr/>
        </p:nvSpPr>
        <p:spPr>
          <a:xfrm>
            <a:off x="4909457" y="0"/>
            <a:ext cx="3506755" cy="6858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continue</a:t>
            </a:r>
            <a:r>
              <a:rPr lang="en-IN" sz="2400" b="1" dirty="0"/>
              <a:t> Statement</a:t>
            </a:r>
          </a:p>
          <a:p>
            <a:r>
              <a:rPr lang="en-IN" dirty="0"/>
              <a:t>Skips current iteration.</a:t>
            </a:r>
          </a:p>
          <a:p>
            <a:pPr marL="0" indent="0">
              <a:buNone/>
            </a:pPr>
            <a:r>
              <a:rPr lang="en-IN" b="1" dirty="0"/>
              <a:t>Example 1</a:t>
            </a:r>
          </a:p>
          <a:p>
            <a:r>
              <a:rPr lang="en-IN" sz="3200" dirty="0"/>
              <a:t>for </a:t>
            </a:r>
            <a:r>
              <a:rPr lang="en-IN" sz="3200" dirty="0" err="1"/>
              <a:t>i</a:t>
            </a:r>
            <a:r>
              <a:rPr lang="en-IN" sz="3200" dirty="0"/>
              <a:t> in range(5):</a:t>
            </a:r>
            <a:br>
              <a:rPr lang="en-IN" sz="3200" dirty="0"/>
            </a:br>
            <a:br>
              <a:rPr lang="en-IN" sz="3200" dirty="0"/>
            </a:br>
            <a:r>
              <a:rPr lang="en-IN" sz="3200" dirty="0"/>
              <a:t>    if </a:t>
            </a:r>
            <a:r>
              <a:rPr lang="en-IN" sz="3200" dirty="0" err="1"/>
              <a:t>i</a:t>
            </a:r>
            <a:r>
              <a:rPr lang="en-IN" sz="3200" dirty="0"/>
              <a:t> == 2:</a:t>
            </a:r>
            <a:br>
              <a:rPr lang="en-IN" sz="3200" dirty="0"/>
            </a:br>
            <a:r>
              <a:rPr lang="en-IN" sz="3200" dirty="0"/>
              <a:t>        continue</a:t>
            </a:r>
            <a:br>
              <a:rPr lang="en-IN" sz="3200" dirty="0"/>
            </a:br>
            <a:br>
              <a:rPr lang="en-IN" sz="3200" dirty="0"/>
            </a:br>
            <a:r>
              <a:rPr lang="en-IN" sz="3200" dirty="0"/>
              <a:t>    print(</a:t>
            </a:r>
            <a:r>
              <a:rPr lang="en-IN" sz="3200" dirty="0" err="1"/>
              <a:t>i</a:t>
            </a:r>
            <a:r>
              <a:rPr lang="en-IN" sz="3200" dirty="0"/>
              <a:t>)</a:t>
            </a:r>
          </a:p>
          <a:p>
            <a:pPr marL="0" indent="0">
              <a:buNone/>
            </a:pPr>
            <a:r>
              <a:rPr lang="en-IN" dirty="0"/>
              <a:t>Output</a:t>
            </a:r>
          </a:p>
          <a:p>
            <a:r>
              <a:rPr lang="en-IN" sz="3200" dirty="0"/>
              <a:t>0</a:t>
            </a:r>
            <a:br>
              <a:rPr lang="en-IN" sz="3200" dirty="0"/>
            </a:br>
            <a:r>
              <a:rPr lang="en-IN" sz="3200" dirty="0"/>
              <a:t>1</a:t>
            </a:r>
            <a:br>
              <a:rPr lang="en-IN" sz="3200" dirty="0"/>
            </a:br>
            <a:r>
              <a:rPr lang="en-IN" sz="3200" dirty="0"/>
              <a:t>3</a:t>
            </a:r>
            <a:br>
              <a:rPr lang="en-IN" sz="3200" dirty="0"/>
            </a:br>
            <a:r>
              <a:rPr lang="en-IN" sz="3200" dirty="0"/>
              <a:t>4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422D1F9-ACEB-61D5-839E-E697A52BA533}"/>
              </a:ext>
            </a:extLst>
          </p:cNvPr>
          <p:cNvSpPr txBox="1">
            <a:spLocks/>
          </p:cNvSpPr>
          <p:nvPr/>
        </p:nvSpPr>
        <p:spPr>
          <a:xfrm>
            <a:off x="8481526" y="0"/>
            <a:ext cx="3710474" cy="685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pass Statement</a:t>
            </a:r>
          </a:p>
          <a:p>
            <a:r>
              <a:rPr lang="en-IN" dirty="0"/>
              <a:t>Used when a statement is </a:t>
            </a:r>
            <a:r>
              <a:rPr lang="en-IN" b="1" dirty="0"/>
              <a:t>required syntactically but no action is needed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Example 1</a:t>
            </a:r>
          </a:p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range(5):</a:t>
            </a:r>
            <a:br>
              <a:rPr lang="en-IN" dirty="0"/>
            </a:br>
            <a:r>
              <a:rPr lang="en-IN" dirty="0"/>
              <a:t>    pass</a:t>
            </a:r>
          </a:p>
          <a:p>
            <a:pPr marL="0" indent="0">
              <a:buNone/>
            </a:pPr>
            <a:r>
              <a:rPr lang="en-IN" b="1" dirty="0"/>
              <a:t>Example 2</a:t>
            </a:r>
          </a:p>
          <a:p>
            <a:r>
              <a:rPr lang="en-IN" dirty="0"/>
              <a:t>if True:</a:t>
            </a:r>
            <a:br>
              <a:rPr lang="en-IN" dirty="0"/>
            </a:br>
            <a:r>
              <a:rPr lang="en-IN" dirty="0"/>
              <a:t>    pass</a:t>
            </a:r>
          </a:p>
          <a:p>
            <a:r>
              <a:rPr lang="en-IN" dirty="0"/>
              <a:t>Often used in </a:t>
            </a:r>
            <a:r>
              <a:rPr lang="en-IN" b="1" dirty="0"/>
              <a:t>placeholder code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9047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A7E9-9412-8FE6-D8A0-31AA0BB62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613" y="18256"/>
            <a:ext cx="10515600" cy="541582"/>
          </a:xfrm>
        </p:spPr>
        <p:txBody>
          <a:bodyPr>
            <a:normAutofit fontScale="90000"/>
          </a:bodyPr>
          <a:lstStyle/>
          <a:p>
            <a:r>
              <a:rPr lang="en-US" dirty="0"/>
              <a:t>Python Functions &amp; 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DEAA8-3C10-87B7-AF30-0A846D972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10" y="559838"/>
            <a:ext cx="5407090" cy="6279906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Introduction to Functions</a:t>
            </a:r>
            <a:endParaRPr lang="en-IN" dirty="0"/>
          </a:p>
          <a:p>
            <a:r>
              <a:rPr lang="en-IN" b="1" dirty="0"/>
              <a:t>What is a Function?</a:t>
            </a:r>
          </a:p>
          <a:p>
            <a:r>
              <a:rPr lang="en-IN" dirty="0"/>
              <a:t>A </a:t>
            </a:r>
            <a:r>
              <a:rPr lang="en-IN" b="1" dirty="0"/>
              <a:t>function</a:t>
            </a:r>
            <a:r>
              <a:rPr lang="en-IN" dirty="0"/>
              <a:t> is a reusable block of code that performs a specific task.</a:t>
            </a:r>
          </a:p>
          <a:p>
            <a:r>
              <a:rPr lang="en-IN" dirty="0"/>
              <a:t>Instead of writing the same code multiple times, we define a function and reuse it.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Why Use Functions?</a:t>
            </a:r>
          </a:p>
          <a:p>
            <a:r>
              <a:rPr lang="en-IN" dirty="0"/>
              <a:t>Advantages:</a:t>
            </a:r>
          </a:p>
          <a:p>
            <a:r>
              <a:rPr lang="en-IN" dirty="0"/>
              <a:t>Code reuse</a:t>
            </a:r>
          </a:p>
          <a:p>
            <a:r>
              <a:rPr lang="en-IN" dirty="0"/>
              <a:t>Better readability</a:t>
            </a:r>
          </a:p>
          <a:p>
            <a:r>
              <a:rPr lang="en-IN" dirty="0"/>
              <a:t>Modular programming</a:t>
            </a:r>
          </a:p>
          <a:p>
            <a:r>
              <a:rPr lang="en-IN" dirty="0"/>
              <a:t>Easier debugging</a:t>
            </a:r>
          </a:p>
          <a:p>
            <a:r>
              <a:rPr lang="en-IN" dirty="0"/>
              <a:t>Organized programs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DCC576-850B-B267-6FA7-1BDFD82614BE}"/>
              </a:ext>
            </a:extLst>
          </p:cNvPr>
          <p:cNvSpPr txBox="1">
            <a:spLocks/>
          </p:cNvSpPr>
          <p:nvPr/>
        </p:nvSpPr>
        <p:spPr>
          <a:xfrm>
            <a:off x="6096000" y="559838"/>
            <a:ext cx="5407090" cy="6279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Example problem without function:</a:t>
            </a:r>
          </a:p>
          <a:p>
            <a:r>
              <a:rPr lang="en-IN" dirty="0"/>
              <a:t>area = 10 * 20</a:t>
            </a:r>
            <a:br>
              <a:rPr lang="en-IN" dirty="0"/>
            </a:br>
            <a:r>
              <a:rPr lang="en-IN" dirty="0"/>
              <a:t>print(area)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area = 15 * 30</a:t>
            </a:r>
            <a:br>
              <a:rPr lang="en-IN" dirty="0"/>
            </a:br>
            <a:r>
              <a:rPr lang="en-IN" dirty="0"/>
              <a:t>print(area)</a:t>
            </a:r>
          </a:p>
          <a:p>
            <a:pPr marL="0" indent="0">
              <a:buNone/>
            </a:pPr>
            <a:r>
              <a:rPr lang="en-IN" dirty="0"/>
              <a:t>With function:</a:t>
            </a:r>
          </a:p>
          <a:p>
            <a:r>
              <a:rPr lang="en-IN" dirty="0"/>
              <a:t>def area(l, w):</a:t>
            </a:r>
            <a:br>
              <a:rPr lang="en-IN" dirty="0"/>
            </a:br>
            <a:r>
              <a:rPr lang="en-IN" dirty="0"/>
              <a:t>    return l * w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print(area(10,20))</a:t>
            </a:r>
            <a:br>
              <a:rPr lang="en-IN" dirty="0"/>
            </a:br>
            <a:r>
              <a:rPr lang="en-IN" dirty="0"/>
              <a:t>print(area(15,30))</a:t>
            </a:r>
          </a:p>
        </p:txBody>
      </p:sp>
    </p:spTree>
    <p:extLst>
      <p:ext uri="{BB962C8B-B14F-4D97-AF65-F5344CB8AC3E}">
        <p14:creationId xmlns:p14="http://schemas.microsoft.com/office/powerpoint/2010/main" val="30515580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997C2-DCB7-61D4-339D-3EC9525C3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9DB87-E13D-C90D-E28A-BAAC8B0BC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5047861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Syntax of a Function</a:t>
            </a:r>
          </a:p>
          <a:p>
            <a:r>
              <a:rPr lang="en-IN" dirty="0"/>
              <a:t>def </a:t>
            </a:r>
            <a:r>
              <a:rPr lang="en-IN" dirty="0" err="1"/>
              <a:t>function_name</a:t>
            </a:r>
            <a:r>
              <a:rPr lang="en-IN" dirty="0"/>
              <a:t>(parameters):</a:t>
            </a:r>
            <a:br>
              <a:rPr lang="en-IN" dirty="0"/>
            </a:br>
            <a:r>
              <a:rPr lang="en-IN" dirty="0"/>
              <a:t>    statements</a:t>
            </a:r>
            <a:br>
              <a:rPr lang="en-IN" dirty="0"/>
            </a:br>
            <a:r>
              <a:rPr lang="en-IN" dirty="0"/>
              <a:t>    return value</a:t>
            </a:r>
          </a:p>
          <a:p>
            <a:r>
              <a:rPr lang="en-IN" dirty="0"/>
              <a:t>Example</a:t>
            </a:r>
          </a:p>
          <a:p>
            <a:r>
              <a:rPr lang="en-IN" dirty="0"/>
              <a:t>def greet():</a:t>
            </a:r>
            <a:br>
              <a:rPr lang="en-IN" dirty="0"/>
            </a:br>
            <a:r>
              <a:rPr lang="en-IN" dirty="0"/>
              <a:t>    print("Hello Python")</a:t>
            </a:r>
          </a:p>
          <a:p>
            <a:pPr marL="0" indent="0">
              <a:buNone/>
            </a:pPr>
            <a:r>
              <a:rPr lang="en-IN" b="1" dirty="0"/>
              <a:t>Example 1 — Simple Function</a:t>
            </a:r>
          </a:p>
          <a:p>
            <a:r>
              <a:rPr lang="en-IN" dirty="0"/>
              <a:t>def hello():</a:t>
            </a:r>
            <a:br>
              <a:rPr lang="en-IN" dirty="0"/>
            </a:br>
            <a:r>
              <a:rPr lang="en-IN" dirty="0"/>
              <a:t>    print("Hello students")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hello()</a:t>
            </a:r>
          </a:p>
          <a:p>
            <a:pPr marL="0" indent="0">
              <a:buNone/>
            </a:pPr>
            <a:r>
              <a:rPr lang="en-IN" dirty="0"/>
              <a:t>Output</a:t>
            </a:r>
          </a:p>
          <a:p>
            <a:r>
              <a:rPr lang="en-IN" dirty="0"/>
              <a:t>Hello students</a:t>
            </a:r>
          </a:p>
          <a:p>
            <a:pPr marL="0" indent="0">
              <a:buNone/>
            </a:pPr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Function is defined using def and executed by calling it.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8E6CA0-2E9E-A665-5078-D6C91DC3B6BD}"/>
              </a:ext>
            </a:extLst>
          </p:cNvPr>
          <p:cNvSpPr txBox="1">
            <a:spLocks/>
          </p:cNvSpPr>
          <p:nvPr/>
        </p:nvSpPr>
        <p:spPr>
          <a:xfrm>
            <a:off x="4909457" y="0"/>
            <a:ext cx="3506755" cy="685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/>
              <a:t>Example 2 — Function with Return Value</a:t>
            </a:r>
          </a:p>
          <a:p>
            <a:r>
              <a:rPr lang="en-IN" dirty="0"/>
              <a:t>def add(a, b):</a:t>
            </a:r>
            <a:br>
              <a:rPr lang="en-IN" dirty="0"/>
            </a:br>
            <a:r>
              <a:rPr lang="en-IN" dirty="0"/>
              <a:t>    return a + b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print(add(10,5))</a:t>
            </a:r>
          </a:p>
          <a:p>
            <a:pPr marL="0" indent="0">
              <a:buNone/>
            </a:pPr>
            <a:r>
              <a:rPr lang="en-IN" dirty="0"/>
              <a:t>Output</a:t>
            </a:r>
          </a:p>
          <a:p>
            <a:r>
              <a:rPr lang="en-IN" dirty="0"/>
              <a:t>15</a:t>
            </a:r>
          </a:p>
          <a:p>
            <a:pPr marL="0" indent="0">
              <a:buNone/>
            </a:pPr>
            <a:r>
              <a:rPr lang="en-IN" b="1" dirty="0"/>
              <a:t>Example 3 — Function to Check Even Number</a:t>
            </a:r>
          </a:p>
          <a:p>
            <a:r>
              <a:rPr lang="en-IN" dirty="0"/>
              <a:t>def even(n):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if n % 2 == 0:</a:t>
            </a:r>
            <a:br>
              <a:rPr lang="en-IN" dirty="0"/>
            </a:br>
            <a:r>
              <a:rPr lang="en-IN" dirty="0"/>
              <a:t>        return True</a:t>
            </a:r>
            <a:br>
              <a:rPr lang="en-IN" dirty="0"/>
            </a:br>
            <a:r>
              <a:rPr lang="en-IN" dirty="0"/>
              <a:t>    else:</a:t>
            </a:r>
            <a:br>
              <a:rPr lang="en-IN" dirty="0"/>
            </a:br>
            <a:r>
              <a:rPr lang="en-IN" dirty="0"/>
              <a:t>        return False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print(even(6))</a:t>
            </a:r>
          </a:p>
          <a:p>
            <a:pPr marL="0" indent="0">
              <a:buNone/>
            </a:pPr>
            <a:r>
              <a:rPr lang="en-IN" dirty="0"/>
              <a:t>Output</a:t>
            </a:r>
          </a:p>
          <a:p>
            <a:r>
              <a:rPr lang="en-IN" dirty="0"/>
              <a:t>True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E41DFEF-E8C7-2C9A-3B70-69E224AD949C}"/>
              </a:ext>
            </a:extLst>
          </p:cNvPr>
          <p:cNvSpPr txBox="1">
            <a:spLocks/>
          </p:cNvSpPr>
          <p:nvPr/>
        </p:nvSpPr>
        <p:spPr>
          <a:xfrm>
            <a:off x="8145624" y="0"/>
            <a:ext cx="4046376" cy="685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Example 4 — Factorial Function</a:t>
            </a:r>
          </a:p>
          <a:p>
            <a:r>
              <a:rPr lang="en-IN" dirty="0"/>
              <a:t>def factorial(n):</a:t>
            </a:r>
            <a:br>
              <a:rPr lang="en-IN" dirty="0"/>
            </a:br>
            <a:r>
              <a:rPr lang="en-IN" dirty="0"/>
              <a:t>    fact = 1</a:t>
            </a:r>
            <a:br>
              <a:rPr lang="en-IN" dirty="0"/>
            </a:br>
            <a:r>
              <a:rPr lang="en-IN" dirty="0"/>
              <a:t>    for </a:t>
            </a:r>
            <a:r>
              <a:rPr lang="en-IN" dirty="0" err="1"/>
              <a:t>i</a:t>
            </a:r>
            <a:r>
              <a:rPr lang="en-IN" dirty="0"/>
              <a:t> in range(1, n+1):</a:t>
            </a:r>
            <a:br>
              <a:rPr lang="en-IN" dirty="0"/>
            </a:br>
            <a:r>
              <a:rPr lang="en-IN" dirty="0"/>
              <a:t>        fact *= </a:t>
            </a:r>
            <a:r>
              <a:rPr lang="en-IN" dirty="0" err="1"/>
              <a:t>i</a:t>
            </a:r>
            <a:br>
              <a:rPr lang="en-IN" dirty="0"/>
            </a:br>
            <a:r>
              <a:rPr lang="en-IN" dirty="0"/>
              <a:t>    return fact</a:t>
            </a:r>
            <a:br>
              <a:rPr lang="en-IN" dirty="0"/>
            </a:br>
            <a:r>
              <a:rPr lang="en-IN" dirty="0"/>
              <a:t>print(factorial(5))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Output</a:t>
            </a:r>
          </a:p>
          <a:p>
            <a:r>
              <a:rPr lang="en-IN" dirty="0"/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1424111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6D438-8588-4396-5818-AE286DA35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BAA0C-F032-B066-EF9B-C9CE44380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0981" y="0"/>
            <a:ext cx="4438261" cy="685800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Types of Arguments</a:t>
            </a:r>
            <a:endParaRPr lang="en-US" dirty="0"/>
          </a:p>
          <a:p>
            <a:r>
              <a:rPr lang="en-US" b="1" dirty="0"/>
              <a:t>1. Positional Arguments</a:t>
            </a:r>
          </a:p>
          <a:p>
            <a:pPr marL="0" indent="0">
              <a:buNone/>
            </a:pPr>
            <a:r>
              <a:rPr lang="en-US" dirty="0"/>
              <a:t>Arguments passed </a:t>
            </a:r>
            <a:r>
              <a:rPr lang="en-US" b="1" dirty="0"/>
              <a:t>in order</a:t>
            </a:r>
            <a:r>
              <a:rPr lang="en-US" dirty="0"/>
              <a:t>.</a:t>
            </a:r>
          </a:p>
          <a:p>
            <a:r>
              <a:rPr lang="en-US" dirty="0"/>
              <a:t>def add(</a:t>
            </a:r>
            <a:r>
              <a:rPr lang="en-US" dirty="0" err="1"/>
              <a:t>a,b</a:t>
            </a:r>
            <a:r>
              <a:rPr lang="en-US" dirty="0"/>
              <a:t>):</a:t>
            </a:r>
            <a:br>
              <a:rPr lang="en-US" dirty="0"/>
            </a:br>
            <a:r>
              <a:rPr lang="en-US" dirty="0"/>
              <a:t>    print(</a:t>
            </a:r>
            <a:r>
              <a:rPr lang="en-US" dirty="0" err="1"/>
              <a:t>a+b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add(5,3)</a:t>
            </a:r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r>
              <a:rPr lang="en-US" dirty="0"/>
              <a:t>8</a:t>
            </a:r>
          </a:p>
          <a:p>
            <a:r>
              <a:rPr lang="en-US" b="1" dirty="0"/>
              <a:t>2. Keyword Arguments</a:t>
            </a:r>
          </a:p>
          <a:p>
            <a:pPr marL="0" indent="0">
              <a:buNone/>
            </a:pPr>
            <a:r>
              <a:rPr lang="en-US" dirty="0"/>
              <a:t>Arguments passed </a:t>
            </a:r>
            <a:r>
              <a:rPr lang="en-US" b="1" dirty="0"/>
              <a:t>using parameter name</a:t>
            </a:r>
            <a:r>
              <a:rPr lang="en-US" dirty="0"/>
              <a:t>.</a:t>
            </a:r>
          </a:p>
          <a:p>
            <a:r>
              <a:rPr lang="en-US" dirty="0"/>
              <a:t>def add(</a:t>
            </a:r>
            <a:r>
              <a:rPr lang="en-US" dirty="0" err="1"/>
              <a:t>a,b</a:t>
            </a:r>
            <a:r>
              <a:rPr lang="en-US" dirty="0"/>
              <a:t>):</a:t>
            </a:r>
            <a:br>
              <a:rPr lang="en-US" dirty="0"/>
            </a:br>
            <a:r>
              <a:rPr lang="en-US" dirty="0"/>
              <a:t>    print(</a:t>
            </a:r>
            <a:r>
              <a:rPr lang="en-US" dirty="0" err="1"/>
              <a:t>a+b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add(a=5,b=3)</a:t>
            </a:r>
          </a:p>
          <a:p>
            <a:r>
              <a:rPr lang="en-US" b="1" dirty="0"/>
              <a:t>3. Default Arguments</a:t>
            </a:r>
          </a:p>
          <a:p>
            <a:pPr marL="0" indent="0">
              <a:buNone/>
            </a:pPr>
            <a:r>
              <a:rPr lang="en-US" dirty="0"/>
              <a:t>Default value assigned to parameter.</a:t>
            </a:r>
          </a:p>
          <a:p>
            <a:r>
              <a:rPr lang="en-US" dirty="0"/>
              <a:t>def greet(name="Student"):</a:t>
            </a:r>
            <a:br>
              <a:rPr lang="en-US" dirty="0"/>
            </a:br>
            <a:r>
              <a:rPr lang="en-US" dirty="0"/>
              <a:t>    print("</a:t>
            </a:r>
            <a:r>
              <a:rPr lang="en-US" dirty="0" err="1"/>
              <a:t>Hello",name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greet()</a:t>
            </a:r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r>
              <a:rPr lang="en-US" dirty="0"/>
              <a:t>Hello Student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EA48252-1E48-14F2-B135-93636B214FE6}"/>
              </a:ext>
            </a:extLst>
          </p:cNvPr>
          <p:cNvSpPr txBox="1">
            <a:spLocks/>
          </p:cNvSpPr>
          <p:nvPr/>
        </p:nvSpPr>
        <p:spPr>
          <a:xfrm>
            <a:off x="8329127" y="0"/>
            <a:ext cx="4584441" cy="685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4. Variable Arguments (*</a:t>
            </a:r>
            <a:r>
              <a:rPr lang="en-US" b="1" dirty="0" err="1"/>
              <a:t>args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dirty="0"/>
              <a:t>Allows </a:t>
            </a:r>
            <a:r>
              <a:rPr lang="en-US" b="1" dirty="0"/>
              <a:t>multiple arguments</a:t>
            </a:r>
            <a:r>
              <a:rPr lang="en-US" dirty="0"/>
              <a:t>.</a:t>
            </a:r>
          </a:p>
          <a:p>
            <a:r>
              <a:rPr lang="en-US" dirty="0"/>
              <a:t>def total(*</a:t>
            </a:r>
            <a:r>
              <a:rPr lang="en-US" dirty="0" err="1"/>
              <a:t>nums</a:t>
            </a:r>
            <a:r>
              <a:rPr lang="en-US" dirty="0"/>
              <a:t>):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s = 0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for n in </a:t>
            </a:r>
            <a:r>
              <a:rPr lang="en-US" dirty="0" err="1"/>
              <a:t>nums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    s += 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print(s)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total(1,2,3,4)</a:t>
            </a:r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r>
              <a:rPr lang="en-US" dirty="0"/>
              <a:t>10</a:t>
            </a:r>
          </a:p>
          <a:p>
            <a:r>
              <a:rPr lang="en-US" b="1" dirty="0"/>
              <a:t>5. Keyword Variable Arguments (**</a:t>
            </a:r>
            <a:r>
              <a:rPr lang="en-US" b="1" dirty="0" err="1"/>
              <a:t>kwargs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dirty="0"/>
              <a:t>Used for dictionary-like arguments.</a:t>
            </a:r>
          </a:p>
          <a:p>
            <a:r>
              <a:rPr lang="en-US" dirty="0"/>
              <a:t>def info(**data):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for </a:t>
            </a:r>
            <a:r>
              <a:rPr lang="en-US" dirty="0" err="1"/>
              <a:t>k,v</a:t>
            </a:r>
            <a:r>
              <a:rPr lang="en-US" dirty="0"/>
              <a:t> in </a:t>
            </a:r>
            <a:r>
              <a:rPr lang="en-US" dirty="0" err="1"/>
              <a:t>data.items</a:t>
            </a:r>
            <a:r>
              <a:rPr lang="en-US" dirty="0"/>
              <a:t>():</a:t>
            </a:r>
            <a:br>
              <a:rPr lang="en-US" dirty="0"/>
            </a:br>
            <a:r>
              <a:rPr lang="en-US" dirty="0"/>
              <a:t>        print(</a:t>
            </a:r>
            <a:r>
              <a:rPr lang="en-US" dirty="0" err="1"/>
              <a:t>k,v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info(name="</a:t>
            </a:r>
            <a:r>
              <a:rPr lang="en-US" dirty="0" err="1"/>
              <a:t>EDA",version</a:t>
            </a:r>
            <a:r>
              <a:rPr lang="en-US" dirty="0"/>
              <a:t>=3)</a:t>
            </a:r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r>
              <a:rPr lang="en-US" dirty="0"/>
              <a:t>name EDA</a:t>
            </a:r>
            <a:br>
              <a:rPr lang="en-US" dirty="0"/>
            </a:br>
            <a:r>
              <a:rPr lang="en-US" dirty="0"/>
              <a:t>version 3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83D669D-C620-DDDD-16DA-53903893D76B}"/>
              </a:ext>
            </a:extLst>
          </p:cNvPr>
          <p:cNvSpPr txBox="1">
            <a:spLocks/>
          </p:cNvSpPr>
          <p:nvPr/>
        </p:nvSpPr>
        <p:spPr>
          <a:xfrm>
            <a:off x="155512" y="143070"/>
            <a:ext cx="4248538" cy="6714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/>
              <a:t>Parameters and Arguments</a:t>
            </a: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What are Parameters?</a:t>
            </a:r>
          </a:p>
          <a:p>
            <a:r>
              <a:rPr lang="en-IN" sz="2400" dirty="0"/>
              <a:t>Parameters are </a:t>
            </a:r>
            <a:r>
              <a:rPr lang="en-IN" sz="2400" b="1" dirty="0"/>
              <a:t>variables defined in function definition</a:t>
            </a:r>
            <a:r>
              <a:rPr lang="en-IN" sz="2400" dirty="0"/>
              <a:t>.</a:t>
            </a:r>
          </a:p>
          <a:p>
            <a:r>
              <a:rPr lang="en-IN" sz="2400" dirty="0"/>
              <a:t>Example</a:t>
            </a:r>
          </a:p>
          <a:p>
            <a:r>
              <a:rPr lang="en-IN" sz="2400" dirty="0"/>
              <a:t>def add(</a:t>
            </a:r>
            <a:r>
              <a:rPr lang="en-IN" sz="2400" dirty="0" err="1"/>
              <a:t>a,b</a:t>
            </a:r>
            <a:r>
              <a:rPr lang="en-IN" sz="2400" dirty="0"/>
              <a:t>):</a:t>
            </a:r>
          </a:p>
          <a:p>
            <a:r>
              <a:rPr lang="en-IN" sz="2400" dirty="0"/>
              <a:t>a and b are parameters.</a:t>
            </a:r>
          </a:p>
          <a:p>
            <a:pPr marL="0" indent="0">
              <a:buNone/>
            </a:pPr>
            <a:r>
              <a:rPr lang="en-IN" sz="2400" b="1" dirty="0"/>
              <a:t>What are Arguments?</a:t>
            </a:r>
          </a:p>
          <a:p>
            <a:r>
              <a:rPr lang="en-IN" sz="2400" dirty="0"/>
              <a:t>Values passed during function call.</a:t>
            </a:r>
          </a:p>
          <a:p>
            <a:r>
              <a:rPr lang="en-IN" sz="2400" dirty="0"/>
              <a:t>Example</a:t>
            </a:r>
          </a:p>
          <a:p>
            <a:r>
              <a:rPr lang="en-IN" sz="2400" dirty="0"/>
              <a:t>add(10,20)</a:t>
            </a:r>
          </a:p>
          <a:p>
            <a:r>
              <a:rPr lang="en-IN" sz="2400" dirty="0"/>
              <a:t>10 and 20 are arguments.</a:t>
            </a:r>
          </a:p>
        </p:txBody>
      </p:sp>
    </p:spTree>
    <p:extLst>
      <p:ext uri="{BB962C8B-B14F-4D97-AF65-F5344CB8AC3E}">
        <p14:creationId xmlns:p14="http://schemas.microsoft.com/office/powerpoint/2010/main" val="4076120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AE7D5-C4C5-8F6D-CA99-BCEC0F1E7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11F2-D318-5BB4-990C-FC9487F86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41582"/>
          </a:xfrm>
        </p:spPr>
        <p:txBody>
          <a:bodyPr>
            <a:normAutofit fontScale="90000"/>
          </a:bodyPr>
          <a:lstStyle/>
          <a:p>
            <a:r>
              <a:rPr lang="en-IN" dirty="0"/>
              <a:t>Introduction to Regular Expressions (Regex)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A91EC-2AC6-8427-5479-5C17103DB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736" y="643812"/>
            <a:ext cx="5948264" cy="619593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What is Regex?</a:t>
            </a:r>
          </a:p>
          <a:p>
            <a:r>
              <a:rPr lang="en-US" dirty="0"/>
              <a:t>A </a:t>
            </a:r>
            <a:r>
              <a:rPr lang="en-US" b="1" dirty="0"/>
              <a:t>Regular Expression (Regex)</a:t>
            </a:r>
            <a:r>
              <a:rPr lang="en-US" dirty="0"/>
              <a:t> is a pattern used to search or match text.</a:t>
            </a:r>
          </a:p>
          <a:p>
            <a:pPr marL="0" indent="0">
              <a:buNone/>
            </a:pPr>
            <a:r>
              <a:rPr lang="en-US" dirty="0"/>
              <a:t>Used heavily in:</a:t>
            </a:r>
          </a:p>
          <a:p>
            <a:r>
              <a:rPr lang="en-US" dirty="0"/>
              <a:t>log file analysis</a:t>
            </a:r>
          </a:p>
          <a:p>
            <a:r>
              <a:rPr lang="en-US" dirty="0"/>
              <a:t>input validation</a:t>
            </a:r>
          </a:p>
          <a:p>
            <a:r>
              <a:rPr lang="en-US" dirty="0"/>
              <a:t>pattern extraction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Why Regex is Important (Engineering)</a:t>
            </a:r>
          </a:p>
          <a:p>
            <a:r>
              <a:rPr lang="en-US" dirty="0"/>
              <a:t>Example use cases:</a:t>
            </a:r>
          </a:p>
          <a:p>
            <a:r>
              <a:rPr lang="en-US" dirty="0"/>
              <a:t>detect </a:t>
            </a:r>
            <a:r>
              <a:rPr lang="en-US" b="1" dirty="0"/>
              <a:t>errors in simulation logs</a:t>
            </a:r>
            <a:endParaRPr lang="en-US" dirty="0"/>
          </a:p>
          <a:p>
            <a:r>
              <a:rPr lang="en-US" dirty="0"/>
              <a:t>extract </a:t>
            </a:r>
            <a:r>
              <a:rPr lang="en-US" b="1" dirty="0"/>
              <a:t>signal names</a:t>
            </a:r>
            <a:endParaRPr lang="en-US" dirty="0"/>
          </a:p>
          <a:p>
            <a:r>
              <a:rPr lang="en-US" dirty="0"/>
              <a:t>validate </a:t>
            </a:r>
            <a:r>
              <a:rPr lang="en-US" b="1" dirty="0"/>
              <a:t>hex values</a:t>
            </a:r>
            <a:endParaRPr lang="en-US" dirty="0"/>
          </a:p>
          <a:p>
            <a:r>
              <a:rPr lang="en-US" dirty="0"/>
              <a:t>parse </a:t>
            </a:r>
            <a:r>
              <a:rPr lang="en-US" b="1" dirty="0"/>
              <a:t>EDA reports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Example log line:</a:t>
            </a:r>
          </a:p>
          <a:p>
            <a:r>
              <a:rPr lang="en-US" dirty="0"/>
              <a:t>ERROR: timing violation at </a:t>
            </a:r>
            <a:r>
              <a:rPr lang="en-US" dirty="0" err="1"/>
              <a:t>clk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Regex can detect </a:t>
            </a:r>
            <a:r>
              <a:rPr lang="en-US" b="1" dirty="0"/>
              <a:t>ERROR</a:t>
            </a:r>
            <a:r>
              <a:rPr lang="en-US" dirty="0"/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C2D162-E697-18F0-C4E1-EB83A2B508E4}"/>
              </a:ext>
            </a:extLst>
          </p:cNvPr>
          <p:cNvSpPr txBox="1">
            <a:spLocks/>
          </p:cNvSpPr>
          <p:nvPr/>
        </p:nvSpPr>
        <p:spPr>
          <a:xfrm>
            <a:off x="6096000" y="559838"/>
            <a:ext cx="5407090" cy="6279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Python Regex Module</a:t>
            </a:r>
          </a:p>
          <a:p>
            <a:pPr marL="0" indent="0">
              <a:buNone/>
            </a:pPr>
            <a:r>
              <a:rPr lang="en-US" dirty="0"/>
              <a:t>Python uses </a:t>
            </a:r>
            <a:r>
              <a:rPr lang="en-US" b="1" dirty="0"/>
              <a:t>”re” module</a:t>
            </a:r>
            <a:r>
              <a:rPr lang="en-US" dirty="0"/>
              <a:t>.</a:t>
            </a:r>
          </a:p>
          <a:p>
            <a:r>
              <a:rPr lang="en-US" dirty="0"/>
              <a:t>import re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import re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text = "Python programming"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result = </a:t>
            </a:r>
            <a:r>
              <a:rPr lang="en-US" dirty="0" err="1"/>
              <a:t>re.search</a:t>
            </a:r>
            <a:r>
              <a:rPr lang="en-US" dirty="0"/>
              <a:t>("Python", text)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print(result)</a:t>
            </a:r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r>
              <a:rPr lang="en-US" dirty="0"/>
              <a:t>Match object</a:t>
            </a:r>
          </a:p>
        </p:txBody>
      </p:sp>
    </p:spTree>
    <p:extLst>
      <p:ext uri="{BB962C8B-B14F-4D97-AF65-F5344CB8AC3E}">
        <p14:creationId xmlns:p14="http://schemas.microsoft.com/office/powerpoint/2010/main" val="23170435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EB93B-4E5D-302C-307D-40A631319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3E5F5-6540-B5AB-31FD-31EBC1E06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5648" y="0"/>
            <a:ext cx="5956043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/>
              <a:t>re.sub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dirty="0"/>
              <a:t>Replace pattern.</a:t>
            </a:r>
          </a:p>
          <a:p>
            <a:r>
              <a:rPr lang="en-US" dirty="0"/>
              <a:t>import re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text = "Python 2"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re.sub</a:t>
            </a:r>
            <a:r>
              <a:rPr lang="en-US" dirty="0"/>
              <a:t>("2","3",text))</a:t>
            </a:r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r>
              <a:rPr lang="en-US" dirty="0"/>
              <a:t>Python 3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err="1"/>
              <a:t>re.split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dirty="0"/>
              <a:t>Split string using regex.</a:t>
            </a:r>
          </a:p>
          <a:p>
            <a:r>
              <a:rPr lang="en-US" dirty="0"/>
              <a:t>import re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text = "</a:t>
            </a:r>
            <a:r>
              <a:rPr lang="en-US" dirty="0" err="1"/>
              <a:t>clk,reset,data</a:t>
            </a:r>
            <a:r>
              <a:rPr lang="en-US" dirty="0"/>
              <a:t>"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re.split</a:t>
            </a:r>
            <a:r>
              <a:rPr lang="en-US" dirty="0"/>
              <a:t>(",",text))</a:t>
            </a:r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r>
              <a:rPr lang="en-US" dirty="0"/>
              <a:t>['</a:t>
            </a:r>
            <a:r>
              <a:rPr lang="en-US" dirty="0" err="1"/>
              <a:t>clk</a:t>
            </a:r>
            <a:r>
              <a:rPr lang="en-US" dirty="0"/>
              <a:t>','</a:t>
            </a:r>
            <a:r>
              <a:rPr lang="en-US" dirty="0" err="1"/>
              <a:t>reset','data</a:t>
            </a:r>
            <a:r>
              <a:rPr lang="en-US" dirty="0"/>
              <a:t>']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D958E5-F1F1-40E2-0D74-9FFD95AC175A}"/>
              </a:ext>
            </a:extLst>
          </p:cNvPr>
          <p:cNvSpPr txBox="1">
            <a:spLocks/>
          </p:cNvSpPr>
          <p:nvPr/>
        </p:nvSpPr>
        <p:spPr>
          <a:xfrm>
            <a:off x="538067" y="143070"/>
            <a:ext cx="5396202" cy="671493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900" b="1" dirty="0"/>
              <a:t>Regex Functions</a:t>
            </a:r>
            <a:endParaRPr lang="en-US" sz="2900" dirty="0"/>
          </a:p>
          <a:p>
            <a:pPr marL="0" indent="0">
              <a:buNone/>
            </a:pPr>
            <a:r>
              <a:rPr lang="en-US" sz="2400" b="1" dirty="0" err="1"/>
              <a:t>re.match</a:t>
            </a:r>
            <a:r>
              <a:rPr lang="en-US" sz="2400" b="1" dirty="0"/>
              <a:t>()</a:t>
            </a:r>
          </a:p>
          <a:p>
            <a:pPr marL="0" indent="0">
              <a:buNone/>
            </a:pPr>
            <a:r>
              <a:rPr lang="en-US" sz="2400" dirty="0"/>
              <a:t>Matches at </a:t>
            </a:r>
            <a:r>
              <a:rPr lang="en-US" sz="2400" b="1" dirty="0"/>
              <a:t>beginning of string</a:t>
            </a:r>
            <a:r>
              <a:rPr lang="en-US" sz="2400" dirty="0"/>
              <a:t>.</a:t>
            </a:r>
          </a:p>
          <a:p>
            <a:r>
              <a:rPr lang="en-US" dirty="0"/>
              <a:t>import re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text = "Python programming"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re.match</a:t>
            </a:r>
            <a:r>
              <a:rPr lang="en-US" dirty="0"/>
              <a:t>("Python", text))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 err="1"/>
              <a:t>re.search</a:t>
            </a:r>
            <a:r>
              <a:rPr lang="en-US" sz="2400" b="1" dirty="0"/>
              <a:t>()</a:t>
            </a:r>
          </a:p>
          <a:p>
            <a:pPr marL="0" indent="0">
              <a:buNone/>
            </a:pPr>
            <a:r>
              <a:rPr lang="en-US" sz="2400" dirty="0"/>
              <a:t>Search anywhere in string.</a:t>
            </a:r>
          </a:p>
          <a:p>
            <a:r>
              <a:rPr lang="en-US" dirty="0"/>
              <a:t>import re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text = "I love Python"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re.search</a:t>
            </a:r>
            <a:r>
              <a:rPr lang="en-US" dirty="0"/>
              <a:t>("Python", text))</a:t>
            </a:r>
            <a:endParaRPr lang="en-US" sz="2400" dirty="0"/>
          </a:p>
          <a:p>
            <a:r>
              <a:rPr lang="en-US" sz="2400" b="1" dirty="0" err="1"/>
              <a:t>re.findall</a:t>
            </a:r>
            <a:r>
              <a:rPr lang="en-US" sz="2400" b="1" dirty="0"/>
              <a:t>()</a:t>
            </a:r>
          </a:p>
          <a:p>
            <a:pPr marL="0" indent="0">
              <a:buNone/>
            </a:pPr>
            <a:r>
              <a:rPr lang="en-US" sz="2400" dirty="0"/>
              <a:t>Returns </a:t>
            </a:r>
            <a:r>
              <a:rPr lang="en-US" sz="2400" b="1" dirty="0"/>
              <a:t>all matches</a:t>
            </a:r>
            <a:r>
              <a:rPr lang="en-US" sz="2400" dirty="0"/>
              <a:t>.</a:t>
            </a:r>
          </a:p>
          <a:p>
            <a:r>
              <a:rPr lang="en-US" dirty="0"/>
              <a:t>import re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text = "</a:t>
            </a:r>
            <a:r>
              <a:rPr lang="en-US" dirty="0" err="1"/>
              <a:t>clk</a:t>
            </a:r>
            <a:r>
              <a:rPr lang="en-US" dirty="0"/>
              <a:t> reset </a:t>
            </a:r>
            <a:r>
              <a:rPr lang="en-US" dirty="0" err="1"/>
              <a:t>clk</a:t>
            </a:r>
            <a:r>
              <a:rPr lang="en-US" dirty="0"/>
              <a:t>"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re.findall</a:t>
            </a:r>
            <a:r>
              <a:rPr lang="en-US" dirty="0"/>
              <a:t>("</a:t>
            </a:r>
            <a:r>
              <a:rPr lang="en-US" dirty="0" err="1"/>
              <a:t>clk</a:t>
            </a:r>
            <a:r>
              <a:rPr lang="en-US" dirty="0"/>
              <a:t>", text))</a:t>
            </a:r>
          </a:p>
          <a:p>
            <a:pPr marL="0" indent="0">
              <a:buNone/>
            </a:pPr>
            <a:r>
              <a:rPr lang="en-US" sz="2400" dirty="0"/>
              <a:t>Output</a:t>
            </a:r>
          </a:p>
          <a:p>
            <a:r>
              <a:rPr lang="en-US" dirty="0"/>
              <a:t>['</a:t>
            </a:r>
            <a:r>
              <a:rPr lang="en-US" dirty="0" err="1"/>
              <a:t>clk</a:t>
            </a:r>
            <a:r>
              <a:rPr lang="en-US" dirty="0"/>
              <a:t>','</a:t>
            </a:r>
            <a:r>
              <a:rPr lang="en-US" dirty="0" err="1"/>
              <a:t>clk</a:t>
            </a:r>
            <a:r>
              <a:rPr lang="en-US" dirty="0"/>
              <a:t>']</a:t>
            </a:r>
          </a:p>
        </p:txBody>
      </p:sp>
    </p:spTree>
    <p:extLst>
      <p:ext uri="{BB962C8B-B14F-4D97-AF65-F5344CB8AC3E}">
        <p14:creationId xmlns:p14="http://schemas.microsoft.com/office/powerpoint/2010/main" val="1526243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47B3F-FA50-6262-E522-DA2870992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59"/>
            <a:ext cx="6840894" cy="603700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Regex Meta Characters</a:t>
            </a:r>
          </a:p>
          <a:p>
            <a:r>
              <a:rPr lang="en-IN" dirty="0"/>
              <a:t>Meta characters define patterns.</a:t>
            </a:r>
          </a:p>
          <a:p>
            <a:endParaRPr lang="en-IN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9BE75F-7B50-FF5F-3583-368ADEB351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93846"/>
              </p:ext>
            </p:extLst>
          </p:nvPr>
        </p:nvGraphicFramePr>
        <p:xfrm>
          <a:off x="838200" y="1099472"/>
          <a:ext cx="5180045" cy="4200320"/>
        </p:xfrm>
        <a:graphic>
          <a:graphicData uri="http://schemas.openxmlformats.org/drawingml/2006/table">
            <a:tbl>
              <a:tblPr/>
              <a:tblGrid>
                <a:gridCol w="2950029">
                  <a:extLst>
                    <a:ext uri="{9D8B030D-6E8A-4147-A177-3AD203B41FA5}">
                      <a16:colId xmlns:a16="http://schemas.microsoft.com/office/drawing/2014/main" val="3547828563"/>
                    </a:ext>
                  </a:extLst>
                </a:gridCol>
                <a:gridCol w="2230016">
                  <a:extLst>
                    <a:ext uri="{9D8B030D-6E8A-4147-A177-3AD203B41FA5}">
                      <a16:colId xmlns:a16="http://schemas.microsoft.com/office/drawing/2014/main" val="2984591474"/>
                    </a:ext>
                  </a:extLst>
                </a:gridCol>
              </a:tblGrid>
              <a:tr h="420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Character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9579777"/>
                  </a:ext>
                </a:extLst>
              </a:tr>
              <a:tr h="420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any character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433201"/>
                  </a:ext>
                </a:extLst>
              </a:tr>
              <a:tr h="420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^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start of 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467261"/>
                  </a:ext>
                </a:extLst>
              </a:tr>
              <a:tr h="420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end of 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442562"/>
                  </a:ext>
                </a:extLst>
              </a:tr>
              <a:tr h="420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zero or more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580769"/>
                  </a:ext>
                </a:extLst>
              </a:tr>
              <a:tr h="420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or more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512091"/>
                  </a:ext>
                </a:extLst>
              </a:tr>
              <a:tr h="420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384948"/>
                  </a:ext>
                </a:extLst>
              </a:tr>
              <a:tr h="420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[]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character 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503942"/>
                  </a:ext>
                </a:extLst>
              </a:tr>
              <a:tr h="42003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776294"/>
                  </a:ext>
                </a:extLst>
              </a:tr>
              <a:tr h="420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7654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F20CE24-129D-C712-75E1-30484873FF9E}"/>
              </a:ext>
            </a:extLst>
          </p:cNvPr>
          <p:cNvSpPr txBox="1"/>
          <p:nvPr/>
        </p:nvSpPr>
        <p:spPr>
          <a:xfrm>
            <a:off x="7053943" y="970384"/>
            <a:ext cx="40868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Example</a:t>
            </a:r>
          </a:p>
          <a:p>
            <a:r>
              <a:rPr lang="en-IN" dirty="0"/>
              <a:t>Match numbers:</a:t>
            </a:r>
          </a:p>
          <a:p>
            <a:r>
              <a:rPr lang="en-IN" dirty="0"/>
              <a:t>import re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print(</a:t>
            </a:r>
            <a:r>
              <a:rPr lang="en-IN" dirty="0" err="1"/>
              <a:t>re.findall</a:t>
            </a:r>
            <a:r>
              <a:rPr lang="en-IN" dirty="0"/>
              <a:t>("[0-9]","a1b2c3"))</a:t>
            </a:r>
          </a:p>
          <a:p>
            <a:r>
              <a:rPr lang="en-IN" dirty="0"/>
              <a:t>Output</a:t>
            </a:r>
          </a:p>
          <a:p>
            <a:r>
              <a:rPr lang="en-IN" dirty="0"/>
              <a:t>['1','2','3']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5937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B8BA5-CCDE-4767-01C3-CF212CAF8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5" y="0"/>
            <a:ext cx="10515600" cy="6064996"/>
          </a:xfrm>
        </p:spPr>
        <p:txBody>
          <a:bodyPr/>
          <a:lstStyle/>
          <a:p>
            <a:r>
              <a:rPr lang="en-US" dirty="0"/>
              <a:t>Special Sequences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E2DFAA-498A-E50A-C598-FD839AC7D0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476636"/>
              </p:ext>
            </p:extLst>
          </p:nvPr>
        </p:nvGraphicFramePr>
        <p:xfrm>
          <a:off x="164841" y="398417"/>
          <a:ext cx="4424265" cy="2926080"/>
        </p:xfrm>
        <a:graphic>
          <a:graphicData uri="http://schemas.openxmlformats.org/drawingml/2006/table">
            <a:tbl>
              <a:tblPr/>
              <a:tblGrid>
                <a:gridCol w="2554857">
                  <a:extLst>
                    <a:ext uri="{9D8B030D-6E8A-4147-A177-3AD203B41FA5}">
                      <a16:colId xmlns:a16="http://schemas.microsoft.com/office/drawing/2014/main" val="1728005304"/>
                    </a:ext>
                  </a:extLst>
                </a:gridCol>
                <a:gridCol w="1869408">
                  <a:extLst>
                    <a:ext uri="{9D8B030D-6E8A-4147-A177-3AD203B41FA5}">
                      <a16:colId xmlns:a16="http://schemas.microsoft.com/office/drawing/2014/main" val="38527693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Sequence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087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\d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digit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464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\D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non digit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675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\s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whitespace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918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\S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non whitespace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794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\w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word character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141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\W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non 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947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\b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word boundary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7119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E2A8C6A-BF0E-B234-759F-813CE678271C}"/>
              </a:ext>
            </a:extLst>
          </p:cNvPr>
          <p:cNvSpPr txBox="1"/>
          <p:nvPr/>
        </p:nvSpPr>
        <p:spPr>
          <a:xfrm>
            <a:off x="164841" y="3648269"/>
            <a:ext cx="45906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Example: </a:t>
            </a:r>
            <a:r>
              <a:rPr lang="en-IN" dirty="0"/>
              <a:t>Find digits</a:t>
            </a:r>
          </a:p>
          <a:p>
            <a:endParaRPr lang="en-IN" dirty="0"/>
          </a:p>
          <a:p>
            <a:r>
              <a:rPr lang="en-IN" dirty="0"/>
              <a:t>import re</a:t>
            </a:r>
            <a:br>
              <a:rPr lang="en-IN" dirty="0"/>
            </a:br>
            <a:r>
              <a:rPr lang="en-IN" dirty="0"/>
              <a:t>print(</a:t>
            </a:r>
            <a:r>
              <a:rPr lang="en-IN" dirty="0" err="1"/>
              <a:t>re.findall</a:t>
            </a:r>
            <a:r>
              <a:rPr lang="en-IN" dirty="0"/>
              <a:t>("\d","a1b2c3"))</a:t>
            </a:r>
          </a:p>
          <a:p>
            <a:endParaRPr lang="en-IN" dirty="0"/>
          </a:p>
          <a:p>
            <a:r>
              <a:rPr lang="en-IN" dirty="0"/>
              <a:t>Output:</a:t>
            </a:r>
          </a:p>
          <a:p>
            <a:r>
              <a:rPr lang="en-IN" dirty="0"/>
              <a:t>['1','2','3']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696C19-A988-78B4-D443-332A14230BA0}"/>
              </a:ext>
            </a:extLst>
          </p:cNvPr>
          <p:cNvSpPr txBox="1"/>
          <p:nvPr/>
        </p:nvSpPr>
        <p:spPr>
          <a:xfrm>
            <a:off x="4589106" y="81177"/>
            <a:ext cx="354563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Regex Character Sets</a:t>
            </a:r>
            <a:endParaRPr lang="en-US" dirty="0"/>
          </a:p>
          <a:p>
            <a:r>
              <a:rPr lang="en-US" b="1" dirty="0"/>
              <a:t>Match lowercase letters </a:t>
            </a:r>
            <a:r>
              <a:rPr lang="en-US" dirty="0"/>
              <a:t>[a-z]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import re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re.findall</a:t>
            </a:r>
            <a:r>
              <a:rPr lang="en-US" dirty="0"/>
              <a:t>("[a-z]","</a:t>
            </a:r>
            <a:r>
              <a:rPr lang="en-US" dirty="0" err="1"/>
              <a:t>AbCde</a:t>
            </a:r>
            <a:r>
              <a:rPr lang="en-US" dirty="0"/>
              <a:t>"))</a:t>
            </a:r>
          </a:p>
          <a:p>
            <a:r>
              <a:rPr lang="en-US" dirty="0"/>
              <a:t>Output:</a:t>
            </a:r>
          </a:p>
          <a:p>
            <a:r>
              <a:rPr lang="en-US" dirty="0"/>
              <a:t>['</a:t>
            </a:r>
            <a:r>
              <a:rPr lang="en-US" dirty="0" err="1"/>
              <a:t>b','d','e</a:t>
            </a:r>
            <a:r>
              <a:rPr lang="en-US" dirty="0"/>
              <a:t>']</a:t>
            </a:r>
          </a:p>
          <a:p>
            <a:endParaRPr lang="en-US" dirty="0"/>
          </a:p>
          <a:p>
            <a:r>
              <a:rPr lang="en-US" b="1" dirty="0"/>
              <a:t>Negation </a:t>
            </a:r>
            <a:r>
              <a:rPr lang="en-US" dirty="0"/>
              <a:t>[^0-9]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import re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re.findall</a:t>
            </a:r>
            <a:r>
              <a:rPr lang="en-US" dirty="0"/>
              <a:t>("[^0-9]","a1b2c3"))</a:t>
            </a:r>
          </a:p>
          <a:p>
            <a:r>
              <a:rPr lang="en-US" dirty="0"/>
              <a:t>Output:</a:t>
            </a:r>
          </a:p>
          <a:p>
            <a:r>
              <a:rPr lang="en-US" dirty="0"/>
              <a:t>['</a:t>
            </a:r>
            <a:r>
              <a:rPr lang="en-US" dirty="0" err="1"/>
              <a:t>a','b','c</a:t>
            </a:r>
            <a:r>
              <a:rPr lang="en-US" dirty="0"/>
              <a:t>']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98AEBB-0260-2329-5216-7B4AB9C929A5}"/>
              </a:ext>
            </a:extLst>
          </p:cNvPr>
          <p:cNvSpPr txBox="1"/>
          <p:nvPr/>
        </p:nvSpPr>
        <p:spPr>
          <a:xfrm>
            <a:off x="8481527" y="58846"/>
            <a:ext cx="354563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Pattern Matching Examples</a:t>
            </a:r>
            <a:endParaRPr lang="en-US" dirty="0"/>
          </a:p>
          <a:p>
            <a:r>
              <a:rPr lang="en-US" b="1" dirty="0"/>
              <a:t>Email Validation</a:t>
            </a:r>
          </a:p>
          <a:p>
            <a:r>
              <a:rPr lang="en-US" dirty="0"/>
              <a:t>import re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email = "test@gmail.com"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pattern = r"\w+@\w+\.\w+"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re.match</a:t>
            </a:r>
            <a:r>
              <a:rPr lang="en-US" dirty="0"/>
              <a:t>(</a:t>
            </a:r>
            <a:r>
              <a:rPr lang="en-US" dirty="0" err="1"/>
              <a:t>pattern,email</a:t>
            </a:r>
            <a:r>
              <a:rPr lang="en-US" dirty="0"/>
              <a:t>))</a:t>
            </a:r>
          </a:p>
          <a:p>
            <a:endParaRPr lang="en-US" dirty="0"/>
          </a:p>
          <a:p>
            <a:r>
              <a:rPr lang="en-US" b="1" dirty="0"/>
              <a:t>Phone Number</a:t>
            </a:r>
          </a:p>
          <a:p>
            <a:r>
              <a:rPr lang="en-US" dirty="0"/>
              <a:t>import re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number = "9876543210"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re.match</a:t>
            </a:r>
            <a:r>
              <a:rPr lang="en-US" dirty="0"/>
              <a:t>("\d{10}",number))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Date Format</a:t>
            </a:r>
          </a:p>
          <a:p>
            <a:r>
              <a:rPr lang="en-US" dirty="0"/>
              <a:t>import re</a:t>
            </a:r>
            <a:br>
              <a:rPr lang="en-US" dirty="0"/>
            </a:br>
            <a:r>
              <a:rPr lang="en-US" dirty="0"/>
              <a:t>date = "2024-10-15"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re.match</a:t>
            </a:r>
            <a:r>
              <a:rPr lang="en-US" dirty="0"/>
              <a:t>("\d{4}-\d{2}-\d{2}",date))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1161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7480D-4825-DC8A-BD0E-55EFA81F0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069" y="9330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Object-Oriented Programming (OOP)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3C7E0-B4EB-C9E9-E2CE-EE05665B7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069" y="550285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What is OOP?</a:t>
            </a:r>
          </a:p>
          <a:p>
            <a:r>
              <a:rPr lang="en-IN" b="1" dirty="0"/>
              <a:t>Object-Oriented Programming (OOP)</a:t>
            </a:r>
            <a:r>
              <a:rPr lang="en-IN" dirty="0"/>
              <a:t> is a programming paradigm based on </a:t>
            </a:r>
            <a:r>
              <a:rPr lang="en-IN" b="1" dirty="0"/>
              <a:t>objects and classes</a:t>
            </a:r>
            <a:r>
              <a:rPr lang="en-IN" dirty="0"/>
              <a:t>.</a:t>
            </a:r>
          </a:p>
          <a:p>
            <a:r>
              <a:rPr lang="en-IN" dirty="0"/>
              <a:t>Instead of organizing programs around functions and logic, OOP organizes programs around </a:t>
            </a:r>
            <a:r>
              <a:rPr lang="en-IN" b="1" dirty="0"/>
              <a:t>data and </a:t>
            </a:r>
            <a:r>
              <a:rPr lang="en-IN" b="1" dirty="0" err="1"/>
              <a:t>behavior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Why OOP is Important</a:t>
            </a:r>
          </a:p>
          <a:p>
            <a:r>
              <a:rPr lang="en-IN" dirty="0"/>
              <a:t>Advantages:</a:t>
            </a:r>
          </a:p>
          <a:p>
            <a:r>
              <a:rPr lang="en-IN" dirty="0"/>
              <a:t>Modular design</a:t>
            </a:r>
          </a:p>
          <a:p>
            <a:r>
              <a:rPr lang="en-IN" dirty="0"/>
              <a:t>Code reuse</a:t>
            </a:r>
          </a:p>
          <a:p>
            <a:r>
              <a:rPr lang="en-IN" dirty="0"/>
              <a:t>Better abstraction</a:t>
            </a:r>
          </a:p>
          <a:p>
            <a:r>
              <a:rPr lang="en-IN" dirty="0"/>
              <a:t>Easier maintenance</a:t>
            </a:r>
          </a:p>
          <a:p>
            <a:r>
              <a:rPr lang="en-IN" dirty="0"/>
              <a:t>Scalable programs</a:t>
            </a:r>
          </a:p>
          <a:p>
            <a:pPr marL="0" indent="0">
              <a:buNone/>
            </a:pPr>
            <a:r>
              <a:rPr lang="en-IN" b="1" dirty="0"/>
              <a:t>OOP Pillars</a:t>
            </a: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68FE6B-D364-F6E6-20AD-9C7B6740A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350419"/>
              </p:ext>
            </p:extLst>
          </p:nvPr>
        </p:nvGraphicFramePr>
        <p:xfrm>
          <a:off x="905069" y="4770870"/>
          <a:ext cx="5239065" cy="1463040"/>
        </p:xfrm>
        <a:graphic>
          <a:graphicData uri="http://schemas.openxmlformats.org/drawingml/2006/table">
            <a:tbl>
              <a:tblPr/>
              <a:tblGrid>
                <a:gridCol w="1572133">
                  <a:extLst>
                    <a:ext uri="{9D8B030D-6E8A-4147-A177-3AD203B41FA5}">
                      <a16:colId xmlns:a16="http://schemas.microsoft.com/office/drawing/2014/main" val="4021769464"/>
                    </a:ext>
                  </a:extLst>
                </a:gridCol>
                <a:gridCol w="3666932">
                  <a:extLst>
                    <a:ext uri="{9D8B030D-6E8A-4147-A177-3AD203B41FA5}">
                      <a16:colId xmlns:a16="http://schemas.microsoft.com/office/drawing/2014/main" val="1903529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935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Encapsulation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+ methods in one 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392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Inheritance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Reuse code from another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88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Polymorphism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Same method behaves differently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568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378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3FEED-E72A-B229-0C57-5AC32F3CB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DEBD3C-5719-61D8-B5CD-4E749C633645}"/>
              </a:ext>
            </a:extLst>
          </p:cNvPr>
          <p:cNvSpPr txBox="1"/>
          <p:nvPr/>
        </p:nvSpPr>
        <p:spPr>
          <a:xfrm>
            <a:off x="0" y="0"/>
            <a:ext cx="459066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Defining a Class</a:t>
            </a:r>
            <a:endParaRPr lang="en-IN" sz="2400" dirty="0"/>
          </a:p>
          <a:p>
            <a:r>
              <a:rPr lang="en-IN" b="1" dirty="0"/>
              <a:t>What is a Class?</a:t>
            </a:r>
          </a:p>
          <a:p>
            <a:r>
              <a:rPr lang="en-IN" dirty="0"/>
              <a:t>A </a:t>
            </a:r>
            <a:r>
              <a:rPr lang="en-IN" b="1" dirty="0"/>
              <a:t>class</a:t>
            </a:r>
            <a:r>
              <a:rPr lang="en-IN" dirty="0"/>
              <a:t> is a blueprint for creating objects.</a:t>
            </a:r>
          </a:p>
          <a:p>
            <a:r>
              <a:rPr lang="en-IN" dirty="0"/>
              <a:t>Example analogy:</a:t>
            </a:r>
          </a:p>
          <a:p>
            <a:r>
              <a:rPr lang="en-IN" dirty="0"/>
              <a:t>Class = Car design</a:t>
            </a:r>
            <a:br>
              <a:rPr lang="en-IN" dirty="0"/>
            </a:br>
            <a:r>
              <a:rPr lang="en-IN" dirty="0"/>
              <a:t>Object = Actual car</a:t>
            </a:r>
          </a:p>
          <a:p>
            <a:endParaRPr lang="en-IN" dirty="0"/>
          </a:p>
          <a:p>
            <a:r>
              <a:rPr lang="en-IN" b="1" dirty="0"/>
              <a:t>Syntax</a:t>
            </a:r>
          </a:p>
          <a:p>
            <a:r>
              <a:rPr lang="en-IN" dirty="0"/>
              <a:t>class </a:t>
            </a:r>
            <a:r>
              <a:rPr lang="en-IN" dirty="0" err="1"/>
              <a:t>ClassName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    statements</a:t>
            </a:r>
          </a:p>
          <a:p>
            <a:endParaRPr lang="en-IN" dirty="0"/>
          </a:p>
          <a:p>
            <a:r>
              <a:rPr lang="en-IN" b="1" dirty="0"/>
              <a:t>Example 1 — Simple Class</a:t>
            </a:r>
          </a:p>
          <a:p>
            <a:r>
              <a:rPr lang="en-IN" dirty="0"/>
              <a:t>class Student: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name = "Rahul“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3B0A23-392E-0351-D1E4-C27AAE3B5B09}"/>
              </a:ext>
            </a:extLst>
          </p:cNvPr>
          <p:cNvSpPr txBox="1"/>
          <p:nvPr/>
        </p:nvSpPr>
        <p:spPr>
          <a:xfrm>
            <a:off x="4589106" y="81177"/>
            <a:ext cx="35456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Example 2 — Class with Method</a:t>
            </a:r>
          </a:p>
          <a:p>
            <a:r>
              <a:rPr lang="en-IN" dirty="0"/>
              <a:t>class Student: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def show(self):</a:t>
            </a:r>
            <a:br>
              <a:rPr lang="en-IN" dirty="0"/>
            </a:br>
            <a:r>
              <a:rPr lang="en-IN" dirty="0"/>
              <a:t>        print("Student details")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 = Student()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s.show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Output: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Student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Explanation:</a:t>
            </a:r>
          </a:p>
          <a:p>
            <a:r>
              <a:rPr lang="en-IN" dirty="0"/>
              <a:t>Student is the class</a:t>
            </a:r>
          </a:p>
          <a:p>
            <a:r>
              <a:rPr lang="en-IN" dirty="0"/>
              <a:t>s is an object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CE9B4-8A5B-586E-84AA-68A4DBE58006}"/>
              </a:ext>
            </a:extLst>
          </p:cNvPr>
          <p:cNvSpPr txBox="1"/>
          <p:nvPr/>
        </p:nvSpPr>
        <p:spPr>
          <a:xfrm>
            <a:off x="7921690" y="81177"/>
            <a:ext cx="35456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What is an Object?</a:t>
            </a:r>
          </a:p>
          <a:p>
            <a:r>
              <a:rPr lang="en-IN" dirty="0"/>
              <a:t>An </a:t>
            </a:r>
            <a:r>
              <a:rPr lang="en-IN" b="1" dirty="0"/>
              <a:t>object is an instance of a class</a:t>
            </a:r>
            <a:r>
              <a:rPr lang="en-IN" dirty="0"/>
              <a:t>.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s = Student()</a:t>
            </a:r>
          </a:p>
          <a:p>
            <a:endParaRPr lang="en-IN" dirty="0"/>
          </a:p>
          <a:p>
            <a:r>
              <a:rPr lang="en-IN" b="1" dirty="0"/>
              <a:t>Example 1 — Multiple Objects</a:t>
            </a:r>
          </a:p>
          <a:p>
            <a:r>
              <a:rPr lang="en-IN" dirty="0"/>
              <a:t>class Student: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def show(self):</a:t>
            </a:r>
            <a:br>
              <a:rPr lang="en-IN" dirty="0"/>
            </a:br>
            <a:r>
              <a:rPr lang="en-IN" dirty="0"/>
              <a:t>        print("Student object")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s1 = Student()</a:t>
            </a:r>
            <a:br>
              <a:rPr lang="en-IN" dirty="0"/>
            </a:br>
            <a:r>
              <a:rPr lang="en-IN" dirty="0"/>
              <a:t>s2 = Student()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s1.show()</a:t>
            </a:r>
            <a:br>
              <a:rPr lang="en-IN" dirty="0"/>
            </a:br>
            <a:r>
              <a:rPr lang="en-IN" dirty="0"/>
              <a:t>s2.show()</a:t>
            </a:r>
          </a:p>
        </p:txBody>
      </p:sp>
    </p:spTree>
    <p:extLst>
      <p:ext uri="{BB962C8B-B14F-4D97-AF65-F5344CB8AC3E}">
        <p14:creationId xmlns:p14="http://schemas.microsoft.com/office/powerpoint/2010/main" val="15614717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FD432-7516-A556-1D21-03A34AED8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433AB3-1FDD-993A-880D-31A90353F7F2}"/>
              </a:ext>
            </a:extLst>
          </p:cNvPr>
          <p:cNvSpPr txBox="1"/>
          <p:nvPr/>
        </p:nvSpPr>
        <p:spPr>
          <a:xfrm>
            <a:off x="0" y="0"/>
            <a:ext cx="4590662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The </a:t>
            </a:r>
            <a:r>
              <a:rPr lang="en-IN" sz="3200" b="1" dirty="0"/>
              <a:t>self</a:t>
            </a:r>
            <a:r>
              <a:rPr lang="en-IN" sz="2800" b="1" dirty="0"/>
              <a:t> Parameter</a:t>
            </a:r>
            <a:endParaRPr lang="en-IN" sz="2800" dirty="0"/>
          </a:p>
          <a:p>
            <a:r>
              <a:rPr lang="en-IN" sz="2400" b="1" dirty="0"/>
              <a:t>What is self?</a:t>
            </a:r>
          </a:p>
          <a:p>
            <a:r>
              <a:rPr lang="en-IN" sz="2400" dirty="0"/>
              <a:t>self represents the </a:t>
            </a:r>
            <a:r>
              <a:rPr lang="en-IN" sz="2400" b="1" dirty="0"/>
              <a:t>current object instance</a:t>
            </a:r>
            <a:r>
              <a:rPr lang="en-IN" sz="2400" dirty="0"/>
              <a:t>.</a:t>
            </a:r>
          </a:p>
          <a:p>
            <a:r>
              <a:rPr lang="en-IN" sz="2400" dirty="0"/>
              <a:t>It allows the object to access:</a:t>
            </a:r>
          </a:p>
          <a:p>
            <a:r>
              <a:rPr lang="en-IN" sz="2400" dirty="0"/>
              <a:t>its attributes</a:t>
            </a:r>
          </a:p>
          <a:p>
            <a:r>
              <a:rPr lang="en-IN" sz="2400" dirty="0"/>
              <a:t>its methods</a:t>
            </a:r>
          </a:p>
          <a:p>
            <a:r>
              <a:rPr lang="en-IN" sz="2400" b="1" dirty="0"/>
              <a:t>Why self</a:t>
            </a:r>
            <a:r>
              <a:rPr lang="en-IN" sz="3200" b="1" dirty="0"/>
              <a:t> </a:t>
            </a:r>
            <a:r>
              <a:rPr lang="en-IN" sz="2400" b="1" dirty="0"/>
              <a:t>is Required</a:t>
            </a:r>
          </a:p>
          <a:p>
            <a:r>
              <a:rPr lang="en-IN" sz="2400" dirty="0"/>
              <a:t>Example</a:t>
            </a:r>
          </a:p>
          <a:p>
            <a:r>
              <a:rPr lang="en-IN" dirty="0"/>
              <a:t>class Test: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def show(self):</a:t>
            </a:r>
            <a:br>
              <a:rPr lang="en-IN" dirty="0"/>
            </a:br>
            <a:r>
              <a:rPr lang="en-IN" dirty="0"/>
              <a:t>        print("Hello")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 = Test()</a:t>
            </a:r>
            <a:br>
              <a:rPr lang="en-IN" dirty="0"/>
            </a:br>
            <a:r>
              <a:rPr lang="en-IN" dirty="0" err="1"/>
              <a:t>t.show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sz="2400" dirty="0"/>
              <a:t>Python internally converts:</a:t>
            </a:r>
          </a:p>
          <a:p>
            <a:r>
              <a:rPr lang="en-IN" dirty="0" err="1"/>
              <a:t>Test.show</a:t>
            </a:r>
            <a:r>
              <a:rPr lang="en-IN" dirty="0"/>
              <a:t>(t)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BB2094-6767-AE92-CFD1-3175AC8D4B51}"/>
              </a:ext>
            </a:extLst>
          </p:cNvPr>
          <p:cNvSpPr txBox="1"/>
          <p:nvPr/>
        </p:nvSpPr>
        <p:spPr>
          <a:xfrm>
            <a:off x="4589106" y="81177"/>
            <a:ext cx="354563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— Accessing Object Data</a:t>
            </a:r>
          </a:p>
          <a:p>
            <a:r>
              <a:rPr lang="en-US" dirty="0"/>
              <a:t>class Student: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def </a:t>
            </a:r>
            <a:r>
              <a:rPr lang="en-US" dirty="0" err="1"/>
              <a:t>setname</a:t>
            </a:r>
            <a:r>
              <a:rPr lang="en-US" dirty="0"/>
              <a:t>(self, name):</a:t>
            </a:r>
            <a:br>
              <a:rPr lang="en-US" dirty="0"/>
            </a:br>
            <a:r>
              <a:rPr lang="en-US" dirty="0"/>
              <a:t>        self.name = name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def show(self):</a:t>
            </a:r>
            <a:br>
              <a:rPr lang="en-US" dirty="0"/>
            </a:br>
            <a:r>
              <a:rPr lang="en-US" dirty="0"/>
              <a:t>        print(self.name)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 = Student()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s.setname</a:t>
            </a:r>
            <a:r>
              <a:rPr lang="en-US" dirty="0"/>
              <a:t>("Mukund")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s.show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r>
              <a:rPr lang="en-US" dirty="0"/>
              <a:t>Mukund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5A0C9E-8264-557A-AA65-4A14D9100775}"/>
              </a:ext>
            </a:extLst>
          </p:cNvPr>
          <p:cNvSpPr txBox="1"/>
          <p:nvPr/>
        </p:nvSpPr>
        <p:spPr>
          <a:xfrm>
            <a:off x="7921690" y="81177"/>
            <a:ext cx="35456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What is an Object?</a:t>
            </a:r>
          </a:p>
          <a:p>
            <a:r>
              <a:rPr lang="en-IN" dirty="0"/>
              <a:t>An </a:t>
            </a:r>
            <a:r>
              <a:rPr lang="en-IN" b="1" dirty="0"/>
              <a:t>object is an instance of a class</a:t>
            </a:r>
            <a:r>
              <a:rPr lang="en-IN" dirty="0"/>
              <a:t>.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s = Student()</a:t>
            </a:r>
          </a:p>
          <a:p>
            <a:endParaRPr lang="en-IN" dirty="0"/>
          </a:p>
          <a:p>
            <a:r>
              <a:rPr lang="en-IN" b="1" dirty="0"/>
              <a:t>Example 1 — Multiple Objects</a:t>
            </a:r>
          </a:p>
          <a:p>
            <a:r>
              <a:rPr lang="en-IN" dirty="0"/>
              <a:t>class Student: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def show(self):</a:t>
            </a:r>
            <a:br>
              <a:rPr lang="en-IN" dirty="0"/>
            </a:br>
            <a:r>
              <a:rPr lang="en-IN" dirty="0"/>
              <a:t>        print("Student object")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s1 = Student()</a:t>
            </a:r>
            <a:br>
              <a:rPr lang="en-IN" dirty="0"/>
            </a:br>
            <a:r>
              <a:rPr lang="en-IN" dirty="0"/>
              <a:t>s2 = Student()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s1.show()</a:t>
            </a:r>
            <a:br>
              <a:rPr lang="en-IN" dirty="0"/>
            </a:br>
            <a:r>
              <a:rPr lang="en-IN" dirty="0"/>
              <a:t>s2.show()</a:t>
            </a:r>
          </a:p>
        </p:txBody>
      </p:sp>
    </p:spTree>
    <p:extLst>
      <p:ext uri="{BB962C8B-B14F-4D97-AF65-F5344CB8AC3E}">
        <p14:creationId xmlns:p14="http://schemas.microsoft.com/office/powerpoint/2010/main" val="39400854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2ED94-7847-E6B5-718C-6FBE7DBAC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930C94-31B4-7B61-9E58-2E6641405BB8}"/>
              </a:ext>
            </a:extLst>
          </p:cNvPr>
          <p:cNvSpPr txBox="1"/>
          <p:nvPr/>
        </p:nvSpPr>
        <p:spPr>
          <a:xfrm>
            <a:off x="0" y="0"/>
            <a:ext cx="4590662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Constructor (__</a:t>
            </a:r>
            <a:r>
              <a:rPr lang="en-IN" sz="2400" b="1" dirty="0" err="1"/>
              <a:t>init</a:t>
            </a:r>
            <a:r>
              <a:rPr lang="en-IN" sz="2400" b="1" dirty="0"/>
              <a:t>__ Method)</a:t>
            </a:r>
          </a:p>
          <a:p>
            <a:endParaRPr lang="en-IN" sz="2400" dirty="0"/>
          </a:p>
          <a:p>
            <a:r>
              <a:rPr lang="en-IN" b="1" dirty="0"/>
              <a:t>What is a Constructor?</a:t>
            </a:r>
          </a:p>
          <a:p>
            <a:r>
              <a:rPr lang="en-IN" dirty="0"/>
              <a:t>A </a:t>
            </a:r>
            <a:r>
              <a:rPr lang="en-IN" b="1" dirty="0"/>
              <a:t>constructor is a special method that runs automatically when an object is created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In Python: __</a:t>
            </a:r>
            <a:r>
              <a:rPr lang="en-IN" dirty="0" err="1"/>
              <a:t>init</a:t>
            </a:r>
            <a:r>
              <a:rPr lang="en-IN" dirty="0"/>
              <a:t>__()</a:t>
            </a:r>
          </a:p>
          <a:p>
            <a:r>
              <a:rPr lang="en-IN" b="1" dirty="0"/>
              <a:t>Syntax</a:t>
            </a:r>
          </a:p>
          <a:p>
            <a:r>
              <a:rPr lang="en-IN" dirty="0"/>
              <a:t>class </a:t>
            </a:r>
            <a:r>
              <a:rPr lang="en-IN" dirty="0" err="1"/>
              <a:t>ClassName</a:t>
            </a:r>
            <a:r>
              <a:rPr lang="en-IN" dirty="0"/>
              <a:t>: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def __</a:t>
            </a:r>
            <a:r>
              <a:rPr lang="en-IN" dirty="0" err="1"/>
              <a:t>init</a:t>
            </a:r>
            <a:r>
              <a:rPr lang="en-IN" dirty="0"/>
              <a:t>__(self):</a:t>
            </a:r>
            <a:br>
              <a:rPr lang="en-IN" dirty="0"/>
            </a:br>
            <a:r>
              <a:rPr lang="en-IN" dirty="0"/>
              <a:t>        statements</a:t>
            </a:r>
          </a:p>
          <a:p>
            <a:endParaRPr lang="en-IN" dirty="0"/>
          </a:p>
          <a:p>
            <a:r>
              <a:rPr lang="en-IN" b="1" dirty="0"/>
              <a:t>Example 1 — Simple Constructor</a:t>
            </a:r>
          </a:p>
          <a:p>
            <a:r>
              <a:rPr lang="en-IN" dirty="0"/>
              <a:t>class Student: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def __</a:t>
            </a:r>
            <a:r>
              <a:rPr lang="en-IN" dirty="0" err="1"/>
              <a:t>init</a:t>
            </a:r>
            <a:r>
              <a:rPr lang="en-IN" dirty="0"/>
              <a:t>__(self):</a:t>
            </a:r>
            <a:br>
              <a:rPr lang="en-IN" dirty="0"/>
            </a:br>
            <a:r>
              <a:rPr lang="en-IN" dirty="0"/>
              <a:t>        print("Object created")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 = Student()</a:t>
            </a:r>
          </a:p>
          <a:p>
            <a:r>
              <a:rPr lang="en-IN" dirty="0"/>
              <a:t>Output:</a:t>
            </a:r>
          </a:p>
          <a:p>
            <a:r>
              <a:rPr lang="en-IN" dirty="0"/>
              <a:t>Object created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920E65-5E5E-F0D6-848F-A1ADEE29748B}"/>
              </a:ext>
            </a:extLst>
          </p:cNvPr>
          <p:cNvSpPr txBox="1"/>
          <p:nvPr/>
        </p:nvSpPr>
        <p:spPr>
          <a:xfrm>
            <a:off x="4589106" y="81177"/>
            <a:ext cx="35456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Example 2 — Constructor with Parameters</a:t>
            </a:r>
          </a:p>
          <a:p>
            <a:r>
              <a:rPr lang="en-IN" dirty="0"/>
              <a:t>class Student: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def __</a:t>
            </a:r>
            <a:r>
              <a:rPr lang="en-IN" dirty="0" err="1"/>
              <a:t>init</a:t>
            </a:r>
            <a:r>
              <a:rPr lang="en-IN" dirty="0"/>
              <a:t>__(self, name):</a:t>
            </a:r>
            <a:br>
              <a:rPr lang="en-IN" dirty="0"/>
            </a:br>
            <a:r>
              <a:rPr lang="en-IN" dirty="0"/>
              <a:t>        self.name = name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def display(self):</a:t>
            </a:r>
            <a:br>
              <a:rPr lang="en-IN" dirty="0"/>
            </a:br>
            <a:r>
              <a:rPr lang="en-IN" dirty="0"/>
              <a:t>        print(self.name)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 = Student("Mukund")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s.display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Output:</a:t>
            </a:r>
          </a:p>
          <a:p>
            <a:r>
              <a:rPr lang="en-IN" dirty="0"/>
              <a:t>Mukund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835074-D10D-E24A-768E-02432FEBCE74}"/>
              </a:ext>
            </a:extLst>
          </p:cNvPr>
          <p:cNvSpPr txBox="1"/>
          <p:nvPr/>
        </p:nvSpPr>
        <p:spPr>
          <a:xfrm>
            <a:off x="7921690" y="81177"/>
            <a:ext cx="35456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3 — Rectangle Area</a:t>
            </a:r>
          </a:p>
          <a:p>
            <a:r>
              <a:rPr lang="en-US" dirty="0"/>
              <a:t>class Rectangle: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l, w):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self.l</a:t>
            </a:r>
            <a:r>
              <a:rPr lang="en-US" dirty="0"/>
              <a:t> = l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self.w</a:t>
            </a:r>
            <a:r>
              <a:rPr lang="en-US" dirty="0"/>
              <a:t> = w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def area(self):</a:t>
            </a:r>
            <a:br>
              <a:rPr lang="en-US" dirty="0"/>
            </a:br>
            <a:r>
              <a:rPr lang="en-US" dirty="0"/>
              <a:t>        return </a:t>
            </a:r>
            <a:r>
              <a:rPr lang="en-US" dirty="0" err="1"/>
              <a:t>self.l</a:t>
            </a:r>
            <a:r>
              <a:rPr lang="en-US" dirty="0"/>
              <a:t> * </a:t>
            </a:r>
            <a:r>
              <a:rPr lang="en-US" dirty="0" err="1"/>
              <a:t>self.w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 = Rectangle(10,5)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r.area</a:t>
            </a:r>
            <a:r>
              <a:rPr lang="en-US" dirty="0"/>
              <a:t>())</a:t>
            </a:r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r>
              <a:rPr lang="en-US" dirty="0"/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9509897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F26E3-69C9-C7ED-B273-B354D8ECD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CC9E4D-D169-1940-4D34-A98C6550102B}"/>
              </a:ext>
            </a:extLst>
          </p:cNvPr>
          <p:cNvSpPr txBox="1"/>
          <p:nvPr/>
        </p:nvSpPr>
        <p:spPr>
          <a:xfrm>
            <a:off x="0" y="0"/>
            <a:ext cx="4590662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Inheritance</a:t>
            </a:r>
            <a:endParaRPr lang="en-IN" sz="2400" dirty="0"/>
          </a:p>
          <a:p>
            <a:r>
              <a:rPr lang="en-IN" sz="2000" b="1" dirty="0"/>
              <a:t>What is Inheritance?</a:t>
            </a:r>
          </a:p>
          <a:p>
            <a:r>
              <a:rPr lang="en-IN" sz="2000" dirty="0"/>
              <a:t>Inheritance allows one class to </a:t>
            </a:r>
            <a:r>
              <a:rPr lang="en-IN" sz="2000" b="1" dirty="0"/>
              <a:t>reuse properties of another class</a:t>
            </a:r>
            <a:r>
              <a:rPr lang="en-IN" sz="2000" dirty="0"/>
              <a:t>.</a:t>
            </a:r>
          </a:p>
          <a:p>
            <a:r>
              <a:rPr lang="en-IN" sz="2000" b="1" dirty="0"/>
              <a:t>Benefits</a:t>
            </a:r>
          </a:p>
          <a:p>
            <a:r>
              <a:rPr lang="en-IN" sz="2000" dirty="0"/>
              <a:t>Code reuse</a:t>
            </a:r>
          </a:p>
          <a:p>
            <a:r>
              <a:rPr lang="en-IN" sz="2000" dirty="0"/>
              <a:t>Less duplication</a:t>
            </a:r>
          </a:p>
          <a:p>
            <a:r>
              <a:rPr lang="en-IN" sz="2000" dirty="0"/>
              <a:t>Hierarchical structure</a:t>
            </a:r>
          </a:p>
          <a:p>
            <a:r>
              <a:rPr lang="en-IN" sz="2000" b="1" dirty="0"/>
              <a:t>Syntax</a:t>
            </a:r>
          </a:p>
          <a:p>
            <a:r>
              <a:rPr lang="en-IN" sz="2000" dirty="0"/>
              <a:t>class </a:t>
            </a:r>
            <a:r>
              <a:rPr lang="en-IN" sz="2000" dirty="0" err="1"/>
              <a:t>ChildClass</a:t>
            </a:r>
            <a:r>
              <a:rPr lang="en-IN" sz="2000" dirty="0"/>
              <a:t>(</a:t>
            </a:r>
            <a:r>
              <a:rPr lang="en-IN" sz="2000" dirty="0" err="1"/>
              <a:t>ParentClass</a:t>
            </a:r>
            <a:r>
              <a:rPr lang="en-IN" sz="2000" dirty="0"/>
              <a:t>):</a:t>
            </a:r>
          </a:p>
          <a:p>
            <a:endParaRPr lang="en-IN" sz="2000" dirty="0"/>
          </a:p>
          <a:p>
            <a:r>
              <a:rPr lang="en-IN" sz="2000" b="1" dirty="0"/>
              <a:t>Example 1 — Simple Inheritance</a:t>
            </a:r>
          </a:p>
          <a:p>
            <a:r>
              <a:rPr lang="en-IN" sz="2000" dirty="0"/>
              <a:t>class Animal:</a:t>
            </a:r>
            <a:br>
              <a:rPr lang="en-IN" sz="2000" dirty="0"/>
            </a:br>
            <a:r>
              <a:rPr lang="en-IN" sz="2000" dirty="0"/>
              <a:t>    def speak(self):</a:t>
            </a:r>
            <a:br>
              <a:rPr lang="en-IN" sz="2000" dirty="0"/>
            </a:br>
            <a:r>
              <a:rPr lang="en-IN" sz="2000" dirty="0"/>
              <a:t>        print("Animal sound")</a:t>
            </a:r>
            <a:br>
              <a:rPr lang="en-IN" sz="2000" dirty="0"/>
            </a:br>
            <a:r>
              <a:rPr lang="en-IN" sz="2000" dirty="0"/>
              <a:t>class Dog(Animal):</a:t>
            </a:r>
            <a:br>
              <a:rPr lang="en-IN" sz="2000" dirty="0"/>
            </a:br>
            <a:r>
              <a:rPr lang="en-IN" sz="2000" dirty="0"/>
              <a:t>    pass</a:t>
            </a:r>
            <a:br>
              <a:rPr lang="en-IN" sz="2000" dirty="0"/>
            </a:br>
            <a:r>
              <a:rPr lang="en-IN" sz="2000" dirty="0"/>
              <a:t>d = Dog()</a:t>
            </a:r>
            <a:br>
              <a:rPr lang="en-IN" sz="2000" dirty="0"/>
            </a:br>
            <a:r>
              <a:rPr lang="en-IN" sz="2000" dirty="0" err="1"/>
              <a:t>d.speak</a:t>
            </a:r>
            <a:r>
              <a:rPr lang="en-IN" sz="2000" dirty="0"/>
              <a:t>()</a:t>
            </a:r>
          </a:p>
          <a:p>
            <a:endParaRPr lang="en-IN" sz="2000" dirty="0"/>
          </a:p>
          <a:p>
            <a:r>
              <a:rPr lang="en-IN" sz="2000" dirty="0"/>
              <a:t>Output:</a:t>
            </a:r>
          </a:p>
          <a:p>
            <a:r>
              <a:rPr lang="en-IN" sz="2000" dirty="0"/>
              <a:t>Animal sound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B9F08B-D76A-569C-E8E3-EFE2B15C89FE}"/>
              </a:ext>
            </a:extLst>
          </p:cNvPr>
          <p:cNvSpPr txBox="1"/>
          <p:nvPr/>
        </p:nvSpPr>
        <p:spPr>
          <a:xfrm>
            <a:off x="4589106" y="81177"/>
            <a:ext cx="354563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2 — Multi-Level Inheritance</a:t>
            </a:r>
          </a:p>
          <a:p>
            <a:r>
              <a:rPr lang="en-US" dirty="0"/>
              <a:t>class A:</a:t>
            </a:r>
            <a:br>
              <a:rPr lang="en-US" dirty="0"/>
            </a:br>
            <a:r>
              <a:rPr lang="en-US" dirty="0"/>
              <a:t>    def </a:t>
            </a:r>
            <a:r>
              <a:rPr lang="en-US" dirty="0" err="1"/>
              <a:t>showA</a:t>
            </a:r>
            <a:r>
              <a:rPr lang="en-US" dirty="0"/>
              <a:t>(self):</a:t>
            </a:r>
            <a:br>
              <a:rPr lang="en-US" dirty="0"/>
            </a:br>
            <a:r>
              <a:rPr lang="en-US" dirty="0"/>
              <a:t>        print("Class A")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 B(A):</a:t>
            </a:r>
            <a:br>
              <a:rPr lang="en-US" dirty="0"/>
            </a:br>
            <a:r>
              <a:rPr lang="en-US" dirty="0"/>
              <a:t>    def </a:t>
            </a:r>
            <a:r>
              <a:rPr lang="en-US" dirty="0" err="1"/>
              <a:t>showB</a:t>
            </a:r>
            <a:r>
              <a:rPr lang="en-US" dirty="0"/>
              <a:t>(self):</a:t>
            </a:r>
            <a:br>
              <a:rPr lang="en-US" dirty="0"/>
            </a:br>
            <a:r>
              <a:rPr lang="en-US" dirty="0"/>
              <a:t>        print("Class B")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 C(B):</a:t>
            </a:r>
            <a:br>
              <a:rPr lang="en-US" dirty="0"/>
            </a:br>
            <a:r>
              <a:rPr lang="en-US" dirty="0"/>
              <a:t>    def </a:t>
            </a:r>
            <a:r>
              <a:rPr lang="en-US" dirty="0" err="1"/>
              <a:t>showC</a:t>
            </a:r>
            <a:r>
              <a:rPr lang="en-US" dirty="0"/>
              <a:t>(self):</a:t>
            </a:r>
            <a:br>
              <a:rPr lang="en-US" dirty="0"/>
            </a:br>
            <a:r>
              <a:rPr lang="en-US" dirty="0"/>
              <a:t>        print("Class C")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obj = C()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obj.showA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 err="1"/>
              <a:t>obj.showB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 err="1"/>
              <a:t>obj.showC</a:t>
            </a:r>
            <a:r>
              <a:rPr lang="en-US" dirty="0"/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F57566-BD6E-BC57-ECB2-4D51C9A8781F}"/>
              </a:ext>
            </a:extLst>
          </p:cNvPr>
          <p:cNvSpPr txBox="1"/>
          <p:nvPr/>
        </p:nvSpPr>
        <p:spPr>
          <a:xfrm>
            <a:off x="7921690" y="81177"/>
            <a:ext cx="354563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Method Overriding</a:t>
            </a:r>
          </a:p>
          <a:p>
            <a:r>
              <a:rPr lang="en-IN" dirty="0"/>
              <a:t>Child class redefines parent method.</a:t>
            </a:r>
          </a:p>
          <a:p>
            <a:endParaRPr lang="en-IN" dirty="0"/>
          </a:p>
          <a:p>
            <a:r>
              <a:rPr lang="en-IN" b="1" dirty="0"/>
              <a:t>Example</a:t>
            </a:r>
          </a:p>
          <a:p>
            <a:r>
              <a:rPr lang="en-IN" dirty="0"/>
              <a:t>class Animal: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def sound(self):</a:t>
            </a:r>
            <a:br>
              <a:rPr lang="en-IN" dirty="0"/>
            </a:br>
            <a:r>
              <a:rPr lang="en-IN" dirty="0"/>
              <a:t>        print("Animal sound")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class Dog(Animal):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def sound(self):</a:t>
            </a:r>
            <a:br>
              <a:rPr lang="en-IN" dirty="0"/>
            </a:br>
            <a:r>
              <a:rPr lang="en-IN" dirty="0"/>
              <a:t>        print("Dog barks")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 = Dog()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d.sound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Output:</a:t>
            </a:r>
          </a:p>
          <a:p>
            <a:r>
              <a:rPr lang="en-IN" dirty="0"/>
              <a:t>Dog barks</a:t>
            </a:r>
          </a:p>
        </p:txBody>
      </p:sp>
    </p:spTree>
    <p:extLst>
      <p:ext uri="{BB962C8B-B14F-4D97-AF65-F5344CB8AC3E}">
        <p14:creationId xmlns:p14="http://schemas.microsoft.com/office/powerpoint/2010/main" val="9040304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04C7-82BD-7974-8A8D-987D5658E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7395"/>
            <a:ext cx="10515600" cy="1325563"/>
          </a:xfrm>
        </p:spPr>
        <p:txBody>
          <a:bodyPr/>
          <a:lstStyle/>
          <a:p>
            <a:r>
              <a:rPr lang="en-US" dirty="0"/>
              <a:t>Thank You…!</a:t>
            </a:r>
          </a:p>
        </p:txBody>
      </p:sp>
    </p:spTree>
    <p:extLst>
      <p:ext uri="{BB962C8B-B14F-4D97-AF65-F5344CB8AC3E}">
        <p14:creationId xmlns:p14="http://schemas.microsoft.com/office/powerpoint/2010/main" val="3716601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4199</Words>
  <Application>Microsoft Office PowerPoint</Application>
  <PresentationFormat>Widescreen</PresentationFormat>
  <Paragraphs>796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Wingdings</vt:lpstr>
      <vt:lpstr>Office Theme</vt:lpstr>
      <vt:lpstr>Linux Shell Scripting &amp; Python </vt:lpstr>
      <vt:lpstr>Introduction to Python</vt:lpstr>
      <vt:lpstr>Key Features of Python </vt:lpstr>
      <vt:lpstr>PowerPoint Presentation</vt:lpstr>
      <vt:lpstr>Basics of Python Programming</vt:lpstr>
      <vt:lpstr>PowerPoint Presentation</vt:lpstr>
      <vt:lpstr>PowerPoint Presentation</vt:lpstr>
      <vt:lpstr>PowerPoint Presentation</vt:lpstr>
      <vt:lpstr>PowerPoint Presentation</vt:lpstr>
      <vt:lpstr>Print Function </vt:lpstr>
      <vt:lpstr>Literals in Python</vt:lpstr>
      <vt:lpstr>Quoting Rules in Python</vt:lpstr>
      <vt:lpstr>Arithmetic and Assignment Operators </vt:lpstr>
      <vt:lpstr>Assignment Operators</vt:lpstr>
      <vt:lpstr>Comparison and Logical Operators</vt:lpstr>
      <vt:lpstr>Identity, Membership and Bitwise Operators</vt:lpstr>
      <vt:lpstr>PowerPoint Presentation</vt:lpstr>
      <vt:lpstr>Flow Control in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Python Functions &amp; Regular Expressions</vt:lpstr>
      <vt:lpstr>PowerPoint Presentation</vt:lpstr>
      <vt:lpstr>PowerPoint Presentation</vt:lpstr>
      <vt:lpstr>Introduction to Regular Expressions (Regex)</vt:lpstr>
      <vt:lpstr>PowerPoint Presentation</vt:lpstr>
      <vt:lpstr>PowerPoint Presentation</vt:lpstr>
      <vt:lpstr>PowerPoint Presentation</vt:lpstr>
      <vt:lpstr>Object-Oriented Programming (OOP)</vt:lpstr>
      <vt:lpstr>PowerPoint Presentation</vt:lpstr>
      <vt:lpstr>PowerPoint Presentation</vt:lpstr>
      <vt:lpstr>PowerPoint Presentation</vt:lpstr>
      <vt:lpstr>PowerPoint Presentation</vt:lpstr>
      <vt:lpstr>Thank You…!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Sujan Waghmare</dc:creator>
  <cp:lastModifiedBy>Sujan Waghmare</cp:lastModifiedBy>
  <cp:revision>33</cp:revision>
  <dcterms:created xsi:type="dcterms:W3CDTF">2026-03-08T08:07:06Z</dcterms:created>
  <dcterms:modified xsi:type="dcterms:W3CDTF">2026-03-08T11:23:56Z</dcterms:modified>
</cp:coreProperties>
</file>