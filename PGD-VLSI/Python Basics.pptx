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0" r:id="rId4"/>
    <p:sldId id="258" r:id="rId5"/>
    <p:sldId id="259" r:id="rId6"/>
    <p:sldId id="292" r:id="rId7"/>
    <p:sldId id="261" r:id="rId8"/>
    <p:sldId id="262" r:id="rId9"/>
    <p:sldId id="275" r:id="rId10"/>
    <p:sldId id="276" r:id="rId11"/>
    <p:sldId id="277" r:id="rId12"/>
    <p:sldId id="278" r:id="rId13"/>
    <p:sldId id="279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3" r:id="rId24"/>
    <p:sldId id="274" r:id="rId25"/>
    <p:sldId id="272" r:id="rId26"/>
    <p:sldId id="281" r:id="rId27"/>
    <p:sldId id="282" r:id="rId28"/>
    <p:sldId id="283" r:id="rId29"/>
    <p:sldId id="284" r:id="rId30"/>
    <p:sldId id="280" r:id="rId31"/>
    <p:sldId id="285" r:id="rId32"/>
    <p:sldId id="286" r:id="rId33"/>
    <p:sldId id="287" r:id="rId34"/>
    <p:sldId id="288" r:id="rId35"/>
    <p:sldId id="289" r:id="rId36"/>
    <p:sldId id="290" r:id="rId37"/>
    <p:sldId id="291" r:id="rId3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E3DB32D-FB28-481F-8699-8F5CA0E16D8C}" v="3" dt="2026-03-09T06:13:59.88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2" d="100"/>
          <a:sy n="102" d="100"/>
        </p:scale>
        <p:origin x="126" y="4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patel rakesh" userId="74ee47eba30fd748" providerId="LiveId" clId="{6D32CA86-25F8-411B-B6F7-5DE79421E0F4}"/>
    <pc:docChg chg="custSel addSld modSld sldOrd">
      <pc:chgData name="patel rakesh" userId="74ee47eba30fd748" providerId="LiveId" clId="{6D32CA86-25F8-411B-B6F7-5DE79421E0F4}" dt="2026-03-09T06:16:23.640" v="39" actId="403"/>
      <pc:docMkLst>
        <pc:docMk/>
      </pc:docMkLst>
      <pc:sldChg chg="modSp mod">
        <pc:chgData name="patel rakesh" userId="74ee47eba30fd748" providerId="LiveId" clId="{6D32CA86-25F8-411B-B6F7-5DE79421E0F4}" dt="2026-03-09T06:04:03.017" v="0" actId="1076"/>
        <pc:sldMkLst>
          <pc:docMk/>
          <pc:sldMk cId="1279260344" sldId="258"/>
        </pc:sldMkLst>
        <pc:spChg chg="mod">
          <ac:chgData name="patel rakesh" userId="74ee47eba30fd748" providerId="LiveId" clId="{6D32CA86-25F8-411B-B6F7-5DE79421E0F4}" dt="2026-03-09T06:04:03.017" v="0" actId="1076"/>
          <ac:spMkLst>
            <pc:docMk/>
            <pc:sldMk cId="1279260344" sldId="258"/>
            <ac:spMk id="2" creationId="{7EFA85F4-1035-96EF-77F2-D5B5CE925494}"/>
          </ac:spMkLst>
        </pc:spChg>
      </pc:sldChg>
      <pc:sldChg chg="ord">
        <pc:chgData name="patel rakesh" userId="74ee47eba30fd748" providerId="LiveId" clId="{6D32CA86-25F8-411B-B6F7-5DE79421E0F4}" dt="2026-03-09T06:06:47.380" v="8"/>
        <pc:sldMkLst>
          <pc:docMk/>
          <pc:sldMk cId="3879108232" sldId="259"/>
        </pc:sldMkLst>
      </pc:sldChg>
      <pc:sldChg chg="ord">
        <pc:chgData name="patel rakesh" userId="74ee47eba30fd748" providerId="LiveId" clId="{6D32CA86-25F8-411B-B6F7-5DE79421E0F4}" dt="2026-03-09T06:06:04.846" v="2"/>
        <pc:sldMkLst>
          <pc:docMk/>
          <pc:sldMk cId="1717536132" sldId="260"/>
        </pc:sldMkLst>
      </pc:sldChg>
      <pc:sldChg chg="ord">
        <pc:chgData name="patel rakesh" userId="74ee47eba30fd748" providerId="LiveId" clId="{6D32CA86-25F8-411B-B6F7-5DE79421E0F4}" dt="2026-03-09T06:08:12.782" v="10"/>
        <pc:sldMkLst>
          <pc:docMk/>
          <pc:sldMk cId="620599440" sldId="261"/>
        </pc:sldMkLst>
      </pc:sldChg>
      <pc:sldChg chg="ord">
        <pc:chgData name="patel rakesh" userId="74ee47eba30fd748" providerId="LiveId" clId="{6D32CA86-25F8-411B-B6F7-5DE79421E0F4}" dt="2026-03-09T06:08:18.502" v="12"/>
        <pc:sldMkLst>
          <pc:docMk/>
          <pc:sldMk cId="831945954" sldId="262"/>
        </pc:sldMkLst>
      </pc:sldChg>
      <pc:sldChg chg="modSp mod">
        <pc:chgData name="patel rakesh" userId="74ee47eba30fd748" providerId="LiveId" clId="{6D32CA86-25F8-411B-B6F7-5DE79421E0F4}" dt="2026-03-09T06:16:23.640" v="39" actId="403"/>
        <pc:sldMkLst>
          <pc:docMk/>
          <pc:sldMk cId="4062249579" sldId="278"/>
        </pc:sldMkLst>
        <pc:spChg chg="mod">
          <ac:chgData name="patel rakesh" userId="74ee47eba30fd748" providerId="LiveId" clId="{6D32CA86-25F8-411B-B6F7-5DE79421E0F4}" dt="2026-03-09T06:16:23.640" v="39" actId="403"/>
          <ac:spMkLst>
            <pc:docMk/>
            <pc:sldMk cId="4062249579" sldId="278"/>
            <ac:spMk id="3" creationId="{7BEB8A11-AE35-8764-D46A-57B6CC5A284E}"/>
          </ac:spMkLst>
        </pc:spChg>
      </pc:sldChg>
      <pc:sldChg chg="modSp new mod">
        <pc:chgData name="patel rakesh" userId="74ee47eba30fd748" providerId="LiveId" clId="{6D32CA86-25F8-411B-B6F7-5DE79421E0F4}" dt="2026-03-09T06:15:15.335" v="37" actId="1076"/>
        <pc:sldMkLst>
          <pc:docMk/>
          <pc:sldMk cId="4142221226" sldId="292"/>
        </pc:sldMkLst>
        <pc:spChg chg="mod">
          <ac:chgData name="patel rakesh" userId="74ee47eba30fd748" providerId="LiveId" clId="{6D32CA86-25F8-411B-B6F7-5DE79421E0F4}" dt="2026-03-09T06:15:07.784" v="36" actId="1076"/>
          <ac:spMkLst>
            <pc:docMk/>
            <pc:sldMk cId="4142221226" sldId="292"/>
            <ac:spMk id="2" creationId="{D090DA32-1436-8247-7EAC-BE7C4183FA36}"/>
          </ac:spMkLst>
        </pc:spChg>
        <pc:spChg chg="mod">
          <ac:chgData name="patel rakesh" userId="74ee47eba30fd748" providerId="LiveId" clId="{6D32CA86-25F8-411B-B6F7-5DE79421E0F4}" dt="2026-03-09T06:15:15.335" v="37" actId="1076"/>
          <ac:spMkLst>
            <pc:docMk/>
            <pc:sldMk cId="4142221226" sldId="292"/>
            <ac:spMk id="3" creationId="{8AE17D7E-1C5D-F3BA-477F-50C4FD85F580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EE1A45-9F08-B0AD-EE60-AC9593B24E0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95EF721-C766-4E34-0DFD-840AF6801EA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96130C-5225-8E83-4944-E3FBF48E9F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89C2E6-F0A4-49BE-90C2-6ECD7DD4BE1A}" type="datetimeFigureOut">
              <a:rPr lang="en-US" smtClean="0"/>
              <a:t>3/9/2026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3A50BFB-6FCF-6491-E9B8-4E4675A76F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DF51AD-AF15-ED82-4067-33E18A6B12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D857F8-27BF-4F11-A62E-4A700ADF30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14788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177F71-9B95-2B34-3B92-4D819F8575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8E4107-775F-EB1A-29D9-9BF2326F45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62E162-0DD9-9BB1-D46B-022D1A9D42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89C2E6-F0A4-49BE-90C2-6ECD7DD4BE1A}" type="datetimeFigureOut">
              <a:rPr lang="en-US" smtClean="0"/>
              <a:t>3/9/2026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7CFF8EB-9A67-4209-132B-46872192D3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3036F0-3289-A8D6-8205-2F1E27D4BD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D857F8-27BF-4F11-A62E-4A700ADF30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26392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8840B6-4222-BD97-8433-81AB650AF3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B1939CC-3B3C-D9FE-9F04-039A928C095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D309CFB-561E-19AA-D448-419B6E50D0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89C2E6-F0A4-49BE-90C2-6ECD7DD4BE1A}" type="datetimeFigureOut">
              <a:rPr lang="en-US" smtClean="0"/>
              <a:t>3/9/2026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F8BD554-451A-B9F0-39AB-515288E33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C49F79-6158-04A0-37E0-EBB3BD01B6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D857F8-27BF-4F11-A62E-4A700ADF30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80091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52CA13-3203-3FCA-4A07-42759B50AD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D2287A-C8BF-DF47-EA22-9CCA66E56A7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A9A858B-5CD2-8D17-B844-BF0B59FD5D2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790DC49-D859-913C-21FB-AFD7CF324F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89C2E6-F0A4-49BE-90C2-6ECD7DD4BE1A}" type="datetimeFigureOut">
              <a:rPr lang="en-US" smtClean="0"/>
              <a:t>3/9/2026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0CAA27F-2FFE-E8CE-E75A-132466D36B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269CEA4-913A-4396-566D-66418BB8C1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D857F8-27BF-4F11-A62E-4A700ADF30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754524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0B9A62-CBAB-A316-1733-49B6944233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21E48A7-E9D7-E445-69EE-28CF17C5458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238B2FD-B075-6035-417F-E2AE331B202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99DD12F-7207-C513-D0A1-5EC6712FAC8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73187CE-C212-9BD6-3CCE-753CBC5D3C8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C6C9693-07D6-ECA7-7867-2D5D119DD6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89C2E6-F0A4-49BE-90C2-6ECD7DD4BE1A}" type="datetimeFigureOut">
              <a:rPr lang="en-US" smtClean="0"/>
              <a:t>3/9/2026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03E43CD-ECA4-4634-1915-5695E088C6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2E4DE6C-A5B3-678D-7954-84C5ED7509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D857F8-27BF-4F11-A62E-4A700ADF30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73036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25A785-31C8-8FD9-27CD-947EF549DC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3CCFABA-9871-DA2C-6EF9-9FAAA0A3DC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89C2E6-F0A4-49BE-90C2-6ECD7DD4BE1A}" type="datetimeFigureOut">
              <a:rPr lang="en-US" smtClean="0"/>
              <a:t>3/9/2026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2680728-7B89-432E-1246-FAE759EB24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14911D0-BC5B-D09A-8F43-A0D740F2B1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D857F8-27BF-4F11-A62E-4A700ADF30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860322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CF1C695-C4D5-9726-DC2C-8F6130049B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89C2E6-F0A4-49BE-90C2-6ECD7DD4BE1A}" type="datetimeFigureOut">
              <a:rPr lang="en-US" smtClean="0"/>
              <a:t>3/9/2026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FC21B7A-0C6E-DCAB-DD50-2A8AFBD0E9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E2D9231-84C9-4B74-3ADD-8A2C69D322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D857F8-27BF-4F11-A62E-4A700ADF30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728857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110FE1-517E-25C4-93F1-B50B6E82FD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486A1B-D55F-C53A-29DC-DB24DD3AFF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9CF4A39-7937-7D1B-76E3-CE2B0324263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954418A-7F9F-C4B1-16A5-C552C9D194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89C2E6-F0A4-49BE-90C2-6ECD7DD4BE1A}" type="datetimeFigureOut">
              <a:rPr lang="en-US" smtClean="0"/>
              <a:t>3/9/2026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86ECFD1-BFEF-8F7A-5C5C-5547DD3636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B8BD376-9C12-7130-36B3-361A8DEAD3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D857F8-27BF-4F11-A62E-4A700ADF30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55221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B38BFE-93DE-5D94-58D0-CD257DE075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828A4F6-BDB9-AEEB-DA96-DAD8E8FFC46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AE49DEF-4F73-111B-76AD-96127F9A1CE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1769BEF-219C-AD21-8EC7-6C2D9B2986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89C2E6-F0A4-49BE-90C2-6ECD7DD4BE1A}" type="datetimeFigureOut">
              <a:rPr lang="en-US" smtClean="0"/>
              <a:t>3/9/2026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CC44A96-D90F-EABC-C647-6FFB0305C2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820D919-8B71-50C7-6246-548D3ECAEA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D857F8-27BF-4F11-A62E-4A700ADF30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208722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4E79E5-0016-B830-9500-8782475E5E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D197045-AF62-0C5A-44C7-80C3348A9BC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CF98F2F-4290-EA55-4E13-8B877FAB72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89C2E6-F0A4-49BE-90C2-6ECD7DD4BE1A}" type="datetimeFigureOut">
              <a:rPr lang="en-US" smtClean="0"/>
              <a:t>3/9/2026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1BED07-ED2A-25EA-9087-7D885E5C1F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FFC23E5-6F8B-C22D-7885-463D130EAF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D857F8-27BF-4F11-A62E-4A700ADF30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135883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C567E20-6A8C-B9F4-D76E-5E6585E66ED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FA850F7-6D7D-3D24-5523-A0B9E25E005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8F7749E-E44C-A965-3ECA-7B0697CEAA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89C2E6-F0A4-49BE-90C2-6ECD7DD4BE1A}" type="datetimeFigureOut">
              <a:rPr lang="en-US" smtClean="0"/>
              <a:t>3/9/2026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80EFDC1-485B-A36E-D46E-AA77F82BC1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0C75336-2E9E-C03F-0368-ACB20F613E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D857F8-27BF-4F11-A62E-4A700ADF30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74558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F5A627A-E505-81C5-737A-4AE739CCC9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1AE6537-30F7-87EF-1EAE-9D0C400234E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25C36B7-601C-A590-8C2C-A4FE71909BA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289C2E6-F0A4-49BE-90C2-6ECD7DD4BE1A}" type="datetimeFigureOut">
              <a:rPr lang="en-US" smtClean="0"/>
              <a:t>3/9/2026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2A000B3-1006-33C2-76D3-839D20434F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57EDC95-AAA2-E24D-BFB5-D42F51D3AF6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CD857F8-27BF-4F11-A62E-4A700ADF30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09678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F8BAEB-0D66-C28A-876A-D962485E219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Linux Shell Scripting &amp; Python 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FE69C0B-B213-BA2E-AB7F-E9663A923D3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Mr. Mukund Waghmare, HPC Engineer, CDAC Noida</a:t>
            </a:r>
          </a:p>
        </p:txBody>
      </p:sp>
    </p:spTree>
    <p:extLst>
      <p:ext uri="{BB962C8B-B14F-4D97-AF65-F5344CB8AC3E}">
        <p14:creationId xmlns:p14="http://schemas.microsoft.com/office/powerpoint/2010/main" val="409267623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AFE32C-E1D8-9925-F813-074984AAF7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56"/>
            <a:ext cx="10515600" cy="868152"/>
          </a:xfrm>
        </p:spPr>
        <p:txBody>
          <a:bodyPr>
            <a:normAutofit/>
          </a:bodyPr>
          <a:lstStyle/>
          <a:p>
            <a:r>
              <a:rPr lang="en-US" dirty="0"/>
              <a:t>Introduction to Python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673692-5ADE-BEEC-646C-97B9CD0A5D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886408"/>
            <a:ext cx="10515600" cy="5682343"/>
          </a:xfrm>
        </p:spPr>
        <p:txBody>
          <a:bodyPr/>
          <a:lstStyle/>
          <a:p>
            <a:pPr marL="0" indent="0">
              <a:buNone/>
            </a:pPr>
            <a:r>
              <a:rPr lang="en-IN" b="1" dirty="0"/>
              <a:t>What is Python?</a:t>
            </a:r>
          </a:p>
          <a:p>
            <a:pPr marL="0" indent="0">
              <a:buNone/>
            </a:pPr>
            <a:r>
              <a:rPr lang="en-IN" b="1" dirty="0"/>
              <a:t>Definition</a:t>
            </a:r>
          </a:p>
          <a:p>
            <a:r>
              <a:rPr lang="en-IN" b="1" dirty="0"/>
              <a:t>Python</a:t>
            </a:r>
            <a:r>
              <a:rPr lang="en-IN" dirty="0"/>
              <a:t> is a </a:t>
            </a:r>
            <a:r>
              <a:rPr lang="en-IN" b="1" dirty="0"/>
              <a:t>high-level, interpreted, general-purpose programming language</a:t>
            </a:r>
            <a:r>
              <a:rPr lang="en-IN" dirty="0"/>
              <a:t> designed for readability, rapid development, and ease of use.</a:t>
            </a:r>
          </a:p>
          <a:p>
            <a:pPr marL="0" indent="0">
              <a:buNone/>
            </a:pPr>
            <a:r>
              <a:rPr lang="en-IN" dirty="0"/>
              <a:t>It supports multiple programming paradigms:</a:t>
            </a:r>
          </a:p>
          <a:p>
            <a:r>
              <a:rPr lang="en-IN" dirty="0"/>
              <a:t>Procedural</a:t>
            </a:r>
          </a:p>
          <a:p>
            <a:r>
              <a:rPr lang="en-IN" dirty="0"/>
              <a:t>Object-Oriented</a:t>
            </a:r>
          </a:p>
          <a:p>
            <a:r>
              <a:rPr lang="en-IN" dirty="0"/>
              <a:t>Functional programming</a:t>
            </a:r>
          </a:p>
          <a:p>
            <a:pPr marL="0" indent="0">
              <a:buNone/>
            </a:pPr>
            <a:r>
              <a:rPr lang="en-IN" dirty="0"/>
              <a:t>Python code is </a:t>
            </a:r>
            <a:r>
              <a:rPr lang="en-IN" b="1" dirty="0"/>
              <a:t>very close to natural language</a:t>
            </a:r>
            <a:r>
              <a:rPr lang="en-IN" dirty="0"/>
              <a:t>, making it ideal for beginners and engineers who want to automate tasks.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80398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53929B-4775-8990-CA96-EC38D15EC9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2637"/>
            <a:ext cx="10515600" cy="6074326"/>
          </a:xfrm>
        </p:spPr>
        <p:txBody>
          <a:bodyPr>
            <a:normAutofit/>
          </a:bodyPr>
          <a:lstStyle/>
          <a:p>
            <a:r>
              <a:rPr lang="en-IN" b="1" dirty="0"/>
              <a:t>Python Scripts</a:t>
            </a:r>
            <a:endParaRPr lang="en-IN" dirty="0"/>
          </a:p>
          <a:p>
            <a:pPr marL="0" indent="0">
              <a:buNone/>
            </a:pPr>
            <a:r>
              <a:rPr lang="en-IN" b="1" dirty="0"/>
              <a:t>What is a Python Script?</a:t>
            </a:r>
          </a:p>
          <a:p>
            <a:r>
              <a:rPr lang="en-IN" dirty="0"/>
              <a:t>A </a:t>
            </a:r>
            <a:r>
              <a:rPr lang="en-IN" b="1" dirty="0"/>
              <a:t>Python script</a:t>
            </a:r>
            <a:r>
              <a:rPr lang="en-IN" dirty="0"/>
              <a:t> is a file containing Python code.</a:t>
            </a:r>
          </a:p>
          <a:p>
            <a:pPr marL="0" indent="0">
              <a:buNone/>
            </a:pPr>
            <a:r>
              <a:rPr lang="en-IN" dirty="0"/>
              <a:t>Extension:</a:t>
            </a:r>
          </a:p>
          <a:p>
            <a:r>
              <a:rPr lang="en-IN" dirty="0"/>
              <a:t>filename.py</a:t>
            </a:r>
          </a:p>
          <a:p>
            <a:pPr marL="0" indent="0">
              <a:buNone/>
            </a:pPr>
            <a:r>
              <a:rPr lang="en-IN" dirty="0"/>
              <a:t>Example:</a:t>
            </a:r>
          </a:p>
          <a:p>
            <a:r>
              <a:rPr lang="en-IN" dirty="0"/>
              <a:t>hello.py</a:t>
            </a:r>
          </a:p>
        </p:txBody>
      </p:sp>
    </p:spTree>
    <p:extLst>
      <p:ext uri="{BB962C8B-B14F-4D97-AF65-F5344CB8AC3E}">
        <p14:creationId xmlns:p14="http://schemas.microsoft.com/office/powerpoint/2010/main" val="171753613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FA85F4-1035-96EF-77F2-D5B5CE9254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4321" y="349646"/>
            <a:ext cx="10515600" cy="662782"/>
          </a:xfrm>
        </p:spPr>
        <p:txBody>
          <a:bodyPr>
            <a:normAutofit fontScale="90000"/>
          </a:bodyPr>
          <a:lstStyle/>
          <a:p>
            <a:r>
              <a:rPr lang="en-IN" b="1" dirty="0"/>
              <a:t>Key Features of Python</a:t>
            </a:r>
            <a:br>
              <a:rPr lang="en-IN" b="1" dirty="0"/>
            </a:b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993041-D0FC-031C-76D3-D12C76D43F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830328"/>
            <a:ext cx="4069702" cy="5346635"/>
          </a:xfrm>
        </p:spPr>
        <p:txBody>
          <a:bodyPr>
            <a:normAutofit fontScale="62500" lnSpcReduction="20000"/>
          </a:bodyPr>
          <a:lstStyle/>
          <a:p>
            <a:pPr marL="0" indent="0">
              <a:buNone/>
            </a:pPr>
            <a:r>
              <a:rPr lang="en-IN" b="1" dirty="0"/>
              <a:t>1. Simple Syntax</a:t>
            </a:r>
          </a:p>
          <a:p>
            <a:r>
              <a:rPr lang="en-IN" dirty="0"/>
              <a:t>Python code is short and readable.</a:t>
            </a:r>
          </a:p>
          <a:p>
            <a:r>
              <a:rPr lang="en-IN" dirty="0"/>
              <a:t>Example:</a:t>
            </a:r>
          </a:p>
          <a:p>
            <a:r>
              <a:rPr lang="en-IN" dirty="0"/>
              <a:t>print("Hello World")</a:t>
            </a:r>
          </a:p>
          <a:p>
            <a:pPr marL="0" indent="0">
              <a:buNone/>
            </a:pPr>
            <a:r>
              <a:rPr lang="en-IN" dirty="0"/>
              <a:t>Compared to C:</a:t>
            </a:r>
          </a:p>
          <a:p>
            <a:r>
              <a:rPr lang="en-IN" dirty="0"/>
              <a:t>#include&lt;stdio.h&gt;</a:t>
            </a:r>
            <a:br>
              <a:rPr lang="en-IN" dirty="0"/>
            </a:br>
            <a:r>
              <a:rPr lang="en-IN" dirty="0"/>
              <a:t>int main()</a:t>
            </a:r>
            <a:br>
              <a:rPr lang="en-IN" dirty="0"/>
            </a:br>
            <a:r>
              <a:rPr lang="en-IN" dirty="0"/>
              <a:t>{</a:t>
            </a:r>
            <a:br>
              <a:rPr lang="en-IN" dirty="0"/>
            </a:br>
            <a:r>
              <a:rPr lang="en-IN" dirty="0"/>
              <a:t>    </a:t>
            </a:r>
            <a:r>
              <a:rPr lang="en-IN" dirty="0" err="1"/>
              <a:t>printf</a:t>
            </a:r>
            <a:r>
              <a:rPr lang="en-IN" dirty="0"/>
              <a:t>("Hello World");</a:t>
            </a:r>
            <a:br>
              <a:rPr lang="en-IN" dirty="0"/>
            </a:br>
            <a:r>
              <a:rPr lang="en-IN" dirty="0"/>
              <a:t>}</a:t>
            </a:r>
          </a:p>
          <a:p>
            <a:pPr marL="0" indent="0">
              <a:buNone/>
            </a:pPr>
            <a:r>
              <a:rPr lang="en-US" b="1" dirty="0"/>
              <a:t>2. Interpreted Language</a:t>
            </a:r>
          </a:p>
          <a:p>
            <a:r>
              <a:rPr lang="en-US" dirty="0"/>
              <a:t>Python does </a:t>
            </a:r>
            <a:r>
              <a:rPr lang="en-US" b="1" dirty="0"/>
              <a:t>not require compilation</a:t>
            </a:r>
            <a:r>
              <a:rPr lang="en-US" dirty="0"/>
              <a:t>.</a:t>
            </a:r>
          </a:p>
          <a:p>
            <a:pPr marL="0" indent="0">
              <a:buNone/>
            </a:pPr>
            <a:r>
              <a:rPr lang="en-US" dirty="0"/>
              <a:t>Execution pipeline:</a:t>
            </a:r>
          </a:p>
          <a:p>
            <a:r>
              <a:rPr lang="en-US" dirty="0"/>
              <a:t>Python Code (.</a:t>
            </a:r>
            <a:r>
              <a:rPr lang="en-US" dirty="0" err="1"/>
              <a:t>py</a:t>
            </a:r>
            <a:r>
              <a:rPr lang="en-US" dirty="0"/>
              <a:t>)</a:t>
            </a:r>
            <a:br>
              <a:rPr lang="en-US" dirty="0"/>
            </a:br>
            <a:r>
              <a:rPr lang="en-US" dirty="0"/>
              <a:t>        ↓</a:t>
            </a:r>
            <a:br>
              <a:rPr lang="en-US" dirty="0"/>
            </a:br>
            <a:r>
              <a:rPr lang="en-US" dirty="0"/>
              <a:t>Python Interpreter</a:t>
            </a:r>
            <a:br>
              <a:rPr lang="en-US" dirty="0"/>
            </a:br>
            <a:r>
              <a:rPr lang="en-US" dirty="0"/>
              <a:t>        ↓</a:t>
            </a:r>
            <a:br>
              <a:rPr lang="en-US" dirty="0"/>
            </a:br>
            <a:r>
              <a:rPr lang="en-US" dirty="0"/>
              <a:t>Bytecode (.</a:t>
            </a:r>
            <a:r>
              <a:rPr lang="en-US" dirty="0" err="1"/>
              <a:t>pyc</a:t>
            </a:r>
            <a:r>
              <a:rPr lang="en-US" dirty="0"/>
              <a:t>)</a:t>
            </a:r>
            <a:br>
              <a:rPr lang="en-US" dirty="0"/>
            </a:br>
            <a:r>
              <a:rPr lang="en-US" dirty="0"/>
              <a:t>        ↓</a:t>
            </a:r>
            <a:br>
              <a:rPr lang="en-US" dirty="0"/>
            </a:br>
            <a:r>
              <a:rPr lang="en-US" dirty="0"/>
              <a:t>Python Virtual Machine</a:t>
            </a:r>
          </a:p>
          <a:p>
            <a:endParaRPr lang="en-US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9B67AEAF-9340-5795-CB35-CF1C0F4DAF8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34708834"/>
              </p:ext>
            </p:extLst>
          </p:nvPr>
        </p:nvGraphicFramePr>
        <p:xfrm>
          <a:off x="4869492" y="3800367"/>
          <a:ext cx="3844524" cy="2337004"/>
        </p:xfrm>
        <a:graphic>
          <a:graphicData uri="http://schemas.openxmlformats.org/drawingml/2006/table">
            <a:tbl>
              <a:tblPr/>
              <a:tblGrid>
                <a:gridCol w="1922262">
                  <a:extLst>
                    <a:ext uri="{9D8B030D-6E8A-4147-A177-3AD203B41FA5}">
                      <a16:colId xmlns:a16="http://schemas.microsoft.com/office/drawing/2014/main" val="386435324"/>
                    </a:ext>
                  </a:extLst>
                </a:gridCol>
                <a:gridCol w="1922262">
                  <a:extLst>
                    <a:ext uri="{9D8B030D-6E8A-4147-A177-3AD203B41FA5}">
                      <a16:colId xmlns:a16="http://schemas.microsoft.com/office/drawing/2014/main" val="3575055394"/>
                    </a:ext>
                  </a:extLst>
                </a:gridCol>
              </a:tblGrid>
              <a:tr h="42423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Library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Use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61913767"/>
                  </a:ext>
                </a:extLst>
              </a:tr>
              <a:tr h="47733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 err="1"/>
                        <a:t>numpy</a:t>
                      </a:r>
                      <a:endParaRPr lang="en-US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scientific computing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14049493"/>
                  </a:ext>
                </a:extLst>
              </a:tr>
              <a:tr h="42423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pandas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data analysis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58778849"/>
                  </a:ext>
                </a:extLst>
              </a:tr>
              <a:tr h="42423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matplotlib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visualization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53818440"/>
                  </a:ext>
                </a:extLst>
              </a:tr>
              <a:tr h="42423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tensorflow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machine learning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48986053"/>
                  </a:ext>
                </a:extLst>
              </a:tr>
            </a:tbl>
          </a:graphicData>
        </a:graphic>
      </p:graphicFrame>
      <p:sp>
        <p:nvSpPr>
          <p:cNvPr id="6" name="Rectangle 1">
            <a:extLst>
              <a:ext uri="{FF2B5EF4-FFF2-40B4-BE49-F238E27FC236}">
                <a16:creationId xmlns:a16="http://schemas.microsoft.com/office/drawing/2014/main" id="{CBCF6AF2-EE9A-D7C1-6B14-3485C1DD3A3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76108" y="3184558"/>
            <a:ext cx="4457418" cy="83099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4. Huge Library Ecosystem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Important libraries:</a:t>
            </a:r>
            <a:endParaRPr kumimoji="0" lang="en-US" altLang="en-US" sz="4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7CE37CB8-520C-A30C-DDB0-5FEEFBA7068C}"/>
              </a:ext>
            </a:extLst>
          </p:cNvPr>
          <p:cNvSpPr txBox="1">
            <a:spLocks/>
          </p:cNvSpPr>
          <p:nvPr/>
        </p:nvSpPr>
        <p:spPr>
          <a:xfrm>
            <a:off x="4776108" y="926740"/>
            <a:ext cx="4069702" cy="53466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IN" sz="2000" b="1" dirty="0"/>
              <a:t>3. Dynamically Typed</a:t>
            </a:r>
          </a:p>
          <a:p>
            <a:r>
              <a:rPr lang="en-IN" sz="2000" dirty="0"/>
              <a:t>Variables do </a:t>
            </a:r>
            <a:r>
              <a:rPr lang="en-IN" sz="2000" b="1" dirty="0"/>
              <a:t>not require type declaration</a:t>
            </a:r>
            <a:r>
              <a:rPr lang="en-IN" sz="2000" dirty="0"/>
              <a:t>.</a:t>
            </a:r>
          </a:p>
          <a:p>
            <a:r>
              <a:rPr lang="en-IN" sz="2000" dirty="0"/>
              <a:t>x = 10</a:t>
            </a:r>
            <a:br>
              <a:rPr lang="en-IN" sz="2000" dirty="0"/>
            </a:br>
            <a:r>
              <a:rPr lang="en-IN" sz="2000" dirty="0"/>
              <a:t>x = "Python“</a:t>
            </a:r>
          </a:p>
          <a:p>
            <a:endParaRPr lang="en-IN" dirty="0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9E5FCF8C-AED6-336C-EB03-E61FABB3F8E1}"/>
              </a:ext>
            </a:extLst>
          </p:cNvPr>
          <p:cNvSpPr txBox="1">
            <a:spLocks/>
          </p:cNvSpPr>
          <p:nvPr/>
        </p:nvSpPr>
        <p:spPr>
          <a:xfrm>
            <a:off x="8098971" y="830328"/>
            <a:ext cx="4093029" cy="53466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anose="05000000000000000000" pitchFamily="2" charset="2"/>
              <a:buChar char="Ø"/>
            </a:pPr>
            <a:r>
              <a:rPr lang="en-US" sz="2000" b="1" dirty="0"/>
              <a:t>Why Python is useful in VLSI / Engineering</a:t>
            </a:r>
          </a:p>
          <a:p>
            <a:r>
              <a:rPr lang="en-US" sz="2000" dirty="0"/>
              <a:t>Python is widely used for:</a:t>
            </a:r>
          </a:p>
          <a:p>
            <a:r>
              <a:rPr lang="en-US" sz="2000" b="1" dirty="0"/>
              <a:t>EDA tool automation</a:t>
            </a:r>
            <a:endParaRPr lang="en-US" sz="2000" dirty="0"/>
          </a:p>
          <a:p>
            <a:r>
              <a:rPr lang="en-US" sz="2000" b="1" dirty="0"/>
              <a:t>log parsing</a:t>
            </a:r>
            <a:endParaRPr lang="en-US" sz="2000" dirty="0"/>
          </a:p>
          <a:p>
            <a:r>
              <a:rPr lang="en-US" sz="2000" b="1" dirty="0"/>
              <a:t>testbench automation</a:t>
            </a:r>
            <a:endParaRPr lang="en-US" sz="2000" dirty="0"/>
          </a:p>
          <a:p>
            <a:r>
              <a:rPr lang="en-US" sz="2000" b="1" dirty="0"/>
              <a:t>data analysis of simulation results</a:t>
            </a:r>
            <a:endParaRPr lang="en-US" sz="2000" dirty="0"/>
          </a:p>
          <a:p>
            <a:r>
              <a:rPr lang="en-US" sz="2000" b="1" dirty="0"/>
              <a:t>bit manipulation</a:t>
            </a:r>
            <a:endParaRPr lang="en-US" sz="2000" dirty="0"/>
          </a:p>
          <a:p>
            <a:r>
              <a:rPr lang="en-US" sz="2000" b="1" dirty="0"/>
              <a:t>script integration with tools</a:t>
            </a:r>
            <a:endParaRPr lang="en-US" sz="2000" dirty="0"/>
          </a:p>
          <a:p>
            <a:r>
              <a:rPr lang="en-US" sz="2000" dirty="0"/>
              <a:t>Example:</a:t>
            </a:r>
          </a:p>
          <a:p>
            <a:r>
              <a:rPr lang="en-US" sz="2000" dirty="0"/>
              <a:t>Parsing simulation log files.</a:t>
            </a:r>
          </a:p>
        </p:txBody>
      </p:sp>
    </p:spTree>
    <p:extLst>
      <p:ext uri="{BB962C8B-B14F-4D97-AF65-F5344CB8AC3E}">
        <p14:creationId xmlns:p14="http://schemas.microsoft.com/office/powerpoint/2010/main" val="127926034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2ADBDA-6E50-8710-E230-926B5BBC86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918" y="18255"/>
            <a:ext cx="10515600" cy="1325563"/>
          </a:xfrm>
        </p:spPr>
        <p:txBody>
          <a:bodyPr/>
          <a:lstStyle/>
          <a:p>
            <a:r>
              <a:rPr lang="en-US" b="1" dirty="0"/>
              <a:t>Print Function</a:t>
            </a:r>
            <a:br>
              <a:rPr lang="en-US" b="1" dirty="0"/>
            </a:b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8C27ED-E44A-7807-23DC-5A3B66099D0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699796"/>
            <a:ext cx="5189376" cy="5477167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b="1" dirty="0"/>
              <a:t>Basic Syntax</a:t>
            </a:r>
          </a:p>
          <a:p>
            <a:r>
              <a:rPr lang="en-US" dirty="0"/>
              <a:t>print(object)</a:t>
            </a:r>
          </a:p>
          <a:p>
            <a:pPr marL="0" indent="0">
              <a:buNone/>
            </a:pPr>
            <a:r>
              <a:rPr lang="en-US" dirty="0"/>
              <a:t>Example:</a:t>
            </a:r>
          </a:p>
          <a:p>
            <a:r>
              <a:rPr lang="en-US" dirty="0"/>
              <a:t>print("Hello")</a:t>
            </a:r>
            <a:br>
              <a:rPr lang="en-US" dirty="0"/>
            </a:br>
            <a:endParaRPr lang="en-US" dirty="0"/>
          </a:p>
          <a:p>
            <a:pPr marL="0" indent="0">
              <a:buNone/>
            </a:pPr>
            <a:r>
              <a:rPr lang="en-US" b="1" dirty="0"/>
              <a:t>Printing Multiple Values</a:t>
            </a:r>
          </a:p>
          <a:p>
            <a:r>
              <a:rPr lang="en-US" dirty="0"/>
              <a:t>print("Python", "Programming")</a:t>
            </a:r>
          </a:p>
          <a:p>
            <a:pPr marL="0" indent="0">
              <a:buNone/>
            </a:pPr>
            <a:r>
              <a:rPr lang="en-US" dirty="0"/>
              <a:t>Output:</a:t>
            </a:r>
          </a:p>
          <a:p>
            <a:r>
              <a:rPr lang="en-US" dirty="0"/>
              <a:t>Python Programming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C201791D-009E-ED1A-1BFE-A271D44CC393}"/>
              </a:ext>
            </a:extLst>
          </p:cNvPr>
          <p:cNvSpPr txBox="1">
            <a:spLocks/>
          </p:cNvSpPr>
          <p:nvPr/>
        </p:nvSpPr>
        <p:spPr>
          <a:xfrm>
            <a:off x="6204858" y="690416"/>
            <a:ext cx="5189376" cy="5477167"/>
          </a:xfrm>
          <a:prstGeom prst="rect">
            <a:avLst/>
          </a:prstGeom>
        </p:spPr>
        <p:txBody>
          <a:bodyPr vert="horz" lIns="91440" tIns="45720" rIns="91440" bIns="45720" rtlCol="0">
            <a:normAutofit fontScale="70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b="1" dirty="0" err="1"/>
              <a:t>sep</a:t>
            </a:r>
            <a:r>
              <a:rPr lang="en-US" b="1" dirty="0"/>
              <a:t> Parameter</a:t>
            </a:r>
          </a:p>
          <a:p>
            <a:r>
              <a:rPr lang="en-US" dirty="0"/>
              <a:t>Controls separator between items.</a:t>
            </a:r>
          </a:p>
          <a:p>
            <a:pPr marL="0" indent="0">
              <a:buNone/>
            </a:pPr>
            <a:r>
              <a:rPr lang="en-US" dirty="0"/>
              <a:t>Example:</a:t>
            </a:r>
          </a:p>
          <a:p>
            <a:r>
              <a:rPr lang="en-US" dirty="0"/>
              <a:t>print("VLSI", "EDA", "Python", </a:t>
            </a:r>
            <a:r>
              <a:rPr lang="en-US" dirty="0" err="1"/>
              <a:t>sep</a:t>
            </a:r>
            <a:r>
              <a:rPr lang="en-US" dirty="0"/>
              <a:t>="-")</a:t>
            </a:r>
          </a:p>
          <a:p>
            <a:pPr marL="0" indent="0">
              <a:buNone/>
            </a:pPr>
            <a:r>
              <a:rPr lang="en-US" dirty="0"/>
              <a:t>Output:</a:t>
            </a:r>
          </a:p>
          <a:p>
            <a:r>
              <a:rPr lang="en-US" dirty="0"/>
              <a:t>VLSI-EDA-Python</a:t>
            </a:r>
          </a:p>
          <a:p>
            <a:pPr marL="0" indent="0">
              <a:buNone/>
            </a:pPr>
            <a:endParaRPr lang="en-IN" b="1" dirty="0"/>
          </a:p>
          <a:p>
            <a:pPr marL="0" indent="0">
              <a:buNone/>
            </a:pPr>
            <a:r>
              <a:rPr lang="en-IN" b="1" dirty="0"/>
              <a:t>end Parameter</a:t>
            </a:r>
          </a:p>
          <a:p>
            <a:r>
              <a:rPr lang="en-IN" dirty="0"/>
              <a:t>Controls line ending.</a:t>
            </a:r>
          </a:p>
          <a:p>
            <a:pPr marL="0" indent="0">
              <a:buNone/>
            </a:pPr>
            <a:r>
              <a:rPr lang="en-IN" dirty="0"/>
              <a:t>Default</a:t>
            </a:r>
          </a:p>
          <a:p>
            <a:r>
              <a:rPr lang="en-IN" dirty="0"/>
              <a:t>\n</a:t>
            </a:r>
          </a:p>
          <a:p>
            <a:pPr marL="0" indent="0">
              <a:buNone/>
            </a:pPr>
            <a:r>
              <a:rPr lang="en-IN" dirty="0"/>
              <a:t>Example:</a:t>
            </a:r>
          </a:p>
          <a:p>
            <a:pPr marL="0" indent="0">
              <a:buNone/>
            </a:pPr>
            <a:r>
              <a:rPr lang="en-IN" dirty="0"/>
              <a:t>	print("Hello", end=" ")</a:t>
            </a:r>
            <a:br>
              <a:rPr lang="en-IN" dirty="0"/>
            </a:br>
            <a:r>
              <a:rPr lang="en-IN" dirty="0"/>
              <a:t>	print("World")</a:t>
            </a:r>
          </a:p>
          <a:p>
            <a:pPr marL="0" indent="0">
              <a:buNone/>
            </a:pPr>
            <a:r>
              <a:rPr lang="en-IN" dirty="0"/>
              <a:t>Output:</a:t>
            </a:r>
          </a:p>
          <a:p>
            <a:pPr marL="0" indent="0">
              <a:buNone/>
            </a:pPr>
            <a:r>
              <a:rPr lang="en-IN" dirty="0"/>
              <a:t>	Hello World</a:t>
            </a:r>
          </a:p>
        </p:txBody>
      </p:sp>
    </p:spTree>
    <p:extLst>
      <p:ext uri="{BB962C8B-B14F-4D97-AF65-F5344CB8AC3E}">
        <p14:creationId xmlns:p14="http://schemas.microsoft.com/office/powerpoint/2010/main" val="387910823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90DA32-1436-8247-7EAC-BE7C4183FA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1127" y="230958"/>
            <a:ext cx="10515600" cy="315912"/>
          </a:xfrm>
        </p:spPr>
        <p:txBody>
          <a:bodyPr>
            <a:normAutofit fontScale="90000"/>
          </a:bodyPr>
          <a:lstStyle/>
          <a:p>
            <a:r>
              <a:rPr lang="en-IN" dirty="0"/>
              <a:t>User Input in Python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E17D7E-1C5D-F3BA-477F-50C4FD85F5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3677" y="784079"/>
            <a:ext cx="10515600" cy="600804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dirty="0"/>
              <a:t>Getting Input from the User</a:t>
            </a:r>
            <a:endParaRPr lang="en-US" sz="2400" dirty="0"/>
          </a:p>
          <a:p>
            <a:r>
              <a:rPr lang="en-US" sz="2400" dirty="0"/>
              <a:t>Python uses the </a:t>
            </a:r>
            <a:r>
              <a:rPr lang="en-US" sz="2400" b="1" dirty="0"/>
              <a:t>input()</a:t>
            </a:r>
            <a:r>
              <a:rPr lang="en-US" sz="2400" dirty="0"/>
              <a:t> function to read user input.</a:t>
            </a:r>
          </a:p>
          <a:p>
            <a:r>
              <a:rPr lang="en-US" sz="2400" dirty="0"/>
              <a:t>The function waits for the user to </a:t>
            </a:r>
            <a:r>
              <a:rPr lang="en-US" sz="2400" b="1" dirty="0"/>
              <a:t>type a value and press Enter</a:t>
            </a:r>
            <a:r>
              <a:rPr lang="en-US" sz="2400" dirty="0"/>
              <a:t>.</a:t>
            </a:r>
          </a:p>
          <a:p>
            <a:r>
              <a:rPr lang="en-US" sz="2400" dirty="0"/>
              <a:t>The input value is </a:t>
            </a:r>
            <a:r>
              <a:rPr lang="en-US" sz="2400" b="1" dirty="0"/>
              <a:t>stored as a string by default</a:t>
            </a:r>
            <a:r>
              <a:rPr lang="en-US" sz="2400" dirty="0"/>
              <a:t>.</a:t>
            </a:r>
          </a:p>
          <a:p>
            <a:r>
              <a:rPr lang="en-US" sz="2400" dirty="0"/>
              <a:t>We can convert it to other types using </a:t>
            </a:r>
            <a:r>
              <a:rPr lang="en-US" sz="2400" b="1" dirty="0"/>
              <a:t>int()</a:t>
            </a:r>
            <a:r>
              <a:rPr lang="en-US" sz="2400" dirty="0"/>
              <a:t>, </a:t>
            </a:r>
            <a:r>
              <a:rPr lang="en-US" sz="2400" b="1" dirty="0"/>
              <a:t>float()</a:t>
            </a:r>
            <a:r>
              <a:rPr lang="en-US" sz="2400" dirty="0"/>
              <a:t>, etc.</a:t>
            </a:r>
          </a:p>
          <a:p>
            <a:pPr marL="0" indent="0">
              <a:buNone/>
            </a:pPr>
            <a:r>
              <a:rPr lang="en-IN" sz="2400" b="1" dirty="0"/>
              <a:t>Syntax</a:t>
            </a:r>
            <a:endParaRPr lang="en-IN" sz="2400" dirty="0"/>
          </a:p>
          <a:p>
            <a:r>
              <a:rPr lang="en-IN" sz="2400" dirty="0"/>
              <a:t>variable = input("Enter value: ")</a:t>
            </a:r>
          </a:p>
          <a:p>
            <a:pPr marL="0" indent="0">
              <a:buNone/>
            </a:pPr>
            <a:r>
              <a:rPr lang="en-IN" sz="2400" b="1" dirty="0"/>
              <a:t>Example</a:t>
            </a:r>
            <a:endParaRPr lang="en-IN" sz="2400" dirty="0"/>
          </a:p>
          <a:p>
            <a:r>
              <a:rPr lang="en-IN" sz="2400" dirty="0"/>
              <a:t>name = input("Enter your name: ")</a:t>
            </a:r>
            <a:br>
              <a:rPr lang="en-IN" sz="2400" dirty="0"/>
            </a:br>
            <a:r>
              <a:rPr lang="en-IN" sz="2400" dirty="0"/>
              <a:t>print("Hello", name)</a:t>
            </a:r>
          </a:p>
          <a:p>
            <a:pPr marL="0" indent="0">
              <a:buNone/>
            </a:pPr>
            <a:r>
              <a:rPr lang="en-IN" sz="2400" b="1" dirty="0"/>
              <a:t>Example with Number</a:t>
            </a:r>
            <a:endParaRPr lang="en-IN" sz="2400" dirty="0"/>
          </a:p>
          <a:p>
            <a:r>
              <a:rPr lang="en-IN" sz="2400" dirty="0" err="1"/>
              <a:t>num</a:t>
            </a:r>
            <a:r>
              <a:rPr lang="en-IN" sz="2400" dirty="0"/>
              <a:t> = int(input("Enter a number: "))</a:t>
            </a:r>
            <a:br>
              <a:rPr lang="en-IN" sz="2400" dirty="0"/>
            </a:br>
            <a:r>
              <a:rPr lang="en-IN" sz="2400" dirty="0"/>
              <a:t>print("Square:", </a:t>
            </a:r>
            <a:r>
              <a:rPr lang="en-IN" sz="2400" dirty="0" err="1"/>
              <a:t>num</a:t>
            </a:r>
            <a:r>
              <a:rPr lang="en-IN" sz="2400" dirty="0"/>
              <a:t>*</a:t>
            </a:r>
            <a:r>
              <a:rPr lang="en-IN" sz="2400" dirty="0" err="1"/>
              <a:t>num</a:t>
            </a:r>
            <a:r>
              <a:rPr lang="en-IN" sz="2400" dirty="0"/>
              <a:t>)</a:t>
            </a:r>
          </a:p>
          <a:p>
            <a:endParaRPr lang="en-US" sz="2400" dirty="0"/>
          </a:p>
          <a:p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414222122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6D431F-5496-AA62-7D1B-C2FA726730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5563" y="499017"/>
            <a:ext cx="10515600" cy="1031204"/>
          </a:xfrm>
        </p:spPr>
        <p:txBody>
          <a:bodyPr/>
          <a:lstStyle/>
          <a:p>
            <a:r>
              <a:rPr lang="en-US" dirty="0"/>
              <a:t>Literals in Python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AAD963D4-AE09-053B-791A-719DD674318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928143276"/>
              </p:ext>
            </p:extLst>
          </p:nvPr>
        </p:nvGraphicFramePr>
        <p:xfrm>
          <a:off x="735563" y="2692325"/>
          <a:ext cx="10515600" cy="2194560"/>
        </p:xfrm>
        <a:graphic>
          <a:graphicData uri="http://schemas.openxmlformats.org/drawingml/2006/table">
            <a:tbl>
              <a:tblPr/>
              <a:tblGrid>
                <a:gridCol w="5257800">
                  <a:extLst>
                    <a:ext uri="{9D8B030D-6E8A-4147-A177-3AD203B41FA5}">
                      <a16:colId xmlns:a16="http://schemas.microsoft.com/office/drawing/2014/main" val="2693712236"/>
                    </a:ext>
                  </a:extLst>
                </a:gridCol>
                <a:gridCol w="5257800">
                  <a:extLst>
                    <a:ext uri="{9D8B030D-6E8A-4147-A177-3AD203B41FA5}">
                      <a16:colId xmlns:a16="http://schemas.microsoft.com/office/drawing/2014/main" val="101487106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Type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Example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566982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Integer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10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9667483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Float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3.14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0364606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String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"Python"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3065431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Boolean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True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9232371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None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None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3629526"/>
                  </a:ext>
                </a:extLst>
              </a:tr>
            </a:tbl>
          </a:graphicData>
        </a:graphic>
      </p:graphicFrame>
      <p:sp>
        <p:nvSpPr>
          <p:cNvPr id="5" name="Rectangle 1">
            <a:extLst>
              <a:ext uri="{FF2B5EF4-FFF2-40B4-BE49-F238E27FC236}">
                <a16:creationId xmlns:a16="http://schemas.microsoft.com/office/drawing/2014/main" id="{70692C4A-976A-4B57-A064-E2393851C7FC}"/>
              </a:ext>
            </a:extLst>
          </p:cNvPr>
          <p:cNvSpPr>
            <a:spLocks noChangeArrowheads="1"/>
          </p:cNvSpPr>
          <p:nvPr/>
        </p:nvSpPr>
        <p:spPr bwMode="auto">
          <a:xfrm>
            <a:off x="735563" y="1801252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literal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is a constant value used in a program.</a:t>
            </a:r>
          </a:p>
        </p:txBody>
      </p:sp>
      <p:sp>
        <p:nvSpPr>
          <p:cNvPr id="7" name="Rectangle 3">
            <a:extLst>
              <a:ext uri="{FF2B5EF4-FFF2-40B4-BE49-F238E27FC236}">
                <a16:creationId xmlns:a16="http://schemas.microsoft.com/office/drawing/2014/main" id="{B1C2A795-D3B6-44DD-E21E-4C142BD3BE81}"/>
              </a:ext>
            </a:extLst>
          </p:cNvPr>
          <p:cNvSpPr>
            <a:spLocks noChangeArrowheads="1"/>
          </p:cNvSpPr>
          <p:nvPr/>
        </p:nvSpPr>
        <p:spPr bwMode="auto">
          <a:xfrm>
            <a:off x="735563" y="2235125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2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Types of Literals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2059944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397B2C-F762-AB64-19BD-921D468D2F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Quoting Rules in Python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07F2C6-3F3B-DB82-6C43-E38B8227F1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Python supports </a:t>
            </a:r>
            <a:r>
              <a:rPr lang="en-US" b="1" dirty="0"/>
              <a:t>three types of quotes</a:t>
            </a:r>
            <a:r>
              <a:rPr lang="en-US" dirty="0"/>
              <a:t>.</a:t>
            </a:r>
            <a:br>
              <a:rPr lang="en-US" dirty="0"/>
            </a:br>
            <a:endParaRPr lang="en-US" dirty="0"/>
          </a:p>
          <a:p>
            <a:pPr marL="0" indent="0">
              <a:buNone/>
            </a:pPr>
            <a:r>
              <a:rPr lang="en-US" b="1" dirty="0"/>
              <a:t>Single Quotes</a:t>
            </a:r>
          </a:p>
          <a:p>
            <a:r>
              <a:rPr lang="en-US" dirty="0"/>
              <a:t>text = 'Hello'</a:t>
            </a:r>
            <a:br>
              <a:rPr lang="en-US" dirty="0"/>
            </a:br>
            <a:endParaRPr lang="en-US" dirty="0"/>
          </a:p>
          <a:p>
            <a:pPr marL="0" indent="0">
              <a:buNone/>
            </a:pPr>
            <a:r>
              <a:rPr lang="en-US" b="1" dirty="0"/>
              <a:t>Double Quotes</a:t>
            </a:r>
          </a:p>
          <a:p>
            <a:r>
              <a:rPr lang="en-US" dirty="0"/>
              <a:t>text = "Hello"</a:t>
            </a:r>
            <a:br>
              <a:rPr lang="en-US" dirty="0"/>
            </a:br>
            <a:endParaRPr lang="en-US" dirty="0"/>
          </a:p>
          <a:p>
            <a:pPr marL="0" indent="0">
              <a:buNone/>
            </a:pPr>
            <a:r>
              <a:rPr lang="en-US" b="1" dirty="0"/>
              <a:t>Triple Quotes</a:t>
            </a:r>
          </a:p>
          <a:p>
            <a:r>
              <a:rPr lang="en-US" dirty="0"/>
              <a:t>Used for </a:t>
            </a:r>
            <a:r>
              <a:rPr lang="en-US" b="1" dirty="0"/>
              <a:t>multi-line strings</a:t>
            </a:r>
            <a:endParaRPr lang="en-US" dirty="0"/>
          </a:p>
          <a:p>
            <a:r>
              <a:rPr lang="en-US" dirty="0"/>
              <a:t>text = """Python</a:t>
            </a:r>
            <a:br>
              <a:rPr lang="en-US" dirty="0"/>
            </a:br>
            <a:r>
              <a:rPr lang="en-US" dirty="0"/>
              <a:t>Programming</a:t>
            </a:r>
            <a:br>
              <a:rPr lang="en-US" dirty="0"/>
            </a:br>
            <a:r>
              <a:rPr lang="en-US" dirty="0"/>
              <a:t>Language"""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3194595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2D361A-2870-1203-23B7-BDCFB26322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9579" y="18256"/>
            <a:ext cx="10515600" cy="662782"/>
          </a:xfrm>
        </p:spPr>
        <p:txBody>
          <a:bodyPr>
            <a:normAutofit fontScale="90000"/>
          </a:bodyPr>
          <a:lstStyle/>
          <a:p>
            <a:r>
              <a:rPr lang="en-US" dirty="0"/>
              <a:t>Basics of Python Programming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FED873-9B8A-9414-D372-2C256EAB9A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3555" y="681038"/>
            <a:ext cx="10515600" cy="4351338"/>
          </a:xfrm>
        </p:spPr>
        <p:txBody>
          <a:bodyPr/>
          <a:lstStyle/>
          <a:p>
            <a:r>
              <a:rPr lang="en-IN" sz="2400" b="1" dirty="0"/>
              <a:t>Numbers in Python</a:t>
            </a:r>
          </a:p>
          <a:p>
            <a:pPr marL="0" indent="0">
              <a:buNone/>
            </a:pPr>
            <a:r>
              <a:rPr lang="en-IN" sz="2400" b="1" dirty="0"/>
              <a:t>Definition</a:t>
            </a:r>
          </a:p>
          <a:p>
            <a:r>
              <a:rPr lang="en-IN" sz="2400" dirty="0"/>
              <a:t>Numbers represent </a:t>
            </a:r>
            <a:r>
              <a:rPr lang="en-IN" sz="2400" b="1" dirty="0"/>
              <a:t>numeric data values</a:t>
            </a:r>
            <a:r>
              <a:rPr lang="en-IN" sz="2400" dirty="0"/>
              <a:t> in Python programs.</a:t>
            </a:r>
          </a:p>
          <a:p>
            <a:r>
              <a:rPr lang="en-IN" sz="2400" dirty="0"/>
              <a:t>Python supports three primary numeric types:</a:t>
            </a:r>
          </a:p>
          <a:p>
            <a:endParaRPr lang="en-IN" dirty="0"/>
          </a:p>
          <a:p>
            <a:endParaRPr lang="en-US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CA834E3C-23DD-6146-CFB8-7A78E9F90E7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35382380"/>
              </p:ext>
            </p:extLst>
          </p:nvPr>
        </p:nvGraphicFramePr>
        <p:xfrm>
          <a:off x="838200" y="2445554"/>
          <a:ext cx="10515600" cy="1463040"/>
        </p:xfrm>
        <a:graphic>
          <a:graphicData uri="http://schemas.openxmlformats.org/drawingml/2006/table">
            <a:tbl>
              <a:tblPr/>
              <a:tblGrid>
                <a:gridCol w="3505200">
                  <a:extLst>
                    <a:ext uri="{9D8B030D-6E8A-4147-A177-3AD203B41FA5}">
                      <a16:colId xmlns:a16="http://schemas.microsoft.com/office/drawing/2014/main" val="4255490213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2244777893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202489670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dirty="0"/>
                        <a:t>Type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dirty="0"/>
                        <a:t>Description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dirty="0"/>
                        <a:t>Example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9614886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int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Integer numbers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10, -5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0699161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float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Decimal numbers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3.14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2695365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complex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Real + imaginary numbers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3 + 4j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10470897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299280E8-77F4-4BAF-74F6-626E62011DBF}"/>
              </a:ext>
            </a:extLst>
          </p:cNvPr>
          <p:cNvSpPr txBox="1"/>
          <p:nvPr/>
        </p:nvSpPr>
        <p:spPr>
          <a:xfrm>
            <a:off x="362339" y="3796627"/>
            <a:ext cx="5197151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b="1" dirty="0"/>
              <a:t>Integer Numbers</a:t>
            </a:r>
          </a:p>
          <a:p>
            <a:r>
              <a:rPr lang="en-IN" dirty="0"/>
              <a:t>Example</a:t>
            </a:r>
          </a:p>
          <a:p>
            <a:r>
              <a:rPr lang="en-IN" dirty="0"/>
              <a:t>x = 10</a:t>
            </a:r>
            <a:br>
              <a:rPr lang="en-IN" dirty="0"/>
            </a:br>
            <a:r>
              <a:rPr lang="en-IN" dirty="0"/>
              <a:t>y = -5</a:t>
            </a:r>
            <a:br>
              <a:rPr lang="en-IN" dirty="0"/>
            </a:br>
            <a:br>
              <a:rPr lang="en-IN" dirty="0"/>
            </a:br>
            <a:r>
              <a:rPr lang="en-IN" dirty="0"/>
              <a:t>print(x + y)</a:t>
            </a:r>
          </a:p>
          <a:p>
            <a:r>
              <a:rPr lang="en-IN" dirty="0"/>
              <a:t>Output</a:t>
            </a:r>
          </a:p>
          <a:p>
            <a:r>
              <a:rPr lang="en-IN" dirty="0"/>
              <a:t>5</a:t>
            </a:r>
          </a:p>
          <a:p>
            <a:r>
              <a:rPr lang="en-IN" dirty="0"/>
              <a:t>Explanation</a:t>
            </a:r>
            <a:br>
              <a:rPr lang="en-IN" dirty="0"/>
            </a:br>
            <a:r>
              <a:rPr lang="en-IN" dirty="0"/>
              <a:t>Integers represent whole numbers without </a:t>
            </a:r>
          </a:p>
          <a:p>
            <a:r>
              <a:rPr lang="en-IN" dirty="0"/>
              <a:t>decimal points.</a:t>
            </a:r>
          </a:p>
          <a:p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5270836-33E5-639D-BE5D-56E9B9BEFD6F}"/>
              </a:ext>
            </a:extLst>
          </p:cNvPr>
          <p:cNvSpPr txBox="1"/>
          <p:nvPr/>
        </p:nvSpPr>
        <p:spPr>
          <a:xfrm>
            <a:off x="5592148" y="3908594"/>
            <a:ext cx="2805405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b="1" dirty="0"/>
              <a:t>Floating Point Numbers</a:t>
            </a:r>
          </a:p>
          <a:p>
            <a:r>
              <a:rPr lang="en-IN" dirty="0"/>
              <a:t>Example</a:t>
            </a:r>
          </a:p>
          <a:p>
            <a:r>
              <a:rPr lang="en-IN" dirty="0"/>
              <a:t>a = 5.5</a:t>
            </a:r>
            <a:br>
              <a:rPr lang="en-IN" dirty="0"/>
            </a:br>
            <a:r>
              <a:rPr lang="en-IN" dirty="0"/>
              <a:t>b = 2.3</a:t>
            </a:r>
            <a:br>
              <a:rPr lang="en-IN" dirty="0"/>
            </a:br>
            <a:br>
              <a:rPr lang="en-IN" dirty="0"/>
            </a:br>
            <a:r>
              <a:rPr lang="en-IN" dirty="0"/>
              <a:t>print(a * b)</a:t>
            </a:r>
          </a:p>
          <a:p>
            <a:r>
              <a:rPr lang="en-IN" dirty="0"/>
              <a:t>Output</a:t>
            </a:r>
          </a:p>
          <a:p>
            <a:r>
              <a:rPr lang="en-IN" dirty="0"/>
              <a:t>12.65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D6DDEA0-DC2F-185A-F14D-8FB1A440AB69}"/>
              </a:ext>
            </a:extLst>
          </p:cNvPr>
          <p:cNvSpPr txBox="1"/>
          <p:nvPr/>
        </p:nvSpPr>
        <p:spPr>
          <a:xfrm>
            <a:off x="9024256" y="3877036"/>
            <a:ext cx="2805405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b="1" dirty="0"/>
              <a:t>Complex Numbers</a:t>
            </a:r>
          </a:p>
          <a:p>
            <a:r>
              <a:rPr lang="en-IN" dirty="0"/>
              <a:t>Used mainly in </a:t>
            </a:r>
            <a:r>
              <a:rPr lang="en-IN" b="1" dirty="0"/>
              <a:t>scientific computing</a:t>
            </a:r>
            <a:r>
              <a:rPr lang="en-IN" dirty="0"/>
              <a:t>.</a:t>
            </a:r>
          </a:p>
          <a:p>
            <a:r>
              <a:rPr lang="en-IN" dirty="0"/>
              <a:t>Example</a:t>
            </a:r>
          </a:p>
          <a:p>
            <a:r>
              <a:rPr lang="en-IN" dirty="0"/>
              <a:t>z = 3 + 4j</a:t>
            </a:r>
            <a:br>
              <a:rPr lang="en-IN" dirty="0"/>
            </a:br>
            <a:r>
              <a:rPr lang="en-IN" dirty="0"/>
              <a:t>print(z)</a:t>
            </a:r>
          </a:p>
          <a:p>
            <a:r>
              <a:rPr lang="en-IN" dirty="0"/>
              <a:t>Output</a:t>
            </a:r>
          </a:p>
          <a:p>
            <a:r>
              <a:rPr lang="en-IN" dirty="0"/>
              <a:t>(3+4j)</a:t>
            </a:r>
          </a:p>
        </p:txBody>
      </p:sp>
    </p:spTree>
    <p:extLst>
      <p:ext uri="{BB962C8B-B14F-4D97-AF65-F5344CB8AC3E}">
        <p14:creationId xmlns:p14="http://schemas.microsoft.com/office/powerpoint/2010/main" val="165213590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D8C399-998D-6ADC-08B1-D0412DB551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697A5D-4EAA-50A9-5FAD-810D6119C3F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0"/>
            <a:ext cx="5047861" cy="6858000"/>
          </a:xfrm>
        </p:spPr>
        <p:txBody>
          <a:bodyPr>
            <a:normAutofit lnSpcReduction="10000"/>
          </a:bodyPr>
          <a:lstStyle/>
          <a:p>
            <a:pPr>
              <a:buFont typeface="Wingdings" panose="05000000000000000000" pitchFamily="2" charset="2"/>
              <a:buChar char="Ø"/>
            </a:pPr>
            <a:r>
              <a:rPr lang="en-IN" b="1" dirty="0"/>
              <a:t>Strings in Python</a:t>
            </a:r>
            <a:endParaRPr lang="en-IN" dirty="0"/>
          </a:p>
          <a:p>
            <a:pPr marL="0" indent="0">
              <a:buNone/>
            </a:pPr>
            <a:r>
              <a:rPr lang="en-IN" b="1" dirty="0"/>
              <a:t>Definition</a:t>
            </a:r>
          </a:p>
          <a:p>
            <a:r>
              <a:rPr lang="en-IN" dirty="0"/>
              <a:t>A </a:t>
            </a:r>
            <a:r>
              <a:rPr lang="en-IN" b="1" dirty="0"/>
              <a:t>string</a:t>
            </a:r>
            <a:r>
              <a:rPr lang="en-IN" dirty="0"/>
              <a:t> is a sequence of characters.</a:t>
            </a:r>
          </a:p>
          <a:p>
            <a:pPr marL="0" indent="0">
              <a:buNone/>
            </a:pPr>
            <a:r>
              <a:rPr lang="en-IN" dirty="0"/>
              <a:t>Example</a:t>
            </a:r>
          </a:p>
          <a:p>
            <a:r>
              <a:rPr lang="en-IN" dirty="0"/>
              <a:t>name = "Python"</a:t>
            </a:r>
          </a:p>
          <a:p>
            <a:r>
              <a:rPr lang="en-IN" dirty="0"/>
              <a:t>Strings are </a:t>
            </a:r>
            <a:r>
              <a:rPr lang="en-IN" b="1" dirty="0"/>
              <a:t>immutable</a:t>
            </a:r>
            <a:r>
              <a:rPr lang="en-IN" dirty="0"/>
              <a:t>.</a:t>
            </a:r>
          </a:p>
          <a:p>
            <a:pPr marL="0" indent="0">
              <a:buNone/>
            </a:pPr>
            <a:r>
              <a:rPr lang="en-IN" b="1" dirty="0"/>
              <a:t>Ex. 1 Accessing Characters</a:t>
            </a:r>
          </a:p>
          <a:p>
            <a:r>
              <a:rPr lang="en-IN" dirty="0"/>
              <a:t>text = "VLSI"</a:t>
            </a:r>
            <a:br>
              <a:rPr lang="en-IN" dirty="0"/>
            </a:br>
            <a:br>
              <a:rPr lang="en-IN" dirty="0"/>
            </a:br>
            <a:r>
              <a:rPr lang="en-IN" dirty="0"/>
              <a:t>print(text[0])</a:t>
            </a:r>
            <a:br>
              <a:rPr lang="en-IN" dirty="0"/>
            </a:br>
            <a:r>
              <a:rPr lang="en-IN" dirty="0"/>
              <a:t>print(text[1])</a:t>
            </a:r>
          </a:p>
          <a:p>
            <a:pPr marL="0" indent="0">
              <a:buNone/>
            </a:pPr>
            <a:r>
              <a:rPr lang="en-IN" dirty="0"/>
              <a:t>Output</a:t>
            </a:r>
          </a:p>
          <a:p>
            <a:r>
              <a:rPr lang="en-IN" dirty="0"/>
              <a:t>V</a:t>
            </a:r>
            <a:br>
              <a:rPr lang="en-IN" dirty="0"/>
            </a:br>
            <a:r>
              <a:rPr lang="en-IN" dirty="0"/>
              <a:t>L</a:t>
            </a:r>
          </a:p>
          <a:p>
            <a:endParaRPr lang="en-IN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34679132-7118-F96F-3D60-46174530FD65}"/>
              </a:ext>
            </a:extLst>
          </p:cNvPr>
          <p:cNvSpPr txBox="1">
            <a:spLocks/>
          </p:cNvSpPr>
          <p:nvPr/>
        </p:nvSpPr>
        <p:spPr>
          <a:xfrm>
            <a:off x="4086809" y="0"/>
            <a:ext cx="3778897" cy="6858000"/>
          </a:xfrm>
          <a:prstGeom prst="rect">
            <a:avLst/>
          </a:prstGeom>
        </p:spPr>
        <p:txBody>
          <a:bodyPr vert="horz" lIns="91440" tIns="45720" rIns="91440" bIns="45720" rtlCol="0">
            <a:normAutofit fontScale="77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IN" b="1" dirty="0"/>
              <a:t>Ex. 2 String Slicing</a:t>
            </a:r>
          </a:p>
          <a:p>
            <a:r>
              <a:rPr lang="en-IN" dirty="0"/>
              <a:t>text = "Python"</a:t>
            </a:r>
            <a:br>
              <a:rPr lang="en-IN" dirty="0"/>
            </a:br>
            <a:br>
              <a:rPr lang="en-IN" dirty="0"/>
            </a:br>
            <a:r>
              <a:rPr lang="en-IN" dirty="0"/>
              <a:t>print(text[0:4])</a:t>
            </a:r>
          </a:p>
          <a:p>
            <a:pPr marL="0" indent="0">
              <a:buNone/>
            </a:pPr>
            <a:r>
              <a:rPr lang="en-IN" dirty="0"/>
              <a:t>Output</a:t>
            </a:r>
          </a:p>
          <a:p>
            <a:r>
              <a:rPr lang="en-IN" dirty="0" err="1"/>
              <a:t>Pyth</a:t>
            </a:r>
            <a:endParaRPr lang="en-IN" dirty="0"/>
          </a:p>
          <a:p>
            <a:pPr marL="0" indent="0">
              <a:buNone/>
            </a:pPr>
            <a:r>
              <a:rPr lang="en-US" sz="3100" b="1" dirty="0"/>
              <a:t>Important String Methods</a:t>
            </a:r>
            <a:endParaRPr lang="en-US" sz="3100" dirty="0"/>
          </a:p>
          <a:p>
            <a:r>
              <a:rPr lang="en-US" b="1" dirty="0"/>
              <a:t>upper()</a:t>
            </a:r>
          </a:p>
          <a:p>
            <a:r>
              <a:rPr lang="en-US" dirty="0"/>
              <a:t>text = "python"</a:t>
            </a:r>
            <a:br>
              <a:rPr lang="en-US" dirty="0"/>
            </a:br>
            <a:br>
              <a:rPr lang="en-US" dirty="0"/>
            </a:br>
            <a:r>
              <a:rPr lang="en-US" dirty="0"/>
              <a:t>print(</a:t>
            </a:r>
            <a:r>
              <a:rPr lang="en-US" dirty="0" err="1"/>
              <a:t>text.upper</a:t>
            </a:r>
            <a:r>
              <a:rPr lang="en-US" dirty="0"/>
              <a:t>())</a:t>
            </a:r>
          </a:p>
          <a:p>
            <a:pPr marL="0" indent="0">
              <a:buNone/>
            </a:pPr>
            <a:r>
              <a:rPr lang="en-US" dirty="0"/>
              <a:t>Output</a:t>
            </a:r>
          </a:p>
          <a:p>
            <a:r>
              <a:rPr lang="en-US" dirty="0"/>
              <a:t>PYTHON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b="1" dirty="0"/>
              <a:t>lower()</a:t>
            </a:r>
          </a:p>
          <a:p>
            <a:r>
              <a:rPr lang="en-US" dirty="0"/>
              <a:t>text = "PYTHON"</a:t>
            </a:r>
            <a:br>
              <a:rPr lang="en-US" dirty="0"/>
            </a:br>
            <a:br>
              <a:rPr lang="en-US" dirty="0"/>
            </a:br>
            <a:r>
              <a:rPr lang="en-US" dirty="0"/>
              <a:t>print(</a:t>
            </a:r>
            <a:r>
              <a:rPr lang="en-US" dirty="0" err="1"/>
              <a:t>text.lower</a:t>
            </a:r>
            <a:r>
              <a:rPr lang="en-US" dirty="0"/>
              <a:t>())</a:t>
            </a:r>
          </a:p>
          <a:p>
            <a:pPr marL="0" indent="0">
              <a:buNone/>
            </a:pPr>
            <a:r>
              <a:rPr lang="en-US" dirty="0"/>
              <a:t>Output</a:t>
            </a:r>
          </a:p>
          <a:p>
            <a:r>
              <a:rPr lang="en-US" dirty="0"/>
              <a:t>python</a:t>
            </a:r>
          </a:p>
          <a:p>
            <a:endParaRPr lang="en-IN" dirty="0"/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4BD5680C-2EDE-04C7-A7A1-6BC0B9DB1B15}"/>
              </a:ext>
            </a:extLst>
          </p:cNvPr>
          <p:cNvSpPr txBox="1">
            <a:spLocks/>
          </p:cNvSpPr>
          <p:nvPr/>
        </p:nvSpPr>
        <p:spPr>
          <a:xfrm>
            <a:off x="8173616" y="0"/>
            <a:ext cx="4018384" cy="6858000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b="1" dirty="0"/>
              <a:t>format()</a:t>
            </a:r>
          </a:p>
          <a:p>
            <a:r>
              <a:rPr lang="en-US" dirty="0"/>
              <a:t>name = "EDA"</a:t>
            </a:r>
            <a:br>
              <a:rPr lang="en-US" dirty="0"/>
            </a:br>
            <a:r>
              <a:rPr lang="en-US" dirty="0"/>
              <a:t>version = 3</a:t>
            </a:r>
            <a:br>
              <a:rPr lang="en-US" dirty="0"/>
            </a:br>
            <a:br>
              <a:rPr lang="en-US" dirty="0"/>
            </a:br>
            <a:r>
              <a:rPr lang="en-US" dirty="0"/>
              <a:t>print("Tool {} version {}".format(name, version))</a:t>
            </a:r>
          </a:p>
          <a:p>
            <a:pPr marL="0" indent="0">
              <a:buNone/>
            </a:pPr>
            <a:r>
              <a:rPr lang="en-US" b="1" dirty="0"/>
              <a:t>f-Strings</a:t>
            </a:r>
          </a:p>
          <a:p>
            <a:r>
              <a:rPr lang="en-US" dirty="0"/>
              <a:t>Most modern formatting.</a:t>
            </a:r>
          </a:p>
          <a:p>
            <a:r>
              <a:rPr lang="en-US" dirty="0"/>
              <a:t>tool = "Python"</a:t>
            </a:r>
            <a:br>
              <a:rPr lang="en-US" dirty="0"/>
            </a:br>
            <a:r>
              <a:rPr lang="en-US" dirty="0"/>
              <a:t>version = 3.10</a:t>
            </a:r>
            <a:br>
              <a:rPr lang="en-US" dirty="0"/>
            </a:br>
            <a:br>
              <a:rPr lang="en-US" dirty="0"/>
            </a:br>
            <a:r>
              <a:rPr lang="en-US" dirty="0"/>
              <a:t>print(f"{tool} version {version}")</a:t>
            </a:r>
          </a:p>
          <a:p>
            <a:pPr marL="0" indent="0">
              <a:buNone/>
            </a:pPr>
            <a:r>
              <a:rPr lang="en-US" dirty="0"/>
              <a:t>Output</a:t>
            </a:r>
          </a:p>
          <a:p>
            <a:r>
              <a:rPr lang="en-US" dirty="0"/>
              <a:t>Python version 3.10</a:t>
            </a:r>
          </a:p>
        </p:txBody>
      </p:sp>
    </p:spTree>
    <p:extLst>
      <p:ext uri="{BB962C8B-B14F-4D97-AF65-F5344CB8AC3E}">
        <p14:creationId xmlns:p14="http://schemas.microsoft.com/office/powerpoint/2010/main" val="266986740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1B22F7-E36E-933A-F5EA-DA409B50E2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1C7611-3FA1-E75D-56C7-8DB7CF9160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0"/>
            <a:ext cx="5047861" cy="6858000"/>
          </a:xfrm>
        </p:spPr>
        <p:txBody>
          <a:bodyPr>
            <a:normAutofit/>
          </a:bodyPr>
          <a:lstStyle/>
          <a:p>
            <a:pPr>
              <a:buFont typeface="Wingdings" panose="05000000000000000000" pitchFamily="2" charset="2"/>
              <a:buChar char="Ø"/>
            </a:pPr>
            <a:r>
              <a:rPr lang="en-IN" b="1" dirty="0"/>
              <a:t>Lists in Python</a:t>
            </a:r>
            <a:endParaRPr lang="en-IN" dirty="0"/>
          </a:p>
          <a:p>
            <a:pPr marL="0" indent="0">
              <a:buNone/>
            </a:pPr>
            <a:r>
              <a:rPr lang="en-IN" b="1" dirty="0"/>
              <a:t>Definition</a:t>
            </a:r>
          </a:p>
          <a:p>
            <a:r>
              <a:rPr lang="en-IN" dirty="0"/>
              <a:t>A </a:t>
            </a:r>
            <a:r>
              <a:rPr lang="en-IN" b="1" dirty="0"/>
              <a:t>list</a:t>
            </a:r>
            <a:r>
              <a:rPr lang="en-IN" dirty="0"/>
              <a:t> is an ordered collection of elements.</a:t>
            </a:r>
          </a:p>
          <a:p>
            <a:r>
              <a:rPr lang="en-IN" dirty="0"/>
              <a:t>Lists are </a:t>
            </a:r>
            <a:r>
              <a:rPr lang="en-IN" b="1" dirty="0"/>
              <a:t>mutable</a:t>
            </a:r>
            <a:r>
              <a:rPr lang="en-IN" dirty="0"/>
              <a:t>.</a:t>
            </a:r>
          </a:p>
          <a:p>
            <a:pPr marL="0" indent="0">
              <a:buNone/>
            </a:pPr>
            <a:r>
              <a:rPr lang="en-IN" dirty="0"/>
              <a:t>Example</a:t>
            </a:r>
          </a:p>
          <a:p>
            <a:r>
              <a:rPr lang="en-IN" dirty="0"/>
              <a:t>signals = ["</a:t>
            </a:r>
            <a:r>
              <a:rPr lang="en-IN" dirty="0" err="1"/>
              <a:t>clk</a:t>
            </a:r>
            <a:r>
              <a:rPr lang="en-IN" dirty="0"/>
              <a:t>","</a:t>
            </a:r>
            <a:r>
              <a:rPr lang="en-IN" dirty="0" err="1"/>
              <a:t>reset","data</a:t>
            </a:r>
            <a:r>
              <a:rPr lang="en-IN" dirty="0"/>
              <a:t>"]</a:t>
            </a:r>
          </a:p>
          <a:p>
            <a:pPr marL="0" indent="0">
              <a:buNone/>
            </a:pPr>
            <a:r>
              <a:rPr lang="en-IN" b="1" dirty="0"/>
              <a:t>Indexing</a:t>
            </a:r>
          </a:p>
          <a:p>
            <a:r>
              <a:rPr lang="en-IN" dirty="0"/>
              <a:t>signals = ["</a:t>
            </a:r>
            <a:r>
              <a:rPr lang="en-IN" dirty="0" err="1"/>
              <a:t>clk</a:t>
            </a:r>
            <a:r>
              <a:rPr lang="en-IN" dirty="0"/>
              <a:t>","</a:t>
            </a:r>
            <a:r>
              <a:rPr lang="en-IN" dirty="0" err="1"/>
              <a:t>reset","data</a:t>
            </a:r>
            <a:r>
              <a:rPr lang="en-IN" dirty="0"/>
              <a:t>"]</a:t>
            </a:r>
            <a:br>
              <a:rPr lang="en-IN" dirty="0"/>
            </a:br>
            <a:br>
              <a:rPr lang="en-IN" dirty="0"/>
            </a:br>
            <a:r>
              <a:rPr lang="en-IN" dirty="0"/>
              <a:t>print(signals[0])</a:t>
            </a:r>
          </a:p>
          <a:p>
            <a:pPr marL="0" indent="0">
              <a:buNone/>
            </a:pPr>
            <a:r>
              <a:rPr lang="en-IN" dirty="0"/>
              <a:t>Output</a:t>
            </a:r>
          </a:p>
          <a:p>
            <a:r>
              <a:rPr lang="en-IN" dirty="0" err="1"/>
              <a:t>clk</a:t>
            </a:r>
            <a:endParaRPr lang="en-IN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3934D190-3672-3790-D6BF-65F9249DCB96}"/>
              </a:ext>
            </a:extLst>
          </p:cNvPr>
          <p:cNvSpPr txBox="1">
            <a:spLocks/>
          </p:cNvSpPr>
          <p:nvPr/>
        </p:nvSpPr>
        <p:spPr>
          <a:xfrm>
            <a:off x="4851919" y="0"/>
            <a:ext cx="3778897" cy="6858000"/>
          </a:xfrm>
          <a:prstGeom prst="rect">
            <a:avLst/>
          </a:prstGeom>
        </p:spPr>
        <p:txBody>
          <a:bodyPr vert="horz" lIns="91440" tIns="45720" rIns="91440" bIns="45720" rtlCol="0">
            <a:normAutofit fontScale="70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b="1" dirty="0"/>
              <a:t>Slicing</a:t>
            </a:r>
          </a:p>
          <a:p>
            <a:r>
              <a:rPr lang="en-US" dirty="0"/>
              <a:t>signals = ["</a:t>
            </a:r>
            <a:r>
              <a:rPr lang="en-US" dirty="0" err="1"/>
              <a:t>clk</a:t>
            </a:r>
            <a:r>
              <a:rPr lang="en-US" dirty="0"/>
              <a:t>","</a:t>
            </a:r>
            <a:r>
              <a:rPr lang="en-US" dirty="0" err="1"/>
              <a:t>reset","data</a:t>
            </a:r>
            <a:r>
              <a:rPr lang="en-US" dirty="0"/>
              <a:t>"]</a:t>
            </a:r>
            <a:br>
              <a:rPr lang="en-US" dirty="0"/>
            </a:br>
            <a:r>
              <a:rPr lang="en-US" dirty="0"/>
              <a:t>print(signals[0:2])</a:t>
            </a:r>
          </a:p>
          <a:p>
            <a:pPr marL="0" indent="0">
              <a:buNone/>
            </a:pPr>
            <a:r>
              <a:rPr lang="en-US" dirty="0"/>
              <a:t>Output</a:t>
            </a:r>
          </a:p>
          <a:p>
            <a:r>
              <a:rPr lang="en-US" dirty="0"/>
              <a:t>['</a:t>
            </a:r>
            <a:r>
              <a:rPr lang="en-US" dirty="0" err="1"/>
              <a:t>clk</a:t>
            </a:r>
            <a:r>
              <a:rPr lang="en-US" dirty="0"/>
              <a:t>','reset’]</a:t>
            </a:r>
          </a:p>
          <a:p>
            <a:endParaRPr lang="en-US" dirty="0"/>
          </a:p>
          <a:p>
            <a:r>
              <a:rPr lang="en-US" sz="3400" b="1" dirty="0"/>
              <a:t>List Methods</a:t>
            </a:r>
          </a:p>
          <a:p>
            <a:pPr marL="0" indent="0">
              <a:buNone/>
            </a:pPr>
            <a:r>
              <a:rPr lang="en-IN" b="1" dirty="0"/>
              <a:t>append()</a:t>
            </a:r>
          </a:p>
          <a:p>
            <a:pPr marL="0" indent="0">
              <a:buNone/>
            </a:pPr>
            <a:r>
              <a:rPr lang="en-IN" dirty="0"/>
              <a:t>Adds element.</a:t>
            </a:r>
          </a:p>
          <a:p>
            <a:r>
              <a:rPr lang="en-IN" dirty="0"/>
              <a:t>signals = ["</a:t>
            </a:r>
            <a:r>
              <a:rPr lang="en-IN" dirty="0" err="1"/>
              <a:t>clk</a:t>
            </a:r>
            <a:r>
              <a:rPr lang="en-IN" dirty="0"/>
              <a:t>"]</a:t>
            </a:r>
            <a:br>
              <a:rPr lang="en-IN" dirty="0"/>
            </a:br>
            <a:br>
              <a:rPr lang="en-IN" dirty="0"/>
            </a:br>
            <a:r>
              <a:rPr lang="en-IN" dirty="0" err="1"/>
              <a:t>signals.append</a:t>
            </a:r>
            <a:r>
              <a:rPr lang="en-IN" dirty="0"/>
              <a:t>("reset")</a:t>
            </a:r>
            <a:br>
              <a:rPr lang="en-IN" dirty="0"/>
            </a:br>
            <a:br>
              <a:rPr lang="en-IN" dirty="0"/>
            </a:br>
            <a:r>
              <a:rPr lang="en-IN" dirty="0"/>
              <a:t>print(signals)</a:t>
            </a:r>
          </a:p>
          <a:p>
            <a:pPr marL="0" indent="0">
              <a:buNone/>
            </a:pPr>
            <a:r>
              <a:rPr lang="en-IN" dirty="0"/>
              <a:t>Output</a:t>
            </a:r>
          </a:p>
          <a:p>
            <a:r>
              <a:rPr lang="en-IN" dirty="0"/>
              <a:t>['</a:t>
            </a:r>
            <a:r>
              <a:rPr lang="en-IN" dirty="0" err="1"/>
              <a:t>clk</a:t>
            </a:r>
            <a:r>
              <a:rPr lang="en-IN" dirty="0"/>
              <a:t>','reset']</a:t>
            </a:r>
          </a:p>
          <a:p>
            <a:pPr marL="0" indent="0">
              <a:buNone/>
            </a:pPr>
            <a:r>
              <a:rPr lang="en-IN" b="1" dirty="0"/>
              <a:t>extend()</a:t>
            </a:r>
          </a:p>
          <a:p>
            <a:r>
              <a:rPr lang="en-IN" dirty="0"/>
              <a:t>Adds multiple elements.</a:t>
            </a:r>
          </a:p>
          <a:p>
            <a:r>
              <a:rPr lang="en-IN" dirty="0"/>
              <a:t>signals = ["</a:t>
            </a:r>
            <a:r>
              <a:rPr lang="en-IN" dirty="0" err="1"/>
              <a:t>clk</a:t>
            </a:r>
            <a:r>
              <a:rPr lang="en-IN" dirty="0"/>
              <a:t>"]</a:t>
            </a:r>
            <a:br>
              <a:rPr lang="en-IN" dirty="0"/>
            </a:br>
            <a:br>
              <a:rPr lang="en-IN" dirty="0"/>
            </a:br>
            <a:r>
              <a:rPr lang="en-IN" dirty="0" err="1"/>
              <a:t>signals.extend</a:t>
            </a:r>
            <a:r>
              <a:rPr lang="en-IN" dirty="0"/>
              <a:t>(["</a:t>
            </a:r>
            <a:r>
              <a:rPr lang="en-IN" dirty="0" err="1"/>
              <a:t>reset","data</a:t>
            </a:r>
            <a:r>
              <a:rPr lang="en-IN" dirty="0"/>
              <a:t>"])</a:t>
            </a:r>
            <a:br>
              <a:rPr lang="en-IN" dirty="0"/>
            </a:br>
            <a:br>
              <a:rPr lang="en-IN" dirty="0"/>
            </a:br>
            <a:r>
              <a:rPr lang="en-IN" dirty="0"/>
              <a:t>print(signals)</a:t>
            </a:r>
          </a:p>
          <a:p>
            <a:endParaRPr lang="en-US" dirty="0"/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F991FD2D-551C-2955-07E8-3BBC4434FD1B}"/>
              </a:ext>
            </a:extLst>
          </p:cNvPr>
          <p:cNvSpPr txBox="1">
            <a:spLocks/>
          </p:cNvSpPr>
          <p:nvPr/>
        </p:nvSpPr>
        <p:spPr>
          <a:xfrm>
            <a:off x="8425542" y="0"/>
            <a:ext cx="4018384" cy="68580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b="1" dirty="0"/>
              <a:t>pop()</a:t>
            </a:r>
          </a:p>
          <a:p>
            <a:r>
              <a:rPr lang="en-US" dirty="0"/>
              <a:t>Removes element.</a:t>
            </a:r>
          </a:p>
          <a:p>
            <a:r>
              <a:rPr lang="en-US" dirty="0" err="1"/>
              <a:t>nums</a:t>
            </a:r>
            <a:r>
              <a:rPr lang="en-US" dirty="0"/>
              <a:t> = [1,2,3]</a:t>
            </a:r>
            <a:br>
              <a:rPr lang="en-US" dirty="0"/>
            </a:br>
            <a:r>
              <a:rPr lang="en-US" dirty="0" err="1"/>
              <a:t>nums.pop</a:t>
            </a:r>
            <a:r>
              <a:rPr lang="en-US" dirty="0"/>
              <a:t>()</a:t>
            </a:r>
            <a:br>
              <a:rPr lang="en-US" dirty="0"/>
            </a:br>
            <a:r>
              <a:rPr lang="en-US" dirty="0"/>
              <a:t>print(</a:t>
            </a:r>
            <a:r>
              <a:rPr lang="en-US" dirty="0" err="1"/>
              <a:t>nums</a:t>
            </a:r>
            <a:r>
              <a:rPr lang="en-US" dirty="0"/>
              <a:t>)</a:t>
            </a:r>
          </a:p>
          <a:p>
            <a:pPr marL="0" indent="0">
              <a:buNone/>
            </a:pPr>
            <a:r>
              <a:rPr lang="en-US" dirty="0"/>
              <a:t>Output</a:t>
            </a:r>
          </a:p>
          <a:p>
            <a:r>
              <a:rPr lang="en-US" dirty="0"/>
              <a:t>[1,2]</a:t>
            </a:r>
          </a:p>
          <a:p>
            <a:pPr marL="0" indent="0">
              <a:buNone/>
            </a:pPr>
            <a:r>
              <a:rPr lang="en-US" b="1" dirty="0"/>
              <a:t>remove()</a:t>
            </a:r>
          </a:p>
          <a:p>
            <a:r>
              <a:rPr lang="en-US" dirty="0" err="1"/>
              <a:t>nums</a:t>
            </a:r>
            <a:r>
              <a:rPr lang="en-US" dirty="0"/>
              <a:t> = [1,2,3]</a:t>
            </a:r>
            <a:br>
              <a:rPr lang="en-US" dirty="0"/>
            </a:br>
            <a:r>
              <a:rPr lang="en-US" dirty="0" err="1"/>
              <a:t>nums.remove</a:t>
            </a:r>
            <a:r>
              <a:rPr lang="en-US" dirty="0"/>
              <a:t>(2)</a:t>
            </a:r>
            <a:br>
              <a:rPr lang="en-US" dirty="0"/>
            </a:br>
            <a:r>
              <a:rPr lang="en-US" dirty="0"/>
              <a:t>print(</a:t>
            </a:r>
            <a:r>
              <a:rPr lang="en-US" dirty="0" err="1"/>
              <a:t>nums</a:t>
            </a:r>
            <a:r>
              <a:rPr lang="en-US" dirty="0"/>
              <a:t>)</a:t>
            </a:r>
          </a:p>
          <a:p>
            <a:pPr marL="0" indent="0">
              <a:buNone/>
            </a:pPr>
            <a:r>
              <a:rPr lang="en-US" dirty="0"/>
              <a:t>Output</a:t>
            </a:r>
          </a:p>
          <a:p>
            <a:r>
              <a:rPr lang="en-US" dirty="0"/>
              <a:t>[1,3]</a:t>
            </a:r>
          </a:p>
        </p:txBody>
      </p:sp>
    </p:spTree>
    <p:extLst>
      <p:ext uri="{BB962C8B-B14F-4D97-AF65-F5344CB8AC3E}">
        <p14:creationId xmlns:p14="http://schemas.microsoft.com/office/powerpoint/2010/main" val="278749194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3A70C1-356B-FC21-4741-F9B5BBD92E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EB8A11-AE35-8764-D46A-57B6CC5A284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" y="0"/>
            <a:ext cx="3778897" cy="6858000"/>
          </a:xfrm>
        </p:spPr>
        <p:txBody>
          <a:bodyPr>
            <a:normAutofit fontScale="77500" lnSpcReduction="20000"/>
          </a:bodyPr>
          <a:lstStyle/>
          <a:p>
            <a:pPr>
              <a:buFont typeface="Wingdings" panose="05000000000000000000" pitchFamily="2" charset="2"/>
              <a:buChar char="Ø"/>
            </a:pPr>
            <a:r>
              <a:rPr lang="en-US" sz="3600" b="1" dirty="0"/>
              <a:t>Tuples</a:t>
            </a:r>
            <a:endParaRPr lang="en-US" sz="3600" dirty="0"/>
          </a:p>
          <a:p>
            <a:pPr marL="0" indent="0">
              <a:buNone/>
            </a:pPr>
            <a:r>
              <a:rPr lang="en-US" b="1" dirty="0"/>
              <a:t>Definition</a:t>
            </a:r>
          </a:p>
          <a:p>
            <a:r>
              <a:rPr lang="en-US" dirty="0"/>
              <a:t>A </a:t>
            </a:r>
            <a:r>
              <a:rPr lang="en-US" b="1" dirty="0"/>
              <a:t>tuple</a:t>
            </a:r>
            <a:r>
              <a:rPr lang="en-US" dirty="0"/>
              <a:t> is similar to a list but </a:t>
            </a:r>
            <a:r>
              <a:rPr lang="en-US" b="1" dirty="0"/>
              <a:t>immutable</a:t>
            </a:r>
            <a:r>
              <a:rPr lang="en-US" dirty="0"/>
              <a:t>.</a:t>
            </a:r>
          </a:p>
          <a:p>
            <a:r>
              <a:rPr lang="en-US" dirty="0"/>
              <a:t>Example</a:t>
            </a:r>
          </a:p>
          <a:p>
            <a:r>
              <a:rPr lang="en-US" dirty="0"/>
              <a:t>coordinates = (10,20)</a:t>
            </a:r>
          </a:p>
          <a:p>
            <a:pPr marL="0" indent="0">
              <a:buNone/>
            </a:pPr>
            <a:r>
              <a:rPr lang="en-US" b="1" dirty="0"/>
              <a:t>Accessing Elements</a:t>
            </a:r>
          </a:p>
          <a:p>
            <a:r>
              <a:rPr lang="en-US" dirty="0"/>
              <a:t>t = (1,2,3)</a:t>
            </a:r>
            <a:br>
              <a:rPr lang="en-US" dirty="0"/>
            </a:br>
            <a:br>
              <a:rPr lang="en-US" dirty="0"/>
            </a:br>
            <a:r>
              <a:rPr lang="en-US" dirty="0"/>
              <a:t>print(t[0])</a:t>
            </a:r>
          </a:p>
          <a:p>
            <a:pPr marL="0" indent="0">
              <a:buNone/>
            </a:pPr>
            <a:r>
              <a:rPr lang="en-US" dirty="0"/>
              <a:t>Output</a:t>
            </a:r>
          </a:p>
          <a:p>
            <a:r>
              <a:rPr lang="en-US" dirty="0"/>
              <a:t>1</a:t>
            </a:r>
          </a:p>
          <a:p>
            <a:pPr marL="0" indent="0">
              <a:buNone/>
            </a:pPr>
            <a:r>
              <a:rPr lang="en-IN" b="1" dirty="0"/>
              <a:t>Tuple Packing</a:t>
            </a:r>
          </a:p>
          <a:p>
            <a:r>
              <a:rPr lang="en-IN" dirty="0"/>
              <a:t>t = 1,2,3</a:t>
            </a:r>
          </a:p>
          <a:p>
            <a:pPr marL="0" indent="0">
              <a:buNone/>
            </a:pPr>
            <a:r>
              <a:rPr lang="en-IN" b="1" dirty="0"/>
              <a:t>Tuple Unpacking</a:t>
            </a:r>
          </a:p>
          <a:p>
            <a:r>
              <a:rPr lang="en-IN" dirty="0" err="1"/>
              <a:t>a,b,c</a:t>
            </a:r>
            <a:r>
              <a:rPr lang="en-IN" dirty="0"/>
              <a:t> = (1,2,3)</a:t>
            </a:r>
            <a:br>
              <a:rPr lang="en-IN" dirty="0"/>
            </a:br>
            <a:br>
              <a:rPr lang="en-IN" dirty="0"/>
            </a:br>
            <a:r>
              <a:rPr lang="en-IN" dirty="0"/>
              <a:t>print(</a:t>
            </a:r>
            <a:r>
              <a:rPr lang="en-IN" dirty="0" err="1"/>
              <a:t>a,b,c</a:t>
            </a:r>
            <a:r>
              <a:rPr lang="en-IN" dirty="0"/>
              <a:t>)</a:t>
            </a:r>
          </a:p>
          <a:p>
            <a:pPr marL="0" indent="0">
              <a:buNone/>
            </a:pPr>
            <a:r>
              <a:rPr lang="en-IN" dirty="0"/>
              <a:t>Output</a:t>
            </a:r>
          </a:p>
          <a:p>
            <a:r>
              <a:rPr lang="en-IN" dirty="0"/>
              <a:t>1 2 3</a:t>
            </a:r>
          </a:p>
          <a:p>
            <a:endParaRPr lang="en-US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543C28A1-B478-C90B-BA2B-1D2BA7949F6E}"/>
              </a:ext>
            </a:extLst>
          </p:cNvPr>
          <p:cNvSpPr txBox="1">
            <a:spLocks/>
          </p:cNvSpPr>
          <p:nvPr/>
        </p:nvSpPr>
        <p:spPr>
          <a:xfrm>
            <a:off x="4086809" y="0"/>
            <a:ext cx="3778897" cy="68580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anose="05000000000000000000" pitchFamily="2" charset="2"/>
              <a:buChar char="Ø"/>
            </a:pPr>
            <a:r>
              <a:rPr lang="en-IN" b="1" dirty="0"/>
              <a:t>Dictionaries</a:t>
            </a:r>
            <a:endParaRPr lang="en-IN" dirty="0"/>
          </a:p>
          <a:p>
            <a:pPr marL="0" indent="0">
              <a:buNone/>
            </a:pPr>
            <a:r>
              <a:rPr lang="en-IN" b="1" dirty="0"/>
              <a:t>Definition</a:t>
            </a:r>
          </a:p>
          <a:p>
            <a:r>
              <a:rPr lang="en-IN" dirty="0"/>
              <a:t>Dictionary stores </a:t>
            </a:r>
            <a:r>
              <a:rPr lang="en-IN" b="1" dirty="0"/>
              <a:t>key-value pairs</a:t>
            </a:r>
            <a:r>
              <a:rPr lang="en-IN" dirty="0"/>
              <a:t>.</a:t>
            </a:r>
          </a:p>
          <a:p>
            <a:pPr marL="0" indent="0">
              <a:buNone/>
            </a:pPr>
            <a:r>
              <a:rPr lang="en-IN" dirty="0"/>
              <a:t>Example</a:t>
            </a:r>
          </a:p>
          <a:p>
            <a:r>
              <a:rPr lang="en-IN" dirty="0"/>
              <a:t>student = {</a:t>
            </a:r>
            <a:br>
              <a:rPr lang="en-IN" dirty="0"/>
            </a:br>
            <a:r>
              <a:rPr lang="en-IN" dirty="0"/>
              <a:t>"</a:t>
            </a:r>
            <a:r>
              <a:rPr lang="en-IN" dirty="0" err="1"/>
              <a:t>name":"Ravi</a:t>
            </a:r>
            <a:r>
              <a:rPr lang="en-IN" dirty="0"/>
              <a:t>",</a:t>
            </a:r>
            <a:br>
              <a:rPr lang="en-IN" dirty="0"/>
            </a:br>
            <a:r>
              <a:rPr lang="en-IN" dirty="0"/>
              <a:t>"marks":85</a:t>
            </a:r>
            <a:br>
              <a:rPr lang="en-IN" dirty="0"/>
            </a:br>
            <a:r>
              <a:rPr lang="en-IN" dirty="0"/>
              <a:t>}</a:t>
            </a:r>
          </a:p>
          <a:p>
            <a:pPr marL="0" indent="0">
              <a:buNone/>
            </a:pPr>
            <a:r>
              <a:rPr lang="en-IN" b="1" dirty="0"/>
              <a:t>Accessing Values</a:t>
            </a:r>
          </a:p>
          <a:p>
            <a:r>
              <a:rPr lang="en-IN" dirty="0"/>
              <a:t>print(student["name"])</a:t>
            </a:r>
          </a:p>
          <a:p>
            <a:pPr marL="0" indent="0">
              <a:buNone/>
            </a:pPr>
            <a:r>
              <a:rPr lang="en-IN" dirty="0"/>
              <a:t>Output</a:t>
            </a:r>
          </a:p>
          <a:p>
            <a:r>
              <a:rPr lang="en-IN" dirty="0"/>
              <a:t>Ravi</a:t>
            </a:r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CDB2B02-B642-C9BA-529F-5464CD44FB84}"/>
              </a:ext>
            </a:extLst>
          </p:cNvPr>
          <p:cNvSpPr txBox="1">
            <a:spLocks/>
          </p:cNvSpPr>
          <p:nvPr/>
        </p:nvSpPr>
        <p:spPr>
          <a:xfrm>
            <a:off x="7865706" y="0"/>
            <a:ext cx="4326294" cy="68580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b="1" dirty="0"/>
              <a:t>Important Methods in Dictionaries</a:t>
            </a:r>
            <a:endParaRPr lang="en-US" dirty="0"/>
          </a:p>
          <a:p>
            <a:pPr marL="0" indent="0">
              <a:buNone/>
            </a:pPr>
            <a:r>
              <a:rPr lang="en-US" b="1" dirty="0"/>
              <a:t>keys()</a:t>
            </a:r>
          </a:p>
          <a:p>
            <a:r>
              <a:rPr lang="en-US" dirty="0"/>
              <a:t>print(</a:t>
            </a:r>
            <a:r>
              <a:rPr lang="en-US" dirty="0" err="1"/>
              <a:t>student.keys</a:t>
            </a:r>
            <a:r>
              <a:rPr lang="en-US" dirty="0"/>
              <a:t>())</a:t>
            </a:r>
          </a:p>
          <a:p>
            <a:pPr marL="0" indent="0">
              <a:buNone/>
            </a:pPr>
            <a:r>
              <a:rPr lang="en-US" b="1" dirty="0"/>
              <a:t>values()</a:t>
            </a:r>
          </a:p>
          <a:p>
            <a:r>
              <a:rPr lang="en-US" dirty="0"/>
              <a:t>print(</a:t>
            </a:r>
            <a:r>
              <a:rPr lang="en-US" dirty="0" err="1"/>
              <a:t>student.values</a:t>
            </a:r>
            <a:r>
              <a:rPr lang="en-US" dirty="0"/>
              <a:t>())</a:t>
            </a:r>
          </a:p>
          <a:p>
            <a:pPr marL="0" indent="0">
              <a:buNone/>
            </a:pPr>
            <a:r>
              <a:rPr lang="en-US" b="1" dirty="0"/>
              <a:t>items()</a:t>
            </a:r>
          </a:p>
          <a:p>
            <a:r>
              <a:rPr lang="en-US" dirty="0"/>
              <a:t>print(</a:t>
            </a:r>
            <a:r>
              <a:rPr lang="en-US" dirty="0" err="1"/>
              <a:t>student.items</a:t>
            </a:r>
            <a:r>
              <a:rPr lang="en-US" dirty="0"/>
              <a:t>())</a:t>
            </a:r>
          </a:p>
          <a:p>
            <a:pPr marL="0" indent="0">
              <a:buNone/>
            </a:pPr>
            <a:r>
              <a:rPr lang="en-US" b="1" dirty="0"/>
              <a:t>get()</a:t>
            </a:r>
          </a:p>
          <a:p>
            <a:r>
              <a:rPr lang="en-US" dirty="0"/>
              <a:t>print(</a:t>
            </a:r>
            <a:r>
              <a:rPr lang="en-US" dirty="0" err="1"/>
              <a:t>student.get</a:t>
            </a:r>
            <a:r>
              <a:rPr lang="en-US" dirty="0"/>
              <a:t>("name"))</a:t>
            </a:r>
          </a:p>
        </p:txBody>
      </p:sp>
    </p:spTree>
    <p:extLst>
      <p:ext uri="{BB962C8B-B14F-4D97-AF65-F5344CB8AC3E}">
        <p14:creationId xmlns:p14="http://schemas.microsoft.com/office/powerpoint/2010/main" val="406224957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0FBA18-4348-4AF3-DC04-0EF640746E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1AA078-834C-6966-F01D-5059820197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" y="0"/>
            <a:ext cx="5038530" cy="6858000"/>
          </a:xfrm>
        </p:spPr>
        <p:txBody>
          <a:bodyPr>
            <a:normAutofit fontScale="92500" lnSpcReduction="20000"/>
          </a:bodyPr>
          <a:lstStyle/>
          <a:p>
            <a:pPr>
              <a:buFont typeface="Wingdings" panose="05000000000000000000" pitchFamily="2" charset="2"/>
              <a:buChar char="Ø"/>
            </a:pPr>
            <a:r>
              <a:rPr lang="en-US" sz="3500" b="1" dirty="0"/>
              <a:t>Sets</a:t>
            </a:r>
            <a:endParaRPr lang="en-US" sz="3500" dirty="0"/>
          </a:p>
          <a:p>
            <a:pPr marL="0" indent="0">
              <a:buNone/>
            </a:pPr>
            <a:r>
              <a:rPr lang="en-US" b="1" dirty="0"/>
              <a:t>Definition</a:t>
            </a:r>
          </a:p>
          <a:p>
            <a:r>
              <a:rPr lang="en-US" dirty="0"/>
              <a:t>A </a:t>
            </a:r>
            <a:r>
              <a:rPr lang="en-US" b="1" dirty="0"/>
              <a:t>set</a:t>
            </a:r>
            <a:r>
              <a:rPr lang="en-US" dirty="0"/>
              <a:t> is an unordered collection of unique elements.</a:t>
            </a:r>
          </a:p>
          <a:p>
            <a:r>
              <a:rPr lang="en-US" dirty="0"/>
              <a:t>Example</a:t>
            </a:r>
          </a:p>
          <a:p>
            <a:r>
              <a:rPr lang="en-US" dirty="0"/>
              <a:t>s = {1,2,3}</a:t>
            </a:r>
          </a:p>
          <a:p>
            <a:pPr marL="0" indent="0">
              <a:buNone/>
            </a:pPr>
            <a:r>
              <a:rPr lang="en-US" b="1" dirty="0"/>
              <a:t>Set Operations</a:t>
            </a:r>
            <a:endParaRPr lang="en-US" dirty="0"/>
          </a:p>
          <a:p>
            <a:r>
              <a:rPr lang="en-US" b="1" dirty="0"/>
              <a:t>union()</a:t>
            </a:r>
          </a:p>
          <a:p>
            <a:r>
              <a:rPr lang="en-US" dirty="0"/>
              <a:t>a = {1,2}</a:t>
            </a:r>
            <a:br>
              <a:rPr lang="en-US" dirty="0"/>
            </a:br>
            <a:r>
              <a:rPr lang="en-US" dirty="0"/>
              <a:t>b = {2,3}</a:t>
            </a:r>
            <a:br>
              <a:rPr lang="en-US" dirty="0"/>
            </a:br>
            <a:r>
              <a:rPr lang="en-US" dirty="0"/>
              <a:t>print(</a:t>
            </a:r>
            <a:r>
              <a:rPr lang="en-US" dirty="0" err="1"/>
              <a:t>a.union</a:t>
            </a:r>
            <a:r>
              <a:rPr lang="en-US" dirty="0"/>
              <a:t>(b))</a:t>
            </a:r>
          </a:p>
          <a:p>
            <a:pPr marL="0" indent="0">
              <a:buNone/>
            </a:pPr>
            <a:r>
              <a:rPr lang="en-US" dirty="0"/>
              <a:t>Output</a:t>
            </a:r>
          </a:p>
          <a:p>
            <a:r>
              <a:rPr lang="en-US" dirty="0"/>
              <a:t>{1,2,3}</a:t>
            </a:r>
          </a:p>
          <a:p>
            <a:pPr marL="0" indent="0">
              <a:buNone/>
            </a:pPr>
            <a:r>
              <a:rPr lang="en-US" b="1" dirty="0"/>
              <a:t>intersection()</a:t>
            </a:r>
          </a:p>
          <a:p>
            <a:r>
              <a:rPr lang="en-US" dirty="0"/>
              <a:t>print(</a:t>
            </a:r>
            <a:r>
              <a:rPr lang="en-US" dirty="0" err="1"/>
              <a:t>a.intersection</a:t>
            </a:r>
            <a:r>
              <a:rPr lang="en-US" dirty="0"/>
              <a:t>(b))</a:t>
            </a:r>
          </a:p>
          <a:p>
            <a:r>
              <a:rPr lang="en-US" dirty="0"/>
              <a:t>Output</a:t>
            </a:r>
          </a:p>
          <a:p>
            <a:r>
              <a:rPr lang="en-US" dirty="0"/>
              <a:t>{2}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45B68C23-31F6-1934-B488-15ADAD215DE0}"/>
              </a:ext>
            </a:extLst>
          </p:cNvPr>
          <p:cNvSpPr txBox="1">
            <a:spLocks/>
          </p:cNvSpPr>
          <p:nvPr/>
        </p:nvSpPr>
        <p:spPr>
          <a:xfrm>
            <a:off x="5234474" y="9331"/>
            <a:ext cx="6344816" cy="68580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b="1" dirty="0"/>
              <a:t>difference()</a:t>
            </a:r>
          </a:p>
          <a:p>
            <a:r>
              <a:rPr lang="en-US" dirty="0"/>
              <a:t>print(</a:t>
            </a:r>
            <a:r>
              <a:rPr lang="en-US" dirty="0" err="1"/>
              <a:t>a.difference</a:t>
            </a:r>
            <a:r>
              <a:rPr lang="en-US" dirty="0"/>
              <a:t>(b))</a:t>
            </a:r>
          </a:p>
          <a:p>
            <a:pPr marL="0" indent="0">
              <a:buNone/>
            </a:pPr>
            <a:r>
              <a:rPr lang="en-US" dirty="0"/>
              <a:t>Output</a:t>
            </a:r>
          </a:p>
          <a:p>
            <a:r>
              <a:rPr lang="en-US" dirty="0"/>
              <a:t>{1}</a:t>
            </a:r>
          </a:p>
          <a:p>
            <a:r>
              <a:rPr lang="en-US" b="1" dirty="0" err="1"/>
              <a:t>symmetric_difference</a:t>
            </a:r>
            <a:r>
              <a:rPr lang="en-US" b="1" dirty="0"/>
              <a:t>()</a:t>
            </a:r>
          </a:p>
          <a:p>
            <a:r>
              <a:rPr lang="en-US" dirty="0"/>
              <a:t>print(</a:t>
            </a:r>
            <a:r>
              <a:rPr lang="en-US" dirty="0" err="1"/>
              <a:t>a.symmetric_difference</a:t>
            </a:r>
            <a:r>
              <a:rPr lang="en-US" dirty="0"/>
              <a:t>(b))</a:t>
            </a:r>
          </a:p>
          <a:p>
            <a:pPr marL="0" indent="0">
              <a:buNone/>
            </a:pPr>
            <a:r>
              <a:rPr lang="en-US" dirty="0"/>
              <a:t>Output</a:t>
            </a:r>
          </a:p>
          <a:p>
            <a:r>
              <a:rPr lang="en-US" dirty="0"/>
              <a:t>{1,3}</a:t>
            </a:r>
          </a:p>
        </p:txBody>
      </p:sp>
    </p:spTree>
    <p:extLst>
      <p:ext uri="{BB962C8B-B14F-4D97-AF65-F5344CB8AC3E}">
        <p14:creationId xmlns:p14="http://schemas.microsoft.com/office/powerpoint/2010/main" val="332278556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EE2802-304C-84BB-BF84-62BB4596D1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427977"/>
          </a:xfrm>
        </p:spPr>
        <p:txBody>
          <a:bodyPr>
            <a:normAutofit fontScale="90000"/>
          </a:bodyPr>
          <a:lstStyle/>
          <a:p>
            <a:r>
              <a:rPr lang="en-US" b="1" dirty="0"/>
              <a:t>Arithmetic and Assignment Operators</a:t>
            </a:r>
            <a:br>
              <a:rPr lang="en-US" b="1" dirty="0"/>
            </a:br>
            <a:endParaRPr lang="en-US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48A53091-8034-F00D-7EE7-BB2EC9D9068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596038538"/>
              </p:ext>
            </p:extLst>
          </p:nvPr>
        </p:nvGraphicFramePr>
        <p:xfrm>
          <a:off x="838200" y="793101"/>
          <a:ext cx="4246984" cy="4544009"/>
        </p:xfrm>
        <a:graphic>
          <a:graphicData uri="http://schemas.openxmlformats.org/drawingml/2006/table">
            <a:tbl>
              <a:tblPr/>
              <a:tblGrid>
                <a:gridCol w="1774371">
                  <a:extLst>
                    <a:ext uri="{9D8B030D-6E8A-4147-A177-3AD203B41FA5}">
                      <a16:colId xmlns:a16="http://schemas.microsoft.com/office/drawing/2014/main" val="2373422092"/>
                    </a:ext>
                  </a:extLst>
                </a:gridCol>
                <a:gridCol w="2472613">
                  <a:extLst>
                    <a:ext uri="{9D8B030D-6E8A-4147-A177-3AD203B41FA5}">
                      <a16:colId xmlns:a16="http://schemas.microsoft.com/office/drawing/2014/main" val="3627027231"/>
                    </a:ext>
                  </a:extLst>
                </a:gridCol>
              </a:tblGrid>
              <a:tr h="88973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dirty="0"/>
                        <a:t>Operator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dirty="0"/>
                        <a:t>Meaning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37008868"/>
                  </a:ext>
                </a:extLst>
              </a:tr>
              <a:tr h="52203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+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addition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24697731"/>
                  </a:ext>
                </a:extLst>
              </a:tr>
              <a:tr h="52203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-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subtraction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43990167"/>
                  </a:ext>
                </a:extLst>
              </a:tr>
              <a:tr h="52203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*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multiplication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68914040"/>
                  </a:ext>
                </a:extLst>
              </a:tr>
              <a:tr h="52203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/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division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74184262"/>
                  </a:ext>
                </a:extLst>
              </a:tr>
              <a:tr h="52203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//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floor division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96134911"/>
                  </a:ext>
                </a:extLst>
              </a:tr>
              <a:tr h="52203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%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modulus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00003386"/>
                  </a:ext>
                </a:extLst>
              </a:tr>
              <a:tr h="52203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**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exponent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19008678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A49E6612-5496-E6C9-5156-A604FA0F017F}"/>
              </a:ext>
            </a:extLst>
          </p:cNvPr>
          <p:cNvSpPr txBox="1"/>
          <p:nvPr/>
        </p:nvSpPr>
        <p:spPr>
          <a:xfrm>
            <a:off x="5944378" y="1240970"/>
            <a:ext cx="3108649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Example</a:t>
            </a:r>
          </a:p>
          <a:p>
            <a:r>
              <a:rPr lang="en-US" dirty="0"/>
              <a:t>a = 10</a:t>
            </a:r>
          </a:p>
          <a:p>
            <a:r>
              <a:rPr lang="en-US" dirty="0"/>
              <a:t>b = 3</a:t>
            </a:r>
          </a:p>
          <a:p>
            <a:endParaRPr lang="en-US" dirty="0"/>
          </a:p>
          <a:p>
            <a:r>
              <a:rPr lang="en-US" dirty="0"/>
              <a:t>print(a + b)</a:t>
            </a:r>
          </a:p>
          <a:p>
            <a:r>
              <a:rPr lang="en-US" dirty="0"/>
              <a:t>print(a - b)</a:t>
            </a:r>
          </a:p>
          <a:p>
            <a:r>
              <a:rPr lang="en-US" dirty="0"/>
              <a:t>print(a * b)</a:t>
            </a:r>
          </a:p>
          <a:p>
            <a:r>
              <a:rPr lang="en-US" dirty="0"/>
              <a:t>print(a / b)</a:t>
            </a:r>
          </a:p>
          <a:p>
            <a:r>
              <a:rPr lang="en-US" dirty="0"/>
              <a:t>print(a // b)</a:t>
            </a:r>
          </a:p>
          <a:p>
            <a:r>
              <a:rPr lang="en-US" dirty="0"/>
              <a:t>print(a % b)</a:t>
            </a:r>
          </a:p>
          <a:p>
            <a:r>
              <a:rPr lang="en-US" dirty="0"/>
              <a:t>print(a ** b)</a:t>
            </a:r>
          </a:p>
        </p:txBody>
      </p:sp>
    </p:spTree>
    <p:extLst>
      <p:ext uri="{BB962C8B-B14F-4D97-AF65-F5344CB8AC3E}">
        <p14:creationId xmlns:p14="http://schemas.microsoft.com/office/powerpoint/2010/main" val="227404766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9C649F-882D-6081-DCDF-EF78819822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6273" y="214604"/>
            <a:ext cx="10515600" cy="111967"/>
          </a:xfrm>
        </p:spPr>
        <p:txBody>
          <a:bodyPr>
            <a:normAutofit fontScale="90000"/>
          </a:bodyPr>
          <a:lstStyle/>
          <a:p>
            <a:r>
              <a:rPr lang="en-US" dirty="0"/>
              <a:t>Assignment Operators</a:t>
            </a:r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8ACC61F2-2B83-4EDE-93FB-AA0ECF88A36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417884150"/>
              </p:ext>
            </p:extLst>
          </p:nvPr>
        </p:nvGraphicFramePr>
        <p:xfrm>
          <a:off x="586273" y="618014"/>
          <a:ext cx="10515600" cy="2194560"/>
        </p:xfrm>
        <a:graphic>
          <a:graphicData uri="http://schemas.openxmlformats.org/drawingml/2006/table">
            <a:tbl>
              <a:tblPr/>
              <a:tblGrid>
                <a:gridCol w="1783702">
                  <a:extLst>
                    <a:ext uri="{9D8B030D-6E8A-4147-A177-3AD203B41FA5}">
                      <a16:colId xmlns:a16="http://schemas.microsoft.com/office/drawing/2014/main" val="4273122012"/>
                    </a:ext>
                  </a:extLst>
                </a:gridCol>
                <a:gridCol w="8731898">
                  <a:extLst>
                    <a:ext uri="{9D8B030D-6E8A-4147-A177-3AD203B41FA5}">
                      <a16:colId xmlns:a16="http://schemas.microsoft.com/office/drawing/2014/main" val="264688465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dirty="0"/>
                        <a:t>Operator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dirty="0"/>
                        <a:t>Meaning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304847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=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assign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2163575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+=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add and assign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0076771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-=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subtract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3385241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*=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multiply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480585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/=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divide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9900252"/>
                  </a:ext>
                </a:extLst>
              </a:tr>
            </a:tbl>
          </a:graphicData>
        </a:graphic>
      </p:graphicFrame>
      <p:sp>
        <p:nvSpPr>
          <p:cNvPr id="7" name="Title 1">
            <a:extLst>
              <a:ext uri="{FF2B5EF4-FFF2-40B4-BE49-F238E27FC236}">
                <a16:creationId xmlns:a16="http://schemas.microsoft.com/office/drawing/2014/main" id="{55FF9CB8-63BF-5F37-AF71-2059BD692E58}"/>
              </a:ext>
            </a:extLst>
          </p:cNvPr>
          <p:cNvSpPr txBox="1">
            <a:spLocks/>
          </p:cNvSpPr>
          <p:nvPr/>
        </p:nvSpPr>
        <p:spPr>
          <a:xfrm>
            <a:off x="651587" y="2964802"/>
            <a:ext cx="10515600" cy="282017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457200" indent="-457200">
              <a:buFont typeface="Arial" panose="020B0604020202020204" pitchFamily="34" charset="0"/>
              <a:buChar char="•"/>
            </a:pPr>
            <a:r>
              <a:rPr lang="en-IN" sz="2800" dirty="0">
                <a:latin typeface="+mn-lt"/>
              </a:rPr>
              <a:t>Example:</a:t>
            </a:r>
          </a:p>
          <a:p>
            <a:r>
              <a:rPr lang="en-IN" sz="2800" dirty="0">
                <a:latin typeface="+mn-lt"/>
              </a:rPr>
              <a:t>x = 10</a:t>
            </a:r>
            <a:br>
              <a:rPr lang="en-IN" sz="2800" dirty="0">
                <a:latin typeface="+mn-lt"/>
              </a:rPr>
            </a:br>
            <a:r>
              <a:rPr lang="en-IN" sz="2800" dirty="0">
                <a:latin typeface="+mn-lt"/>
              </a:rPr>
              <a:t>x += 5</a:t>
            </a:r>
            <a:br>
              <a:rPr lang="en-IN" sz="2800" dirty="0">
                <a:latin typeface="+mn-lt"/>
              </a:rPr>
            </a:br>
            <a:r>
              <a:rPr lang="en-IN" sz="2800" dirty="0">
                <a:latin typeface="+mn-lt"/>
              </a:rPr>
              <a:t>print(x)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IN" sz="2800" dirty="0">
                <a:latin typeface="+mn-lt"/>
              </a:rPr>
              <a:t>Output</a:t>
            </a:r>
          </a:p>
          <a:p>
            <a:r>
              <a:rPr lang="en-IN" sz="2800" dirty="0">
                <a:latin typeface="+mn-lt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35127595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BBE85A-5B8B-5156-A580-6F307E5313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0249" y="94538"/>
            <a:ext cx="10515600" cy="315912"/>
          </a:xfrm>
        </p:spPr>
        <p:txBody>
          <a:bodyPr>
            <a:normAutofit fontScale="90000"/>
          </a:bodyPr>
          <a:lstStyle/>
          <a:p>
            <a:r>
              <a:rPr lang="en-US" dirty="0"/>
              <a:t>Comparison and Logical Operators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D0DAD2-B163-BB77-1C84-9A79B40CB0E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606490"/>
            <a:ext cx="10515600" cy="5570473"/>
          </a:xfrm>
        </p:spPr>
        <p:txBody>
          <a:bodyPr/>
          <a:lstStyle/>
          <a:p>
            <a:r>
              <a:rPr lang="en-US" dirty="0"/>
              <a:t>Comparison Operators</a:t>
            </a:r>
          </a:p>
          <a:p>
            <a:pPr marL="0" indent="0">
              <a:buNone/>
            </a:pPr>
            <a:endParaRPr lang="en-US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872D1BF6-D864-99FF-19EA-23E392739EC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47845721"/>
              </p:ext>
            </p:extLst>
          </p:nvPr>
        </p:nvGraphicFramePr>
        <p:xfrm>
          <a:off x="838200" y="1069614"/>
          <a:ext cx="4265645" cy="3297110"/>
        </p:xfrm>
        <a:graphic>
          <a:graphicData uri="http://schemas.openxmlformats.org/drawingml/2006/table">
            <a:tbl>
              <a:tblPr/>
              <a:tblGrid>
                <a:gridCol w="1634412">
                  <a:extLst>
                    <a:ext uri="{9D8B030D-6E8A-4147-A177-3AD203B41FA5}">
                      <a16:colId xmlns:a16="http://schemas.microsoft.com/office/drawing/2014/main" val="3351627170"/>
                    </a:ext>
                  </a:extLst>
                </a:gridCol>
                <a:gridCol w="2631233">
                  <a:extLst>
                    <a:ext uri="{9D8B030D-6E8A-4147-A177-3AD203B41FA5}">
                      <a16:colId xmlns:a16="http://schemas.microsoft.com/office/drawing/2014/main" val="3308185001"/>
                    </a:ext>
                  </a:extLst>
                </a:gridCol>
              </a:tblGrid>
              <a:tr h="68469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dirty="0"/>
                        <a:t>Operator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dirty="0"/>
                        <a:t>Meaning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71078808"/>
                  </a:ext>
                </a:extLst>
              </a:tr>
              <a:tr h="4354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==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equal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5783915"/>
                  </a:ext>
                </a:extLst>
              </a:tr>
              <a:tr h="4354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!=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not equal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13782369"/>
                  </a:ext>
                </a:extLst>
              </a:tr>
              <a:tr h="4354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&gt;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greater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00650530"/>
                  </a:ext>
                </a:extLst>
              </a:tr>
              <a:tr h="4354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&lt;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less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4482067"/>
                  </a:ext>
                </a:extLst>
              </a:tr>
              <a:tr h="4354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&gt;=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greater equal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59397845"/>
                  </a:ext>
                </a:extLst>
              </a:tr>
              <a:tr h="4354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&lt;=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less equal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71888908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491C2487-C705-BDF1-C3C5-0D6688A2E494}"/>
              </a:ext>
            </a:extLst>
          </p:cNvPr>
          <p:cNvSpPr txBox="1"/>
          <p:nvPr/>
        </p:nvSpPr>
        <p:spPr>
          <a:xfrm>
            <a:off x="5298233" y="606490"/>
            <a:ext cx="57196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200" dirty="0"/>
              <a:t>Logical Operators</a:t>
            </a: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32BC76EB-C6BA-7843-CD11-88F479D94EA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76532329"/>
              </p:ext>
            </p:extLst>
          </p:nvPr>
        </p:nvGraphicFramePr>
        <p:xfrm>
          <a:off x="5298233" y="1265654"/>
          <a:ext cx="5391540" cy="1463040"/>
        </p:xfrm>
        <a:graphic>
          <a:graphicData uri="http://schemas.openxmlformats.org/drawingml/2006/table">
            <a:tbl>
              <a:tblPr/>
              <a:tblGrid>
                <a:gridCol w="2695770">
                  <a:extLst>
                    <a:ext uri="{9D8B030D-6E8A-4147-A177-3AD203B41FA5}">
                      <a16:colId xmlns:a16="http://schemas.microsoft.com/office/drawing/2014/main" val="2774452700"/>
                    </a:ext>
                  </a:extLst>
                </a:gridCol>
                <a:gridCol w="2695770">
                  <a:extLst>
                    <a:ext uri="{9D8B030D-6E8A-4147-A177-3AD203B41FA5}">
                      <a16:colId xmlns:a16="http://schemas.microsoft.com/office/drawing/2014/main" val="87580358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dirty="0"/>
                        <a:t>Operator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dirty="0"/>
                        <a:t>Meaning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0190544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and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both true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8412606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or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any true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989563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not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reverse condition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93387927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598E1053-645D-F7F2-B9DE-77B3544691FC}"/>
              </a:ext>
            </a:extLst>
          </p:cNvPr>
          <p:cNvSpPr txBox="1"/>
          <p:nvPr/>
        </p:nvSpPr>
        <p:spPr>
          <a:xfrm>
            <a:off x="979714" y="4534678"/>
            <a:ext cx="5215813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/>
              <a:t>Example</a:t>
            </a:r>
          </a:p>
          <a:p>
            <a:r>
              <a:rPr lang="en-IN" dirty="0"/>
              <a:t>a = 10</a:t>
            </a:r>
            <a:br>
              <a:rPr lang="en-IN" dirty="0"/>
            </a:br>
            <a:r>
              <a:rPr lang="en-IN" dirty="0"/>
              <a:t>b = 5</a:t>
            </a:r>
            <a:br>
              <a:rPr lang="en-IN" dirty="0"/>
            </a:br>
            <a:br>
              <a:rPr lang="en-IN" dirty="0"/>
            </a:br>
            <a:r>
              <a:rPr lang="en-IN" dirty="0"/>
              <a:t>print(a &gt; b)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/>
              <a:t>Output</a:t>
            </a:r>
          </a:p>
          <a:p>
            <a:r>
              <a:rPr lang="en-IN" dirty="0"/>
              <a:t>True</a:t>
            </a:r>
          </a:p>
          <a:p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0032B3E-50F6-CF1B-EBBC-88774CC30A1E}"/>
              </a:ext>
            </a:extLst>
          </p:cNvPr>
          <p:cNvSpPr txBox="1"/>
          <p:nvPr/>
        </p:nvSpPr>
        <p:spPr>
          <a:xfrm>
            <a:off x="5386096" y="2997249"/>
            <a:ext cx="5215813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/>
              <a:t>Example</a:t>
            </a:r>
          </a:p>
          <a:p>
            <a:r>
              <a:rPr lang="en-IN" dirty="0"/>
              <a:t>a = 10</a:t>
            </a:r>
            <a:br>
              <a:rPr lang="en-IN" dirty="0"/>
            </a:br>
            <a:r>
              <a:rPr lang="en-IN" dirty="0"/>
              <a:t>b = 5</a:t>
            </a:r>
            <a:br>
              <a:rPr lang="en-IN" dirty="0"/>
            </a:br>
            <a:br>
              <a:rPr lang="en-IN" dirty="0"/>
            </a:br>
            <a:r>
              <a:rPr lang="en-IN" dirty="0"/>
              <a:t>print(a&gt;0 and b&gt;0)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/>
              <a:t>Output</a:t>
            </a:r>
          </a:p>
          <a:p>
            <a:r>
              <a:rPr lang="en-IN" dirty="0"/>
              <a:t>True</a:t>
            </a:r>
          </a:p>
        </p:txBody>
      </p:sp>
    </p:spTree>
    <p:extLst>
      <p:ext uri="{BB962C8B-B14F-4D97-AF65-F5344CB8AC3E}">
        <p14:creationId xmlns:p14="http://schemas.microsoft.com/office/powerpoint/2010/main" val="296288389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C7967A-4075-F2B8-729A-E1D72FB329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6AB2E9-A807-1A5B-8679-46454A96AF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0249" y="94538"/>
            <a:ext cx="10515600" cy="315912"/>
          </a:xfrm>
        </p:spPr>
        <p:txBody>
          <a:bodyPr>
            <a:normAutofit fontScale="90000"/>
          </a:bodyPr>
          <a:lstStyle/>
          <a:p>
            <a:r>
              <a:rPr lang="en-IN" dirty="0"/>
              <a:t>Identity, Membership and Bitwise Operators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DC8EFE-B1A4-D0BE-CF25-D7B8938A21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606490"/>
            <a:ext cx="10515600" cy="5570473"/>
          </a:xfrm>
        </p:spPr>
        <p:txBody>
          <a:bodyPr/>
          <a:lstStyle/>
          <a:p>
            <a:r>
              <a:rPr lang="en-US" dirty="0"/>
              <a:t>Identity Operators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DF1D6F8A-E038-F013-D120-8C29845EA4D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09257493"/>
              </p:ext>
            </p:extLst>
          </p:nvPr>
        </p:nvGraphicFramePr>
        <p:xfrm>
          <a:off x="849086" y="1069614"/>
          <a:ext cx="4254759" cy="3343767"/>
        </p:xfrm>
        <a:graphic>
          <a:graphicData uri="http://schemas.openxmlformats.org/drawingml/2006/table">
            <a:tbl>
              <a:tblPr/>
              <a:tblGrid>
                <a:gridCol w="1623526">
                  <a:extLst>
                    <a:ext uri="{9D8B030D-6E8A-4147-A177-3AD203B41FA5}">
                      <a16:colId xmlns:a16="http://schemas.microsoft.com/office/drawing/2014/main" val="3351627170"/>
                    </a:ext>
                  </a:extLst>
                </a:gridCol>
                <a:gridCol w="2631233">
                  <a:extLst>
                    <a:ext uri="{9D8B030D-6E8A-4147-A177-3AD203B41FA5}">
                      <a16:colId xmlns:a16="http://schemas.microsoft.com/office/drawing/2014/main" val="3308185001"/>
                    </a:ext>
                  </a:extLst>
                </a:gridCol>
              </a:tblGrid>
              <a:tr h="47768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Operator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Meaning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71078808"/>
                  </a:ext>
                </a:extLst>
              </a:tr>
              <a:tr h="47768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is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same object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5783915"/>
                  </a:ext>
                </a:extLst>
              </a:tr>
              <a:tr h="47768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is not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different object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13782369"/>
                  </a:ext>
                </a:extLst>
              </a:tr>
              <a:tr h="477681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00650530"/>
                  </a:ext>
                </a:extLst>
              </a:tr>
              <a:tr h="477681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4482067"/>
                  </a:ext>
                </a:extLst>
              </a:tr>
              <a:tr h="477681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59397845"/>
                  </a:ext>
                </a:extLst>
              </a:tr>
              <a:tr h="477681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71888908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5F94AE81-CAEB-77D2-DD20-07D8A914DB82}"/>
              </a:ext>
            </a:extLst>
          </p:cNvPr>
          <p:cNvSpPr txBox="1"/>
          <p:nvPr/>
        </p:nvSpPr>
        <p:spPr>
          <a:xfrm>
            <a:off x="5298233" y="606490"/>
            <a:ext cx="57196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200" dirty="0"/>
              <a:t>Membership Operators</a:t>
            </a: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72B3429F-A0B8-6022-8B46-DC98FDFB3D4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63104306"/>
              </p:ext>
            </p:extLst>
          </p:nvPr>
        </p:nvGraphicFramePr>
        <p:xfrm>
          <a:off x="5290457" y="1265654"/>
          <a:ext cx="5399316" cy="1463040"/>
        </p:xfrm>
        <a:graphic>
          <a:graphicData uri="http://schemas.openxmlformats.org/drawingml/2006/table">
            <a:tbl>
              <a:tblPr/>
              <a:tblGrid>
                <a:gridCol w="2703546">
                  <a:extLst>
                    <a:ext uri="{9D8B030D-6E8A-4147-A177-3AD203B41FA5}">
                      <a16:colId xmlns:a16="http://schemas.microsoft.com/office/drawing/2014/main" val="2774452700"/>
                    </a:ext>
                  </a:extLst>
                </a:gridCol>
                <a:gridCol w="2695770">
                  <a:extLst>
                    <a:ext uri="{9D8B030D-6E8A-4147-A177-3AD203B41FA5}">
                      <a16:colId xmlns:a16="http://schemas.microsoft.com/office/drawing/2014/main" val="87580358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Operator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Meaning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0190544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in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exists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8412606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not in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not exists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989563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93387927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51F3EBA1-4DA2-6B55-074A-E9C9EA42F6F4}"/>
              </a:ext>
            </a:extLst>
          </p:cNvPr>
          <p:cNvSpPr txBox="1"/>
          <p:nvPr/>
        </p:nvSpPr>
        <p:spPr>
          <a:xfrm>
            <a:off x="838200" y="2675029"/>
            <a:ext cx="5215813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/>
              <a:t>Example</a:t>
            </a:r>
          </a:p>
          <a:p>
            <a:r>
              <a:rPr lang="en-IN" dirty="0"/>
              <a:t>a = [1,2]</a:t>
            </a:r>
            <a:br>
              <a:rPr lang="en-IN" dirty="0"/>
            </a:br>
            <a:r>
              <a:rPr lang="en-IN" dirty="0"/>
              <a:t>b = a</a:t>
            </a:r>
            <a:br>
              <a:rPr lang="en-IN" dirty="0"/>
            </a:br>
            <a:br>
              <a:rPr lang="en-IN" dirty="0"/>
            </a:br>
            <a:r>
              <a:rPr lang="en-IN" dirty="0"/>
              <a:t>print(a is b)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/>
              <a:t>Output</a:t>
            </a:r>
          </a:p>
          <a:p>
            <a:r>
              <a:rPr lang="en-IN" dirty="0"/>
              <a:t>True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7630242-2472-E41E-CE02-652CCAEA6590}"/>
              </a:ext>
            </a:extLst>
          </p:cNvPr>
          <p:cNvSpPr txBox="1"/>
          <p:nvPr/>
        </p:nvSpPr>
        <p:spPr>
          <a:xfrm>
            <a:off x="5386096" y="2997249"/>
            <a:ext cx="5215813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/>
              <a:t>Example</a:t>
            </a:r>
          </a:p>
          <a:p>
            <a:r>
              <a:rPr lang="en-IN" dirty="0"/>
              <a:t>list1 = [1,2,3]</a:t>
            </a:r>
            <a:br>
              <a:rPr lang="en-IN" dirty="0"/>
            </a:br>
            <a:br>
              <a:rPr lang="en-IN" dirty="0"/>
            </a:br>
            <a:r>
              <a:rPr lang="en-IN" dirty="0"/>
              <a:t>print(2 in list1)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/>
              <a:t>Output</a:t>
            </a:r>
          </a:p>
          <a:p>
            <a:r>
              <a:rPr lang="en-IN" dirty="0"/>
              <a:t>True</a:t>
            </a:r>
          </a:p>
        </p:txBody>
      </p:sp>
    </p:spTree>
    <p:extLst>
      <p:ext uri="{BB962C8B-B14F-4D97-AF65-F5344CB8AC3E}">
        <p14:creationId xmlns:p14="http://schemas.microsoft.com/office/powerpoint/2010/main" val="374191472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655F09-C74B-6D5C-C43F-54C43558B0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5943"/>
            <a:ext cx="10515600" cy="5981020"/>
          </a:xfrm>
        </p:spPr>
        <p:txBody>
          <a:bodyPr/>
          <a:lstStyle/>
          <a:p>
            <a:r>
              <a:rPr lang="en-IN" b="1" dirty="0"/>
              <a:t>Bitwise Operators</a:t>
            </a:r>
          </a:p>
          <a:p>
            <a:pPr marL="0" indent="0">
              <a:buNone/>
            </a:pPr>
            <a:r>
              <a:rPr lang="en-IN" dirty="0"/>
              <a:t>Used for </a:t>
            </a:r>
            <a:r>
              <a:rPr lang="en-IN" b="1" dirty="0"/>
              <a:t>bit manipulation (important in hardware/VLSI)</a:t>
            </a:r>
            <a:endParaRPr lang="en-IN" dirty="0"/>
          </a:p>
          <a:p>
            <a:endParaRPr lang="en-US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24DF952D-C3E7-30A3-C961-81CF7A5C36D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35151973"/>
              </p:ext>
            </p:extLst>
          </p:nvPr>
        </p:nvGraphicFramePr>
        <p:xfrm>
          <a:off x="838200" y="1200243"/>
          <a:ext cx="10515600" cy="3166485"/>
        </p:xfrm>
        <a:graphic>
          <a:graphicData uri="http://schemas.openxmlformats.org/drawingml/2006/table">
            <a:tbl>
              <a:tblPr/>
              <a:tblGrid>
                <a:gridCol w="2427514">
                  <a:extLst>
                    <a:ext uri="{9D8B030D-6E8A-4147-A177-3AD203B41FA5}">
                      <a16:colId xmlns:a16="http://schemas.microsoft.com/office/drawing/2014/main" val="265265519"/>
                    </a:ext>
                  </a:extLst>
                </a:gridCol>
                <a:gridCol w="8088086">
                  <a:extLst>
                    <a:ext uri="{9D8B030D-6E8A-4147-A177-3AD203B41FA5}">
                      <a16:colId xmlns:a16="http://schemas.microsoft.com/office/drawing/2014/main" val="1111424197"/>
                    </a:ext>
                  </a:extLst>
                </a:gridCol>
              </a:tblGrid>
              <a:tr h="45235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Operator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Meaning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24173844"/>
                  </a:ext>
                </a:extLst>
              </a:tr>
              <a:tr h="45235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&amp;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AND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77902585"/>
                  </a:ext>
                </a:extLst>
              </a:tr>
              <a:tr h="45235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|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OR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46078240"/>
                  </a:ext>
                </a:extLst>
              </a:tr>
              <a:tr h="45235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^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XOR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1350033"/>
                  </a:ext>
                </a:extLst>
              </a:tr>
              <a:tr h="45235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~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NOT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92866661"/>
                  </a:ext>
                </a:extLst>
              </a:tr>
              <a:tr h="45235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&lt;&lt;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left shift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99599774"/>
                  </a:ext>
                </a:extLst>
              </a:tr>
              <a:tr h="45235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&gt;&gt;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right shift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05996688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C155AF43-7661-4CFF-FDBA-CE24BDFC0360}"/>
              </a:ext>
            </a:extLst>
          </p:cNvPr>
          <p:cNvSpPr txBox="1"/>
          <p:nvPr/>
        </p:nvSpPr>
        <p:spPr>
          <a:xfrm>
            <a:off x="5859625" y="1200243"/>
            <a:ext cx="6783355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/>
              <a:t>Example</a:t>
            </a:r>
          </a:p>
          <a:p>
            <a:r>
              <a:rPr lang="en-IN" dirty="0"/>
              <a:t>a = 5</a:t>
            </a:r>
            <a:br>
              <a:rPr lang="en-IN" dirty="0"/>
            </a:br>
            <a:r>
              <a:rPr lang="en-IN" dirty="0"/>
              <a:t>b = 3</a:t>
            </a:r>
            <a:br>
              <a:rPr lang="en-IN" dirty="0"/>
            </a:br>
            <a:br>
              <a:rPr lang="en-IN" dirty="0"/>
            </a:br>
            <a:r>
              <a:rPr lang="en-IN" dirty="0"/>
              <a:t>print(a &amp; b)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/>
              <a:t>Output</a:t>
            </a:r>
          </a:p>
          <a:p>
            <a:r>
              <a:rPr lang="en-IN" dirty="0"/>
              <a:t>1</a:t>
            </a:r>
          </a:p>
          <a:p>
            <a:endParaRPr lang="en-IN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/>
              <a:t>Binary</a:t>
            </a:r>
          </a:p>
          <a:p>
            <a:r>
              <a:rPr lang="en-IN" dirty="0"/>
              <a:t>5 → 101</a:t>
            </a:r>
            <a:br>
              <a:rPr lang="en-IN" dirty="0"/>
            </a:br>
            <a:r>
              <a:rPr lang="en-IN" dirty="0"/>
              <a:t>3 → 011</a:t>
            </a:r>
            <a:br>
              <a:rPr lang="en-IN" dirty="0"/>
            </a:br>
            <a:r>
              <a:rPr lang="en-IN" dirty="0"/>
              <a:t>AND → 001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1413560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088E9C-9A9C-9D1E-7388-8CDDF8967B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56"/>
            <a:ext cx="10515600" cy="662782"/>
          </a:xfrm>
        </p:spPr>
        <p:txBody>
          <a:bodyPr>
            <a:normAutofit fontScale="90000"/>
          </a:bodyPr>
          <a:lstStyle/>
          <a:p>
            <a:r>
              <a:rPr lang="en-US" dirty="0"/>
              <a:t>Flow Control in Python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BB0A37-B816-EB61-C52A-531B3161A3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802433"/>
            <a:ext cx="10515600" cy="4236098"/>
          </a:xfrm>
        </p:spPr>
        <p:txBody>
          <a:bodyPr>
            <a:normAutofit fontScale="77500" lnSpcReduction="20000"/>
          </a:bodyPr>
          <a:lstStyle/>
          <a:p>
            <a:r>
              <a:rPr lang="en-IN" b="1" dirty="0"/>
              <a:t>What is Flow Control?</a:t>
            </a:r>
          </a:p>
          <a:p>
            <a:pPr marL="0" indent="0">
              <a:buNone/>
            </a:pPr>
            <a:r>
              <a:rPr lang="en-IN" b="1" dirty="0"/>
              <a:t>Definition</a:t>
            </a:r>
          </a:p>
          <a:p>
            <a:r>
              <a:rPr lang="en-IN" b="1" dirty="0"/>
              <a:t>Flow control</a:t>
            </a:r>
            <a:r>
              <a:rPr lang="en-IN" dirty="0"/>
              <a:t> determines </a:t>
            </a:r>
            <a:r>
              <a:rPr lang="en-IN" b="1" dirty="0"/>
              <a:t>the order in which statements execute in a program</a:t>
            </a:r>
            <a:r>
              <a:rPr lang="en-IN" dirty="0"/>
              <a:t>.</a:t>
            </a:r>
          </a:p>
          <a:p>
            <a:pPr marL="0" indent="0">
              <a:buNone/>
            </a:pPr>
            <a:r>
              <a:rPr lang="en-IN" dirty="0"/>
              <a:t>Normally, programs run sequentially:</a:t>
            </a:r>
          </a:p>
          <a:p>
            <a:r>
              <a:rPr lang="en-IN" dirty="0"/>
              <a:t>Statement 1</a:t>
            </a:r>
            <a:br>
              <a:rPr lang="en-IN" dirty="0"/>
            </a:br>
            <a:r>
              <a:rPr lang="en-IN" dirty="0"/>
              <a:t>Statement 2</a:t>
            </a:r>
            <a:br>
              <a:rPr lang="en-IN" dirty="0"/>
            </a:br>
            <a:r>
              <a:rPr lang="en-IN" dirty="0"/>
              <a:t>Statement 3</a:t>
            </a:r>
          </a:p>
          <a:p>
            <a:pPr marL="0" indent="0">
              <a:buNone/>
            </a:pPr>
            <a:r>
              <a:rPr lang="en-IN" dirty="0"/>
              <a:t>But often we need decisions like:</a:t>
            </a:r>
          </a:p>
          <a:p>
            <a:r>
              <a:rPr lang="en-IN" dirty="0"/>
              <a:t>If condition is true → execute block A</a:t>
            </a:r>
          </a:p>
          <a:p>
            <a:r>
              <a:rPr lang="en-IN" dirty="0"/>
              <a:t>Otherwise → execute block B</a:t>
            </a:r>
          </a:p>
          <a:p>
            <a:pPr marL="0" indent="0">
              <a:buNone/>
            </a:pPr>
            <a:r>
              <a:rPr lang="en-IN" dirty="0"/>
              <a:t>or</a:t>
            </a:r>
          </a:p>
          <a:p>
            <a:r>
              <a:rPr lang="en-IN" dirty="0"/>
              <a:t>Repeat something multiple times.</a:t>
            </a:r>
          </a:p>
          <a:p>
            <a:endParaRPr lang="en-IN" dirty="0"/>
          </a:p>
          <a:p>
            <a:endParaRPr lang="en-US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8CCDB3A6-D28A-888D-4B2B-0CDEC6AD277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22739417"/>
              </p:ext>
            </p:extLst>
          </p:nvPr>
        </p:nvGraphicFramePr>
        <p:xfrm>
          <a:off x="838200" y="5374760"/>
          <a:ext cx="10515600" cy="1097280"/>
        </p:xfrm>
        <a:graphic>
          <a:graphicData uri="http://schemas.openxmlformats.org/drawingml/2006/table">
            <a:tbl>
              <a:tblPr/>
              <a:tblGrid>
                <a:gridCol w="5257800">
                  <a:extLst>
                    <a:ext uri="{9D8B030D-6E8A-4147-A177-3AD203B41FA5}">
                      <a16:colId xmlns:a16="http://schemas.microsoft.com/office/drawing/2014/main" val="1352471171"/>
                    </a:ext>
                  </a:extLst>
                </a:gridCol>
                <a:gridCol w="5257800">
                  <a:extLst>
                    <a:ext uri="{9D8B030D-6E8A-4147-A177-3AD203B41FA5}">
                      <a16:colId xmlns:a16="http://schemas.microsoft.com/office/drawing/2014/main" val="336006547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Type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Purpose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6036101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/>
                        <a:t>Decision Making</a:t>
                      </a:r>
                      <a:endParaRPr lang="en-US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Execute code based on conditions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80049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/>
                        <a:t>Loops / Iteration</a:t>
                      </a:r>
                      <a:endParaRPr lang="en-US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Repeat code multiple times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85307130"/>
                  </a:ext>
                </a:extLst>
              </a:tr>
            </a:tbl>
          </a:graphicData>
        </a:graphic>
      </p:graphicFrame>
      <p:sp>
        <p:nvSpPr>
          <p:cNvPr id="5" name="Rectangle 1">
            <a:extLst>
              <a:ext uri="{FF2B5EF4-FFF2-40B4-BE49-F238E27FC236}">
                <a16:creationId xmlns:a16="http://schemas.microsoft.com/office/drawing/2014/main" id="{A16B7FB8-064C-14CD-7C0C-09061EFEA1DC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4990879"/>
            <a:ext cx="3592587" cy="33855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Two Main Types of Flow Control</a:t>
            </a:r>
          </a:p>
        </p:txBody>
      </p:sp>
    </p:spTree>
    <p:extLst>
      <p:ext uri="{BB962C8B-B14F-4D97-AF65-F5344CB8AC3E}">
        <p14:creationId xmlns:p14="http://schemas.microsoft.com/office/powerpoint/2010/main" val="6725223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0FC264-055E-C805-3EBE-2CD54BE611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0"/>
            <a:ext cx="6540759" cy="6858000"/>
          </a:xfrm>
        </p:spPr>
        <p:txBody>
          <a:bodyPr>
            <a:normAutofit fontScale="92500" lnSpcReduction="20000"/>
          </a:bodyPr>
          <a:lstStyle/>
          <a:p>
            <a:pPr>
              <a:buFont typeface="Wingdings" panose="05000000000000000000" pitchFamily="2" charset="2"/>
              <a:buChar char="Ø"/>
            </a:pPr>
            <a:r>
              <a:rPr lang="en-IN" b="1" dirty="0"/>
              <a:t>The if Statement</a:t>
            </a:r>
            <a:endParaRPr lang="en-IN" dirty="0"/>
          </a:p>
          <a:p>
            <a:pPr marL="0" indent="0">
              <a:buNone/>
            </a:pPr>
            <a:r>
              <a:rPr lang="en-IN" b="1" dirty="0"/>
              <a:t>Basic Syntax</a:t>
            </a:r>
          </a:p>
          <a:p>
            <a:r>
              <a:rPr lang="en-IN" dirty="0"/>
              <a:t>if condition:</a:t>
            </a:r>
            <a:br>
              <a:rPr lang="en-IN" dirty="0"/>
            </a:br>
            <a:r>
              <a:rPr lang="en-IN" dirty="0"/>
              <a:t>    statement</a:t>
            </a:r>
          </a:p>
          <a:p>
            <a:pPr marL="0" indent="0">
              <a:buNone/>
            </a:pPr>
            <a:r>
              <a:rPr lang="en-IN" dirty="0"/>
              <a:t>Important rule:</a:t>
            </a:r>
          </a:p>
          <a:p>
            <a:r>
              <a:rPr lang="en-IN" dirty="0"/>
              <a:t>Python uses </a:t>
            </a:r>
            <a:r>
              <a:rPr lang="en-IN" b="1" dirty="0"/>
              <a:t>indentation instead of braces {}</a:t>
            </a:r>
          </a:p>
          <a:p>
            <a:pPr marL="0" indent="0">
              <a:buNone/>
            </a:pPr>
            <a:r>
              <a:rPr lang="en-IN" b="1" dirty="0"/>
              <a:t>Example  — Check Positive Number</a:t>
            </a:r>
          </a:p>
          <a:p>
            <a:r>
              <a:rPr lang="en-IN" dirty="0"/>
              <a:t>Problem: Check if a number is positive.</a:t>
            </a:r>
          </a:p>
          <a:p>
            <a:r>
              <a:rPr lang="en-IN" dirty="0" err="1"/>
              <a:t>num</a:t>
            </a:r>
            <a:r>
              <a:rPr lang="en-IN" dirty="0"/>
              <a:t> = 10</a:t>
            </a:r>
            <a:br>
              <a:rPr lang="en-IN" dirty="0"/>
            </a:br>
            <a:br>
              <a:rPr lang="en-IN" dirty="0"/>
            </a:br>
            <a:r>
              <a:rPr lang="en-IN" dirty="0"/>
              <a:t>if </a:t>
            </a:r>
            <a:r>
              <a:rPr lang="en-IN" dirty="0" err="1"/>
              <a:t>num</a:t>
            </a:r>
            <a:r>
              <a:rPr lang="en-IN" dirty="0"/>
              <a:t> &gt; 0:</a:t>
            </a:r>
            <a:br>
              <a:rPr lang="en-IN" dirty="0"/>
            </a:br>
            <a:r>
              <a:rPr lang="en-IN" dirty="0"/>
              <a:t>    print("Number is positive")</a:t>
            </a:r>
          </a:p>
          <a:p>
            <a:pPr marL="0" indent="0">
              <a:buNone/>
            </a:pPr>
            <a:r>
              <a:rPr lang="en-IN" dirty="0"/>
              <a:t>Output</a:t>
            </a:r>
          </a:p>
          <a:p>
            <a:r>
              <a:rPr lang="en-IN" dirty="0"/>
              <a:t>Number is positive</a:t>
            </a:r>
          </a:p>
          <a:p>
            <a:pPr marL="0" indent="0">
              <a:buNone/>
            </a:pPr>
            <a:r>
              <a:rPr lang="en-IN" dirty="0"/>
              <a:t>Explanation</a:t>
            </a:r>
          </a:p>
          <a:p>
            <a:r>
              <a:rPr lang="en-IN" dirty="0"/>
              <a:t>Condition </a:t>
            </a:r>
            <a:r>
              <a:rPr lang="en-IN" dirty="0" err="1"/>
              <a:t>num</a:t>
            </a:r>
            <a:r>
              <a:rPr lang="en-IN" dirty="0"/>
              <a:t> &gt; 0</a:t>
            </a:r>
          </a:p>
          <a:p>
            <a:r>
              <a:rPr lang="en-IN" dirty="0"/>
              <a:t>If true → code block executes</a:t>
            </a:r>
          </a:p>
          <a:p>
            <a:endParaRPr lang="en-US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9DDB26E5-3890-22E7-62B4-A941E7108F4A}"/>
              </a:ext>
            </a:extLst>
          </p:cNvPr>
          <p:cNvSpPr txBox="1">
            <a:spLocks/>
          </p:cNvSpPr>
          <p:nvPr/>
        </p:nvSpPr>
        <p:spPr>
          <a:xfrm>
            <a:off x="6329265" y="0"/>
            <a:ext cx="5862735" cy="6858000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anose="05000000000000000000" pitchFamily="2" charset="2"/>
              <a:buChar char="Ø"/>
            </a:pPr>
            <a:r>
              <a:rPr lang="en-IN" b="1" dirty="0"/>
              <a:t>The if-else Statement</a:t>
            </a:r>
            <a:endParaRPr lang="en-IN" dirty="0"/>
          </a:p>
          <a:p>
            <a:pPr marL="0" indent="0">
              <a:buNone/>
            </a:pPr>
            <a:r>
              <a:rPr lang="en-IN" b="1" dirty="0"/>
              <a:t>Syntax</a:t>
            </a:r>
          </a:p>
          <a:p>
            <a:r>
              <a:rPr lang="en-IN" dirty="0"/>
              <a:t>if condition:</a:t>
            </a:r>
            <a:br>
              <a:rPr lang="en-IN" dirty="0"/>
            </a:br>
            <a:r>
              <a:rPr lang="en-IN" dirty="0"/>
              <a:t>    block1</a:t>
            </a:r>
            <a:br>
              <a:rPr lang="en-IN" dirty="0"/>
            </a:br>
            <a:r>
              <a:rPr lang="en-IN" dirty="0"/>
              <a:t>else:</a:t>
            </a:r>
            <a:br>
              <a:rPr lang="en-IN" dirty="0"/>
            </a:br>
            <a:r>
              <a:rPr lang="en-IN" dirty="0"/>
              <a:t>    block2</a:t>
            </a:r>
          </a:p>
          <a:p>
            <a:r>
              <a:rPr lang="en-IN" dirty="0"/>
              <a:t>If condition is </a:t>
            </a:r>
            <a:r>
              <a:rPr lang="en-IN" b="1" dirty="0"/>
              <a:t>false</a:t>
            </a:r>
            <a:r>
              <a:rPr lang="en-IN" dirty="0"/>
              <a:t>, the else block executes.</a:t>
            </a:r>
            <a:br>
              <a:rPr lang="en-IN" dirty="0"/>
            </a:br>
            <a:endParaRPr lang="en-IN" dirty="0"/>
          </a:p>
          <a:p>
            <a:pPr marL="0" indent="0">
              <a:buNone/>
            </a:pPr>
            <a:r>
              <a:rPr lang="en-IN" b="1" dirty="0"/>
              <a:t>Example 1 — Even or Odd</a:t>
            </a:r>
          </a:p>
          <a:p>
            <a:r>
              <a:rPr lang="en-IN" dirty="0" err="1"/>
              <a:t>num</a:t>
            </a:r>
            <a:r>
              <a:rPr lang="en-IN" dirty="0"/>
              <a:t> = 7</a:t>
            </a:r>
            <a:br>
              <a:rPr lang="en-IN" dirty="0"/>
            </a:br>
            <a:br>
              <a:rPr lang="en-IN" dirty="0"/>
            </a:br>
            <a:r>
              <a:rPr lang="en-IN" dirty="0"/>
              <a:t>if </a:t>
            </a:r>
            <a:r>
              <a:rPr lang="en-IN" dirty="0" err="1"/>
              <a:t>num</a:t>
            </a:r>
            <a:r>
              <a:rPr lang="en-IN" dirty="0"/>
              <a:t> % 2 == 0:</a:t>
            </a:r>
            <a:br>
              <a:rPr lang="en-IN" dirty="0"/>
            </a:br>
            <a:r>
              <a:rPr lang="en-IN" dirty="0"/>
              <a:t>    print("Even")</a:t>
            </a:r>
            <a:br>
              <a:rPr lang="en-IN" dirty="0"/>
            </a:br>
            <a:r>
              <a:rPr lang="en-IN" dirty="0"/>
              <a:t>else:</a:t>
            </a:r>
            <a:br>
              <a:rPr lang="en-IN" dirty="0"/>
            </a:br>
            <a:r>
              <a:rPr lang="en-IN" dirty="0"/>
              <a:t>    print("Odd")</a:t>
            </a:r>
          </a:p>
          <a:p>
            <a:pPr marL="0" indent="0">
              <a:buNone/>
            </a:pPr>
            <a:r>
              <a:rPr lang="en-IN" dirty="0"/>
              <a:t>Output</a:t>
            </a:r>
          </a:p>
          <a:p>
            <a:r>
              <a:rPr lang="en-IN" dirty="0"/>
              <a:t>Odd</a:t>
            </a:r>
          </a:p>
        </p:txBody>
      </p:sp>
    </p:spTree>
    <p:extLst>
      <p:ext uri="{BB962C8B-B14F-4D97-AF65-F5344CB8AC3E}">
        <p14:creationId xmlns:p14="http://schemas.microsoft.com/office/powerpoint/2010/main" val="160524389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F8EE14-A2BD-E301-4606-19BA66222E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FD6501-BC6F-D376-9255-44010CBAE5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0"/>
            <a:ext cx="6540759" cy="6858000"/>
          </a:xfrm>
        </p:spPr>
        <p:txBody>
          <a:bodyPr>
            <a:normAutofit fontScale="77500" lnSpcReduction="20000"/>
          </a:bodyPr>
          <a:lstStyle/>
          <a:p>
            <a:pPr>
              <a:buFont typeface="Wingdings" panose="05000000000000000000" pitchFamily="2" charset="2"/>
              <a:buChar char="Ø"/>
            </a:pPr>
            <a:r>
              <a:rPr lang="en-US" b="1" dirty="0"/>
              <a:t>The if-</a:t>
            </a:r>
            <a:r>
              <a:rPr lang="en-US" b="1" dirty="0" err="1"/>
              <a:t>elif</a:t>
            </a:r>
            <a:r>
              <a:rPr lang="en-US" b="1" dirty="0"/>
              <a:t>-else Statement</a:t>
            </a:r>
          </a:p>
          <a:p>
            <a:r>
              <a:rPr lang="en-US" dirty="0"/>
              <a:t>Used when there are </a:t>
            </a:r>
            <a:r>
              <a:rPr lang="en-US" b="1" dirty="0"/>
              <a:t>multiple conditions</a:t>
            </a:r>
            <a:r>
              <a:rPr lang="en-US" dirty="0"/>
              <a:t>.</a:t>
            </a:r>
          </a:p>
          <a:p>
            <a:pPr marL="0" indent="0">
              <a:buNone/>
            </a:pPr>
            <a:r>
              <a:rPr lang="en-US" b="1" dirty="0"/>
              <a:t>Syntax</a:t>
            </a:r>
          </a:p>
          <a:p>
            <a:r>
              <a:rPr lang="en-US" dirty="0"/>
              <a:t>if condition1:</a:t>
            </a:r>
            <a:br>
              <a:rPr lang="en-US" dirty="0"/>
            </a:br>
            <a:r>
              <a:rPr lang="en-US" dirty="0"/>
              <a:t>    block1</a:t>
            </a:r>
            <a:br>
              <a:rPr lang="en-US" dirty="0"/>
            </a:br>
            <a:r>
              <a:rPr lang="en-US" dirty="0" err="1"/>
              <a:t>elif</a:t>
            </a:r>
            <a:r>
              <a:rPr lang="en-US" dirty="0"/>
              <a:t> condition2:</a:t>
            </a:r>
            <a:br>
              <a:rPr lang="en-US" dirty="0"/>
            </a:br>
            <a:r>
              <a:rPr lang="en-US" dirty="0"/>
              <a:t>    block2</a:t>
            </a:r>
            <a:br>
              <a:rPr lang="en-US" dirty="0"/>
            </a:br>
            <a:r>
              <a:rPr lang="en-US" dirty="0" err="1"/>
              <a:t>elif</a:t>
            </a:r>
            <a:r>
              <a:rPr lang="en-US" dirty="0"/>
              <a:t> condition3:</a:t>
            </a:r>
            <a:br>
              <a:rPr lang="en-US" dirty="0"/>
            </a:br>
            <a:r>
              <a:rPr lang="en-US" dirty="0"/>
              <a:t>    block3</a:t>
            </a:r>
            <a:br>
              <a:rPr lang="en-US" dirty="0"/>
            </a:br>
            <a:r>
              <a:rPr lang="en-US" dirty="0"/>
              <a:t>else:</a:t>
            </a:r>
            <a:br>
              <a:rPr lang="en-US" dirty="0"/>
            </a:br>
            <a:r>
              <a:rPr lang="en-US" dirty="0"/>
              <a:t>    block4</a:t>
            </a:r>
          </a:p>
          <a:p>
            <a:pPr marL="0" indent="0">
              <a:buNone/>
            </a:pPr>
            <a:r>
              <a:rPr lang="en-US" b="1" dirty="0"/>
              <a:t>Example  — Grade Calculation</a:t>
            </a:r>
          </a:p>
          <a:p>
            <a:r>
              <a:rPr lang="en-US" dirty="0"/>
              <a:t>marks = 85</a:t>
            </a:r>
            <a:br>
              <a:rPr lang="en-US" dirty="0"/>
            </a:br>
            <a:br>
              <a:rPr lang="en-US" dirty="0"/>
            </a:br>
            <a:r>
              <a:rPr lang="en-US" dirty="0"/>
              <a:t>if marks &gt;= 90:</a:t>
            </a:r>
            <a:br>
              <a:rPr lang="en-US" dirty="0"/>
            </a:br>
            <a:r>
              <a:rPr lang="en-US" dirty="0"/>
              <a:t>    print("Grade A")</a:t>
            </a:r>
            <a:br>
              <a:rPr lang="en-US" dirty="0"/>
            </a:br>
            <a:r>
              <a:rPr lang="en-US" dirty="0" err="1"/>
              <a:t>elif</a:t>
            </a:r>
            <a:r>
              <a:rPr lang="en-US" dirty="0"/>
              <a:t> marks &gt;= 75:</a:t>
            </a:r>
            <a:br>
              <a:rPr lang="en-US" dirty="0"/>
            </a:br>
            <a:r>
              <a:rPr lang="en-US" dirty="0"/>
              <a:t>    print("Grade B")</a:t>
            </a:r>
            <a:br>
              <a:rPr lang="en-US" dirty="0"/>
            </a:br>
            <a:r>
              <a:rPr lang="en-US" dirty="0" err="1"/>
              <a:t>elif</a:t>
            </a:r>
            <a:r>
              <a:rPr lang="en-US" dirty="0"/>
              <a:t> marks &gt;= 50:</a:t>
            </a:r>
            <a:br>
              <a:rPr lang="en-US" dirty="0"/>
            </a:br>
            <a:r>
              <a:rPr lang="en-US" dirty="0"/>
              <a:t>    print("Grade C")</a:t>
            </a:r>
            <a:br>
              <a:rPr lang="en-US" dirty="0"/>
            </a:br>
            <a:r>
              <a:rPr lang="en-US" dirty="0"/>
              <a:t>else:</a:t>
            </a:r>
            <a:br>
              <a:rPr lang="en-US" dirty="0"/>
            </a:br>
            <a:r>
              <a:rPr lang="en-US" dirty="0"/>
              <a:t>    print("Fail")</a:t>
            </a:r>
          </a:p>
          <a:p>
            <a:pPr marL="0" indent="0">
              <a:buNone/>
            </a:pPr>
            <a:r>
              <a:rPr lang="en-US" dirty="0"/>
              <a:t>Output</a:t>
            </a:r>
          </a:p>
          <a:p>
            <a:r>
              <a:rPr lang="en-US" dirty="0"/>
              <a:t>Grade B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209F544C-6723-E1D2-0171-194EDF4483E6}"/>
              </a:ext>
            </a:extLst>
          </p:cNvPr>
          <p:cNvSpPr txBox="1">
            <a:spLocks/>
          </p:cNvSpPr>
          <p:nvPr/>
        </p:nvSpPr>
        <p:spPr>
          <a:xfrm>
            <a:off x="6329265" y="0"/>
            <a:ext cx="5862735" cy="6858000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anose="05000000000000000000" pitchFamily="2" charset="2"/>
              <a:buChar char="Ø"/>
            </a:pPr>
            <a:r>
              <a:rPr lang="en-IN" b="1" dirty="0"/>
              <a:t>Nested if Statements</a:t>
            </a:r>
          </a:p>
          <a:p>
            <a:r>
              <a:rPr lang="en-IN" dirty="0"/>
              <a:t>An if inside another if.</a:t>
            </a:r>
          </a:p>
          <a:p>
            <a:pPr marL="0" indent="0">
              <a:buNone/>
            </a:pPr>
            <a:r>
              <a:rPr lang="en-IN" b="1" dirty="0"/>
              <a:t>Example 1 — Login System</a:t>
            </a:r>
          </a:p>
          <a:p>
            <a:r>
              <a:rPr lang="en-IN" dirty="0"/>
              <a:t>username = "admin"</a:t>
            </a:r>
            <a:br>
              <a:rPr lang="en-IN" dirty="0"/>
            </a:br>
            <a:r>
              <a:rPr lang="en-IN" dirty="0"/>
              <a:t>password = "1234"</a:t>
            </a:r>
            <a:br>
              <a:rPr lang="en-IN" dirty="0"/>
            </a:br>
            <a:br>
              <a:rPr lang="en-IN" dirty="0"/>
            </a:br>
            <a:r>
              <a:rPr lang="en-IN" dirty="0"/>
              <a:t>if username == "admin":</a:t>
            </a:r>
            <a:br>
              <a:rPr lang="en-IN" dirty="0"/>
            </a:br>
            <a:r>
              <a:rPr lang="en-IN" dirty="0"/>
              <a:t>    if password == "1234":</a:t>
            </a:r>
            <a:br>
              <a:rPr lang="en-IN" dirty="0"/>
            </a:br>
            <a:r>
              <a:rPr lang="en-IN" dirty="0"/>
              <a:t>        print("Login success")</a:t>
            </a:r>
            <a:br>
              <a:rPr lang="en-IN" dirty="0"/>
            </a:br>
            <a:r>
              <a:rPr lang="en-IN" dirty="0"/>
              <a:t>    else:</a:t>
            </a:r>
            <a:br>
              <a:rPr lang="en-IN" dirty="0"/>
            </a:br>
            <a:r>
              <a:rPr lang="en-IN" dirty="0"/>
              <a:t>        print("Wrong password")</a:t>
            </a:r>
            <a:br>
              <a:rPr lang="en-IN" dirty="0"/>
            </a:br>
            <a:r>
              <a:rPr lang="en-IN" dirty="0"/>
              <a:t>else:</a:t>
            </a:r>
            <a:br>
              <a:rPr lang="en-IN" dirty="0"/>
            </a:br>
            <a:r>
              <a:rPr lang="en-IN" dirty="0"/>
              <a:t>    print("Unknown user")</a:t>
            </a:r>
          </a:p>
          <a:p>
            <a:pPr marL="0" indent="0">
              <a:buNone/>
            </a:pPr>
            <a:r>
              <a:rPr lang="en-IN" b="1" dirty="0"/>
              <a:t>Example 2 — Number Range</a:t>
            </a:r>
          </a:p>
          <a:p>
            <a:r>
              <a:rPr lang="en-IN" dirty="0" err="1"/>
              <a:t>num</a:t>
            </a:r>
            <a:r>
              <a:rPr lang="en-IN" dirty="0"/>
              <a:t> = 15</a:t>
            </a:r>
            <a:br>
              <a:rPr lang="en-IN" dirty="0"/>
            </a:br>
            <a:br>
              <a:rPr lang="en-IN" dirty="0"/>
            </a:br>
            <a:r>
              <a:rPr lang="en-IN" dirty="0"/>
              <a:t>if </a:t>
            </a:r>
            <a:r>
              <a:rPr lang="en-IN" dirty="0" err="1"/>
              <a:t>num</a:t>
            </a:r>
            <a:r>
              <a:rPr lang="en-IN" dirty="0"/>
              <a:t> &gt; 10:</a:t>
            </a:r>
            <a:br>
              <a:rPr lang="en-IN" dirty="0"/>
            </a:br>
            <a:r>
              <a:rPr lang="en-IN" dirty="0"/>
              <a:t>    if </a:t>
            </a:r>
            <a:r>
              <a:rPr lang="en-IN" dirty="0" err="1"/>
              <a:t>num</a:t>
            </a:r>
            <a:r>
              <a:rPr lang="en-IN" dirty="0"/>
              <a:t> &lt; 20:</a:t>
            </a:r>
            <a:br>
              <a:rPr lang="en-IN" dirty="0"/>
            </a:br>
            <a:r>
              <a:rPr lang="en-IN" dirty="0"/>
              <a:t>        print("Between 10 and 20")</a:t>
            </a:r>
          </a:p>
        </p:txBody>
      </p:sp>
    </p:spTree>
    <p:extLst>
      <p:ext uri="{BB962C8B-B14F-4D97-AF65-F5344CB8AC3E}">
        <p14:creationId xmlns:p14="http://schemas.microsoft.com/office/powerpoint/2010/main" val="258733118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F25397-1F94-0369-3290-2B4EE32A7C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F00951-8161-D82A-275D-AF7B01D957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0"/>
            <a:ext cx="6540759" cy="6858000"/>
          </a:xfrm>
        </p:spPr>
        <p:txBody>
          <a:bodyPr>
            <a:normAutofit fontScale="85000" lnSpcReduction="20000"/>
          </a:bodyPr>
          <a:lstStyle/>
          <a:p>
            <a:pPr>
              <a:buFont typeface="Wingdings" panose="05000000000000000000" pitchFamily="2" charset="2"/>
              <a:buChar char="Ø"/>
            </a:pPr>
            <a:r>
              <a:rPr lang="en-IN" sz="3300" b="1" dirty="0"/>
              <a:t>The for Loop</a:t>
            </a:r>
            <a:endParaRPr lang="en-IN" sz="3300" dirty="0"/>
          </a:p>
          <a:p>
            <a:pPr marL="0" indent="0">
              <a:buNone/>
            </a:pPr>
            <a:r>
              <a:rPr lang="en-IN" b="1" dirty="0"/>
              <a:t>Purpose</a:t>
            </a:r>
          </a:p>
          <a:p>
            <a:pPr marL="0" indent="0">
              <a:buNone/>
            </a:pPr>
            <a:r>
              <a:rPr lang="en-IN" dirty="0"/>
              <a:t>Used for </a:t>
            </a:r>
            <a:r>
              <a:rPr lang="en-IN" b="1" dirty="0"/>
              <a:t>iterating over sequences</a:t>
            </a:r>
            <a:r>
              <a:rPr lang="en-IN" dirty="0"/>
              <a:t>.</a:t>
            </a:r>
          </a:p>
          <a:p>
            <a:pPr marL="0" indent="0">
              <a:buNone/>
            </a:pPr>
            <a:r>
              <a:rPr lang="en-IN" dirty="0"/>
              <a:t>Example:</a:t>
            </a:r>
          </a:p>
          <a:p>
            <a:r>
              <a:rPr lang="en-IN" dirty="0"/>
              <a:t>list</a:t>
            </a:r>
          </a:p>
          <a:p>
            <a:r>
              <a:rPr lang="en-IN" dirty="0"/>
              <a:t>string</a:t>
            </a:r>
          </a:p>
          <a:p>
            <a:r>
              <a:rPr lang="en-IN" dirty="0"/>
              <a:t>range</a:t>
            </a:r>
            <a:br>
              <a:rPr lang="en-IN" dirty="0"/>
            </a:br>
            <a:endParaRPr lang="en-IN" dirty="0"/>
          </a:p>
          <a:p>
            <a:r>
              <a:rPr lang="en-IN" b="1" dirty="0"/>
              <a:t>Syntax</a:t>
            </a:r>
          </a:p>
          <a:p>
            <a:r>
              <a:rPr lang="en-IN" dirty="0"/>
              <a:t>for variable in sequence:</a:t>
            </a:r>
            <a:br>
              <a:rPr lang="en-IN" dirty="0"/>
            </a:br>
            <a:r>
              <a:rPr lang="en-IN" dirty="0"/>
              <a:t>    statements</a:t>
            </a:r>
          </a:p>
          <a:p>
            <a:pPr marL="0" indent="0">
              <a:buNone/>
            </a:pPr>
            <a:r>
              <a:rPr lang="en-IN" b="1" dirty="0"/>
              <a:t>Example 1 — Simple Loop</a:t>
            </a:r>
          </a:p>
          <a:p>
            <a:r>
              <a:rPr lang="en-IN" dirty="0"/>
              <a:t>for </a:t>
            </a:r>
            <a:r>
              <a:rPr lang="en-IN" dirty="0" err="1"/>
              <a:t>i</a:t>
            </a:r>
            <a:r>
              <a:rPr lang="en-IN" dirty="0"/>
              <a:t> in range(5):</a:t>
            </a:r>
            <a:br>
              <a:rPr lang="en-IN" dirty="0"/>
            </a:br>
            <a:r>
              <a:rPr lang="en-IN" dirty="0"/>
              <a:t>    print(</a:t>
            </a:r>
            <a:r>
              <a:rPr lang="en-IN" dirty="0" err="1"/>
              <a:t>i</a:t>
            </a:r>
            <a:r>
              <a:rPr lang="en-IN" dirty="0"/>
              <a:t>)</a:t>
            </a:r>
          </a:p>
          <a:p>
            <a:pPr marL="0" indent="0">
              <a:buNone/>
            </a:pPr>
            <a:r>
              <a:rPr lang="en-IN" dirty="0"/>
              <a:t>Output</a:t>
            </a:r>
          </a:p>
          <a:p>
            <a:r>
              <a:rPr lang="en-IN" dirty="0"/>
              <a:t>0</a:t>
            </a:r>
            <a:br>
              <a:rPr lang="en-IN" dirty="0"/>
            </a:br>
            <a:r>
              <a:rPr lang="en-IN" dirty="0"/>
              <a:t>1</a:t>
            </a:r>
            <a:br>
              <a:rPr lang="en-IN" dirty="0"/>
            </a:br>
            <a:r>
              <a:rPr lang="en-IN" dirty="0"/>
              <a:t>2</a:t>
            </a:r>
            <a:br>
              <a:rPr lang="en-IN" dirty="0"/>
            </a:br>
            <a:r>
              <a:rPr lang="en-IN" dirty="0"/>
              <a:t>3</a:t>
            </a:r>
            <a:br>
              <a:rPr lang="en-IN" dirty="0"/>
            </a:br>
            <a:r>
              <a:rPr lang="en-IN" dirty="0"/>
              <a:t>4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26424A20-7A20-E7EB-8F4E-F15717FEB727}"/>
              </a:ext>
            </a:extLst>
          </p:cNvPr>
          <p:cNvSpPr txBox="1">
            <a:spLocks/>
          </p:cNvSpPr>
          <p:nvPr/>
        </p:nvSpPr>
        <p:spPr>
          <a:xfrm>
            <a:off x="6329265" y="0"/>
            <a:ext cx="5862735" cy="6858000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IN" b="1" dirty="0"/>
              <a:t>Example 2 — Loop Through List</a:t>
            </a:r>
          </a:p>
          <a:p>
            <a:r>
              <a:rPr lang="en-IN" dirty="0"/>
              <a:t>signals = ["</a:t>
            </a:r>
            <a:r>
              <a:rPr lang="en-IN" dirty="0" err="1"/>
              <a:t>clk</a:t>
            </a:r>
            <a:r>
              <a:rPr lang="en-IN" dirty="0"/>
              <a:t>", "reset", "data"]</a:t>
            </a:r>
            <a:br>
              <a:rPr lang="en-IN" dirty="0"/>
            </a:br>
            <a:br>
              <a:rPr lang="en-IN" dirty="0"/>
            </a:br>
            <a:r>
              <a:rPr lang="en-IN" dirty="0"/>
              <a:t>for s in signals:</a:t>
            </a:r>
            <a:br>
              <a:rPr lang="en-IN" dirty="0"/>
            </a:br>
            <a:r>
              <a:rPr lang="en-IN" dirty="0"/>
              <a:t>    print(s)</a:t>
            </a:r>
          </a:p>
          <a:p>
            <a:pPr marL="0" indent="0">
              <a:buNone/>
            </a:pPr>
            <a:r>
              <a:rPr lang="en-IN" dirty="0"/>
              <a:t>Output</a:t>
            </a:r>
          </a:p>
          <a:p>
            <a:r>
              <a:rPr lang="en-IN" dirty="0" err="1"/>
              <a:t>clk</a:t>
            </a:r>
            <a:br>
              <a:rPr lang="en-IN" dirty="0"/>
            </a:br>
            <a:r>
              <a:rPr lang="en-IN" dirty="0"/>
              <a:t>reset</a:t>
            </a:r>
            <a:br>
              <a:rPr lang="en-IN" dirty="0"/>
            </a:br>
            <a:r>
              <a:rPr lang="en-IN" dirty="0"/>
              <a:t>data</a:t>
            </a:r>
          </a:p>
          <a:p>
            <a:pPr marL="0" indent="0">
              <a:buNone/>
            </a:pPr>
            <a:r>
              <a:rPr lang="en-IN" b="1" dirty="0"/>
              <a:t>Example 3 — Loop Through String</a:t>
            </a:r>
          </a:p>
          <a:p>
            <a:r>
              <a:rPr lang="en-IN" dirty="0"/>
              <a:t>for char in "VLSI":</a:t>
            </a:r>
            <a:br>
              <a:rPr lang="en-IN" dirty="0"/>
            </a:br>
            <a:r>
              <a:rPr lang="en-IN" dirty="0"/>
              <a:t>    print(char)</a:t>
            </a:r>
          </a:p>
          <a:p>
            <a:pPr marL="0" indent="0">
              <a:buNone/>
            </a:pPr>
            <a:r>
              <a:rPr lang="en-IN" dirty="0"/>
              <a:t>Output</a:t>
            </a:r>
          </a:p>
          <a:p>
            <a:r>
              <a:rPr lang="en-IN" dirty="0"/>
              <a:t>V</a:t>
            </a:r>
            <a:br>
              <a:rPr lang="en-IN" dirty="0"/>
            </a:br>
            <a:r>
              <a:rPr lang="en-IN" dirty="0"/>
              <a:t>L</a:t>
            </a:r>
            <a:br>
              <a:rPr lang="en-IN" dirty="0"/>
            </a:br>
            <a:r>
              <a:rPr lang="en-IN" dirty="0"/>
              <a:t>S</a:t>
            </a:r>
            <a:br>
              <a:rPr lang="en-IN" dirty="0"/>
            </a:br>
            <a:r>
              <a:rPr lang="en-IN" dirty="0"/>
              <a:t>I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3937161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1DD5C2-C516-6E2B-2E8B-06B4D8144D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4871F2-7056-CEE5-D237-0BF72A7ADA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0"/>
            <a:ext cx="6540759" cy="6858000"/>
          </a:xfrm>
        </p:spPr>
        <p:txBody>
          <a:bodyPr>
            <a:normAutofit/>
          </a:bodyPr>
          <a:lstStyle/>
          <a:p>
            <a:pPr>
              <a:buFont typeface="Wingdings" panose="05000000000000000000" pitchFamily="2" charset="2"/>
              <a:buChar char="Ø"/>
            </a:pPr>
            <a:r>
              <a:rPr lang="en-IN" b="1" dirty="0"/>
              <a:t>The while</a:t>
            </a:r>
            <a:r>
              <a:rPr lang="en-IN" sz="4400" b="1" dirty="0"/>
              <a:t> </a:t>
            </a:r>
            <a:r>
              <a:rPr lang="en-IN" b="1" dirty="0"/>
              <a:t>Loop</a:t>
            </a:r>
            <a:endParaRPr lang="en-IN" dirty="0"/>
          </a:p>
          <a:p>
            <a:r>
              <a:rPr lang="en-IN" sz="2400" b="1" dirty="0"/>
              <a:t>Syntax</a:t>
            </a:r>
          </a:p>
          <a:p>
            <a:r>
              <a:rPr lang="en-IN" sz="1800" dirty="0"/>
              <a:t>while condition:</a:t>
            </a:r>
            <a:br>
              <a:rPr lang="en-IN" sz="1800" dirty="0"/>
            </a:br>
            <a:r>
              <a:rPr lang="en-IN" sz="1800" dirty="0"/>
              <a:t>    statements</a:t>
            </a:r>
          </a:p>
          <a:p>
            <a:r>
              <a:rPr lang="en-IN" sz="2400" dirty="0"/>
              <a:t>Loop continues </a:t>
            </a:r>
            <a:r>
              <a:rPr lang="en-IN" sz="2400" b="1" dirty="0"/>
              <a:t>until condition becomes false</a:t>
            </a:r>
            <a:r>
              <a:rPr lang="en-IN" sz="2400" dirty="0"/>
              <a:t>.</a:t>
            </a:r>
          </a:p>
          <a:p>
            <a:r>
              <a:rPr lang="en-IN" sz="2400" b="1" dirty="0"/>
              <a:t>Example 1 — Counting</a:t>
            </a:r>
          </a:p>
          <a:p>
            <a:r>
              <a:rPr lang="en-IN" sz="1800" dirty="0" err="1"/>
              <a:t>i</a:t>
            </a:r>
            <a:r>
              <a:rPr lang="en-IN" sz="1800" dirty="0"/>
              <a:t> = 1</a:t>
            </a:r>
            <a:br>
              <a:rPr lang="en-IN" sz="1800" dirty="0"/>
            </a:br>
            <a:br>
              <a:rPr lang="en-IN" sz="1800" dirty="0"/>
            </a:br>
            <a:r>
              <a:rPr lang="en-IN" sz="1800" dirty="0"/>
              <a:t>while </a:t>
            </a:r>
            <a:r>
              <a:rPr lang="en-IN" sz="1800" dirty="0" err="1"/>
              <a:t>i</a:t>
            </a:r>
            <a:r>
              <a:rPr lang="en-IN" sz="1800" dirty="0"/>
              <a:t> &lt;= 5:</a:t>
            </a:r>
            <a:br>
              <a:rPr lang="en-IN" sz="1800" dirty="0"/>
            </a:br>
            <a:r>
              <a:rPr lang="en-IN" sz="1800" dirty="0"/>
              <a:t>    print(</a:t>
            </a:r>
            <a:r>
              <a:rPr lang="en-IN" sz="1800" dirty="0" err="1"/>
              <a:t>i</a:t>
            </a:r>
            <a:r>
              <a:rPr lang="en-IN" sz="1800" dirty="0"/>
              <a:t>)</a:t>
            </a:r>
            <a:br>
              <a:rPr lang="en-IN" sz="1800" dirty="0"/>
            </a:br>
            <a:r>
              <a:rPr lang="en-IN" sz="1800" dirty="0"/>
              <a:t>    </a:t>
            </a:r>
            <a:r>
              <a:rPr lang="en-IN" sz="1800" dirty="0" err="1"/>
              <a:t>i</a:t>
            </a:r>
            <a:r>
              <a:rPr lang="en-IN" sz="1800" dirty="0"/>
              <a:t> += 1</a:t>
            </a:r>
          </a:p>
          <a:p>
            <a:r>
              <a:rPr lang="en-IN" sz="2400" dirty="0"/>
              <a:t>Output</a:t>
            </a:r>
          </a:p>
          <a:p>
            <a:r>
              <a:rPr lang="en-IN" sz="1800" dirty="0"/>
              <a:t>1</a:t>
            </a:r>
            <a:br>
              <a:rPr lang="en-IN" sz="1800" dirty="0"/>
            </a:br>
            <a:r>
              <a:rPr lang="en-IN" sz="1800" dirty="0"/>
              <a:t>2</a:t>
            </a:r>
            <a:br>
              <a:rPr lang="en-IN" sz="1800" dirty="0"/>
            </a:br>
            <a:r>
              <a:rPr lang="en-IN" sz="1800" dirty="0"/>
              <a:t>3</a:t>
            </a:r>
            <a:br>
              <a:rPr lang="en-IN" sz="1800" dirty="0"/>
            </a:br>
            <a:r>
              <a:rPr lang="en-IN" sz="1800" dirty="0"/>
              <a:t>4</a:t>
            </a:r>
            <a:br>
              <a:rPr lang="en-IN" sz="1800" dirty="0"/>
            </a:br>
            <a:r>
              <a:rPr lang="en-IN" sz="1800" dirty="0"/>
              <a:t>5</a:t>
            </a:r>
            <a:endParaRPr lang="en-IN" sz="2400" dirty="0"/>
          </a:p>
          <a:p>
            <a:endParaRPr lang="en-IN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E029AF43-391F-C9F9-DA6A-2E97BBAB3BCC}"/>
              </a:ext>
            </a:extLst>
          </p:cNvPr>
          <p:cNvSpPr txBox="1">
            <a:spLocks/>
          </p:cNvSpPr>
          <p:nvPr/>
        </p:nvSpPr>
        <p:spPr>
          <a:xfrm>
            <a:off x="6329265" y="0"/>
            <a:ext cx="5862735" cy="68580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IN" sz="2400" b="1" dirty="0"/>
              <a:t>Example 2 — Sum of Numbers</a:t>
            </a:r>
          </a:p>
          <a:p>
            <a:r>
              <a:rPr lang="en-IN" sz="2000" dirty="0"/>
              <a:t>total = 0</a:t>
            </a:r>
            <a:br>
              <a:rPr lang="en-IN" sz="2000" dirty="0"/>
            </a:br>
            <a:r>
              <a:rPr lang="en-IN" sz="2000" dirty="0" err="1"/>
              <a:t>i</a:t>
            </a:r>
            <a:r>
              <a:rPr lang="en-IN" sz="2000" dirty="0"/>
              <a:t> = 1</a:t>
            </a:r>
            <a:br>
              <a:rPr lang="en-IN" sz="2000" dirty="0"/>
            </a:br>
            <a:br>
              <a:rPr lang="en-IN" sz="2000" dirty="0"/>
            </a:br>
            <a:r>
              <a:rPr lang="en-IN" sz="2000" dirty="0"/>
              <a:t>while </a:t>
            </a:r>
            <a:r>
              <a:rPr lang="en-IN" sz="2000" dirty="0" err="1"/>
              <a:t>i</a:t>
            </a:r>
            <a:r>
              <a:rPr lang="en-IN" sz="2000" dirty="0"/>
              <a:t> &lt;= 5:</a:t>
            </a:r>
            <a:br>
              <a:rPr lang="en-IN" sz="2000" dirty="0"/>
            </a:br>
            <a:r>
              <a:rPr lang="en-IN" sz="2000" dirty="0"/>
              <a:t>    total += </a:t>
            </a:r>
            <a:r>
              <a:rPr lang="en-IN" sz="2000" dirty="0" err="1"/>
              <a:t>i</a:t>
            </a:r>
            <a:br>
              <a:rPr lang="en-IN" sz="2000" dirty="0"/>
            </a:br>
            <a:r>
              <a:rPr lang="en-IN" sz="2000" dirty="0"/>
              <a:t>    </a:t>
            </a:r>
            <a:r>
              <a:rPr lang="en-IN" sz="2000" dirty="0" err="1"/>
              <a:t>i</a:t>
            </a:r>
            <a:r>
              <a:rPr lang="en-IN" sz="2000" dirty="0"/>
              <a:t> += 1</a:t>
            </a:r>
            <a:br>
              <a:rPr lang="en-IN" sz="2000" dirty="0"/>
            </a:br>
            <a:br>
              <a:rPr lang="en-IN" sz="2000" dirty="0"/>
            </a:br>
            <a:r>
              <a:rPr lang="en-IN" sz="2000" dirty="0"/>
              <a:t>print(total)</a:t>
            </a:r>
          </a:p>
          <a:p>
            <a:pPr marL="0" indent="0">
              <a:buNone/>
            </a:pPr>
            <a:r>
              <a:rPr lang="en-IN" sz="2400" dirty="0"/>
              <a:t>Output</a:t>
            </a:r>
          </a:p>
          <a:p>
            <a:r>
              <a:rPr lang="en-IN" sz="2000" dirty="0"/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296756016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717F63-76A0-1AB4-F7EC-226C56E950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3BCE18-2AB8-159A-7920-FFF749A912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0"/>
            <a:ext cx="5047861" cy="6858000"/>
          </a:xfrm>
        </p:spPr>
        <p:txBody>
          <a:bodyPr>
            <a:normAutofit/>
          </a:bodyPr>
          <a:lstStyle/>
          <a:p>
            <a:pPr>
              <a:buFont typeface="Wingdings" panose="05000000000000000000" pitchFamily="2" charset="2"/>
              <a:buChar char="Ø"/>
            </a:pPr>
            <a:r>
              <a:rPr lang="en-IN" b="1" dirty="0"/>
              <a:t>break Statement</a:t>
            </a:r>
          </a:p>
          <a:p>
            <a:pPr marL="0" indent="0">
              <a:buNone/>
            </a:pPr>
            <a:r>
              <a:rPr lang="en-IN" dirty="0"/>
              <a:t>Used to </a:t>
            </a:r>
            <a:r>
              <a:rPr lang="en-IN" b="1" dirty="0"/>
              <a:t>exit a loop immediately</a:t>
            </a:r>
            <a:r>
              <a:rPr lang="en-IN" dirty="0"/>
              <a:t>.</a:t>
            </a:r>
          </a:p>
          <a:p>
            <a:pPr marL="0" indent="0">
              <a:buNone/>
            </a:pPr>
            <a:r>
              <a:rPr lang="en-IN" b="1" dirty="0"/>
              <a:t>Example 1 — Stop at 5</a:t>
            </a:r>
          </a:p>
          <a:p>
            <a:r>
              <a:rPr lang="en-IN" dirty="0"/>
              <a:t>for </a:t>
            </a:r>
            <a:r>
              <a:rPr lang="en-IN" dirty="0" err="1"/>
              <a:t>i</a:t>
            </a:r>
            <a:r>
              <a:rPr lang="en-IN" dirty="0"/>
              <a:t> in range(10):</a:t>
            </a:r>
            <a:br>
              <a:rPr lang="en-IN" dirty="0"/>
            </a:br>
            <a:br>
              <a:rPr lang="en-IN" dirty="0"/>
            </a:br>
            <a:r>
              <a:rPr lang="en-IN" dirty="0"/>
              <a:t>    if </a:t>
            </a:r>
            <a:r>
              <a:rPr lang="en-IN" dirty="0" err="1"/>
              <a:t>i</a:t>
            </a:r>
            <a:r>
              <a:rPr lang="en-IN" dirty="0"/>
              <a:t> == 5:</a:t>
            </a:r>
            <a:br>
              <a:rPr lang="en-IN" dirty="0"/>
            </a:br>
            <a:r>
              <a:rPr lang="en-IN" dirty="0"/>
              <a:t>        break</a:t>
            </a:r>
            <a:br>
              <a:rPr lang="en-IN" dirty="0"/>
            </a:br>
            <a:br>
              <a:rPr lang="en-IN" dirty="0"/>
            </a:br>
            <a:r>
              <a:rPr lang="en-IN" dirty="0"/>
              <a:t>    print(</a:t>
            </a:r>
            <a:r>
              <a:rPr lang="en-IN" dirty="0" err="1"/>
              <a:t>i</a:t>
            </a:r>
            <a:r>
              <a:rPr lang="en-IN" dirty="0"/>
              <a:t>)</a:t>
            </a:r>
          </a:p>
          <a:p>
            <a:pPr marL="0" indent="0">
              <a:buNone/>
            </a:pPr>
            <a:r>
              <a:rPr lang="en-IN" dirty="0"/>
              <a:t>Output</a:t>
            </a:r>
          </a:p>
          <a:p>
            <a:r>
              <a:rPr lang="en-IN" dirty="0"/>
              <a:t>0</a:t>
            </a:r>
            <a:br>
              <a:rPr lang="en-IN" dirty="0"/>
            </a:br>
            <a:r>
              <a:rPr lang="en-IN" dirty="0"/>
              <a:t>1</a:t>
            </a:r>
            <a:br>
              <a:rPr lang="en-IN" dirty="0"/>
            </a:br>
            <a:r>
              <a:rPr lang="en-IN" dirty="0"/>
              <a:t>2</a:t>
            </a:r>
            <a:br>
              <a:rPr lang="en-IN" dirty="0"/>
            </a:br>
            <a:r>
              <a:rPr lang="en-IN" dirty="0"/>
              <a:t>3</a:t>
            </a:r>
            <a:br>
              <a:rPr lang="en-IN" dirty="0"/>
            </a:br>
            <a:r>
              <a:rPr lang="en-IN" dirty="0"/>
              <a:t>4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549743D5-1426-E552-8DB2-7F1FD319E627}"/>
              </a:ext>
            </a:extLst>
          </p:cNvPr>
          <p:cNvSpPr txBox="1">
            <a:spLocks/>
          </p:cNvSpPr>
          <p:nvPr/>
        </p:nvSpPr>
        <p:spPr>
          <a:xfrm>
            <a:off x="4909457" y="0"/>
            <a:ext cx="3506755" cy="6858000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anose="05000000000000000000" pitchFamily="2" charset="2"/>
              <a:buChar char="Ø"/>
            </a:pPr>
            <a:r>
              <a:rPr lang="en-IN" b="1" dirty="0"/>
              <a:t>continue</a:t>
            </a:r>
            <a:r>
              <a:rPr lang="en-IN" sz="2400" b="1" dirty="0"/>
              <a:t> Statement</a:t>
            </a:r>
          </a:p>
          <a:p>
            <a:r>
              <a:rPr lang="en-IN" dirty="0"/>
              <a:t>Skips current iteration.</a:t>
            </a:r>
          </a:p>
          <a:p>
            <a:pPr marL="0" indent="0">
              <a:buNone/>
            </a:pPr>
            <a:r>
              <a:rPr lang="en-IN" b="1" dirty="0"/>
              <a:t>Example 1</a:t>
            </a:r>
          </a:p>
          <a:p>
            <a:r>
              <a:rPr lang="en-IN" sz="3200" dirty="0"/>
              <a:t>for </a:t>
            </a:r>
            <a:r>
              <a:rPr lang="en-IN" sz="3200" dirty="0" err="1"/>
              <a:t>i</a:t>
            </a:r>
            <a:r>
              <a:rPr lang="en-IN" sz="3200" dirty="0"/>
              <a:t> in range(5):</a:t>
            </a:r>
            <a:br>
              <a:rPr lang="en-IN" sz="3200" dirty="0"/>
            </a:br>
            <a:br>
              <a:rPr lang="en-IN" sz="3200" dirty="0"/>
            </a:br>
            <a:r>
              <a:rPr lang="en-IN" sz="3200" dirty="0"/>
              <a:t>    if </a:t>
            </a:r>
            <a:r>
              <a:rPr lang="en-IN" sz="3200" dirty="0" err="1"/>
              <a:t>i</a:t>
            </a:r>
            <a:r>
              <a:rPr lang="en-IN" sz="3200" dirty="0"/>
              <a:t> == 2:</a:t>
            </a:r>
            <a:br>
              <a:rPr lang="en-IN" sz="3200" dirty="0"/>
            </a:br>
            <a:r>
              <a:rPr lang="en-IN" sz="3200" dirty="0"/>
              <a:t>        continue</a:t>
            </a:r>
            <a:br>
              <a:rPr lang="en-IN" sz="3200" dirty="0"/>
            </a:br>
            <a:br>
              <a:rPr lang="en-IN" sz="3200" dirty="0"/>
            </a:br>
            <a:r>
              <a:rPr lang="en-IN" sz="3200" dirty="0"/>
              <a:t>    print(</a:t>
            </a:r>
            <a:r>
              <a:rPr lang="en-IN" sz="3200" dirty="0" err="1"/>
              <a:t>i</a:t>
            </a:r>
            <a:r>
              <a:rPr lang="en-IN" sz="3200" dirty="0"/>
              <a:t>)</a:t>
            </a:r>
          </a:p>
          <a:p>
            <a:pPr marL="0" indent="0">
              <a:buNone/>
            </a:pPr>
            <a:r>
              <a:rPr lang="en-IN" dirty="0"/>
              <a:t>Output</a:t>
            </a:r>
          </a:p>
          <a:p>
            <a:r>
              <a:rPr lang="en-IN" sz="3200" dirty="0"/>
              <a:t>0</a:t>
            </a:r>
            <a:br>
              <a:rPr lang="en-IN" sz="3200" dirty="0"/>
            </a:br>
            <a:r>
              <a:rPr lang="en-IN" sz="3200" dirty="0"/>
              <a:t>1</a:t>
            </a:r>
            <a:br>
              <a:rPr lang="en-IN" sz="3200" dirty="0"/>
            </a:br>
            <a:r>
              <a:rPr lang="en-IN" sz="3200" dirty="0"/>
              <a:t>3</a:t>
            </a:r>
            <a:br>
              <a:rPr lang="en-IN" sz="3200" dirty="0"/>
            </a:br>
            <a:r>
              <a:rPr lang="en-IN" sz="3200" dirty="0"/>
              <a:t>4</a:t>
            </a:r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B422D1F9-ACEB-61D5-839E-E697A52BA533}"/>
              </a:ext>
            </a:extLst>
          </p:cNvPr>
          <p:cNvSpPr txBox="1">
            <a:spLocks/>
          </p:cNvSpPr>
          <p:nvPr/>
        </p:nvSpPr>
        <p:spPr>
          <a:xfrm>
            <a:off x="8481526" y="0"/>
            <a:ext cx="3710474" cy="68580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anose="05000000000000000000" pitchFamily="2" charset="2"/>
              <a:buChar char="Ø"/>
            </a:pPr>
            <a:r>
              <a:rPr lang="en-IN" b="1" dirty="0"/>
              <a:t>pass Statement</a:t>
            </a:r>
          </a:p>
          <a:p>
            <a:r>
              <a:rPr lang="en-IN" dirty="0"/>
              <a:t>Used when a statement is </a:t>
            </a:r>
            <a:r>
              <a:rPr lang="en-IN" b="1" dirty="0"/>
              <a:t>required syntactically but no action is needed</a:t>
            </a:r>
            <a:r>
              <a:rPr lang="en-IN" dirty="0"/>
              <a:t>.</a:t>
            </a:r>
          </a:p>
          <a:p>
            <a:pPr marL="0" indent="0">
              <a:buNone/>
            </a:pPr>
            <a:r>
              <a:rPr lang="en-IN" b="1" dirty="0"/>
              <a:t>Example 1</a:t>
            </a:r>
          </a:p>
          <a:p>
            <a:r>
              <a:rPr lang="en-IN" dirty="0"/>
              <a:t>for </a:t>
            </a:r>
            <a:r>
              <a:rPr lang="en-IN" dirty="0" err="1"/>
              <a:t>i</a:t>
            </a:r>
            <a:r>
              <a:rPr lang="en-IN" dirty="0"/>
              <a:t> in range(5):</a:t>
            </a:r>
            <a:br>
              <a:rPr lang="en-IN" dirty="0"/>
            </a:br>
            <a:r>
              <a:rPr lang="en-IN" dirty="0"/>
              <a:t>    pass</a:t>
            </a:r>
          </a:p>
          <a:p>
            <a:pPr marL="0" indent="0">
              <a:buNone/>
            </a:pPr>
            <a:r>
              <a:rPr lang="en-IN" b="1" dirty="0"/>
              <a:t>Example 2</a:t>
            </a:r>
          </a:p>
          <a:p>
            <a:r>
              <a:rPr lang="en-IN" dirty="0"/>
              <a:t>if True:</a:t>
            </a:r>
            <a:br>
              <a:rPr lang="en-IN" dirty="0"/>
            </a:br>
            <a:r>
              <a:rPr lang="en-IN" dirty="0"/>
              <a:t>    pass</a:t>
            </a:r>
          </a:p>
          <a:p>
            <a:r>
              <a:rPr lang="en-IN" dirty="0"/>
              <a:t>Often used in </a:t>
            </a:r>
            <a:r>
              <a:rPr lang="en-IN" b="1" dirty="0"/>
              <a:t>placeholder code</a:t>
            </a:r>
            <a:r>
              <a:rPr lang="en-IN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28904755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4EA7E9-9412-8FE6-D8A0-31AA0BB629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7613" y="18256"/>
            <a:ext cx="10515600" cy="541582"/>
          </a:xfrm>
        </p:spPr>
        <p:txBody>
          <a:bodyPr>
            <a:normAutofit fontScale="90000"/>
          </a:bodyPr>
          <a:lstStyle/>
          <a:p>
            <a:r>
              <a:rPr lang="en-US" dirty="0"/>
              <a:t>Python Functions &amp; Regular Expressions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9DEAA8-3C10-87B7-AF30-0A846D972D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8910" y="559838"/>
            <a:ext cx="5407090" cy="6279906"/>
          </a:xfrm>
        </p:spPr>
        <p:txBody>
          <a:bodyPr>
            <a:normAutofit fontScale="92500" lnSpcReduction="10000"/>
          </a:bodyPr>
          <a:lstStyle/>
          <a:p>
            <a:r>
              <a:rPr lang="en-IN" b="1" dirty="0"/>
              <a:t>Introduction to Functions</a:t>
            </a:r>
            <a:endParaRPr lang="en-IN" dirty="0"/>
          </a:p>
          <a:p>
            <a:r>
              <a:rPr lang="en-IN" b="1" dirty="0"/>
              <a:t>What is a Function?</a:t>
            </a:r>
          </a:p>
          <a:p>
            <a:r>
              <a:rPr lang="en-IN" dirty="0"/>
              <a:t>A </a:t>
            </a:r>
            <a:r>
              <a:rPr lang="en-IN" b="1" dirty="0"/>
              <a:t>function</a:t>
            </a:r>
            <a:r>
              <a:rPr lang="en-IN" dirty="0"/>
              <a:t> is a reusable block of code that performs a specific task.</a:t>
            </a:r>
          </a:p>
          <a:p>
            <a:r>
              <a:rPr lang="en-IN" dirty="0"/>
              <a:t>Instead of writing the same code multiple times, we define a function and reuse it.</a:t>
            </a:r>
            <a:br>
              <a:rPr lang="en-IN" dirty="0"/>
            </a:br>
            <a:endParaRPr lang="en-IN" dirty="0"/>
          </a:p>
          <a:p>
            <a:r>
              <a:rPr lang="en-IN" b="1" dirty="0"/>
              <a:t>Why Use Functions?</a:t>
            </a:r>
          </a:p>
          <a:p>
            <a:r>
              <a:rPr lang="en-IN" dirty="0"/>
              <a:t>Advantages:</a:t>
            </a:r>
          </a:p>
          <a:p>
            <a:r>
              <a:rPr lang="en-IN" dirty="0"/>
              <a:t>Code reuse</a:t>
            </a:r>
          </a:p>
          <a:p>
            <a:r>
              <a:rPr lang="en-IN" dirty="0"/>
              <a:t>Better readability</a:t>
            </a:r>
          </a:p>
          <a:p>
            <a:r>
              <a:rPr lang="en-IN" dirty="0"/>
              <a:t>Modular programming</a:t>
            </a:r>
          </a:p>
          <a:p>
            <a:r>
              <a:rPr lang="en-IN" dirty="0"/>
              <a:t>Easier debugging</a:t>
            </a:r>
          </a:p>
          <a:p>
            <a:r>
              <a:rPr lang="en-IN" dirty="0"/>
              <a:t>Organized programs</a:t>
            </a:r>
          </a:p>
          <a:p>
            <a:endParaRPr lang="en-US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A2DCC576-850B-B267-6FA7-1BDFD82614BE}"/>
              </a:ext>
            </a:extLst>
          </p:cNvPr>
          <p:cNvSpPr txBox="1">
            <a:spLocks/>
          </p:cNvSpPr>
          <p:nvPr/>
        </p:nvSpPr>
        <p:spPr>
          <a:xfrm>
            <a:off x="6096000" y="559838"/>
            <a:ext cx="5407090" cy="627990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IN" dirty="0"/>
              <a:t>Example problem without function:</a:t>
            </a:r>
          </a:p>
          <a:p>
            <a:r>
              <a:rPr lang="en-IN" dirty="0"/>
              <a:t>area = 10 * 20</a:t>
            </a:r>
            <a:br>
              <a:rPr lang="en-IN" dirty="0"/>
            </a:br>
            <a:r>
              <a:rPr lang="en-IN" dirty="0"/>
              <a:t>print(area)</a:t>
            </a:r>
            <a:br>
              <a:rPr lang="en-IN" dirty="0"/>
            </a:br>
            <a:br>
              <a:rPr lang="en-IN" dirty="0"/>
            </a:br>
            <a:r>
              <a:rPr lang="en-IN" dirty="0"/>
              <a:t>area = 15 * 30</a:t>
            </a:r>
            <a:br>
              <a:rPr lang="en-IN" dirty="0"/>
            </a:br>
            <a:r>
              <a:rPr lang="en-IN" dirty="0"/>
              <a:t>print(area)</a:t>
            </a:r>
          </a:p>
          <a:p>
            <a:pPr marL="0" indent="0">
              <a:buNone/>
            </a:pPr>
            <a:r>
              <a:rPr lang="en-IN" dirty="0"/>
              <a:t>With function:</a:t>
            </a:r>
          </a:p>
          <a:p>
            <a:r>
              <a:rPr lang="en-IN" dirty="0"/>
              <a:t>def area(l, w):</a:t>
            </a:r>
            <a:br>
              <a:rPr lang="en-IN" dirty="0"/>
            </a:br>
            <a:r>
              <a:rPr lang="en-IN" dirty="0"/>
              <a:t>    return l * w</a:t>
            </a:r>
            <a:br>
              <a:rPr lang="en-IN" dirty="0"/>
            </a:br>
            <a:br>
              <a:rPr lang="en-IN" dirty="0"/>
            </a:br>
            <a:r>
              <a:rPr lang="en-IN" dirty="0"/>
              <a:t>print(area(10,20))</a:t>
            </a:r>
            <a:br>
              <a:rPr lang="en-IN" dirty="0"/>
            </a:br>
            <a:r>
              <a:rPr lang="en-IN" dirty="0"/>
              <a:t>print(area(15,30))</a:t>
            </a:r>
          </a:p>
        </p:txBody>
      </p:sp>
    </p:spTree>
    <p:extLst>
      <p:ext uri="{BB962C8B-B14F-4D97-AF65-F5344CB8AC3E}">
        <p14:creationId xmlns:p14="http://schemas.microsoft.com/office/powerpoint/2010/main" val="305155804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B997C2-DCB7-61D4-339D-3EC9525C3A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59DB87-E13D-C90D-E28A-BAAC8B0BCD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0"/>
            <a:ext cx="5047861" cy="6858000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IN" b="1" dirty="0"/>
              <a:t>Syntax of a Function</a:t>
            </a:r>
          </a:p>
          <a:p>
            <a:r>
              <a:rPr lang="en-IN" dirty="0"/>
              <a:t>def </a:t>
            </a:r>
            <a:r>
              <a:rPr lang="en-IN" dirty="0" err="1"/>
              <a:t>function_name</a:t>
            </a:r>
            <a:r>
              <a:rPr lang="en-IN" dirty="0"/>
              <a:t>(parameters):</a:t>
            </a:r>
            <a:br>
              <a:rPr lang="en-IN" dirty="0"/>
            </a:br>
            <a:r>
              <a:rPr lang="en-IN" dirty="0"/>
              <a:t>    statements</a:t>
            </a:r>
            <a:br>
              <a:rPr lang="en-IN" dirty="0"/>
            </a:br>
            <a:r>
              <a:rPr lang="en-IN" dirty="0"/>
              <a:t>    return value</a:t>
            </a:r>
          </a:p>
          <a:p>
            <a:r>
              <a:rPr lang="en-IN" dirty="0"/>
              <a:t>Example</a:t>
            </a:r>
          </a:p>
          <a:p>
            <a:r>
              <a:rPr lang="en-IN" dirty="0"/>
              <a:t>def greet():</a:t>
            </a:r>
            <a:br>
              <a:rPr lang="en-IN" dirty="0"/>
            </a:br>
            <a:r>
              <a:rPr lang="en-IN" dirty="0"/>
              <a:t>    print("Hello Python")</a:t>
            </a:r>
          </a:p>
          <a:p>
            <a:pPr marL="0" indent="0">
              <a:buNone/>
            </a:pPr>
            <a:r>
              <a:rPr lang="en-IN" b="1" dirty="0"/>
              <a:t>Example 1 — Simple Function</a:t>
            </a:r>
          </a:p>
          <a:p>
            <a:r>
              <a:rPr lang="en-IN" dirty="0"/>
              <a:t>def hello():</a:t>
            </a:r>
            <a:br>
              <a:rPr lang="en-IN" dirty="0"/>
            </a:br>
            <a:r>
              <a:rPr lang="en-IN" dirty="0"/>
              <a:t>    print("Hello students")</a:t>
            </a:r>
            <a:br>
              <a:rPr lang="en-IN" dirty="0"/>
            </a:br>
            <a:br>
              <a:rPr lang="en-IN" dirty="0"/>
            </a:br>
            <a:r>
              <a:rPr lang="en-IN" dirty="0"/>
              <a:t>hello()</a:t>
            </a:r>
          </a:p>
          <a:p>
            <a:pPr marL="0" indent="0">
              <a:buNone/>
            </a:pPr>
            <a:r>
              <a:rPr lang="en-IN" dirty="0"/>
              <a:t>Output</a:t>
            </a:r>
          </a:p>
          <a:p>
            <a:r>
              <a:rPr lang="en-IN" dirty="0"/>
              <a:t>Hello students</a:t>
            </a:r>
          </a:p>
          <a:p>
            <a:pPr marL="0" indent="0">
              <a:buNone/>
            </a:pPr>
            <a:r>
              <a:rPr lang="en-IN" b="1" dirty="0"/>
              <a:t>Explanation:</a:t>
            </a:r>
            <a:br>
              <a:rPr lang="en-IN" dirty="0"/>
            </a:br>
            <a:r>
              <a:rPr lang="en-IN" dirty="0"/>
              <a:t>Function is defined using def and executed by calling it.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218E6CA0-2E9E-A665-5078-D6C91DC3B6BD}"/>
              </a:ext>
            </a:extLst>
          </p:cNvPr>
          <p:cNvSpPr txBox="1">
            <a:spLocks/>
          </p:cNvSpPr>
          <p:nvPr/>
        </p:nvSpPr>
        <p:spPr>
          <a:xfrm>
            <a:off x="4909457" y="0"/>
            <a:ext cx="3506755" cy="6858000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IN" b="1" dirty="0"/>
              <a:t>Example 2 — Function with Return Value</a:t>
            </a:r>
          </a:p>
          <a:p>
            <a:r>
              <a:rPr lang="en-IN" dirty="0"/>
              <a:t>def add(a, b):</a:t>
            </a:r>
            <a:br>
              <a:rPr lang="en-IN" dirty="0"/>
            </a:br>
            <a:r>
              <a:rPr lang="en-IN" dirty="0"/>
              <a:t>    return a + b</a:t>
            </a:r>
            <a:br>
              <a:rPr lang="en-IN" dirty="0"/>
            </a:br>
            <a:br>
              <a:rPr lang="en-IN" dirty="0"/>
            </a:br>
            <a:r>
              <a:rPr lang="en-IN" dirty="0"/>
              <a:t>print(add(10,5))</a:t>
            </a:r>
          </a:p>
          <a:p>
            <a:pPr marL="0" indent="0">
              <a:buNone/>
            </a:pPr>
            <a:r>
              <a:rPr lang="en-IN" dirty="0"/>
              <a:t>Output</a:t>
            </a:r>
          </a:p>
          <a:p>
            <a:r>
              <a:rPr lang="en-IN" dirty="0"/>
              <a:t>15</a:t>
            </a:r>
          </a:p>
          <a:p>
            <a:pPr marL="0" indent="0">
              <a:buNone/>
            </a:pPr>
            <a:r>
              <a:rPr lang="en-IN" b="1" dirty="0"/>
              <a:t>Example 3 — Function to Check Even Number</a:t>
            </a:r>
          </a:p>
          <a:p>
            <a:r>
              <a:rPr lang="en-IN" dirty="0"/>
              <a:t>def even(n):</a:t>
            </a:r>
            <a:br>
              <a:rPr lang="en-IN" dirty="0"/>
            </a:br>
            <a:br>
              <a:rPr lang="en-IN" dirty="0"/>
            </a:br>
            <a:r>
              <a:rPr lang="en-IN" dirty="0"/>
              <a:t>    if n % 2 == 0:</a:t>
            </a:r>
            <a:br>
              <a:rPr lang="en-IN" dirty="0"/>
            </a:br>
            <a:r>
              <a:rPr lang="en-IN" dirty="0"/>
              <a:t>        return True</a:t>
            </a:r>
            <a:br>
              <a:rPr lang="en-IN" dirty="0"/>
            </a:br>
            <a:r>
              <a:rPr lang="en-IN" dirty="0"/>
              <a:t>    else:</a:t>
            </a:r>
            <a:br>
              <a:rPr lang="en-IN" dirty="0"/>
            </a:br>
            <a:r>
              <a:rPr lang="en-IN" dirty="0"/>
              <a:t>        return False</a:t>
            </a:r>
            <a:br>
              <a:rPr lang="en-IN" dirty="0"/>
            </a:br>
            <a:br>
              <a:rPr lang="en-IN" dirty="0"/>
            </a:br>
            <a:r>
              <a:rPr lang="en-IN" dirty="0"/>
              <a:t>print(even(6))</a:t>
            </a:r>
          </a:p>
          <a:p>
            <a:pPr marL="0" indent="0">
              <a:buNone/>
            </a:pPr>
            <a:r>
              <a:rPr lang="en-IN" dirty="0"/>
              <a:t>Output</a:t>
            </a:r>
          </a:p>
          <a:p>
            <a:r>
              <a:rPr lang="en-IN" dirty="0"/>
              <a:t>True</a:t>
            </a:r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2E41DFEF-E8C7-2C9A-3B70-69E224AD949C}"/>
              </a:ext>
            </a:extLst>
          </p:cNvPr>
          <p:cNvSpPr txBox="1">
            <a:spLocks/>
          </p:cNvSpPr>
          <p:nvPr/>
        </p:nvSpPr>
        <p:spPr>
          <a:xfrm>
            <a:off x="8145624" y="0"/>
            <a:ext cx="4046376" cy="68580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IN" b="1" dirty="0"/>
              <a:t>Example 4 — Factorial Function</a:t>
            </a:r>
          </a:p>
          <a:p>
            <a:r>
              <a:rPr lang="en-IN" dirty="0"/>
              <a:t>def factorial(n):</a:t>
            </a:r>
            <a:br>
              <a:rPr lang="en-IN" dirty="0"/>
            </a:br>
            <a:r>
              <a:rPr lang="en-IN" dirty="0"/>
              <a:t>    fact = 1</a:t>
            </a:r>
            <a:br>
              <a:rPr lang="en-IN" dirty="0"/>
            </a:br>
            <a:r>
              <a:rPr lang="en-IN" dirty="0"/>
              <a:t>    for </a:t>
            </a:r>
            <a:r>
              <a:rPr lang="en-IN" dirty="0" err="1"/>
              <a:t>i</a:t>
            </a:r>
            <a:r>
              <a:rPr lang="en-IN" dirty="0"/>
              <a:t> in range(1, n+1):</a:t>
            </a:r>
            <a:br>
              <a:rPr lang="en-IN" dirty="0"/>
            </a:br>
            <a:r>
              <a:rPr lang="en-IN" dirty="0"/>
              <a:t>        fact *= </a:t>
            </a:r>
            <a:r>
              <a:rPr lang="en-IN" dirty="0" err="1"/>
              <a:t>i</a:t>
            </a:r>
            <a:br>
              <a:rPr lang="en-IN" dirty="0"/>
            </a:br>
            <a:r>
              <a:rPr lang="en-IN" dirty="0"/>
              <a:t>    return fact</a:t>
            </a:r>
            <a:br>
              <a:rPr lang="en-IN" dirty="0"/>
            </a:br>
            <a:r>
              <a:rPr lang="en-IN" dirty="0"/>
              <a:t>print(factorial(5))</a:t>
            </a:r>
          </a:p>
          <a:p>
            <a:endParaRPr lang="en-IN" dirty="0"/>
          </a:p>
          <a:p>
            <a:pPr marL="0" indent="0">
              <a:buNone/>
            </a:pPr>
            <a:r>
              <a:rPr lang="en-IN" dirty="0"/>
              <a:t>Output</a:t>
            </a:r>
          </a:p>
          <a:p>
            <a:r>
              <a:rPr lang="en-IN" dirty="0"/>
              <a:t>120</a:t>
            </a:r>
          </a:p>
        </p:txBody>
      </p:sp>
    </p:spTree>
    <p:extLst>
      <p:ext uri="{BB962C8B-B14F-4D97-AF65-F5344CB8AC3E}">
        <p14:creationId xmlns:p14="http://schemas.microsoft.com/office/powerpoint/2010/main" val="142411165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36D438-8588-4396-5818-AE286DA351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2BAA0C-F032-B066-EF9B-C9CE443802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60981" y="0"/>
            <a:ext cx="4438261" cy="6858000"/>
          </a:xfrm>
        </p:spPr>
        <p:txBody>
          <a:bodyPr>
            <a:normAutofit fontScale="62500" lnSpcReduction="20000"/>
          </a:bodyPr>
          <a:lstStyle/>
          <a:p>
            <a:r>
              <a:rPr lang="en-US" b="1" dirty="0"/>
              <a:t>Types of Arguments</a:t>
            </a:r>
            <a:endParaRPr lang="en-US" dirty="0"/>
          </a:p>
          <a:p>
            <a:r>
              <a:rPr lang="en-US" b="1" dirty="0"/>
              <a:t>1. Positional Arguments</a:t>
            </a:r>
          </a:p>
          <a:p>
            <a:pPr marL="0" indent="0">
              <a:buNone/>
            </a:pPr>
            <a:r>
              <a:rPr lang="en-US" dirty="0"/>
              <a:t>Arguments passed </a:t>
            </a:r>
            <a:r>
              <a:rPr lang="en-US" b="1" dirty="0"/>
              <a:t>in order</a:t>
            </a:r>
            <a:r>
              <a:rPr lang="en-US" dirty="0"/>
              <a:t>.</a:t>
            </a:r>
          </a:p>
          <a:p>
            <a:r>
              <a:rPr lang="en-US" dirty="0"/>
              <a:t>def add(</a:t>
            </a:r>
            <a:r>
              <a:rPr lang="en-US" dirty="0" err="1"/>
              <a:t>a,b</a:t>
            </a:r>
            <a:r>
              <a:rPr lang="en-US" dirty="0"/>
              <a:t>):</a:t>
            </a:r>
            <a:br>
              <a:rPr lang="en-US" dirty="0"/>
            </a:br>
            <a:r>
              <a:rPr lang="en-US" dirty="0"/>
              <a:t>    print(</a:t>
            </a:r>
            <a:r>
              <a:rPr lang="en-US" dirty="0" err="1"/>
              <a:t>a+b</a:t>
            </a:r>
            <a:r>
              <a:rPr lang="en-US" dirty="0"/>
              <a:t>)</a:t>
            </a:r>
            <a:br>
              <a:rPr lang="en-US" dirty="0"/>
            </a:br>
            <a:br>
              <a:rPr lang="en-US" dirty="0"/>
            </a:br>
            <a:r>
              <a:rPr lang="en-US" dirty="0"/>
              <a:t>add(5,3)</a:t>
            </a:r>
          </a:p>
          <a:p>
            <a:pPr marL="0" indent="0">
              <a:buNone/>
            </a:pPr>
            <a:r>
              <a:rPr lang="en-US" dirty="0"/>
              <a:t>Output</a:t>
            </a:r>
          </a:p>
          <a:p>
            <a:r>
              <a:rPr lang="en-US" dirty="0"/>
              <a:t>8</a:t>
            </a:r>
          </a:p>
          <a:p>
            <a:r>
              <a:rPr lang="en-US" b="1" dirty="0"/>
              <a:t>2. Keyword Arguments</a:t>
            </a:r>
          </a:p>
          <a:p>
            <a:pPr marL="0" indent="0">
              <a:buNone/>
            </a:pPr>
            <a:r>
              <a:rPr lang="en-US" dirty="0"/>
              <a:t>Arguments passed </a:t>
            </a:r>
            <a:r>
              <a:rPr lang="en-US" b="1" dirty="0"/>
              <a:t>using parameter name</a:t>
            </a:r>
            <a:r>
              <a:rPr lang="en-US" dirty="0"/>
              <a:t>.</a:t>
            </a:r>
          </a:p>
          <a:p>
            <a:r>
              <a:rPr lang="en-US" dirty="0"/>
              <a:t>def add(</a:t>
            </a:r>
            <a:r>
              <a:rPr lang="en-US" dirty="0" err="1"/>
              <a:t>a,b</a:t>
            </a:r>
            <a:r>
              <a:rPr lang="en-US" dirty="0"/>
              <a:t>):</a:t>
            </a:r>
            <a:br>
              <a:rPr lang="en-US" dirty="0"/>
            </a:br>
            <a:r>
              <a:rPr lang="en-US" dirty="0"/>
              <a:t>    print(</a:t>
            </a:r>
            <a:r>
              <a:rPr lang="en-US" dirty="0" err="1"/>
              <a:t>a+b</a:t>
            </a:r>
            <a:r>
              <a:rPr lang="en-US" dirty="0"/>
              <a:t>)</a:t>
            </a:r>
            <a:br>
              <a:rPr lang="en-US" dirty="0"/>
            </a:br>
            <a:br>
              <a:rPr lang="en-US" dirty="0"/>
            </a:br>
            <a:r>
              <a:rPr lang="en-US" dirty="0"/>
              <a:t>add(a=5,b=3)</a:t>
            </a:r>
          </a:p>
          <a:p>
            <a:r>
              <a:rPr lang="en-US" b="1" dirty="0"/>
              <a:t>3. Default Arguments</a:t>
            </a:r>
          </a:p>
          <a:p>
            <a:pPr marL="0" indent="0">
              <a:buNone/>
            </a:pPr>
            <a:r>
              <a:rPr lang="en-US" dirty="0"/>
              <a:t>Default value assigned to parameter.</a:t>
            </a:r>
          </a:p>
          <a:p>
            <a:r>
              <a:rPr lang="en-US" dirty="0"/>
              <a:t>def greet(name="Student"):</a:t>
            </a:r>
            <a:br>
              <a:rPr lang="en-US" dirty="0"/>
            </a:br>
            <a:r>
              <a:rPr lang="en-US" dirty="0"/>
              <a:t>    print("</a:t>
            </a:r>
            <a:r>
              <a:rPr lang="en-US" dirty="0" err="1"/>
              <a:t>Hello",name</a:t>
            </a:r>
            <a:r>
              <a:rPr lang="en-US" dirty="0"/>
              <a:t>)</a:t>
            </a:r>
            <a:br>
              <a:rPr lang="en-US" dirty="0"/>
            </a:br>
            <a:br>
              <a:rPr lang="en-US" dirty="0"/>
            </a:br>
            <a:r>
              <a:rPr lang="en-US" dirty="0"/>
              <a:t>greet()</a:t>
            </a:r>
          </a:p>
          <a:p>
            <a:pPr marL="0" indent="0">
              <a:buNone/>
            </a:pPr>
            <a:r>
              <a:rPr lang="en-US" dirty="0"/>
              <a:t>Output</a:t>
            </a:r>
          </a:p>
          <a:p>
            <a:r>
              <a:rPr lang="en-US" dirty="0"/>
              <a:t>Hello Student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3EA48252-1E48-14F2-B135-93636B214FE6}"/>
              </a:ext>
            </a:extLst>
          </p:cNvPr>
          <p:cNvSpPr txBox="1">
            <a:spLocks/>
          </p:cNvSpPr>
          <p:nvPr/>
        </p:nvSpPr>
        <p:spPr>
          <a:xfrm>
            <a:off x="8329127" y="0"/>
            <a:ext cx="4584441" cy="6858000"/>
          </a:xfrm>
          <a:prstGeom prst="rect">
            <a:avLst/>
          </a:prstGeom>
        </p:spPr>
        <p:txBody>
          <a:bodyPr vert="horz" lIns="91440" tIns="45720" rIns="91440" bIns="45720" rtlCol="0">
            <a:normAutofit fontScale="70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b="1" dirty="0"/>
              <a:t>4. Variable Arguments (*</a:t>
            </a:r>
            <a:r>
              <a:rPr lang="en-US" b="1" dirty="0" err="1"/>
              <a:t>args</a:t>
            </a:r>
            <a:r>
              <a:rPr lang="en-US" b="1" dirty="0"/>
              <a:t>)</a:t>
            </a:r>
          </a:p>
          <a:p>
            <a:pPr marL="0" indent="0">
              <a:buNone/>
            </a:pPr>
            <a:r>
              <a:rPr lang="en-US" dirty="0"/>
              <a:t>Allows </a:t>
            </a:r>
            <a:r>
              <a:rPr lang="en-US" b="1" dirty="0"/>
              <a:t>multiple arguments</a:t>
            </a:r>
            <a:r>
              <a:rPr lang="en-US" dirty="0"/>
              <a:t>.</a:t>
            </a:r>
          </a:p>
          <a:p>
            <a:r>
              <a:rPr lang="en-US" dirty="0"/>
              <a:t>def total(*</a:t>
            </a:r>
            <a:r>
              <a:rPr lang="en-US" dirty="0" err="1"/>
              <a:t>nums</a:t>
            </a:r>
            <a:r>
              <a:rPr lang="en-US" dirty="0"/>
              <a:t>):</a:t>
            </a:r>
            <a:br>
              <a:rPr lang="en-US" dirty="0"/>
            </a:br>
            <a:br>
              <a:rPr lang="en-US" dirty="0"/>
            </a:br>
            <a:r>
              <a:rPr lang="en-US" dirty="0"/>
              <a:t>    s = 0</a:t>
            </a:r>
            <a:br>
              <a:rPr lang="en-US" dirty="0"/>
            </a:br>
            <a:br>
              <a:rPr lang="en-US" dirty="0"/>
            </a:br>
            <a:r>
              <a:rPr lang="en-US" dirty="0"/>
              <a:t>    for n in </a:t>
            </a:r>
            <a:r>
              <a:rPr lang="en-US" dirty="0" err="1"/>
              <a:t>nums</a:t>
            </a:r>
            <a:r>
              <a:rPr lang="en-US" dirty="0"/>
              <a:t>:</a:t>
            </a:r>
            <a:br>
              <a:rPr lang="en-US" dirty="0"/>
            </a:br>
            <a:r>
              <a:rPr lang="en-US" dirty="0"/>
              <a:t>        s += n</a:t>
            </a:r>
            <a:br>
              <a:rPr lang="en-US" dirty="0"/>
            </a:br>
            <a:br>
              <a:rPr lang="en-US" dirty="0"/>
            </a:br>
            <a:r>
              <a:rPr lang="en-US" dirty="0"/>
              <a:t>    print(s)</a:t>
            </a:r>
            <a:br>
              <a:rPr lang="en-US" dirty="0"/>
            </a:br>
            <a:br>
              <a:rPr lang="en-US" dirty="0"/>
            </a:br>
            <a:r>
              <a:rPr lang="en-US" dirty="0"/>
              <a:t>total(1,2,3,4)</a:t>
            </a:r>
          </a:p>
          <a:p>
            <a:pPr marL="0" indent="0">
              <a:buNone/>
            </a:pPr>
            <a:r>
              <a:rPr lang="en-US" dirty="0"/>
              <a:t>Output</a:t>
            </a:r>
          </a:p>
          <a:p>
            <a:r>
              <a:rPr lang="en-US" dirty="0"/>
              <a:t>10</a:t>
            </a:r>
          </a:p>
          <a:p>
            <a:r>
              <a:rPr lang="en-US" b="1" dirty="0"/>
              <a:t>5. Keyword Variable Arguments (**</a:t>
            </a:r>
            <a:r>
              <a:rPr lang="en-US" b="1" dirty="0" err="1"/>
              <a:t>kwargs</a:t>
            </a:r>
            <a:r>
              <a:rPr lang="en-US" b="1" dirty="0"/>
              <a:t>)</a:t>
            </a:r>
          </a:p>
          <a:p>
            <a:pPr marL="0" indent="0">
              <a:buNone/>
            </a:pPr>
            <a:r>
              <a:rPr lang="en-US" dirty="0"/>
              <a:t>Used for dictionary-like arguments.</a:t>
            </a:r>
          </a:p>
          <a:p>
            <a:r>
              <a:rPr lang="en-US" dirty="0"/>
              <a:t>def info(**data):</a:t>
            </a:r>
            <a:br>
              <a:rPr lang="en-US" dirty="0"/>
            </a:br>
            <a:br>
              <a:rPr lang="en-US" dirty="0"/>
            </a:br>
            <a:r>
              <a:rPr lang="en-US" dirty="0"/>
              <a:t>    for </a:t>
            </a:r>
            <a:r>
              <a:rPr lang="en-US" dirty="0" err="1"/>
              <a:t>k,v</a:t>
            </a:r>
            <a:r>
              <a:rPr lang="en-US" dirty="0"/>
              <a:t> in </a:t>
            </a:r>
            <a:r>
              <a:rPr lang="en-US" dirty="0" err="1"/>
              <a:t>data.items</a:t>
            </a:r>
            <a:r>
              <a:rPr lang="en-US" dirty="0"/>
              <a:t>():</a:t>
            </a:r>
            <a:br>
              <a:rPr lang="en-US" dirty="0"/>
            </a:br>
            <a:r>
              <a:rPr lang="en-US" dirty="0"/>
              <a:t>        print(</a:t>
            </a:r>
            <a:r>
              <a:rPr lang="en-US" dirty="0" err="1"/>
              <a:t>k,v</a:t>
            </a:r>
            <a:r>
              <a:rPr lang="en-US" dirty="0"/>
              <a:t>)</a:t>
            </a:r>
            <a:br>
              <a:rPr lang="en-US" dirty="0"/>
            </a:br>
            <a:br>
              <a:rPr lang="en-US" dirty="0"/>
            </a:br>
            <a:r>
              <a:rPr lang="en-US" dirty="0"/>
              <a:t>info(name="</a:t>
            </a:r>
            <a:r>
              <a:rPr lang="en-US" dirty="0" err="1"/>
              <a:t>EDA",version</a:t>
            </a:r>
            <a:r>
              <a:rPr lang="en-US" dirty="0"/>
              <a:t>=3)</a:t>
            </a:r>
          </a:p>
          <a:p>
            <a:pPr marL="0" indent="0">
              <a:buNone/>
            </a:pPr>
            <a:r>
              <a:rPr lang="en-US" dirty="0"/>
              <a:t>Output</a:t>
            </a:r>
          </a:p>
          <a:p>
            <a:r>
              <a:rPr lang="en-US" dirty="0"/>
              <a:t>name EDA</a:t>
            </a:r>
            <a:br>
              <a:rPr lang="en-US" dirty="0"/>
            </a:br>
            <a:r>
              <a:rPr lang="en-US" dirty="0"/>
              <a:t>version 3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083D669D-C620-DDDD-16DA-53903893D76B}"/>
              </a:ext>
            </a:extLst>
          </p:cNvPr>
          <p:cNvSpPr txBox="1">
            <a:spLocks/>
          </p:cNvSpPr>
          <p:nvPr/>
        </p:nvSpPr>
        <p:spPr>
          <a:xfrm>
            <a:off x="155512" y="143070"/>
            <a:ext cx="4248538" cy="671493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IN" sz="2400" b="1" dirty="0"/>
              <a:t>Parameters and Arguments</a:t>
            </a:r>
            <a:endParaRPr lang="en-IN" sz="2400" dirty="0"/>
          </a:p>
          <a:p>
            <a:pPr marL="0" indent="0">
              <a:buNone/>
            </a:pPr>
            <a:r>
              <a:rPr lang="en-IN" sz="2400" b="1" dirty="0"/>
              <a:t>What are Parameters?</a:t>
            </a:r>
          </a:p>
          <a:p>
            <a:r>
              <a:rPr lang="en-IN" sz="2400" dirty="0"/>
              <a:t>Parameters are </a:t>
            </a:r>
            <a:r>
              <a:rPr lang="en-IN" sz="2400" b="1" dirty="0"/>
              <a:t>variables defined in function definition</a:t>
            </a:r>
            <a:r>
              <a:rPr lang="en-IN" sz="2400" dirty="0"/>
              <a:t>.</a:t>
            </a:r>
          </a:p>
          <a:p>
            <a:r>
              <a:rPr lang="en-IN" sz="2400" dirty="0"/>
              <a:t>Example</a:t>
            </a:r>
          </a:p>
          <a:p>
            <a:r>
              <a:rPr lang="en-IN" sz="2400" dirty="0"/>
              <a:t>def add(</a:t>
            </a:r>
            <a:r>
              <a:rPr lang="en-IN" sz="2400" dirty="0" err="1"/>
              <a:t>a,b</a:t>
            </a:r>
            <a:r>
              <a:rPr lang="en-IN" sz="2400" dirty="0"/>
              <a:t>):</a:t>
            </a:r>
          </a:p>
          <a:p>
            <a:r>
              <a:rPr lang="en-IN" sz="2400" dirty="0"/>
              <a:t>a and b are parameters.</a:t>
            </a:r>
          </a:p>
          <a:p>
            <a:pPr marL="0" indent="0">
              <a:buNone/>
            </a:pPr>
            <a:r>
              <a:rPr lang="en-IN" sz="2400" b="1" dirty="0"/>
              <a:t>What are Arguments?</a:t>
            </a:r>
          </a:p>
          <a:p>
            <a:r>
              <a:rPr lang="en-IN" sz="2400" dirty="0"/>
              <a:t>Values passed during function call.</a:t>
            </a:r>
          </a:p>
          <a:p>
            <a:r>
              <a:rPr lang="en-IN" sz="2400" dirty="0"/>
              <a:t>Example</a:t>
            </a:r>
          </a:p>
          <a:p>
            <a:r>
              <a:rPr lang="en-IN" sz="2400" dirty="0"/>
              <a:t>add(10,20)</a:t>
            </a:r>
          </a:p>
          <a:p>
            <a:r>
              <a:rPr lang="en-IN" sz="2400" dirty="0"/>
              <a:t>10 and 20 are arguments.</a:t>
            </a:r>
          </a:p>
        </p:txBody>
      </p:sp>
    </p:spTree>
    <p:extLst>
      <p:ext uri="{BB962C8B-B14F-4D97-AF65-F5344CB8AC3E}">
        <p14:creationId xmlns:p14="http://schemas.microsoft.com/office/powerpoint/2010/main" val="407612065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CAE7D5-C4C5-8F6D-CA99-BCEC0F1E74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6C11F2-D318-5BB4-990C-FC9487F86F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8256"/>
            <a:ext cx="10515600" cy="541582"/>
          </a:xfrm>
        </p:spPr>
        <p:txBody>
          <a:bodyPr>
            <a:normAutofit fontScale="90000"/>
          </a:bodyPr>
          <a:lstStyle/>
          <a:p>
            <a:r>
              <a:rPr lang="en-IN" dirty="0"/>
              <a:t>Introduction to Regular Expressions (Regex)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EA91EC-2AC6-8427-5479-5C17103DBC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7736" y="643812"/>
            <a:ext cx="5948264" cy="6195932"/>
          </a:xfrm>
        </p:spPr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en-US" b="1" dirty="0"/>
              <a:t>What is Regex?</a:t>
            </a:r>
          </a:p>
          <a:p>
            <a:r>
              <a:rPr lang="en-US" dirty="0"/>
              <a:t>A </a:t>
            </a:r>
            <a:r>
              <a:rPr lang="en-US" b="1" dirty="0"/>
              <a:t>Regular Expression (Regex)</a:t>
            </a:r>
            <a:r>
              <a:rPr lang="en-US" dirty="0"/>
              <a:t> is a pattern used to search or match text.</a:t>
            </a:r>
          </a:p>
          <a:p>
            <a:pPr marL="0" indent="0">
              <a:buNone/>
            </a:pPr>
            <a:r>
              <a:rPr lang="en-US" dirty="0"/>
              <a:t>Used heavily in:</a:t>
            </a:r>
          </a:p>
          <a:p>
            <a:r>
              <a:rPr lang="en-US" dirty="0"/>
              <a:t>log file analysis</a:t>
            </a:r>
          </a:p>
          <a:p>
            <a:r>
              <a:rPr lang="en-US" dirty="0"/>
              <a:t>input validation</a:t>
            </a:r>
          </a:p>
          <a:p>
            <a:r>
              <a:rPr lang="en-US" dirty="0"/>
              <a:t>pattern extraction</a:t>
            </a:r>
            <a:br>
              <a:rPr lang="en-US" dirty="0"/>
            </a:br>
            <a:endParaRPr lang="en-US" dirty="0"/>
          </a:p>
          <a:p>
            <a:pPr marL="0" indent="0">
              <a:buNone/>
            </a:pPr>
            <a:r>
              <a:rPr lang="en-US" b="1" dirty="0"/>
              <a:t>Why Regex is Important (Engineering)</a:t>
            </a:r>
          </a:p>
          <a:p>
            <a:r>
              <a:rPr lang="en-US" dirty="0"/>
              <a:t>Example use cases:</a:t>
            </a:r>
          </a:p>
          <a:p>
            <a:r>
              <a:rPr lang="en-US" dirty="0"/>
              <a:t>detect </a:t>
            </a:r>
            <a:r>
              <a:rPr lang="en-US" b="1" dirty="0"/>
              <a:t>errors in simulation logs</a:t>
            </a:r>
            <a:endParaRPr lang="en-US" dirty="0"/>
          </a:p>
          <a:p>
            <a:r>
              <a:rPr lang="en-US" dirty="0"/>
              <a:t>extract </a:t>
            </a:r>
            <a:r>
              <a:rPr lang="en-US" b="1" dirty="0"/>
              <a:t>signal names</a:t>
            </a:r>
            <a:endParaRPr lang="en-US" dirty="0"/>
          </a:p>
          <a:p>
            <a:r>
              <a:rPr lang="en-US" dirty="0"/>
              <a:t>validate </a:t>
            </a:r>
            <a:r>
              <a:rPr lang="en-US" b="1" dirty="0"/>
              <a:t>hex values</a:t>
            </a:r>
            <a:endParaRPr lang="en-US" dirty="0"/>
          </a:p>
          <a:p>
            <a:r>
              <a:rPr lang="en-US" dirty="0"/>
              <a:t>parse </a:t>
            </a:r>
            <a:r>
              <a:rPr lang="en-US" b="1" dirty="0"/>
              <a:t>EDA reports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Example log line:</a:t>
            </a:r>
          </a:p>
          <a:p>
            <a:r>
              <a:rPr lang="en-US" dirty="0"/>
              <a:t>ERROR: timing violation at </a:t>
            </a:r>
            <a:r>
              <a:rPr lang="en-US" dirty="0" err="1"/>
              <a:t>clk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Regex can detect </a:t>
            </a:r>
            <a:r>
              <a:rPr lang="en-US" b="1" dirty="0"/>
              <a:t>ERROR</a:t>
            </a:r>
            <a:r>
              <a:rPr lang="en-US" dirty="0"/>
              <a:t>.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1DC2D162-E697-18F0-C4E1-EB83A2B508E4}"/>
              </a:ext>
            </a:extLst>
          </p:cNvPr>
          <p:cNvSpPr txBox="1">
            <a:spLocks/>
          </p:cNvSpPr>
          <p:nvPr/>
        </p:nvSpPr>
        <p:spPr>
          <a:xfrm>
            <a:off x="6096000" y="559838"/>
            <a:ext cx="5407090" cy="627990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b="1" dirty="0"/>
              <a:t>Python Regex Module</a:t>
            </a:r>
          </a:p>
          <a:p>
            <a:pPr marL="0" indent="0">
              <a:buNone/>
            </a:pPr>
            <a:r>
              <a:rPr lang="en-US" dirty="0"/>
              <a:t>Python uses </a:t>
            </a:r>
            <a:r>
              <a:rPr lang="en-US" b="1" dirty="0"/>
              <a:t>”re” module</a:t>
            </a:r>
            <a:r>
              <a:rPr lang="en-US" dirty="0"/>
              <a:t>.</a:t>
            </a:r>
          </a:p>
          <a:p>
            <a:r>
              <a:rPr lang="en-US" dirty="0"/>
              <a:t>import re</a:t>
            </a:r>
          </a:p>
          <a:p>
            <a:pPr marL="0" indent="0">
              <a:buNone/>
            </a:pPr>
            <a:r>
              <a:rPr lang="en-US" b="1" dirty="0"/>
              <a:t>Example</a:t>
            </a:r>
          </a:p>
          <a:p>
            <a:r>
              <a:rPr lang="en-US" dirty="0"/>
              <a:t>import re</a:t>
            </a:r>
            <a:br>
              <a:rPr lang="en-US" dirty="0"/>
            </a:br>
            <a:br>
              <a:rPr lang="en-US" dirty="0"/>
            </a:br>
            <a:r>
              <a:rPr lang="en-US" dirty="0"/>
              <a:t>text = "Python programming"</a:t>
            </a:r>
            <a:br>
              <a:rPr lang="en-US" dirty="0"/>
            </a:br>
            <a:br>
              <a:rPr lang="en-US" dirty="0"/>
            </a:br>
            <a:r>
              <a:rPr lang="en-US" dirty="0"/>
              <a:t>result = </a:t>
            </a:r>
            <a:r>
              <a:rPr lang="en-US" dirty="0" err="1"/>
              <a:t>re.search</a:t>
            </a:r>
            <a:r>
              <a:rPr lang="en-US" dirty="0"/>
              <a:t>("Python", text)</a:t>
            </a:r>
            <a:br>
              <a:rPr lang="en-US" dirty="0"/>
            </a:br>
            <a:br>
              <a:rPr lang="en-US" dirty="0"/>
            </a:br>
            <a:r>
              <a:rPr lang="en-US" dirty="0"/>
              <a:t>print(result)</a:t>
            </a:r>
          </a:p>
          <a:p>
            <a:pPr marL="0" indent="0">
              <a:buNone/>
            </a:pPr>
            <a:r>
              <a:rPr lang="en-US" dirty="0"/>
              <a:t>Output</a:t>
            </a:r>
          </a:p>
          <a:p>
            <a:r>
              <a:rPr lang="en-US" dirty="0"/>
              <a:t>Match object</a:t>
            </a:r>
          </a:p>
        </p:txBody>
      </p:sp>
    </p:spTree>
    <p:extLst>
      <p:ext uri="{BB962C8B-B14F-4D97-AF65-F5344CB8AC3E}">
        <p14:creationId xmlns:p14="http://schemas.microsoft.com/office/powerpoint/2010/main" val="231704358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6EB93B-4E5D-302C-307D-40A6313194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13E5F5-6540-B5AB-31FD-31EBC1E0686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75648" y="0"/>
            <a:ext cx="5956043" cy="6858000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b="1" dirty="0" err="1"/>
              <a:t>re.sub</a:t>
            </a:r>
            <a:r>
              <a:rPr lang="en-US" b="1" dirty="0"/>
              <a:t>()</a:t>
            </a:r>
          </a:p>
          <a:p>
            <a:pPr marL="0" indent="0">
              <a:buNone/>
            </a:pPr>
            <a:r>
              <a:rPr lang="en-US" dirty="0"/>
              <a:t>Replace pattern.</a:t>
            </a:r>
          </a:p>
          <a:p>
            <a:r>
              <a:rPr lang="en-US" dirty="0"/>
              <a:t>import re</a:t>
            </a:r>
            <a:br>
              <a:rPr lang="en-US" dirty="0"/>
            </a:br>
            <a:br>
              <a:rPr lang="en-US" dirty="0"/>
            </a:br>
            <a:r>
              <a:rPr lang="en-US" dirty="0"/>
              <a:t>text = "Python 2"</a:t>
            </a:r>
            <a:br>
              <a:rPr lang="en-US" dirty="0"/>
            </a:br>
            <a:br>
              <a:rPr lang="en-US" dirty="0"/>
            </a:br>
            <a:r>
              <a:rPr lang="en-US" dirty="0"/>
              <a:t>print(</a:t>
            </a:r>
            <a:r>
              <a:rPr lang="en-US" dirty="0" err="1"/>
              <a:t>re.sub</a:t>
            </a:r>
            <a:r>
              <a:rPr lang="en-US" dirty="0"/>
              <a:t>("2","3",text))</a:t>
            </a:r>
          </a:p>
          <a:p>
            <a:pPr marL="0" indent="0">
              <a:buNone/>
            </a:pPr>
            <a:r>
              <a:rPr lang="en-US" dirty="0"/>
              <a:t>Output</a:t>
            </a:r>
          </a:p>
          <a:p>
            <a:r>
              <a:rPr lang="en-US" dirty="0"/>
              <a:t>Python 3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b="1" dirty="0" err="1"/>
              <a:t>re.split</a:t>
            </a:r>
            <a:r>
              <a:rPr lang="en-US" b="1" dirty="0"/>
              <a:t>()</a:t>
            </a:r>
          </a:p>
          <a:p>
            <a:pPr marL="0" indent="0">
              <a:buNone/>
            </a:pPr>
            <a:r>
              <a:rPr lang="en-US" dirty="0"/>
              <a:t>Split string using regex.</a:t>
            </a:r>
          </a:p>
          <a:p>
            <a:r>
              <a:rPr lang="en-US" dirty="0"/>
              <a:t>import re</a:t>
            </a:r>
            <a:br>
              <a:rPr lang="en-US" dirty="0"/>
            </a:br>
            <a:br>
              <a:rPr lang="en-US" dirty="0"/>
            </a:br>
            <a:r>
              <a:rPr lang="en-US" dirty="0"/>
              <a:t>text = "</a:t>
            </a:r>
            <a:r>
              <a:rPr lang="en-US" dirty="0" err="1"/>
              <a:t>clk,reset,data</a:t>
            </a:r>
            <a:r>
              <a:rPr lang="en-US" dirty="0"/>
              <a:t>"</a:t>
            </a:r>
            <a:br>
              <a:rPr lang="en-US" dirty="0"/>
            </a:br>
            <a:br>
              <a:rPr lang="en-US" dirty="0"/>
            </a:br>
            <a:r>
              <a:rPr lang="en-US" dirty="0"/>
              <a:t>print(</a:t>
            </a:r>
            <a:r>
              <a:rPr lang="en-US" dirty="0" err="1"/>
              <a:t>re.split</a:t>
            </a:r>
            <a:r>
              <a:rPr lang="en-US" dirty="0"/>
              <a:t>(",",text))</a:t>
            </a:r>
          </a:p>
          <a:p>
            <a:pPr marL="0" indent="0">
              <a:buNone/>
            </a:pPr>
            <a:r>
              <a:rPr lang="en-US" dirty="0"/>
              <a:t>Output</a:t>
            </a:r>
          </a:p>
          <a:p>
            <a:r>
              <a:rPr lang="en-US" dirty="0"/>
              <a:t>['</a:t>
            </a:r>
            <a:r>
              <a:rPr lang="en-US" dirty="0" err="1"/>
              <a:t>clk</a:t>
            </a:r>
            <a:r>
              <a:rPr lang="en-US" dirty="0"/>
              <a:t>','</a:t>
            </a:r>
            <a:r>
              <a:rPr lang="en-US" dirty="0" err="1"/>
              <a:t>reset','data</a:t>
            </a:r>
            <a:r>
              <a:rPr lang="en-US" dirty="0"/>
              <a:t>']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ACD958E5-F1F1-40E2-0D74-9FFD95AC175A}"/>
              </a:ext>
            </a:extLst>
          </p:cNvPr>
          <p:cNvSpPr txBox="1">
            <a:spLocks/>
          </p:cNvSpPr>
          <p:nvPr/>
        </p:nvSpPr>
        <p:spPr>
          <a:xfrm>
            <a:off x="538067" y="143070"/>
            <a:ext cx="5396202" cy="6714930"/>
          </a:xfrm>
          <a:prstGeom prst="rect">
            <a:avLst/>
          </a:prstGeom>
        </p:spPr>
        <p:txBody>
          <a:bodyPr vert="horz" lIns="91440" tIns="45720" rIns="91440" bIns="45720" rtlCol="0">
            <a:normAutofit fontScale="70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anose="05000000000000000000" pitchFamily="2" charset="2"/>
              <a:buChar char="Ø"/>
            </a:pPr>
            <a:r>
              <a:rPr lang="en-US" sz="2900" b="1" dirty="0"/>
              <a:t>Regex Functions</a:t>
            </a:r>
            <a:endParaRPr lang="en-US" sz="2900" dirty="0"/>
          </a:p>
          <a:p>
            <a:pPr marL="0" indent="0">
              <a:buNone/>
            </a:pPr>
            <a:r>
              <a:rPr lang="en-US" sz="2400" b="1" dirty="0" err="1"/>
              <a:t>re.match</a:t>
            </a:r>
            <a:r>
              <a:rPr lang="en-US" sz="2400" b="1" dirty="0"/>
              <a:t>()</a:t>
            </a:r>
          </a:p>
          <a:p>
            <a:pPr marL="0" indent="0">
              <a:buNone/>
            </a:pPr>
            <a:r>
              <a:rPr lang="en-US" sz="2400" dirty="0"/>
              <a:t>Matches at </a:t>
            </a:r>
            <a:r>
              <a:rPr lang="en-US" sz="2400" b="1" dirty="0"/>
              <a:t>beginning of string</a:t>
            </a:r>
            <a:r>
              <a:rPr lang="en-US" sz="2400" dirty="0"/>
              <a:t>.</a:t>
            </a:r>
          </a:p>
          <a:p>
            <a:r>
              <a:rPr lang="en-US" dirty="0"/>
              <a:t>import re</a:t>
            </a:r>
            <a:br>
              <a:rPr lang="en-US" dirty="0"/>
            </a:br>
            <a:br>
              <a:rPr lang="en-US" dirty="0"/>
            </a:br>
            <a:r>
              <a:rPr lang="en-US" dirty="0"/>
              <a:t>text = "Python programming"</a:t>
            </a:r>
            <a:br>
              <a:rPr lang="en-US" dirty="0"/>
            </a:br>
            <a:br>
              <a:rPr lang="en-US" dirty="0"/>
            </a:br>
            <a:r>
              <a:rPr lang="en-US" dirty="0"/>
              <a:t>print(</a:t>
            </a:r>
            <a:r>
              <a:rPr lang="en-US" dirty="0" err="1"/>
              <a:t>re.match</a:t>
            </a:r>
            <a:r>
              <a:rPr lang="en-US" dirty="0"/>
              <a:t>("Python", text))</a:t>
            </a:r>
            <a:endParaRPr lang="en-US" sz="2400" dirty="0"/>
          </a:p>
          <a:p>
            <a:pPr marL="0" indent="0">
              <a:buNone/>
            </a:pPr>
            <a:r>
              <a:rPr lang="en-US" sz="2400" b="1" dirty="0" err="1"/>
              <a:t>re.search</a:t>
            </a:r>
            <a:r>
              <a:rPr lang="en-US" sz="2400" b="1" dirty="0"/>
              <a:t>()</a:t>
            </a:r>
          </a:p>
          <a:p>
            <a:pPr marL="0" indent="0">
              <a:buNone/>
            </a:pPr>
            <a:r>
              <a:rPr lang="en-US" sz="2400" dirty="0"/>
              <a:t>Search anywhere in string.</a:t>
            </a:r>
          </a:p>
          <a:p>
            <a:r>
              <a:rPr lang="en-US" dirty="0"/>
              <a:t>import re</a:t>
            </a:r>
            <a:br>
              <a:rPr lang="en-US" dirty="0"/>
            </a:br>
            <a:br>
              <a:rPr lang="en-US" dirty="0"/>
            </a:br>
            <a:r>
              <a:rPr lang="en-US" dirty="0"/>
              <a:t>text = "I love Python"</a:t>
            </a:r>
            <a:br>
              <a:rPr lang="en-US" dirty="0"/>
            </a:br>
            <a:br>
              <a:rPr lang="en-US" dirty="0"/>
            </a:br>
            <a:r>
              <a:rPr lang="en-US" dirty="0"/>
              <a:t>print(</a:t>
            </a:r>
            <a:r>
              <a:rPr lang="en-US" dirty="0" err="1"/>
              <a:t>re.search</a:t>
            </a:r>
            <a:r>
              <a:rPr lang="en-US" dirty="0"/>
              <a:t>("Python", text))</a:t>
            </a:r>
            <a:endParaRPr lang="en-US" sz="2400" dirty="0"/>
          </a:p>
          <a:p>
            <a:r>
              <a:rPr lang="en-US" sz="2400" b="1" dirty="0" err="1"/>
              <a:t>re.findall</a:t>
            </a:r>
            <a:r>
              <a:rPr lang="en-US" sz="2400" b="1" dirty="0"/>
              <a:t>()</a:t>
            </a:r>
          </a:p>
          <a:p>
            <a:pPr marL="0" indent="0">
              <a:buNone/>
            </a:pPr>
            <a:r>
              <a:rPr lang="en-US" sz="2400" dirty="0"/>
              <a:t>Returns </a:t>
            </a:r>
            <a:r>
              <a:rPr lang="en-US" sz="2400" b="1" dirty="0"/>
              <a:t>all matches</a:t>
            </a:r>
            <a:r>
              <a:rPr lang="en-US" sz="2400" dirty="0"/>
              <a:t>.</a:t>
            </a:r>
          </a:p>
          <a:p>
            <a:r>
              <a:rPr lang="en-US" dirty="0"/>
              <a:t>import re</a:t>
            </a:r>
            <a:br>
              <a:rPr lang="en-US" dirty="0"/>
            </a:br>
            <a:br>
              <a:rPr lang="en-US" dirty="0"/>
            </a:br>
            <a:r>
              <a:rPr lang="en-US" dirty="0"/>
              <a:t>text = "</a:t>
            </a:r>
            <a:r>
              <a:rPr lang="en-US" dirty="0" err="1"/>
              <a:t>clk</a:t>
            </a:r>
            <a:r>
              <a:rPr lang="en-US" dirty="0"/>
              <a:t> reset </a:t>
            </a:r>
            <a:r>
              <a:rPr lang="en-US" dirty="0" err="1"/>
              <a:t>clk</a:t>
            </a:r>
            <a:r>
              <a:rPr lang="en-US" dirty="0"/>
              <a:t>"</a:t>
            </a:r>
            <a:br>
              <a:rPr lang="en-US" dirty="0"/>
            </a:br>
            <a:br>
              <a:rPr lang="en-US" dirty="0"/>
            </a:br>
            <a:r>
              <a:rPr lang="en-US" dirty="0"/>
              <a:t>print(</a:t>
            </a:r>
            <a:r>
              <a:rPr lang="en-US" dirty="0" err="1"/>
              <a:t>re.findall</a:t>
            </a:r>
            <a:r>
              <a:rPr lang="en-US" dirty="0"/>
              <a:t>("</a:t>
            </a:r>
            <a:r>
              <a:rPr lang="en-US" dirty="0" err="1"/>
              <a:t>clk</a:t>
            </a:r>
            <a:r>
              <a:rPr lang="en-US" dirty="0"/>
              <a:t>", text))</a:t>
            </a:r>
          </a:p>
          <a:p>
            <a:pPr marL="0" indent="0">
              <a:buNone/>
            </a:pPr>
            <a:r>
              <a:rPr lang="en-US" sz="2400" dirty="0"/>
              <a:t>Output</a:t>
            </a:r>
          </a:p>
          <a:p>
            <a:r>
              <a:rPr lang="en-US" dirty="0"/>
              <a:t>['</a:t>
            </a:r>
            <a:r>
              <a:rPr lang="en-US" dirty="0" err="1"/>
              <a:t>clk</a:t>
            </a:r>
            <a:r>
              <a:rPr lang="en-US" dirty="0"/>
              <a:t>','</a:t>
            </a:r>
            <a:r>
              <a:rPr lang="en-US" dirty="0" err="1"/>
              <a:t>clk</a:t>
            </a:r>
            <a:r>
              <a:rPr lang="en-US" dirty="0"/>
              <a:t>']</a:t>
            </a:r>
          </a:p>
        </p:txBody>
      </p:sp>
    </p:spTree>
    <p:extLst>
      <p:ext uri="{BB962C8B-B14F-4D97-AF65-F5344CB8AC3E}">
        <p14:creationId xmlns:p14="http://schemas.microsoft.com/office/powerpoint/2010/main" val="152624366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347B3F-FA50-6262-E522-DA28709922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959"/>
            <a:ext cx="6840894" cy="6037004"/>
          </a:xfrm>
        </p:spPr>
        <p:txBody>
          <a:bodyPr/>
          <a:lstStyle/>
          <a:p>
            <a:pPr marL="0" indent="0">
              <a:buNone/>
            </a:pPr>
            <a:r>
              <a:rPr lang="en-IN" b="1" dirty="0"/>
              <a:t>Regex Meta Characters</a:t>
            </a:r>
          </a:p>
          <a:p>
            <a:r>
              <a:rPr lang="en-IN" dirty="0"/>
              <a:t>Meta characters define patterns.</a:t>
            </a:r>
          </a:p>
          <a:p>
            <a:endParaRPr lang="en-IN" dirty="0"/>
          </a:p>
          <a:p>
            <a:endParaRPr lang="en-US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229BE75F-7B50-FF5F-3583-368ADEB351B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0093846"/>
              </p:ext>
            </p:extLst>
          </p:nvPr>
        </p:nvGraphicFramePr>
        <p:xfrm>
          <a:off x="838200" y="1099472"/>
          <a:ext cx="5180045" cy="4200320"/>
        </p:xfrm>
        <a:graphic>
          <a:graphicData uri="http://schemas.openxmlformats.org/drawingml/2006/table">
            <a:tbl>
              <a:tblPr/>
              <a:tblGrid>
                <a:gridCol w="2950029">
                  <a:extLst>
                    <a:ext uri="{9D8B030D-6E8A-4147-A177-3AD203B41FA5}">
                      <a16:colId xmlns:a16="http://schemas.microsoft.com/office/drawing/2014/main" val="3547828563"/>
                    </a:ext>
                  </a:extLst>
                </a:gridCol>
                <a:gridCol w="2230016">
                  <a:extLst>
                    <a:ext uri="{9D8B030D-6E8A-4147-A177-3AD203B41FA5}">
                      <a16:colId xmlns:a16="http://schemas.microsoft.com/office/drawing/2014/main" val="2984591474"/>
                    </a:ext>
                  </a:extLst>
                </a:gridCol>
              </a:tblGrid>
              <a:tr h="42003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dirty="0"/>
                        <a:t>Character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dirty="0"/>
                        <a:t>Meaning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19579777"/>
                  </a:ext>
                </a:extLst>
              </a:tr>
              <a:tr h="42003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.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any character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91433201"/>
                  </a:ext>
                </a:extLst>
              </a:tr>
              <a:tr h="42003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^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start of string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39467261"/>
                  </a:ext>
                </a:extLst>
              </a:tr>
              <a:tr h="42003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$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end of string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1442562"/>
                  </a:ext>
                </a:extLst>
              </a:tr>
              <a:tr h="42003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*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zero or more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20580769"/>
                  </a:ext>
                </a:extLst>
              </a:tr>
              <a:tr h="42003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+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one or more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59512091"/>
                  </a:ext>
                </a:extLst>
              </a:tr>
              <a:tr h="42003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?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optional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4384948"/>
                  </a:ext>
                </a:extLst>
              </a:tr>
              <a:tr h="42003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[]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character set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57503942"/>
                  </a:ext>
                </a:extLst>
              </a:tr>
              <a:tr h="420032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89776294"/>
                  </a:ext>
                </a:extLst>
              </a:tr>
              <a:tr h="42003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()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group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76765490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8F20CE24-129D-C712-75E1-30484873FF9E}"/>
              </a:ext>
            </a:extLst>
          </p:cNvPr>
          <p:cNvSpPr txBox="1"/>
          <p:nvPr/>
        </p:nvSpPr>
        <p:spPr>
          <a:xfrm>
            <a:off x="7053943" y="970384"/>
            <a:ext cx="4086808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b="1" dirty="0"/>
              <a:t>Example</a:t>
            </a:r>
          </a:p>
          <a:p>
            <a:r>
              <a:rPr lang="en-IN" dirty="0"/>
              <a:t>Match numbers:</a:t>
            </a:r>
          </a:p>
          <a:p>
            <a:r>
              <a:rPr lang="en-IN" dirty="0"/>
              <a:t>import re</a:t>
            </a:r>
            <a:br>
              <a:rPr lang="en-IN" dirty="0"/>
            </a:br>
            <a:br>
              <a:rPr lang="en-IN" dirty="0"/>
            </a:br>
            <a:r>
              <a:rPr lang="en-IN" dirty="0"/>
              <a:t>print(</a:t>
            </a:r>
            <a:r>
              <a:rPr lang="en-IN" dirty="0" err="1"/>
              <a:t>re.findall</a:t>
            </a:r>
            <a:r>
              <a:rPr lang="en-IN" dirty="0"/>
              <a:t>("[0-9]","a1b2c3"))</a:t>
            </a:r>
          </a:p>
          <a:p>
            <a:r>
              <a:rPr lang="en-IN" dirty="0"/>
              <a:t>Output</a:t>
            </a:r>
          </a:p>
          <a:p>
            <a:r>
              <a:rPr lang="en-IN" dirty="0"/>
              <a:t>['1','2','3']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7959373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1B8BA5-CCDE-4767-01C3-CF212CAF8D4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65" y="0"/>
            <a:ext cx="10515600" cy="6064996"/>
          </a:xfrm>
        </p:spPr>
        <p:txBody>
          <a:bodyPr/>
          <a:lstStyle/>
          <a:p>
            <a:r>
              <a:rPr lang="en-US" dirty="0"/>
              <a:t>Special Sequences</a:t>
            </a:r>
          </a:p>
          <a:p>
            <a:endParaRPr lang="en-US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02E2DFAA-498A-E50A-C598-FD839AC7D06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60476636"/>
              </p:ext>
            </p:extLst>
          </p:nvPr>
        </p:nvGraphicFramePr>
        <p:xfrm>
          <a:off x="164841" y="398417"/>
          <a:ext cx="4424265" cy="2926080"/>
        </p:xfrm>
        <a:graphic>
          <a:graphicData uri="http://schemas.openxmlformats.org/drawingml/2006/table">
            <a:tbl>
              <a:tblPr/>
              <a:tblGrid>
                <a:gridCol w="2554857">
                  <a:extLst>
                    <a:ext uri="{9D8B030D-6E8A-4147-A177-3AD203B41FA5}">
                      <a16:colId xmlns:a16="http://schemas.microsoft.com/office/drawing/2014/main" val="1728005304"/>
                    </a:ext>
                  </a:extLst>
                </a:gridCol>
                <a:gridCol w="1869408">
                  <a:extLst>
                    <a:ext uri="{9D8B030D-6E8A-4147-A177-3AD203B41FA5}">
                      <a16:colId xmlns:a16="http://schemas.microsoft.com/office/drawing/2014/main" val="385276932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dirty="0"/>
                        <a:t>Sequence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dirty="0"/>
                        <a:t>Meaning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0108702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\d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digit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0246497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\D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non digit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4667548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\s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whitespace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7691881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\S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non whitespace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2479419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\w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word character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1314176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\W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non word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294788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\b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word boundary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33711911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1E2A8C6A-BF0E-B234-759F-813CE678271C}"/>
              </a:ext>
            </a:extLst>
          </p:cNvPr>
          <p:cNvSpPr txBox="1"/>
          <p:nvPr/>
        </p:nvSpPr>
        <p:spPr>
          <a:xfrm>
            <a:off x="164841" y="3648269"/>
            <a:ext cx="4590662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b="1" dirty="0"/>
              <a:t>Example: </a:t>
            </a:r>
            <a:r>
              <a:rPr lang="en-IN" dirty="0"/>
              <a:t>Find digits</a:t>
            </a:r>
          </a:p>
          <a:p>
            <a:endParaRPr lang="en-IN" dirty="0"/>
          </a:p>
          <a:p>
            <a:r>
              <a:rPr lang="en-IN" dirty="0"/>
              <a:t>import re</a:t>
            </a:r>
            <a:br>
              <a:rPr lang="en-IN" dirty="0"/>
            </a:br>
            <a:r>
              <a:rPr lang="en-IN" dirty="0"/>
              <a:t>print(</a:t>
            </a:r>
            <a:r>
              <a:rPr lang="en-IN" dirty="0" err="1"/>
              <a:t>re.findall</a:t>
            </a:r>
            <a:r>
              <a:rPr lang="en-IN" dirty="0"/>
              <a:t>("\d","a1b2c3"))</a:t>
            </a:r>
          </a:p>
          <a:p>
            <a:endParaRPr lang="en-IN" dirty="0"/>
          </a:p>
          <a:p>
            <a:r>
              <a:rPr lang="en-IN" dirty="0"/>
              <a:t>Output:</a:t>
            </a:r>
          </a:p>
          <a:p>
            <a:r>
              <a:rPr lang="en-IN" dirty="0"/>
              <a:t>['1','2','3']</a:t>
            </a:r>
          </a:p>
          <a:p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7696C19-A988-78B4-D443-332A14230BA0}"/>
              </a:ext>
            </a:extLst>
          </p:cNvPr>
          <p:cNvSpPr txBox="1"/>
          <p:nvPr/>
        </p:nvSpPr>
        <p:spPr>
          <a:xfrm>
            <a:off x="4589106" y="81177"/>
            <a:ext cx="3545632" cy="48013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Regex Character Sets</a:t>
            </a:r>
            <a:endParaRPr lang="en-US" dirty="0"/>
          </a:p>
          <a:p>
            <a:r>
              <a:rPr lang="en-US" b="1" dirty="0"/>
              <a:t>Match lowercase letters </a:t>
            </a:r>
            <a:r>
              <a:rPr lang="en-US" dirty="0"/>
              <a:t>[a-z]</a:t>
            </a:r>
          </a:p>
          <a:p>
            <a:r>
              <a:rPr lang="en-US" dirty="0"/>
              <a:t>Example:</a:t>
            </a:r>
          </a:p>
          <a:p>
            <a:r>
              <a:rPr lang="en-US" dirty="0"/>
              <a:t>import re</a:t>
            </a:r>
            <a:br>
              <a:rPr lang="en-US" dirty="0"/>
            </a:br>
            <a:br>
              <a:rPr lang="en-US" dirty="0"/>
            </a:br>
            <a:r>
              <a:rPr lang="en-US" dirty="0"/>
              <a:t>print(</a:t>
            </a:r>
            <a:r>
              <a:rPr lang="en-US" dirty="0" err="1"/>
              <a:t>re.findall</a:t>
            </a:r>
            <a:r>
              <a:rPr lang="en-US" dirty="0"/>
              <a:t>("[a-z]","</a:t>
            </a:r>
            <a:r>
              <a:rPr lang="en-US" dirty="0" err="1"/>
              <a:t>AbCde</a:t>
            </a:r>
            <a:r>
              <a:rPr lang="en-US" dirty="0"/>
              <a:t>"))</a:t>
            </a:r>
          </a:p>
          <a:p>
            <a:r>
              <a:rPr lang="en-US" dirty="0"/>
              <a:t>Output:</a:t>
            </a:r>
          </a:p>
          <a:p>
            <a:r>
              <a:rPr lang="en-US" dirty="0"/>
              <a:t>['</a:t>
            </a:r>
            <a:r>
              <a:rPr lang="en-US" dirty="0" err="1"/>
              <a:t>b','d','e</a:t>
            </a:r>
            <a:r>
              <a:rPr lang="en-US" dirty="0"/>
              <a:t>']</a:t>
            </a:r>
          </a:p>
          <a:p>
            <a:endParaRPr lang="en-US" dirty="0"/>
          </a:p>
          <a:p>
            <a:r>
              <a:rPr lang="en-US" b="1" dirty="0"/>
              <a:t>Negation </a:t>
            </a:r>
            <a:r>
              <a:rPr lang="en-US" dirty="0"/>
              <a:t>[^0-9]</a:t>
            </a:r>
          </a:p>
          <a:p>
            <a:r>
              <a:rPr lang="en-US" dirty="0"/>
              <a:t>Example:</a:t>
            </a:r>
          </a:p>
          <a:p>
            <a:r>
              <a:rPr lang="en-US" dirty="0"/>
              <a:t>import re</a:t>
            </a:r>
            <a:br>
              <a:rPr lang="en-US" dirty="0"/>
            </a:br>
            <a:br>
              <a:rPr lang="en-US" dirty="0"/>
            </a:br>
            <a:r>
              <a:rPr lang="en-US" dirty="0"/>
              <a:t>print(</a:t>
            </a:r>
            <a:r>
              <a:rPr lang="en-US" dirty="0" err="1"/>
              <a:t>re.findall</a:t>
            </a:r>
            <a:r>
              <a:rPr lang="en-US" dirty="0"/>
              <a:t>("[^0-9]","a1b2c3"))</a:t>
            </a:r>
          </a:p>
          <a:p>
            <a:r>
              <a:rPr lang="en-US" dirty="0"/>
              <a:t>Output:</a:t>
            </a:r>
          </a:p>
          <a:p>
            <a:r>
              <a:rPr lang="en-US" dirty="0"/>
              <a:t>['</a:t>
            </a:r>
            <a:r>
              <a:rPr lang="en-US" dirty="0" err="1"/>
              <a:t>a','b','c</a:t>
            </a:r>
            <a:r>
              <a:rPr lang="en-US" dirty="0"/>
              <a:t>']</a:t>
            </a:r>
          </a:p>
          <a:p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C98AEBB-0260-2329-5216-7B4AB9C929A5}"/>
              </a:ext>
            </a:extLst>
          </p:cNvPr>
          <p:cNvSpPr txBox="1"/>
          <p:nvPr/>
        </p:nvSpPr>
        <p:spPr>
          <a:xfrm>
            <a:off x="8481527" y="58846"/>
            <a:ext cx="3545632" cy="67403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Pattern Matching Examples</a:t>
            </a:r>
            <a:endParaRPr lang="en-US" dirty="0"/>
          </a:p>
          <a:p>
            <a:r>
              <a:rPr lang="en-US" b="1" dirty="0"/>
              <a:t>Email Validation</a:t>
            </a:r>
          </a:p>
          <a:p>
            <a:r>
              <a:rPr lang="en-US" dirty="0"/>
              <a:t>import re</a:t>
            </a:r>
            <a:br>
              <a:rPr lang="en-US" dirty="0"/>
            </a:br>
            <a:br>
              <a:rPr lang="en-US" dirty="0"/>
            </a:br>
            <a:r>
              <a:rPr lang="en-US" dirty="0"/>
              <a:t>email = "test@gmail.com"</a:t>
            </a:r>
            <a:br>
              <a:rPr lang="en-US" dirty="0"/>
            </a:br>
            <a:br>
              <a:rPr lang="en-US" dirty="0"/>
            </a:br>
            <a:r>
              <a:rPr lang="en-US" dirty="0"/>
              <a:t>pattern = r"\w+@\w+\.\w+"</a:t>
            </a:r>
            <a:br>
              <a:rPr lang="en-US" dirty="0"/>
            </a:br>
            <a:br>
              <a:rPr lang="en-US" dirty="0"/>
            </a:br>
            <a:r>
              <a:rPr lang="en-US" dirty="0"/>
              <a:t>print(</a:t>
            </a:r>
            <a:r>
              <a:rPr lang="en-US" dirty="0" err="1"/>
              <a:t>re.match</a:t>
            </a:r>
            <a:r>
              <a:rPr lang="en-US" dirty="0"/>
              <a:t>(</a:t>
            </a:r>
            <a:r>
              <a:rPr lang="en-US" dirty="0" err="1"/>
              <a:t>pattern,email</a:t>
            </a:r>
            <a:r>
              <a:rPr lang="en-US" dirty="0"/>
              <a:t>))</a:t>
            </a:r>
          </a:p>
          <a:p>
            <a:endParaRPr lang="en-US" dirty="0"/>
          </a:p>
          <a:p>
            <a:r>
              <a:rPr lang="en-US" b="1" dirty="0"/>
              <a:t>Phone Number</a:t>
            </a:r>
          </a:p>
          <a:p>
            <a:r>
              <a:rPr lang="en-US" dirty="0"/>
              <a:t>import re</a:t>
            </a:r>
            <a:br>
              <a:rPr lang="en-US" dirty="0"/>
            </a:br>
            <a:br>
              <a:rPr lang="en-US" dirty="0"/>
            </a:br>
            <a:r>
              <a:rPr lang="en-US" dirty="0"/>
              <a:t>number = "9876543210"</a:t>
            </a:r>
            <a:br>
              <a:rPr lang="en-US" dirty="0"/>
            </a:br>
            <a:br>
              <a:rPr lang="en-US" dirty="0"/>
            </a:br>
            <a:r>
              <a:rPr lang="en-US" dirty="0"/>
              <a:t>print(</a:t>
            </a:r>
            <a:r>
              <a:rPr lang="en-US" dirty="0" err="1"/>
              <a:t>re.match</a:t>
            </a:r>
            <a:r>
              <a:rPr lang="en-US" dirty="0"/>
              <a:t>("\d{10}",number))</a:t>
            </a:r>
            <a:br>
              <a:rPr lang="en-US" dirty="0"/>
            </a:br>
            <a:endParaRPr lang="en-US" dirty="0"/>
          </a:p>
          <a:p>
            <a:r>
              <a:rPr lang="en-US" b="1" dirty="0"/>
              <a:t>Date Format</a:t>
            </a:r>
          </a:p>
          <a:p>
            <a:r>
              <a:rPr lang="en-US" dirty="0"/>
              <a:t>import re</a:t>
            </a:r>
            <a:br>
              <a:rPr lang="en-US" dirty="0"/>
            </a:br>
            <a:r>
              <a:rPr lang="en-US" dirty="0"/>
              <a:t>date = "2024-10-15"</a:t>
            </a:r>
            <a:br>
              <a:rPr lang="en-US" dirty="0"/>
            </a:br>
            <a:br>
              <a:rPr lang="en-US" dirty="0"/>
            </a:br>
            <a:r>
              <a:rPr lang="en-US" dirty="0"/>
              <a:t>print(</a:t>
            </a:r>
            <a:r>
              <a:rPr lang="en-US" dirty="0" err="1"/>
              <a:t>re.match</a:t>
            </a:r>
            <a:r>
              <a:rPr lang="en-US" dirty="0"/>
              <a:t>("\d{4}-\d{2}-\d{2}",date))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3111614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B7480D-4825-DC8A-BD0E-55EFA81F05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05069" y="93306"/>
            <a:ext cx="10515600" cy="662782"/>
          </a:xfrm>
        </p:spPr>
        <p:txBody>
          <a:bodyPr>
            <a:normAutofit fontScale="90000"/>
          </a:bodyPr>
          <a:lstStyle/>
          <a:p>
            <a:r>
              <a:rPr lang="en-US" dirty="0"/>
              <a:t>Object-Oriented Programming (OOP)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13C7E0-B4EB-C9E9-E2CE-EE05665B77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05069" y="550285"/>
            <a:ext cx="10515600" cy="4351338"/>
          </a:xfrm>
        </p:spPr>
        <p:txBody>
          <a:bodyPr>
            <a:normAutofit fontScale="70000" lnSpcReduction="20000"/>
          </a:bodyPr>
          <a:lstStyle/>
          <a:p>
            <a:pPr marL="0" indent="0">
              <a:buNone/>
            </a:pPr>
            <a:endParaRPr lang="en-IN" b="1" dirty="0"/>
          </a:p>
          <a:p>
            <a:pPr marL="0" indent="0">
              <a:buNone/>
            </a:pPr>
            <a:r>
              <a:rPr lang="en-IN" b="1" dirty="0"/>
              <a:t>What is OOP?</a:t>
            </a:r>
          </a:p>
          <a:p>
            <a:r>
              <a:rPr lang="en-IN" b="1" dirty="0"/>
              <a:t>Object-Oriented Programming (OOP)</a:t>
            </a:r>
            <a:r>
              <a:rPr lang="en-IN" dirty="0"/>
              <a:t> is a programming paradigm based on </a:t>
            </a:r>
            <a:r>
              <a:rPr lang="en-IN" b="1" dirty="0"/>
              <a:t>objects and classes</a:t>
            </a:r>
            <a:r>
              <a:rPr lang="en-IN" dirty="0"/>
              <a:t>.</a:t>
            </a:r>
          </a:p>
          <a:p>
            <a:r>
              <a:rPr lang="en-IN" dirty="0"/>
              <a:t>Instead of organizing programs around functions and logic, OOP organizes programs around </a:t>
            </a:r>
            <a:r>
              <a:rPr lang="en-IN" b="1" dirty="0"/>
              <a:t>data and </a:t>
            </a:r>
            <a:r>
              <a:rPr lang="en-IN" b="1" dirty="0" err="1"/>
              <a:t>behavior</a:t>
            </a:r>
            <a:r>
              <a:rPr lang="en-IN" dirty="0"/>
              <a:t>.</a:t>
            </a:r>
          </a:p>
          <a:p>
            <a:pPr marL="0" indent="0">
              <a:buNone/>
            </a:pPr>
            <a:r>
              <a:rPr lang="en-IN" b="1" dirty="0"/>
              <a:t>Why OOP is Important</a:t>
            </a:r>
          </a:p>
          <a:p>
            <a:r>
              <a:rPr lang="en-IN" dirty="0"/>
              <a:t>Advantages:</a:t>
            </a:r>
          </a:p>
          <a:p>
            <a:r>
              <a:rPr lang="en-IN" dirty="0"/>
              <a:t>Modular design</a:t>
            </a:r>
          </a:p>
          <a:p>
            <a:r>
              <a:rPr lang="en-IN" dirty="0"/>
              <a:t>Code reuse</a:t>
            </a:r>
          </a:p>
          <a:p>
            <a:r>
              <a:rPr lang="en-IN" dirty="0"/>
              <a:t>Better abstraction</a:t>
            </a:r>
          </a:p>
          <a:p>
            <a:r>
              <a:rPr lang="en-IN" dirty="0"/>
              <a:t>Easier maintenance</a:t>
            </a:r>
          </a:p>
          <a:p>
            <a:r>
              <a:rPr lang="en-IN" dirty="0"/>
              <a:t>Scalable programs</a:t>
            </a:r>
          </a:p>
          <a:p>
            <a:pPr marL="0" indent="0">
              <a:buNone/>
            </a:pPr>
            <a:r>
              <a:rPr lang="en-IN" b="1" dirty="0"/>
              <a:t>OOP Pillars</a:t>
            </a:r>
          </a:p>
          <a:p>
            <a:pPr marL="0" indent="0">
              <a:buNone/>
            </a:pPr>
            <a:endParaRPr lang="en-IN" b="1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6368FE6B-D364-F6E6-20AD-9C7B6740ACB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08350419"/>
              </p:ext>
            </p:extLst>
          </p:nvPr>
        </p:nvGraphicFramePr>
        <p:xfrm>
          <a:off x="905069" y="4770870"/>
          <a:ext cx="5239065" cy="1463040"/>
        </p:xfrm>
        <a:graphic>
          <a:graphicData uri="http://schemas.openxmlformats.org/drawingml/2006/table">
            <a:tbl>
              <a:tblPr/>
              <a:tblGrid>
                <a:gridCol w="1572133">
                  <a:extLst>
                    <a:ext uri="{9D8B030D-6E8A-4147-A177-3AD203B41FA5}">
                      <a16:colId xmlns:a16="http://schemas.microsoft.com/office/drawing/2014/main" val="4021769464"/>
                    </a:ext>
                  </a:extLst>
                </a:gridCol>
                <a:gridCol w="3666932">
                  <a:extLst>
                    <a:ext uri="{9D8B030D-6E8A-4147-A177-3AD203B41FA5}">
                      <a16:colId xmlns:a16="http://schemas.microsoft.com/office/drawing/2014/main" val="190352954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dirty="0"/>
                        <a:t>Concept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dirty="0"/>
                        <a:t>Description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3993501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Encapsulation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Data + methods in one unit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243929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Inheritance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Reuse code from another class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4488412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Polymorphism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Same method behaves differently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6656882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3437885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63FEED-E72A-B229-0C57-5AC32F3CB5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DADEBD3C-5719-61D8-B5CD-4E749C633645}"/>
              </a:ext>
            </a:extLst>
          </p:cNvPr>
          <p:cNvSpPr txBox="1"/>
          <p:nvPr/>
        </p:nvSpPr>
        <p:spPr>
          <a:xfrm>
            <a:off x="0" y="0"/>
            <a:ext cx="4590662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sz="2400" b="1" dirty="0"/>
              <a:t>Defining a Class</a:t>
            </a:r>
            <a:endParaRPr lang="en-IN" sz="2400" dirty="0"/>
          </a:p>
          <a:p>
            <a:r>
              <a:rPr lang="en-IN" b="1" dirty="0"/>
              <a:t>What is a Class?</a:t>
            </a:r>
          </a:p>
          <a:p>
            <a:r>
              <a:rPr lang="en-IN" dirty="0"/>
              <a:t>A </a:t>
            </a:r>
            <a:r>
              <a:rPr lang="en-IN" b="1" dirty="0"/>
              <a:t>class</a:t>
            </a:r>
            <a:r>
              <a:rPr lang="en-IN" dirty="0"/>
              <a:t> is a blueprint for creating objects.</a:t>
            </a:r>
          </a:p>
          <a:p>
            <a:r>
              <a:rPr lang="en-IN" dirty="0"/>
              <a:t>Example analogy:</a:t>
            </a:r>
          </a:p>
          <a:p>
            <a:r>
              <a:rPr lang="en-IN" dirty="0"/>
              <a:t>Class = Car design</a:t>
            </a:r>
            <a:br>
              <a:rPr lang="en-IN" dirty="0"/>
            </a:br>
            <a:r>
              <a:rPr lang="en-IN" dirty="0"/>
              <a:t>Object = Actual car</a:t>
            </a:r>
          </a:p>
          <a:p>
            <a:endParaRPr lang="en-IN" dirty="0"/>
          </a:p>
          <a:p>
            <a:r>
              <a:rPr lang="en-IN" b="1" dirty="0"/>
              <a:t>Syntax</a:t>
            </a:r>
          </a:p>
          <a:p>
            <a:r>
              <a:rPr lang="en-IN" dirty="0"/>
              <a:t>class </a:t>
            </a:r>
            <a:r>
              <a:rPr lang="en-IN" dirty="0" err="1"/>
              <a:t>ClassName</a:t>
            </a:r>
            <a:r>
              <a:rPr lang="en-IN" dirty="0"/>
              <a:t>:</a:t>
            </a:r>
            <a:br>
              <a:rPr lang="en-IN" dirty="0"/>
            </a:br>
            <a:r>
              <a:rPr lang="en-IN" dirty="0"/>
              <a:t>    statements</a:t>
            </a:r>
          </a:p>
          <a:p>
            <a:endParaRPr lang="en-IN" dirty="0"/>
          </a:p>
          <a:p>
            <a:r>
              <a:rPr lang="en-IN" b="1" dirty="0"/>
              <a:t>Example 1 — Simple Class</a:t>
            </a:r>
          </a:p>
          <a:p>
            <a:r>
              <a:rPr lang="en-IN" dirty="0"/>
              <a:t>class Student:</a:t>
            </a:r>
            <a:br>
              <a:rPr lang="en-IN" dirty="0"/>
            </a:br>
            <a:br>
              <a:rPr lang="en-IN" dirty="0"/>
            </a:br>
            <a:r>
              <a:rPr lang="en-IN" dirty="0"/>
              <a:t>    name = "Rahul“</a:t>
            </a:r>
          </a:p>
          <a:p>
            <a:endParaRPr lang="en-IN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83B0A23-392E-0351-D1E4-C27AAE3B5B09}"/>
              </a:ext>
            </a:extLst>
          </p:cNvPr>
          <p:cNvSpPr txBox="1"/>
          <p:nvPr/>
        </p:nvSpPr>
        <p:spPr>
          <a:xfrm>
            <a:off x="4589106" y="81177"/>
            <a:ext cx="3545632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b="1" dirty="0"/>
              <a:t>Example 2 — Class with Method</a:t>
            </a:r>
          </a:p>
          <a:p>
            <a:r>
              <a:rPr lang="en-IN" dirty="0"/>
              <a:t>class Student:</a:t>
            </a:r>
            <a:br>
              <a:rPr lang="en-IN" dirty="0"/>
            </a:br>
            <a:br>
              <a:rPr lang="en-IN" dirty="0"/>
            </a:br>
            <a:r>
              <a:rPr lang="en-IN" dirty="0"/>
              <a:t>    def show(self):</a:t>
            </a:r>
            <a:br>
              <a:rPr lang="en-IN" dirty="0"/>
            </a:br>
            <a:r>
              <a:rPr lang="en-IN" dirty="0"/>
              <a:t>        print("Student details")</a:t>
            </a:r>
            <a:br>
              <a:rPr lang="en-IN" dirty="0"/>
            </a:br>
            <a:br>
              <a:rPr lang="en-IN" dirty="0"/>
            </a:br>
            <a:r>
              <a:rPr lang="en-IN" dirty="0"/>
              <a:t>s = Student()</a:t>
            </a:r>
            <a:br>
              <a:rPr lang="en-IN" dirty="0"/>
            </a:br>
            <a:br>
              <a:rPr lang="en-IN" dirty="0"/>
            </a:br>
            <a:r>
              <a:rPr lang="en-IN" dirty="0" err="1"/>
              <a:t>s.show</a:t>
            </a:r>
            <a:r>
              <a:rPr lang="en-IN" dirty="0"/>
              <a:t>()</a:t>
            </a:r>
          </a:p>
          <a:p>
            <a:endParaRPr lang="en-IN" dirty="0"/>
          </a:p>
          <a:p>
            <a:r>
              <a:rPr lang="en-IN" dirty="0"/>
              <a:t>Output: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/>
              <a:t>Student details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IN" dirty="0"/>
          </a:p>
          <a:p>
            <a:r>
              <a:rPr lang="en-IN" dirty="0"/>
              <a:t>Explanation:</a:t>
            </a:r>
          </a:p>
          <a:p>
            <a:r>
              <a:rPr lang="en-IN" dirty="0"/>
              <a:t>Student is the class</a:t>
            </a:r>
          </a:p>
          <a:p>
            <a:r>
              <a:rPr lang="en-IN" dirty="0"/>
              <a:t>s is an object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41CE9B4-8A5B-586E-84AA-68A4DBE58006}"/>
              </a:ext>
            </a:extLst>
          </p:cNvPr>
          <p:cNvSpPr txBox="1"/>
          <p:nvPr/>
        </p:nvSpPr>
        <p:spPr>
          <a:xfrm>
            <a:off x="7921690" y="81177"/>
            <a:ext cx="3545632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b="1" dirty="0"/>
              <a:t>What is an Object?</a:t>
            </a:r>
          </a:p>
          <a:p>
            <a:r>
              <a:rPr lang="en-IN" dirty="0"/>
              <a:t>An </a:t>
            </a:r>
            <a:r>
              <a:rPr lang="en-IN" b="1" dirty="0"/>
              <a:t>object is an instance of a class</a:t>
            </a:r>
            <a:r>
              <a:rPr lang="en-IN" dirty="0"/>
              <a:t>.</a:t>
            </a:r>
          </a:p>
          <a:p>
            <a:r>
              <a:rPr lang="en-IN" dirty="0"/>
              <a:t>Example:</a:t>
            </a:r>
          </a:p>
          <a:p>
            <a:r>
              <a:rPr lang="en-IN" dirty="0"/>
              <a:t>s = Student()</a:t>
            </a:r>
          </a:p>
          <a:p>
            <a:endParaRPr lang="en-IN" dirty="0"/>
          </a:p>
          <a:p>
            <a:r>
              <a:rPr lang="en-IN" b="1" dirty="0"/>
              <a:t>Example 1 — Multiple Objects</a:t>
            </a:r>
          </a:p>
          <a:p>
            <a:r>
              <a:rPr lang="en-IN" dirty="0"/>
              <a:t>class Student:</a:t>
            </a:r>
            <a:br>
              <a:rPr lang="en-IN" dirty="0"/>
            </a:br>
            <a:br>
              <a:rPr lang="en-IN" dirty="0"/>
            </a:br>
            <a:r>
              <a:rPr lang="en-IN" dirty="0"/>
              <a:t>    def show(self):</a:t>
            </a:r>
            <a:br>
              <a:rPr lang="en-IN" dirty="0"/>
            </a:br>
            <a:r>
              <a:rPr lang="en-IN" dirty="0"/>
              <a:t>        print("Student object")</a:t>
            </a:r>
            <a:br>
              <a:rPr lang="en-IN" dirty="0"/>
            </a:br>
            <a:br>
              <a:rPr lang="en-IN" dirty="0"/>
            </a:br>
            <a:r>
              <a:rPr lang="en-IN" dirty="0"/>
              <a:t>s1 = Student()</a:t>
            </a:r>
            <a:br>
              <a:rPr lang="en-IN" dirty="0"/>
            </a:br>
            <a:r>
              <a:rPr lang="en-IN" dirty="0"/>
              <a:t>s2 = Student()</a:t>
            </a:r>
            <a:br>
              <a:rPr lang="en-IN" dirty="0"/>
            </a:br>
            <a:br>
              <a:rPr lang="en-IN" dirty="0"/>
            </a:br>
            <a:r>
              <a:rPr lang="en-IN" dirty="0"/>
              <a:t>s1.show()</a:t>
            </a:r>
            <a:br>
              <a:rPr lang="en-IN" dirty="0"/>
            </a:br>
            <a:r>
              <a:rPr lang="en-IN" dirty="0"/>
              <a:t>s2.show()</a:t>
            </a:r>
          </a:p>
        </p:txBody>
      </p:sp>
    </p:spTree>
    <p:extLst>
      <p:ext uri="{BB962C8B-B14F-4D97-AF65-F5344CB8AC3E}">
        <p14:creationId xmlns:p14="http://schemas.microsoft.com/office/powerpoint/2010/main" val="156147173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9FD432-7516-A556-1D21-03A34AED83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C7433AB3-1FDD-993A-880D-31A90353F7F2}"/>
              </a:ext>
            </a:extLst>
          </p:cNvPr>
          <p:cNvSpPr txBox="1"/>
          <p:nvPr/>
        </p:nvSpPr>
        <p:spPr>
          <a:xfrm>
            <a:off x="0" y="0"/>
            <a:ext cx="4590662" cy="65248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sz="2800" b="1" dirty="0"/>
              <a:t>The </a:t>
            </a:r>
            <a:r>
              <a:rPr lang="en-IN" sz="3200" b="1" dirty="0"/>
              <a:t>self</a:t>
            </a:r>
            <a:r>
              <a:rPr lang="en-IN" sz="2800" b="1" dirty="0"/>
              <a:t> Parameter</a:t>
            </a:r>
            <a:endParaRPr lang="en-IN" sz="2800" dirty="0"/>
          </a:p>
          <a:p>
            <a:r>
              <a:rPr lang="en-IN" sz="2400" b="1" dirty="0"/>
              <a:t>What is self?</a:t>
            </a:r>
          </a:p>
          <a:p>
            <a:r>
              <a:rPr lang="en-IN" sz="2400" dirty="0"/>
              <a:t>self represents the </a:t>
            </a:r>
            <a:r>
              <a:rPr lang="en-IN" sz="2400" b="1" dirty="0"/>
              <a:t>current object instance</a:t>
            </a:r>
            <a:r>
              <a:rPr lang="en-IN" sz="2400" dirty="0"/>
              <a:t>.</a:t>
            </a:r>
          </a:p>
          <a:p>
            <a:r>
              <a:rPr lang="en-IN" sz="2400" dirty="0"/>
              <a:t>It allows the object to access:</a:t>
            </a:r>
          </a:p>
          <a:p>
            <a:r>
              <a:rPr lang="en-IN" sz="2400" dirty="0"/>
              <a:t>its attributes</a:t>
            </a:r>
          </a:p>
          <a:p>
            <a:r>
              <a:rPr lang="en-IN" sz="2400" dirty="0"/>
              <a:t>its methods</a:t>
            </a:r>
          </a:p>
          <a:p>
            <a:r>
              <a:rPr lang="en-IN" sz="2400" b="1" dirty="0"/>
              <a:t>Why self</a:t>
            </a:r>
            <a:r>
              <a:rPr lang="en-IN" sz="3200" b="1" dirty="0"/>
              <a:t> </a:t>
            </a:r>
            <a:r>
              <a:rPr lang="en-IN" sz="2400" b="1" dirty="0"/>
              <a:t>is Required</a:t>
            </a:r>
          </a:p>
          <a:p>
            <a:r>
              <a:rPr lang="en-IN" sz="2400" dirty="0"/>
              <a:t>Example</a:t>
            </a:r>
          </a:p>
          <a:p>
            <a:r>
              <a:rPr lang="en-IN" dirty="0"/>
              <a:t>class Test:</a:t>
            </a:r>
            <a:br>
              <a:rPr lang="en-IN" dirty="0"/>
            </a:br>
            <a:br>
              <a:rPr lang="en-IN" dirty="0"/>
            </a:br>
            <a:r>
              <a:rPr lang="en-IN" dirty="0"/>
              <a:t>    def show(self):</a:t>
            </a:r>
            <a:br>
              <a:rPr lang="en-IN" dirty="0"/>
            </a:br>
            <a:r>
              <a:rPr lang="en-IN" dirty="0"/>
              <a:t>        print("Hello")</a:t>
            </a:r>
            <a:br>
              <a:rPr lang="en-IN" dirty="0"/>
            </a:br>
            <a:br>
              <a:rPr lang="en-IN" dirty="0"/>
            </a:br>
            <a:r>
              <a:rPr lang="en-IN" dirty="0"/>
              <a:t>t = Test()</a:t>
            </a:r>
            <a:br>
              <a:rPr lang="en-IN" dirty="0"/>
            </a:br>
            <a:r>
              <a:rPr lang="en-IN" dirty="0" err="1"/>
              <a:t>t.show</a:t>
            </a:r>
            <a:r>
              <a:rPr lang="en-IN" dirty="0"/>
              <a:t>()</a:t>
            </a:r>
          </a:p>
          <a:p>
            <a:endParaRPr lang="en-IN" dirty="0"/>
          </a:p>
          <a:p>
            <a:r>
              <a:rPr lang="en-IN" sz="2400" dirty="0"/>
              <a:t>Python internally converts:</a:t>
            </a:r>
          </a:p>
          <a:p>
            <a:r>
              <a:rPr lang="en-IN" dirty="0" err="1"/>
              <a:t>Test.show</a:t>
            </a:r>
            <a:r>
              <a:rPr lang="en-IN" dirty="0"/>
              <a:t>(t)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1BB2094-6767-AE92-CFD1-3175AC8D4B51}"/>
              </a:ext>
            </a:extLst>
          </p:cNvPr>
          <p:cNvSpPr txBox="1"/>
          <p:nvPr/>
        </p:nvSpPr>
        <p:spPr>
          <a:xfrm>
            <a:off x="4589106" y="81177"/>
            <a:ext cx="3545632" cy="48013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Example — Accessing Object Data</a:t>
            </a:r>
          </a:p>
          <a:p>
            <a:r>
              <a:rPr lang="en-US" dirty="0"/>
              <a:t>class Student:</a:t>
            </a:r>
            <a:br>
              <a:rPr lang="en-US" dirty="0"/>
            </a:br>
            <a:br>
              <a:rPr lang="en-US" dirty="0"/>
            </a:br>
            <a:r>
              <a:rPr lang="en-US" dirty="0"/>
              <a:t>    def </a:t>
            </a:r>
            <a:r>
              <a:rPr lang="en-US" dirty="0" err="1"/>
              <a:t>setname</a:t>
            </a:r>
            <a:r>
              <a:rPr lang="en-US" dirty="0"/>
              <a:t>(self, name):</a:t>
            </a:r>
            <a:br>
              <a:rPr lang="en-US" dirty="0"/>
            </a:br>
            <a:r>
              <a:rPr lang="en-US" dirty="0"/>
              <a:t>        self.name = name</a:t>
            </a:r>
            <a:br>
              <a:rPr lang="en-US" dirty="0"/>
            </a:br>
            <a:br>
              <a:rPr lang="en-US" dirty="0"/>
            </a:br>
            <a:r>
              <a:rPr lang="en-US" dirty="0"/>
              <a:t>    def show(self):</a:t>
            </a:r>
            <a:br>
              <a:rPr lang="en-US" dirty="0"/>
            </a:br>
            <a:r>
              <a:rPr lang="en-US" dirty="0"/>
              <a:t>        print(self.name)</a:t>
            </a:r>
            <a:br>
              <a:rPr lang="en-US" dirty="0"/>
            </a:br>
            <a:br>
              <a:rPr lang="en-US" dirty="0"/>
            </a:br>
            <a:r>
              <a:rPr lang="en-US" dirty="0"/>
              <a:t>s = Student()</a:t>
            </a:r>
            <a:br>
              <a:rPr lang="en-US" dirty="0"/>
            </a:br>
            <a:br>
              <a:rPr lang="en-US" dirty="0"/>
            </a:br>
            <a:r>
              <a:rPr lang="en-US" dirty="0" err="1"/>
              <a:t>s.setname</a:t>
            </a:r>
            <a:r>
              <a:rPr lang="en-US" dirty="0"/>
              <a:t>("Mukund")</a:t>
            </a:r>
            <a:br>
              <a:rPr lang="en-US" dirty="0"/>
            </a:br>
            <a:br>
              <a:rPr lang="en-US" dirty="0"/>
            </a:br>
            <a:r>
              <a:rPr lang="en-US" dirty="0" err="1"/>
              <a:t>s.show</a:t>
            </a:r>
            <a:r>
              <a:rPr lang="en-US" dirty="0"/>
              <a:t>()</a:t>
            </a:r>
          </a:p>
          <a:p>
            <a:endParaRPr lang="en-US" dirty="0"/>
          </a:p>
          <a:p>
            <a:r>
              <a:rPr lang="en-US" dirty="0"/>
              <a:t>Output:</a:t>
            </a:r>
          </a:p>
          <a:p>
            <a:r>
              <a:rPr lang="en-US" dirty="0"/>
              <a:t>Mukund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D5A0C9E-8264-557A-AA65-4A14D9100775}"/>
              </a:ext>
            </a:extLst>
          </p:cNvPr>
          <p:cNvSpPr txBox="1"/>
          <p:nvPr/>
        </p:nvSpPr>
        <p:spPr>
          <a:xfrm>
            <a:off x="7921690" y="81177"/>
            <a:ext cx="3545632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b="1" dirty="0"/>
              <a:t>What is an Object?</a:t>
            </a:r>
          </a:p>
          <a:p>
            <a:r>
              <a:rPr lang="en-IN" dirty="0"/>
              <a:t>An </a:t>
            </a:r>
            <a:r>
              <a:rPr lang="en-IN" b="1" dirty="0"/>
              <a:t>object is an instance of a class</a:t>
            </a:r>
            <a:r>
              <a:rPr lang="en-IN" dirty="0"/>
              <a:t>.</a:t>
            </a:r>
          </a:p>
          <a:p>
            <a:r>
              <a:rPr lang="en-IN" dirty="0"/>
              <a:t>Example:</a:t>
            </a:r>
          </a:p>
          <a:p>
            <a:r>
              <a:rPr lang="en-IN" dirty="0"/>
              <a:t>s = Student()</a:t>
            </a:r>
          </a:p>
          <a:p>
            <a:endParaRPr lang="en-IN" dirty="0"/>
          </a:p>
          <a:p>
            <a:r>
              <a:rPr lang="en-IN" b="1" dirty="0"/>
              <a:t>Example 1 — Multiple Objects</a:t>
            </a:r>
          </a:p>
          <a:p>
            <a:r>
              <a:rPr lang="en-IN" dirty="0"/>
              <a:t>class Student:</a:t>
            </a:r>
            <a:br>
              <a:rPr lang="en-IN" dirty="0"/>
            </a:br>
            <a:br>
              <a:rPr lang="en-IN" dirty="0"/>
            </a:br>
            <a:r>
              <a:rPr lang="en-IN" dirty="0"/>
              <a:t>    def show(self):</a:t>
            </a:r>
            <a:br>
              <a:rPr lang="en-IN" dirty="0"/>
            </a:br>
            <a:r>
              <a:rPr lang="en-IN" dirty="0"/>
              <a:t>        print("Student object")</a:t>
            </a:r>
            <a:br>
              <a:rPr lang="en-IN" dirty="0"/>
            </a:br>
            <a:br>
              <a:rPr lang="en-IN" dirty="0"/>
            </a:br>
            <a:r>
              <a:rPr lang="en-IN" dirty="0"/>
              <a:t>s1 = Student()</a:t>
            </a:r>
            <a:br>
              <a:rPr lang="en-IN" dirty="0"/>
            </a:br>
            <a:r>
              <a:rPr lang="en-IN" dirty="0"/>
              <a:t>s2 = Student()</a:t>
            </a:r>
            <a:br>
              <a:rPr lang="en-IN" dirty="0"/>
            </a:br>
            <a:br>
              <a:rPr lang="en-IN" dirty="0"/>
            </a:br>
            <a:r>
              <a:rPr lang="en-IN" dirty="0"/>
              <a:t>s1.show()</a:t>
            </a:r>
            <a:br>
              <a:rPr lang="en-IN" dirty="0"/>
            </a:br>
            <a:r>
              <a:rPr lang="en-IN" dirty="0"/>
              <a:t>s2.show()</a:t>
            </a:r>
          </a:p>
        </p:txBody>
      </p:sp>
    </p:spTree>
    <p:extLst>
      <p:ext uri="{BB962C8B-B14F-4D97-AF65-F5344CB8AC3E}">
        <p14:creationId xmlns:p14="http://schemas.microsoft.com/office/powerpoint/2010/main" val="394008544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92ED94-7847-E6B5-718C-6FBE7DBAC9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C1930C94-31B4-7B61-9E58-2E6641405BB8}"/>
              </a:ext>
            </a:extLst>
          </p:cNvPr>
          <p:cNvSpPr txBox="1"/>
          <p:nvPr/>
        </p:nvSpPr>
        <p:spPr>
          <a:xfrm>
            <a:off x="0" y="0"/>
            <a:ext cx="4590662" cy="63709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400" b="1" dirty="0"/>
              <a:t>Constructor (__</a:t>
            </a:r>
            <a:r>
              <a:rPr lang="en-IN" sz="2400" b="1" dirty="0" err="1"/>
              <a:t>init</a:t>
            </a:r>
            <a:r>
              <a:rPr lang="en-IN" sz="2400" b="1" dirty="0"/>
              <a:t>__ Method)</a:t>
            </a:r>
          </a:p>
          <a:p>
            <a:endParaRPr lang="en-IN" sz="2400" dirty="0"/>
          </a:p>
          <a:p>
            <a:r>
              <a:rPr lang="en-IN" b="1" dirty="0"/>
              <a:t>What is a Constructor?</a:t>
            </a:r>
          </a:p>
          <a:p>
            <a:r>
              <a:rPr lang="en-IN" dirty="0"/>
              <a:t>A </a:t>
            </a:r>
            <a:r>
              <a:rPr lang="en-IN" b="1" dirty="0"/>
              <a:t>constructor is a special method that runs automatically when an object is created</a:t>
            </a:r>
            <a:r>
              <a:rPr lang="en-IN" dirty="0"/>
              <a:t>.</a:t>
            </a:r>
          </a:p>
          <a:p>
            <a:endParaRPr lang="en-IN" dirty="0"/>
          </a:p>
          <a:p>
            <a:r>
              <a:rPr lang="en-IN" dirty="0"/>
              <a:t>In Python: __</a:t>
            </a:r>
            <a:r>
              <a:rPr lang="en-IN" dirty="0" err="1"/>
              <a:t>init</a:t>
            </a:r>
            <a:r>
              <a:rPr lang="en-IN" dirty="0"/>
              <a:t>__()</a:t>
            </a:r>
          </a:p>
          <a:p>
            <a:r>
              <a:rPr lang="en-IN" b="1" dirty="0"/>
              <a:t>Syntax</a:t>
            </a:r>
          </a:p>
          <a:p>
            <a:r>
              <a:rPr lang="en-IN" dirty="0"/>
              <a:t>class </a:t>
            </a:r>
            <a:r>
              <a:rPr lang="en-IN" dirty="0" err="1"/>
              <a:t>ClassName</a:t>
            </a:r>
            <a:r>
              <a:rPr lang="en-IN" dirty="0"/>
              <a:t>:</a:t>
            </a:r>
            <a:br>
              <a:rPr lang="en-IN" dirty="0"/>
            </a:br>
            <a:br>
              <a:rPr lang="en-IN" dirty="0"/>
            </a:br>
            <a:r>
              <a:rPr lang="en-IN" dirty="0"/>
              <a:t>    def __</a:t>
            </a:r>
            <a:r>
              <a:rPr lang="en-IN" dirty="0" err="1"/>
              <a:t>init</a:t>
            </a:r>
            <a:r>
              <a:rPr lang="en-IN" dirty="0"/>
              <a:t>__(self):</a:t>
            </a:r>
            <a:br>
              <a:rPr lang="en-IN" dirty="0"/>
            </a:br>
            <a:r>
              <a:rPr lang="en-IN" dirty="0"/>
              <a:t>        statements</a:t>
            </a:r>
          </a:p>
          <a:p>
            <a:endParaRPr lang="en-IN" dirty="0"/>
          </a:p>
          <a:p>
            <a:r>
              <a:rPr lang="en-IN" b="1" dirty="0"/>
              <a:t>Example 1 — Simple Constructor</a:t>
            </a:r>
          </a:p>
          <a:p>
            <a:r>
              <a:rPr lang="en-IN" dirty="0"/>
              <a:t>class Student:</a:t>
            </a:r>
            <a:br>
              <a:rPr lang="en-IN" dirty="0"/>
            </a:br>
            <a:br>
              <a:rPr lang="en-IN" dirty="0"/>
            </a:br>
            <a:r>
              <a:rPr lang="en-IN" dirty="0"/>
              <a:t>    def __</a:t>
            </a:r>
            <a:r>
              <a:rPr lang="en-IN" dirty="0" err="1"/>
              <a:t>init</a:t>
            </a:r>
            <a:r>
              <a:rPr lang="en-IN" dirty="0"/>
              <a:t>__(self):</a:t>
            </a:r>
            <a:br>
              <a:rPr lang="en-IN" dirty="0"/>
            </a:br>
            <a:r>
              <a:rPr lang="en-IN" dirty="0"/>
              <a:t>        print("Object created")</a:t>
            </a:r>
            <a:br>
              <a:rPr lang="en-IN" dirty="0"/>
            </a:br>
            <a:br>
              <a:rPr lang="en-IN" dirty="0"/>
            </a:br>
            <a:r>
              <a:rPr lang="en-IN" dirty="0"/>
              <a:t>s = Student()</a:t>
            </a:r>
          </a:p>
          <a:p>
            <a:r>
              <a:rPr lang="en-IN" dirty="0"/>
              <a:t>Output:</a:t>
            </a:r>
          </a:p>
          <a:p>
            <a:r>
              <a:rPr lang="en-IN" dirty="0"/>
              <a:t>Object created</a:t>
            </a:r>
            <a:endParaRPr lang="en-IN" sz="24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5920E65-5E5E-F0D6-848F-A1ADEE29748B}"/>
              </a:ext>
            </a:extLst>
          </p:cNvPr>
          <p:cNvSpPr txBox="1"/>
          <p:nvPr/>
        </p:nvSpPr>
        <p:spPr>
          <a:xfrm>
            <a:off x="4589106" y="81177"/>
            <a:ext cx="3545632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b="1" dirty="0"/>
              <a:t>Example 2 — Constructor with Parameters</a:t>
            </a:r>
          </a:p>
          <a:p>
            <a:r>
              <a:rPr lang="en-IN" dirty="0"/>
              <a:t>class Student:</a:t>
            </a:r>
            <a:br>
              <a:rPr lang="en-IN" dirty="0"/>
            </a:br>
            <a:br>
              <a:rPr lang="en-IN" dirty="0"/>
            </a:br>
            <a:r>
              <a:rPr lang="en-IN" dirty="0"/>
              <a:t>    def __</a:t>
            </a:r>
            <a:r>
              <a:rPr lang="en-IN" dirty="0" err="1"/>
              <a:t>init</a:t>
            </a:r>
            <a:r>
              <a:rPr lang="en-IN" dirty="0"/>
              <a:t>__(self, name):</a:t>
            </a:r>
            <a:br>
              <a:rPr lang="en-IN" dirty="0"/>
            </a:br>
            <a:r>
              <a:rPr lang="en-IN" dirty="0"/>
              <a:t>        self.name = name</a:t>
            </a:r>
            <a:br>
              <a:rPr lang="en-IN" dirty="0"/>
            </a:br>
            <a:br>
              <a:rPr lang="en-IN" dirty="0"/>
            </a:br>
            <a:r>
              <a:rPr lang="en-IN" dirty="0"/>
              <a:t>    def display(self):</a:t>
            </a:r>
            <a:br>
              <a:rPr lang="en-IN" dirty="0"/>
            </a:br>
            <a:r>
              <a:rPr lang="en-IN" dirty="0"/>
              <a:t>        print(self.name)</a:t>
            </a:r>
            <a:br>
              <a:rPr lang="en-IN" dirty="0"/>
            </a:br>
            <a:br>
              <a:rPr lang="en-IN" dirty="0"/>
            </a:br>
            <a:r>
              <a:rPr lang="en-IN" dirty="0"/>
              <a:t>s = Student("Mukund")</a:t>
            </a:r>
            <a:br>
              <a:rPr lang="en-IN" dirty="0"/>
            </a:br>
            <a:br>
              <a:rPr lang="en-IN" dirty="0"/>
            </a:br>
            <a:r>
              <a:rPr lang="en-IN" dirty="0" err="1"/>
              <a:t>s.display</a:t>
            </a:r>
            <a:r>
              <a:rPr lang="en-IN" dirty="0"/>
              <a:t>()</a:t>
            </a:r>
          </a:p>
          <a:p>
            <a:endParaRPr lang="en-IN" dirty="0"/>
          </a:p>
          <a:p>
            <a:r>
              <a:rPr lang="en-IN" dirty="0"/>
              <a:t>Output:</a:t>
            </a:r>
          </a:p>
          <a:p>
            <a:r>
              <a:rPr lang="en-IN" dirty="0"/>
              <a:t>Mukund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F835074-D10D-E24A-768E-02432FEBCE74}"/>
              </a:ext>
            </a:extLst>
          </p:cNvPr>
          <p:cNvSpPr txBox="1"/>
          <p:nvPr/>
        </p:nvSpPr>
        <p:spPr>
          <a:xfrm>
            <a:off x="7921690" y="81177"/>
            <a:ext cx="3545632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Example 3 — Rectangle Area</a:t>
            </a:r>
          </a:p>
          <a:p>
            <a:r>
              <a:rPr lang="en-US" dirty="0"/>
              <a:t>class Rectangle:</a:t>
            </a:r>
            <a:br>
              <a:rPr lang="en-US" dirty="0"/>
            </a:br>
            <a:br>
              <a:rPr lang="en-US" dirty="0"/>
            </a:br>
            <a:r>
              <a:rPr lang="en-US" dirty="0"/>
              <a:t>    def __</a:t>
            </a:r>
            <a:r>
              <a:rPr lang="en-US" dirty="0" err="1"/>
              <a:t>init</a:t>
            </a:r>
            <a:r>
              <a:rPr lang="en-US" dirty="0"/>
              <a:t>__(self, l, w):</a:t>
            </a:r>
            <a:br>
              <a:rPr lang="en-US" dirty="0"/>
            </a:br>
            <a:r>
              <a:rPr lang="en-US" dirty="0"/>
              <a:t>        </a:t>
            </a:r>
            <a:r>
              <a:rPr lang="en-US" dirty="0" err="1"/>
              <a:t>self.l</a:t>
            </a:r>
            <a:r>
              <a:rPr lang="en-US" dirty="0"/>
              <a:t> = l</a:t>
            </a:r>
            <a:br>
              <a:rPr lang="en-US" dirty="0"/>
            </a:br>
            <a:r>
              <a:rPr lang="en-US" dirty="0"/>
              <a:t>        </a:t>
            </a:r>
            <a:r>
              <a:rPr lang="en-US" dirty="0" err="1"/>
              <a:t>self.w</a:t>
            </a:r>
            <a:r>
              <a:rPr lang="en-US" dirty="0"/>
              <a:t> = w</a:t>
            </a:r>
            <a:br>
              <a:rPr lang="en-US" dirty="0"/>
            </a:br>
            <a:br>
              <a:rPr lang="en-US" dirty="0"/>
            </a:br>
            <a:r>
              <a:rPr lang="en-US" dirty="0"/>
              <a:t>    def area(self):</a:t>
            </a:r>
            <a:br>
              <a:rPr lang="en-US" dirty="0"/>
            </a:br>
            <a:r>
              <a:rPr lang="en-US" dirty="0"/>
              <a:t>        return </a:t>
            </a:r>
            <a:r>
              <a:rPr lang="en-US" dirty="0" err="1"/>
              <a:t>self.l</a:t>
            </a:r>
            <a:r>
              <a:rPr lang="en-US" dirty="0"/>
              <a:t> * </a:t>
            </a:r>
            <a:r>
              <a:rPr lang="en-US" dirty="0" err="1"/>
              <a:t>self.w</a:t>
            </a:r>
            <a:br>
              <a:rPr lang="en-US" dirty="0"/>
            </a:br>
            <a:br>
              <a:rPr lang="en-US" dirty="0"/>
            </a:br>
            <a:r>
              <a:rPr lang="en-US" dirty="0"/>
              <a:t>r = Rectangle(10,5)</a:t>
            </a:r>
            <a:br>
              <a:rPr lang="en-US" dirty="0"/>
            </a:br>
            <a:br>
              <a:rPr lang="en-US" dirty="0"/>
            </a:br>
            <a:r>
              <a:rPr lang="en-US" dirty="0"/>
              <a:t>print(</a:t>
            </a:r>
            <a:r>
              <a:rPr lang="en-US" dirty="0" err="1"/>
              <a:t>r.area</a:t>
            </a:r>
            <a:r>
              <a:rPr lang="en-US" dirty="0"/>
              <a:t>())</a:t>
            </a:r>
          </a:p>
          <a:p>
            <a:endParaRPr lang="en-US" dirty="0"/>
          </a:p>
          <a:p>
            <a:r>
              <a:rPr lang="en-US" dirty="0"/>
              <a:t>Output:</a:t>
            </a:r>
          </a:p>
          <a:p>
            <a:r>
              <a:rPr lang="en-US" dirty="0"/>
              <a:t>50</a:t>
            </a:r>
          </a:p>
        </p:txBody>
      </p:sp>
    </p:spTree>
    <p:extLst>
      <p:ext uri="{BB962C8B-B14F-4D97-AF65-F5344CB8AC3E}">
        <p14:creationId xmlns:p14="http://schemas.microsoft.com/office/powerpoint/2010/main" val="195098970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8F26E3-69C9-C7ED-B273-B354D8ECD9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96CC9E4D-D169-1940-4D34-A98C6550102B}"/>
              </a:ext>
            </a:extLst>
          </p:cNvPr>
          <p:cNvSpPr txBox="1"/>
          <p:nvPr/>
        </p:nvSpPr>
        <p:spPr>
          <a:xfrm>
            <a:off x="0" y="0"/>
            <a:ext cx="4590662" cy="69249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400" b="1" dirty="0"/>
              <a:t>Inheritance</a:t>
            </a:r>
            <a:endParaRPr lang="en-IN" sz="2400" dirty="0"/>
          </a:p>
          <a:p>
            <a:r>
              <a:rPr lang="en-IN" sz="2000" b="1" dirty="0"/>
              <a:t>What is Inheritance?</a:t>
            </a:r>
          </a:p>
          <a:p>
            <a:r>
              <a:rPr lang="en-IN" sz="2000" dirty="0"/>
              <a:t>Inheritance allows one class to </a:t>
            </a:r>
            <a:r>
              <a:rPr lang="en-IN" sz="2000" b="1" dirty="0"/>
              <a:t>reuse properties of another class</a:t>
            </a:r>
            <a:r>
              <a:rPr lang="en-IN" sz="2000" dirty="0"/>
              <a:t>.</a:t>
            </a:r>
          </a:p>
          <a:p>
            <a:r>
              <a:rPr lang="en-IN" sz="2000" b="1" dirty="0"/>
              <a:t>Benefits</a:t>
            </a:r>
          </a:p>
          <a:p>
            <a:r>
              <a:rPr lang="en-IN" sz="2000" dirty="0"/>
              <a:t>Code reuse</a:t>
            </a:r>
          </a:p>
          <a:p>
            <a:r>
              <a:rPr lang="en-IN" sz="2000" dirty="0"/>
              <a:t>Less duplication</a:t>
            </a:r>
          </a:p>
          <a:p>
            <a:r>
              <a:rPr lang="en-IN" sz="2000" dirty="0"/>
              <a:t>Hierarchical structure</a:t>
            </a:r>
          </a:p>
          <a:p>
            <a:r>
              <a:rPr lang="en-IN" sz="2000" b="1" dirty="0"/>
              <a:t>Syntax</a:t>
            </a:r>
          </a:p>
          <a:p>
            <a:r>
              <a:rPr lang="en-IN" sz="2000" dirty="0"/>
              <a:t>class </a:t>
            </a:r>
            <a:r>
              <a:rPr lang="en-IN" sz="2000" dirty="0" err="1"/>
              <a:t>ChildClass</a:t>
            </a:r>
            <a:r>
              <a:rPr lang="en-IN" sz="2000" dirty="0"/>
              <a:t>(</a:t>
            </a:r>
            <a:r>
              <a:rPr lang="en-IN" sz="2000" dirty="0" err="1"/>
              <a:t>ParentClass</a:t>
            </a:r>
            <a:r>
              <a:rPr lang="en-IN" sz="2000" dirty="0"/>
              <a:t>):</a:t>
            </a:r>
          </a:p>
          <a:p>
            <a:endParaRPr lang="en-IN" sz="2000" dirty="0"/>
          </a:p>
          <a:p>
            <a:r>
              <a:rPr lang="en-IN" sz="2000" b="1" dirty="0"/>
              <a:t>Example 1 — Simple Inheritance</a:t>
            </a:r>
          </a:p>
          <a:p>
            <a:r>
              <a:rPr lang="en-IN" sz="2000" dirty="0"/>
              <a:t>class Animal:</a:t>
            </a:r>
            <a:br>
              <a:rPr lang="en-IN" sz="2000" dirty="0"/>
            </a:br>
            <a:r>
              <a:rPr lang="en-IN" sz="2000" dirty="0"/>
              <a:t>    def speak(self):</a:t>
            </a:r>
            <a:br>
              <a:rPr lang="en-IN" sz="2000" dirty="0"/>
            </a:br>
            <a:r>
              <a:rPr lang="en-IN" sz="2000" dirty="0"/>
              <a:t>        print("Animal sound")</a:t>
            </a:r>
            <a:br>
              <a:rPr lang="en-IN" sz="2000" dirty="0"/>
            </a:br>
            <a:r>
              <a:rPr lang="en-IN" sz="2000" dirty="0"/>
              <a:t>class Dog(Animal):</a:t>
            </a:r>
            <a:br>
              <a:rPr lang="en-IN" sz="2000" dirty="0"/>
            </a:br>
            <a:r>
              <a:rPr lang="en-IN" sz="2000" dirty="0"/>
              <a:t>    pass</a:t>
            </a:r>
            <a:br>
              <a:rPr lang="en-IN" sz="2000" dirty="0"/>
            </a:br>
            <a:r>
              <a:rPr lang="en-IN" sz="2000" dirty="0"/>
              <a:t>d = Dog()</a:t>
            </a:r>
            <a:br>
              <a:rPr lang="en-IN" sz="2000" dirty="0"/>
            </a:br>
            <a:r>
              <a:rPr lang="en-IN" sz="2000" dirty="0" err="1"/>
              <a:t>d.speak</a:t>
            </a:r>
            <a:r>
              <a:rPr lang="en-IN" sz="2000" dirty="0"/>
              <a:t>()</a:t>
            </a:r>
          </a:p>
          <a:p>
            <a:endParaRPr lang="en-IN" sz="2000" dirty="0"/>
          </a:p>
          <a:p>
            <a:r>
              <a:rPr lang="en-IN" sz="2000" dirty="0"/>
              <a:t>Output:</a:t>
            </a:r>
          </a:p>
          <a:p>
            <a:r>
              <a:rPr lang="en-IN" sz="2000" dirty="0"/>
              <a:t>Animal sound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DB9F08B-D76A-569C-E8E3-EFE2B15C89FE}"/>
              </a:ext>
            </a:extLst>
          </p:cNvPr>
          <p:cNvSpPr txBox="1"/>
          <p:nvPr/>
        </p:nvSpPr>
        <p:spPr>
          <a:xfrm>
            <a:off x="4589106" y="81177"/>
            <a:ext cx="3545632" cy="53553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Example 2 — Multi-Level Inheritance</a:t>
            </a:r>
          </a:p>
          <a:p>
            <a:r>
              <a:rPr lang="en-US" dirty="0"/>
              <a:t>class A:</a:t>
            </a:r>
            <a:br>
              <a:rPr lang="en-US" dirty="0"/>
            </a:br>
            <a:r>
              <a:rPr lang="en-US" dirty="0"/>
              <a:t>    def </a:t>
            </a:r>
            <a:r>
              <a:rPr lang="en-US" dirty="0" err="1"/>
              <a:t>showA</a:t>
            </a:r>
            <a:r>
              <a:rPr lang="en-US" dirty="0"/>
              <a:t>(self):</a:t>
            </a:r>
            <a:br>
              <a:rPr lang="en-US" dirty="0"/>
            </a:br>
            <a:r>
              <a:rPr lang="en-US" dirty="0"/>
              <a:t>        print("Class A")</a:t>
            </a:r>
            <a:br>
              <a:rPr lang="en-US" dirty="0"/>
            </a:br>
            <a:br>
              <a:rPr lang="en-US" dirty="0"/>
            </a:br>
            <a:r>
              <a:rPr lang="en-US" dirty="0"/>
              <a:t>class B(A):</a:t>
            </a:r>
            <a:br>
              <a:rPr lang="en-US" dirty="0"/>
            </a:br>
            <a:r>
              <a:rPr lang="en-US" dirty="0"/>
              <a:t>    def </a:t>
            </a:r>
            <a:r>
              <a:rPr lang="en-US" dirty="0" err="1"/>
              <a:t>showB</a:t>
            </a:r>
            <a:r>
              <a:rPr lang="en-US" dirty="0"/>
              <a:t>(self):</a:t>
            </a:r>
            <a:br>
              <a:rPr lang="en-US" dirty="0"/>
            </a:br>
            <a:r>
              <a:rPr lang="en-US" dirty="0"/>
              <a:t>        print("Class B")</a:t>
            </a:r>
            <a:br>
              <a:rPr lang="en-US" dirty="0"/>
            </a:br>
            <a:br>
              <a:rPr lang="en-US" dirty="0"/>
            </a:br>
            <a:r>
              <a:rPr lang="en-US" dirty="0"/>
              <a:t>class C(B):</a:t>
            </a:r>
            <a:br>
              <a:rPr lang="en-US" dirty="0"/>
            </a:br>
            <a:r>
              <a:rPr lang="en-US" dirty="0"/>
              <a:t>    def </a:t>
            </a:r>
            <a:r>
              <a:rPr lang="en-US" dirty="0" err="1"/>
              <a:t>showC</a:t>
            </a:r>
            <a:r>
              <a:rPr lang="en-US" dirty="0"/>
              <a:t>(self):</a:t>
            </a:r>
            <a:br>
              <a:rPr lang="en-US" dirty="0"/>
            </a:br>
            <a:r>
              <a:rPr lang="en-US" dirty="0"/>
              <a:t>        print("Class C")</a:t>
            </a:r>
            <a:br>
              <a:rPr lang="en-US" dirty="0"/>
            </a:br>
            <a:br>
              <a:rPr lang="en-US" dirty="0"/>
            </a:br>
            <a:r>
              <a:rPr lang="en-US" dirty="0"/>
              <a:t>obj = C()</a:t>
            </a:r>
            <a:br>
              <a:rPr lang="en-US" dirty="0"/>
            </a:br>
            <a:br>
              <a:rPr lang="en-US" dirty="0"/>
            </a:br>
            <a:r>
              <a:rPr lang="en-US" dirty="0" err="1"/>
              <a:t>obj.showA</a:t>
            </a:r>
            <a:r>
              <a:rPr lang="en-US" dirty="0"/>
              <a:t>()</a:t>
            </a:r>
            <a:br>
              <a:rPr lang="en-US" dirty="0"/>
            </a:br>
            <a:r>
              <a:rPr lang="en-US" dirty="0" err="1"/>
              <a:t>obj.showB</a:t>
            </a:r>
            <a:r>
              <a:rPr lang="en-US" dirty="0"/>
              <a:t>()</a:t>
            </a:r>
            <a:br>
              <a:rPr lang="en-US" dirty="0"/>
            </a:br>
            <a:r>
              <a:rPr lang="en-US" dirty="0" err="1"/>
              <a:t>obj.showC</a:t>
            </a:r>
            <a:r>
              <a:rPr lang="en-US" dirty="0"/>
              <a:t>()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DF57566-BD6E-BC57-ECB2-4D51C9A8781F}"/>
              </a:ext>
            </a:extLst>
          </p:cNvPr>
          <p:cNvSpPr txBox="1"/>
          <p:nvPr/>
        </p:nvSpPr>
        <p:spPr>
          <a:xfrm>
            <a:off x="7921690" y="81177"/>
            <a:ext cx="3545632" cy="60016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2400" b="1" dirty="0"/>
              <a:t>Method Overriding</a:t>
            </a:r>
          </a:p>
          <a:p>
            <a:r>
              <a:rPr lang="en-IN" dirty="0"/>
              <a:t>Child class redefines parent method.</a:t>
            </a:r>
          </a:p>
          <a:p>
            <a:endParaRPr lang="en-IN" dirty="0"/>
          </a:p>
          <a:p>
            <a:r>
              <a:rPr lang="en-IN" b="1" dirty="0"/>
              <a:t>Example</a:t>
            </a:r>
          </a:p>
          <a:p>
            <a:r>
              <a:rPr lang="en-IN" dirty="0"/>
              <a:t>class Animal:</a:t>
            </a:r>
            <a:br>
              <a:rPr lang="en-IN" dirty="0"/>
            </a:br>
            <a:br>
              <a:rPr lang="en-IN" dirty="0"/>
            </a:br>
            <a:r>
              <a:rPr lang="en-IN" dirty="0"/>
              <a:t>    def sound(self):</a:t>
            </a:r>
            <a:br>
              <a:rPr lang="en-IN" dirty="0"/>
            </a:br>
            <a:r>
              <a:rPr lang="en-IN" dirty="0"/>
              <a:t>        print("Animal sound")</a:t>
            </a:r>
            <a:br>
              <a:rPr lang="en-IN" dirty="0"/>
            </a:br>
            <a:br>
              <a:rPr lang="en-IN" dirty="0"/>
            </a:br>
            <a:r>
              <a:rPr lang="en-IN" dirty="0"/>
              <a:t>class Dog(Animal):</a:t>
            </a:r>
            <a:br>
              <a:rPr lang="en-IN" dirty="0"/>
            </a:br>
            <a:br>
              <a:rPr lang="en-IN" dirty="0"/>
            </a:br>
            <a:r>
              <a:rPr lang="en-IN" dirty="0"/>
              <a:t>    def sound(self):</a:t>
            </a:r>
            <a:br>
              <a:rPr lang="en-IN" dirty="0"/>
            </a:br>
            <a:r>
              <a:rPr lang="en-IN" dirty="0"/>
              <a:t>        print("Dog barks")</a:t>
            </a:r>
            <a:br>
              <a:rPr lang="en-IN" dirty="0"/>
            </a:br>
            <a:br>
              <a:rPr lang="en-IN" dirty="0"/>
            </a:br>
            <a:r>
              <a:rPr lang="en-IN" dirty="0"/>
              <a:t>d = Dog()</a:t>
            </a:r>
            <a:br>
              <a:rPr lang="en-IN" dirty="0"/>
            </a:br>
            <a:br>
              <a:rPr lang="en-IN" dirty="0"/>
            </a:br>
            <a:r>
              <a:rPr lang="en-IN" dirty="0" err="1"/>
              <a:t>d.sound</a:t>
            </a:r>
            <a:r>
              <a:rPr lang="en-IN" dirty="0"/>
              <a:t>()</a:t>
            </a:r>
          </a:p>
          <a:p>
            <a:endParaRPr lang="en-IN" dirty="0"/>
          </a:p>
          <a:p>
            <a:r>
              <a:rPr lang="en-IN" dirty="0"/>
              <a:t>Output:</a:t>
            </a:r>
          </a:p>
          <a:p>
            <a:r>
              <a:rPr lang="en-IN" dirty="0"/>
              <a:t>Dog barks</a:t>
            </a:r>
          </a:p>
        </p:txBody>
      </p:sp>
    </p:spTree>
    <p:extLst>
      <p:ext uri="{BB962C8B-B14F-4D97-AF65-F5344CB8AC3E}">
        <p14:creationId xmlns:p14="http://schemas.microsoft.com/office/powerpoint/2010/main" val="90403046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5E04C7-82BD-7974-8A8D-987D5658E2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727395"/>
            <a:ext cx="10515600" cy="1325563"/>
          </a:xfrm>
        </p:spPr>
        <p:txBody>
          <a:bodyPr/>
          <a:lstStyle/>
          <a:p>
            <a:r>
              <a:rPr lang="en-US" dirty="0"/>
              <a:t>Thank You…!</a:t>
            </a:r>
          </a:p>
        </p:txBody>
      </p:sp>
    </p:spTree>
    <p:extLst>
      <p:ext uri="{BB962C8B-B14F-4D97-AF65-F5344CB8AC3E}">
        <p14:creationId xmlns:p14="http://schemas.microsoft.com/office/powerpoint/2010/main" val="371660114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209</TotalTime>
  <Words>4307</Words>
  <Application>Microsoft Office PowerPoint</Application>
  <PresentationFormat>Widescreen</PresentationFormat>
  <Paragraphs>808</Paragraphs>
  <Slides>37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2" baseType="lpstr">
      <vt:lpstr>Arial</vt:lpstr>
      <vt:lpstr>Calibri</vt:lpstr>
      <vt:lpstr>Calibri Light</vt:lpstr>
      <vt:lpstr>Wingdings</vt:lpstr>
      <vt:lpstr>Office Theme</vt:lpstr>
      <vt:lpstr>Linux Shell Scripting &amp; Python </vt:lpstr>
      <vt:lpstr>Introduction to Python</vt:lpstr>
      <vt:lpstr>PowerPoint Presentation</vt:lpstr>
      <vt:lpstr>Key Features of Python </vt:lpstr>
      <vt:lpstr>Print Function </vt:lpstr>
      <vt:lpstr>User Input in Python</vt:lpstr>
      <vt:lpstr>Literals in Python</vt:lpstr>
      <vt:lpstr>Quoting Rules in Python</vt:lpstr>
      <vt:lpstr>Basics of Python Programming</vt:lpstr>
      <vt:lpstr>PowerPoint Presentation</vt:lpstr>
      <vt:lpstr>PowerPoint Presentation</vt:lpstr>
      <vt:lpstr>PowerPoint Presentation</vt:lpstr>
      <vt:lpstr>PowerPoint Presentation</vt:lpstr>
      <vt:lpstr>Arithmetic and Assignment Operators </vt:lpstr>
      <vt:lpstr>Assignment Operators</vt:lpstr>
      <vt:lpstr>Comparison and Logical Operators</vt:lpstr>
      <vt:lpstr>Identity, Membership and Bitwise Operators</vt:lpstr>
      <vt:lpstr>PowerPoint Presentation</vt:lpstr>
      <vt:lpstr>Flow Control in Python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Python Functions &amp; Regular Expressions</vt:lpstr>
      <vt:lpstr>PowerPoint Presentation</vt:lpstr>
      <vt:lpstr>PowerPoint Presentation</vt:lpstr>
      <vt:lpstr>Introduction to Regular Expressions (Regex)</vt:lpstr>
      <vt:lpstr>PowerPoint Presentation</vt:lpstr>
      <vt:lpstr>PowerPoint Presentation</vt:lpstr>
      <vt:lpstr>PowerPoint Presentation</vt:lpstr>
      <vt:lpstr>Object-Oriented Programming (OOP)</vt:lpstr>
      <vt:lpstr>PowerPoint Presentation</vt:lpstr>
      <vt:lpstr>PowerPoint Presentation</vt:lpstr>
      <vt:lpstr>PowerPoint Presentation</vt:lpstr>
      <vt:lpstr>PowerPoint Presentation</vt:lpstr>
      <vt:lpstr>Thank You…!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Sujan Waghmare</dc:creator>
  <cp:lastModifiedBy>patel rakesh</cp:lastModifiedBy>
  <cp:revision>33</cp:revision>
  <dcterms:created xsi:type="dcterms:W3CDTF">2026-03-08T08:07:06Z</dcterms:created>
  <dcterms:modified xsi:type="dcterms:W3CDTF">2026-03-09T06:16:29Z</dcterms:modified>
</cp:coreProperties>
</file>